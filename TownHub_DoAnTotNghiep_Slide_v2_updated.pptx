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305" r:id="rId12"/>
    <p:sldId id="306" r:id="rId13"/>
    <p:sldId id="307" r:id="rId14"/>
    <p:sldId id="308" r:id="rId15"/>
    <p:sldId id="309" r:id="rId16"/>
    <p:sldId id="310" r:id="rId17"/>
    <p:sldId id="311" r:id="rId18"/>
    <p:sldId id="312" r:id="rId19"/>
    <p:sldId id="313" r:id="rId20"/>
    <p:sldId id="314" r:id="rId21"/>
    <p:sldId id="266" r:id="rId22"/>
    <p:sldId id="267" r:id="rId23"/>
    <p:sldId id="268" r:id="rId24"/>
    <p:sldId id="269" r:id="rId25"/>
    <p:sldId id="291" r:id="rId26"/>
    <p:sldId id="292" r:id="rId27"/>
    <p:sldId id="293" r:id="rId28"/>
    <p:sldId id="294" r:id="rId29"/>
    <p:sldId id="295" r:id="rId30"/>
    <p:sldId id="296" r:id="rId31"/>
    <p:sldId id="297" r:id="rId32"/>
    <p:sldId id="298" r:id="rId33"/>
    <p:sldId id="299" r:id="rId34"/>
    <p:sldId id="283" r:id="rId35"/>
    <p:sldId id="284" r:id="rId36"/>
    <p:sldId id="285" r:id="rId37"/>
    <p:sldId id="286" r:id="rId38"/>
    <p:sldId id="287" r:id="rId39"/>
    <p:sldId id="288" r:id="rId40"/>
    <p:sldId id="289" r:id="rId41"/>
    <p:sldId id="290" r:id="rId42"/>
    <p:sldId id="300" r:id="rId43"/>
    <p:sldId id="301" r:id="rId44"/>
    <p:sldId id="302" r:id="rId45"/>
    <p:sldId id="303" r:id="rId46"/>
    <p:sldId id="304"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3301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quý thầy cô trong hội đồng. Em là Nguyễn Xuân Thưởng, lớp 66KSCS. Em xin trình bày đồ án tốt nghiệp: Xây dựng hệ thống quản lý vận hành tòa nhà TownHub, dưới sự hướng dẫn của thầy ThS. Hoàng Nam Thắng. Đây là đồ án nhóm 3 thành viên; phần em trình bày sâu là phân hệ Quản lý tài sản.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6 phần. Em sẽ đi nhanh phần bối cảnh và khảo sát, dành phần lớn thời gian cho phân hệ Quản lý tài sản — phần đóng góp cá nhân của em — đặc biệt là thành phần OCR hóa đơn.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Cùng tốc độ đô thị hóa, quy mô tòa nhà ngày càng lớn: hàng trăm tài sản và hàng nghìn cư dân. Nhưng phần lớn vẫn quản lý thủ công, rời rạc, dẫn tới sai sót và số liệu không khớp sổ kế toán. Đó là lý do nhóm chọn đề tài TownHub.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Khảo sát cho thấy bất cập trải đều ba nhóm nghiệp vụ. Phần em phụ trách là nhóm Tài sản: khấu hao sai, bỏ sót bảo trì, tồn kho lệch, số liệu không khớp sổ kế toán. Từ đây đặt ra yêu cầu một nền tảng tập trung và liên thông.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Đồ án theo nhóm 3 người. Phần Base dùng chung do cả nhóm xây. Trên nền đó, mỗi thành viên đảm nhiệm một phân hệ riêng. Em phụ trách phân hệ Quản lý tài sản gồm 3 nghiệp vụ liên thông — đây là trọng tâm báo cáo. Hai phân hệ dân cư và dịch vụ do bạn khác làm, không thuộc phạm vi trình bày hôm nay.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xây, nhóm khảo sát 3 phần mềm thương mại đang chạy thực tế tại Việt Nam. Building Care của S-TECH đã triển khai 60+ dự án, mạnh về số hóa yêu cầu bảo trì. Landsoft Control mạnh về vòng đời thiết bị và thanh toán tự gạch nợ. CyHome là SaaS trên AWS, 200+ dự án, có app riêng cho kỹ thuật viên chốt số hiện trường. Đây đều là ảnh chụp thật từ trang chính thức.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khảo sát 3 phần mềm thương mại đang chạy thực tế và cách làm thủ công. Các sản phẩm thương mại rất trưởng thành nhưng đóng, đắt, khó tùy biến, và thường thiếu 3 thứ: OCR hóa đơn tiếng Việt, kế toán tài sản với bút toán Nợ/Có, và nhận diện khuôn mặt. Đó chính là điểm khác biệt TownHub hướng tới.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đề xuất: kiến trúc module hóa. Ba phân hệ nghiệp vụ ngang hàng cùng kế thừa nền tảng Base dùng chung. Backend chia 3 module Auth–Base–Asset tương ứng 3 schema, giao tiếp qua Guid cross-service. Nhờ vậy các thành viên phát triển song song, dễ bảo trì, dễ mở rộng.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công nghệ: backend .NET 8 với EF Core và PostgreSQL; frontend Next.js 16 – React 19. Bảo mật đầy đủ JWT, OAuth, MFA và RBAC 74 quyền. Thành phần AI/OCR viết bằng Python/FastAPI tách riêng. Triển khai bằng Docker trên Fly.io. Các lựa chọn được cả nhóm thống nhất từ đầu để các module tích hợp đồng nhất.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tổng thể tách rõ frontend và backend, giao tiếp qua REST API và JWT. Backend theo kiến trúc phân tầng Controllers → ApplicationService → Domain → Infrastructure, chia 3 module. Mọi API trả về ResponseDto&lt;T&gt; thống nhất. Tầng dữ liệu gồm PostgreSQL 3 schema, Redis, Cloudinary và dịch vụ OCR/email.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là nền tảng dùng chung do cả nhóm xây; ba phân hệ nghiệp vụ kế thừa Base. Bản đồ phân rã chức năng chia hệ thống thành nền tảng chung và ba phân hệ; phần Tài sản của em chia thành ba nhóm — em trình bày theo dòng nghiệp vụ chuẩn: Vòng đời tài sản, rồi Bảo trì &amp; Sự cố, rồi Mua sắm.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0782966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có sáu vai trò đúng như khởi tạo trong mã. Biểu đồ use case tổng quát tô màu phân biệt phần dùng chung (Base) và phần riêng (Tài sản); Dân cư/Dịch vụ làm mờ vì thuộc thành viên khác. Kỹ sư trưởng kế thừa Kỹ thuật viên là quan hệ generalization.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08372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Đăng nhập hai pha theo AuthLoginService: pha 1 kiểm mật khẩu/trạng thái/email, nếu bật MFA thì lưu vé vào Redis TTL 5 phút và trả requiresMfa; pha 2 xác minh mã TOTP rồi tạo phiên và phát JWT + refresh token, đặt cookie HttpOnly.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236227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RBAC được thực thi ở mỗi request: middleware xác thực JWT, controller kiểm chính sách quyền, với thao tác giới hạn theo phân công còn kiểm quyền hàng DenyIfNotAssigned. Toàn hệ thống 74 quyền và 6 vai trò; điểm nhấn là đặc quyền tối thiểu và giới hạn tầm nhìn theo bản ghi — kỹ thuật viên chỉ thấy phiếu được giao.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595525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Ngoài Auth, Base cung cấp bốn dịch vụ nền tảng: quản lý người dùng kèm Audit Log, thông báo email thật + hộp thư (chưa có SMS/Push), cấu hình &amp; danh mục dùng chung, và báo cáo Dashboard. CSDL schema auth lấy AuthUser làm trung tâm; các phân hệ riêng tham chiếu qua Guid cross-service.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921903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trọng tâm — phân hệ Quản lý tài sản do em trực tiếp phân tích, thiết kế và lập trình. Em trình bày theo dòng nghiệp vụ chuẩn: bắt đầu từ Vòng đời tài sản, sang Bảo trì &amp; Sự cố, rồi Mua sắm &amp; Kho. Cả ba thuộc module Asset và kế thừa Base.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2993528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Vòng đời quản lý tài sản từ ghi tăng đến thanh lý, mỗi bước sinh chứng từ kế toán. Hệ thống hỗ trợ khấu hao đường thẳng và số dư giảm dần, cùng mã QR tự sinh cho từng tài sản để quét check-in và kiểm kê. Trạng thái đi giữa ACTIVE và MAINTENANCE theo Work Order, sang DISPOSED khi thanh lý.</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4203828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em muốn nhấn là tích hợp kế toán. Mỗi biến động — ghi tăng, khấu hao, thanh lý — đều tự sinh chứng từ với định khoản Nợ/Có theo Thông tư 200. Từ nền chứng từ đó hệ thống dẫn xuất năm loại sổ sách và báo cáo, luôn khớp sổ. Đây là thứ nhiều phần mềm thương mại còn thiếu.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5466802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Bảo trì phòng ngừa là quy trình khép kín sáu bước: từ lịch đến hạn, tạo Work Order, phân công kỹ thuật viên, check-in bằng QR, thực hiện checklist có ảnh, đến nghiệm thu. Chi phí bảo trì hạch toán: sửa chữa tính chi phí, nâng cấp cộng nguyên giá, thiếu vật tư thì xuất kho hoặc tự tạo PR. Xin nói thẳng: WO hiện tạo thủ công từ danh sách lịch đến hạn, chưa có tác vụ nền tự sinh.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7042347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Xử lý sự cố khép kín: cư dân báo, kỹ sư trưởng phân công, KTV xử lý, hoàn tất rồi đóng, cuối cùng cư dân đánh giá. Điểm nhấn là giám sát SLA theo mức ưu tiên và nhật ký leo thang. Xin nói thẳng: cấu hình và nhật ký đã có, nhưng tác vụ nền tự phát hiện quá hạn thì chưa; việc phân công là thao tác của kỹ sư trưởng, không phải hệ thống tự chọn.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5061315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Mua sắm quản lý chuỗi cung ứng vật tư. Luồng P2P: lập PR, duyệt, tạo và duyệt PO, nhận hàng nhập kho, nhập hóa đơn có thể OCR, đối chiếu PO rồi thanh toán. Kế thừa mô hình Procure-to-Pay của Odoo; khác biệt là OCR hóa đơn tiếng Việt. Đối chiếu ba chiều hiện vẫn là thao tác thủ công của kế toán.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4813013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 ghi mọi biến động qua inventory_transactions và cảnh báo tồn thấp. Kiểm kê định kỳ bằng phiếu stock_takes theo cycle count của Odoo, tự sinh điều chỉnh. Quản lý nhà cung cấp kèm hợp đồng và đánh giá. Nhóm Mua sắm gồm khoảng mười lăm bảng; vòng đời PR ràng buộc trạng thái đúng như trong mã.</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8045986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OCR hóa đơn là thành phần AI của nhóm Mua sắm. Dịch vụ viết bằng Python/FastAPI, chạy bất đồng bộ qua worker nền thật để không chặn giao diện. Có ba engine tự chủ chạy offline. Quan trọng: kết quả OCR không ghi thẳng mà phải qua đối chiếu ba chiều với đơn mua — nhà cung cấp, tổng tiền, và danh mục vật tư.</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5418953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OCR đã trưởng thành nên em khảo sát hai nhóm: API đám mây chính xác cao nhưng phải gửi dữ liệu ra ngoài và tốn phí; mã nguồn mở với PaddleOCR dẫn đầu OmniDocBench. Vì cần chạy offline và fine-tune cho hóa đơn Việt, em chọn PaddleOCR + VietOCR. Kết quả: recognition 99,64% val accuracy, VietOCR đọc đúng 300/300, PaddleOCR 89,3%. Ngoài ra em tự thiết kế thuật toán khử nghiêng bảng chạy sau OCR, độ phức tạp O(n log n), tách đúng 7/7 dòng trên hóa đơn nghiêng.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9300189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triển khai: backend đóng gói Docker multi-stage và chạy trên Fly.io với HTTPS. Frontend build production, trỏ backend qua biến môi trường. CSDL đồng bộ bằng EF Core migrations cho cả 3 schema. Các dịch vụ ngoài Redis, Cloudinary, email kết nối qua cấu hình.</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kiểm thử theo ca, kết hợp Swagger và giao diện, các thành viên kiểm thử chéo phân hệ của nhau cho khách quan. Nhật ký lỗi quản lý trên Excel, mỗi lỗi kèm ảnh, theo dõi qua 3 vòng test. Các ca tiêu biểu — từ đăng nhập MFA, ghi tăng tài sản, khấu hao, OCR, tới leo thang SLA — đều đạt.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cả 3 nghiệp vụ của phân hệ được hiện thực đầy đủ trên backend và frontend, chạy trên dữ liệu thật, có phân trang, tìm kiếm, phân quyền. Đánh giá theo 4 mặt: chức năng đáp ứng yêu cầu, hiệu năng nhờ phân trang server và OCR bất đồng bộ, bảo mật JWT–MFA–RBAC, và thành phần thông minh OCR + khấu hao tự động.</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hạn chế: tầng phát hiện OCR học trên dữ liệu synthetic còn yếu, cần thêm hóa đơn thật; một số tối ưu ở dữ liệu lớn chưa kiểm chứng; app di động mới cơ bản. Hướng phát triển: nâng độ chính xác OCR, tích hợp IoT để dự báo bảo trì, thêm phân tích và cảnh báo thông minh, và hoàn thiện ứng dụng di động.</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kết thúc phần trình bày. Tóm lại, đóng góp cá nhân của em là phân hệ Quản lý tài sản với 3 nghiệp vụ liên thông và thành phần OCR hóa đơn tự thiết kế. Em xin chân thành cảm ơn quý thầy cô và rất mong nhận được các câu hỏi, góp ý.</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5.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xml"/><Relationship Id="rId5" Type="http://schemas.openxmlformats.org/officeDocument/2006/relationships/image" Target="../media/image55.png"/><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5.pn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8.png"/><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59.png"/></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4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1.png"/><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png"/><Relationship Id="rId7" Type="http://schemas.openxmlformats.org/officeDocument/2006/relationships/image" Target="../media/image65.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7.png"/></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a:effectLst/>
      </p:bgPr>
    </p:bg>
    <p:spTree>
      <p:nvGrpSpPr>
        <p:cNvPr id="1" name=""/>
        <p:cNvGrpSpPr/>
        <p:nvPr/>
      </p:nvGrpSpPr>
      <p:grpSpPr>
        <a:xfrm>
          <a:off x="0" y="0"/>
          <a:ext cx="0" cy="0"/>
          <a:chOff x="0" y="0"/>
          <a:chExt cx="0" cy="0"/>
        </a:xfrm>
      </p:grpSpPr>
      <p:sp>
        <p:nvSpPr>
          <p:cNvPr id="2" name="Shape 0"/>
          <p:cNvSpPr/>
          <p:nvPr/>
        </p:nvSpPr>
        <p:spPr>
          <a:xfrm>
            <a:off x="9509760" y="-2011680"/>
            <a:ext cx="4754880" cy="4754880"/>
          </a:xfrm>
          <a:prstGeom prst="roundRect">
            <a:avLst>
              <a:gd name="adj" fmla="val 50000"/>
            </a:avLst>
          </a:prstGeom>
          <a:solidFill>
            <a:srgbClr val="16385C"/>
          </a:solidFill>
          <a:ln/>
        </p:spPr>
      </p:sp>
      <p:sp>
        <p:nvSpPr>
          <p:cNvPr id="3" name="Shape 1"/>
          <p:cNvSpPr/>
          <p:nvPr/>
        </p:nvSpPr>
        <p:spPr>
          <a:xfrm>
            <a:off x="10332720" y="-1371600"/>
            <a:ext cx="3291840" cy="3291840"/>
          </a:xfrm>
          <a:prstGeom prst="roundRect">
            <a:avLst>
              <a:gd name="adj" fmla="val 50000"/>
            </a:avLst>
          </a:prstGeom>
          <a:solidFill>
            <a:srgbClr val="0E7C86"/>
          </a:solidFill>
          <a:ln/>
        </p:spPr>
      </p:sp>
      <p:sp>
        <p:nvSpPr>
          <p:cNvPr id="4" name="Shape 2"/>
          <p:cNvSpPr/>
          <p:nvPr/>
        </p:nvSpPr>
        <p:spPr>
          <a:xfrm>
            <a:off x="-1463040" y="4663440"/>
            <a:ext cx="3840480" cy="3840480"/>
          </a:xfrm>
          <a:prstGeom prst="roundRect">
            <a:avLst>
              <a:gd name="adj" fmla="val 50000"/>
            </a:avLst>
          </a:prstGeom>
          <a:solidFill>
            <a:srgbClr val="16385C"/>
          </a:solidFill>
          <a:ln/>
        </p:spPr>
      </p:sp>
      <p:sp>
        <p:nvSpPr>
          <p:cNvPr id="5" name="Text 3"/>
          <p:cNvSpPr/>
          <p:nvPr/>
        </p:nvSpPr>
        <p:spPr>
          <a:xfrm>
            <a:off x="822960" y="548640"/>
            <a:ext cx="8229600" cy="274320"/>
          </a:xfrm>
          <a:prstGeom prst="rect">
            <a:avLst/>
          </a:prstGeom>
          <a:noFill/>
          <a:ln/>
        </p:spPr>
        <p:txBody>
          <a:bodyPr wrap="square" lIns="0" tIns="0" rIns="0" bIns="0" rtlCol="0" anchor="ctr"/>
          <a:lstStyle/>
          <a:p>
            <a:pPr marL="0" indent="0">
              <a:buNone/>
            </a:pPr>
            <a:r>
              <a:rPr lang="en-US" sz="1200" kern="0" spc="100" dirty="0">
                <a:solidFill>
                  <a:srgbClr val="BFD6DF"/>
                </a:solidFill>
                <a:latin typeface="Calibri" pitchFamily="34" charset="0"/>
                <a:ea typeface="Calibri" pitchFamily="34" charset="-122"/>
                <a:cs typeface="Calibri" pitchFamily="34" charset="-120"/>
              </a:rPr>
              <a:t>BỘ GIÁO DỤC VÀ ĐÀO TẠO</a:t>
            </a:r>
            <a:endParaRPr lang="en-US" sz="1200" dirty="0"/>
          </a:p>
        </p:txBody>
      </p:sp>
      <p:sp>
        <p:nvSpPr>
          <p:cNvPr id="6" name="Text 4"/>
          <p:cNvSpPr/>
          <p:nvPr/>
        </p:nvSpPr>
        <p:spPr>
          <a:xfrm>
            <a:off x="822960" y="822960"/>
            <a:ext cx="10058400" cy="320040"/>
          </a:xfrm>
          <a:prstGeom prst="rect">
            <a:avLst/>
          </a:prstGeom>
          <a:noFill/>
          <a:ln/>
        </p:spPr>
        <p:txBody>
          <a:bodyPr wrap="square" lIns="0" tIns="0" rIns="0" bIns="0" rtlCol="0" anchor="ctr"/>
          <a:lstStyle/>
          <a:p>
            <a:pPr marL="0" indent="0">
              <a:buNone/>
            </a:pPr>
            <a:r>
              <a:rPr lang="en-US" sz="1350" b="1" kern="0" spc="50" dirty="0">
                <a:solidFill>
                  <a:srgbClr val="FFFFFF"/>
                </a:solidFill>
                <a:latin typeface="Calibri" pitchFamily="34" charset="0"/>
                <a:ea typeface="Calibri" pitchFamily="34" charset="-122"/>
                <a:cs typeface="Calibri" pitchFamily="34" charset="-120"/>
              </a:rPr>
              <a:t>TRƯỜNG ĐẠI HỌC XÂY DỰNG HÀ NỘI  ·  KHOA CÔNG NGHỆ THÔNG TIN</a:t>
            </a:r>
            <a:endParaRPr lang="en-US" sz="1350" dirty="0"/>
          </a:p>
        </p:txBody>
      </p:sp>
      <p:sp>
        <p:nvSpPr>
          <p:cNvPr id="7" name="Shape 5"/>
          <p:cNvSpPr/>
          <p:nvPr/>
        </p:nvSpPr>
        <p:spPr>
          <a:xfrm>
            <a:off x="822960" y="1691640"/>
            <a:ext cx="868680" cy="868680"/>
          </a:xfrm>
          <a:prstGeom prst="roundRect">
            <a:avLst>
              <a:gd name="adj" fmla="val 50000"/>
            </a:avLst>
          </a:prstGeom>
          <a:solidFill>
            <a:srgbClr val="23B5A6"/>
          </a:solidFill>
          <a:ln/>
        </p:spPr>
      </p:sp>
      <p:pic>
        <p:nvPicPr>
          <p:cNvPr id="8" name="Image 0" descr="preencoded.png"/>
          <p:cNvPicPr>
            <a:picLocks noChangeAspect="1"/>
          </p:cNvPicPr>
          <p:nvPr/>
        </p:nvPicPr>
        <p:blipFill>
          <a:blip r:embed="rId3"/>
          <a:stretch>
            <a:fillRect/>
          </a:stretch>
        </p:blipFill>
        <p:spPr>
          <a:xfrm>
            <a:off x="1031443" y="1900123"/>
            <a:ext cx="451714" cy="451714"/>
          </a:xfrm>
          <a:prstGeom prst="rect">
            <a:avLst/>
          </a:prstGeom>
        </p:spPr>
      </p:pic>
      <p:sp>
        <p:nvSpPr>
          <p:cNvPr id="9" name="Text 6"/>
          <p:cNvSpPr/>
          <p:nvPr/>
        </p:nvSpPr>
        <p:spPr>
          <a:xfrm>
            <a:off x="1920240" y="1700784"/>
            <a:ext cx="7315200" cy="384048"/>
          </a:xfrm>
          <a:prstGeom prst="rect">
            <a:avLst/>
          </a:prstGeom>
          <a:noFill/>
          <a:ln/>
        </p:spPr>
        <p:txBody>
          <a:bodyPr wrap="square" lIns="0" tIns="0" rIns="0" bIns="0" rtlCol="0" anchor="ctr"/>
          <a:lstStyle/>
          <a:p>
            <a:pPr marL="0" indent="0">
              <a:buNone/>
            </a:pPr>
            <a:r>
              <a:rPr lang="en-US" sz="1600" b="1" kern="0" spc="300" dirty="0">
                <a:solidFill>
                  <a:srgbClr val="23B5A6"/>
                </a:solidFill>
                <a:latin typeface="Calibri" pitchFamily="34" charset="0"/>
                <a:ea typeface="Calibri" pitchFamily="34" charset="-122"/>
                <a:cs typeface="Calibri" pitchFamily="34" charset="-120"/>
              </a:rPr>
              <a:t>ĐỒ ÁN TỐT NGHIỆP</a:t>
            </a:r>
            <a:endParaRPr lang="en-US" sz="1600" dirty="0"/>
          </a:p>
        </p:txBody>
      </p:sp>
      <p:sp>
        <p:nvSpPr>
          <p:cNvPr id="10" name="Text 7"/>
          <p:cNvSpPr/>
          <p:nvPr/>
        </p:nvSpPr>
        <p:spPr>
          <a:xfrm>
            <a:off x="1920240" y="2084832"/>
            <a:ext cx="7315200" cy="320040"/>
          </a:xfrm>
          <a:prstGeom prst="rect">
            <a:avLst/>
          </a:prstGeom>
          <a:noFill/>
          <a:ln/>
        </p:spPr>
        <p:txBody>
          <a:bodyPr wrap="square" lIns="0" tIns="0" rIns="0" bIns="0" rtlCol="0" anchor="ctr"/>
          <a:lstStyle/>
          <a:p>
            <a:pPr marL="0" indent="0">
              <a:buNone/>
            </a:pPr>
            <a:r>
              <a:rPr lang="en-US" sz="1250" dirty="0">
                <a:solidFill>
                  <a:srgbClr val="BFD6DF"/>
                </a:solidFill>
                <a:latin typeface="Calibri" pitchFamily="34" charset="0"/>
                <a:ea typeface="Calibri" pitchFamily="34" charset="-122"/>
                <a:cs typeface="Calibri" pitchFamily="34" charset="-120"/>
              </a:rPr>
              <a:t>Ngành: Công nghệ thông tin</a:t>
            </a:r>
            <a:endParaRPr lang="en-US" sz="1250" dirty="0"/>
          </a:p>
        </p:txBody>
      </p:sp>
      <p:sp>
        <p:nvSpPr>
          <p:cNvPr id="11" name="Text 8"/>
          <p:cNvSpPr/>
          <p:nvPr/>
        </p:nvSpPr>
        <p:spPr>
          <a:xfrm>
            <a:off x="777240" y="2697480"/>
            <a:ext cx="10424160" cy="1554480"/>
          </a:xfrm>
          <a:prstGeom prst="rect">
            <a:avLst/>
          </a:prstGeom>
          <a:noFill/>
          <a:ln/>
        </p:spPr>
        <p:txBody>
          <a:bodyPr wrap="square" lIns="0" tIns="0" rIns="0" bIns="0" rtlCol="0" anchor="ctr"/>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XÂY DỰNG HỆ THỐNG QUẢN LÝ</a:t>
            </a:r>
            <a:endParaRPr lang="en-US" sz="4000" dirty="0"/>
          </a:p>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VẬN HÀNH TÒA NHÀ — TOWNHUB</a:t>
            </a:r>
            <a:endParaRPr lang="en-US" sz="4000" dirty="0"/>
          </a:p>
        </p:txBody>
      </p:sp>
      <p:sp>
        <p:nvSpPr>
          <p:cNvPr id="12" name="Text 9"/>
          <p:cNvSpPr/>
          <p:nvPr/>
        </p:nvSpPr>
        <p:spPr>
          <a:xfrm>
            <a:off x="822960" y="4224528"/>
            <a:ext cx="10058400" cy="365760"/>
          </a:xfrm>
          <a:prstGeom prst="rect">
            <a:avLst/>
          </a:prstGeom>
          <a:noFill/>
          <a:ln/>
        </p:spPr>
        <p:txBody>
          <a:bodyPr wrap="square" lIns="0" tIns="0" rIns="0" bIns="0" rtlCol="0" anchor="ctr"/>
          <a:lstStyle/>
          <a:p>
            <a:pPr marL="0" indent="0">
              <a:buNone/>
            </a:pPr>
            <a:r>
              <a:rPr lang="en-US" sz="1500" i="1" dirty="0">
                <a:solidFill>
                  <a:srgbClr val="BFD6DF"/>
                </a:solidFill>
                <a:latin typeface="Calibri" pitchFamily="34" charset="0"/>
                <a:ea typeface="Calibri" pitchFamily="34" charset="-122"/>
                <a:cs typeface="Calibri" pitchFamily="34" charset="-120"/>
              </a:rPr>
              <a:t>Building Operation &amp; Maintenance Management System</a:t>
            </a:r>
            <a:endParaRPr lang="en-US" sz="1500" dirty="0"/>
          </a:p>
        </p:txBody>
      </p:sp>
      <p:sp>
        <p:nvSpPr>
          <p:cNvPr id="13" name="Shape 10"/>
          <p:cNvSpPr/>
          <p:nvPr/>
        </p:nvSpPr>
        <p:spPr>
          <a:xfrm>
            <a:off x="822960" y="5029200"/>
            <a:ext cx="5074920" cy="1234440"/>
          </a:xfrm>
          <a:prstGeom prst="roundRect">
            <a:avLst>
              <a:gd name="adj" fmla="val 8889"/>
            </a:avLst>
          </a:prstGeom>
          <a:solidFill>
            <a:srgbClr val="16385C"/>
          </a:solidFill>
          <a:ln/>
        </p:spPr>
      </p:sp>
      <p:sp>
        <p:nvSpPr>
          <p:cNvPr id="14" name="Text 11"/>
          <p:cNvSpPr/>
          <p:nvPr/>
        </p:nvSpPr>
        <p:spPr>
          <a:xfrm>
            <a:off x="1051560" y="5138928"/>
            <a:ext cx="4663440" cy="1005840"/>
          </a:xfrm>
          <a:prstGeom prst="rect">
            <a:avLst/>
          </a:prstGeom>
          <a:noFill/>
          <a:ln/>
        </p:spPr>
        <p:txBody>
          <a:bodyPr wrap="square" lIns="0" tIns="0" rIns="0" bIns="0" rtlCol="0" anchor="ctr"/>
          <a:lstStyle/>
          <a:p>
            <a:pPr marL="0" indent="0">
              <a:lnSpc>
                <a:spcPct val="100000"/>
              </a:lnSpc>
              <a:buNone/>
            </a:pPr>
            <a:r>
              <a:rPr lang="en-US" sz="1050" b="1" kern="0" dirty="0">
                <a:solidFill>
                  <a:srgbClr val="23B5A6"/>
                </a:solidFill>
                <a:latin typeface="Calibri" pitchFamily="34" charset="0"/>
                <a:ea typeface="Calibri" pitchFamily="34" charset="-122"/>
                <a:cs typeface="Calibri" pitchFamily="34" charset="-120"/>
              </a:rPr>
              <a:t>Sinh viên thực hiện (nhóm 3)</a:t>
            </a:r>
          </a:p>
          <a:p>
            <a:pPr marL="0" indent="0">
              <a:lnSpc>
                <a:spcPct val="100000"/>
              </a:lnSpc>
              <a:buNone/>
            </a:pPr>
            <a:r>
              <a:rPr lang="en-US" sz="1250" b="1" kern="0" dirty="0">
                <a:solidFill>
                  <a:srgbClr val="FFFFFF"/>
                </a:solidFill>
                <a:latin typeface="Calibri" pitchFamily="34" charset="0"/>
                <a:ea typeface="Calibri" pitchFamily="34" charset="-122"/>
                <a:cs typeface="Calibri" pitchFamily="34" charset="-120"/>
              </a:rPr>
              <a:t>Nguyễn Xuân Thưởng</a:t>
            </a:r>
            <a:r>
              <a:rPr lang="en-US" sz="1000" kern="0" dirty="0">
                <a:solidFill>
                  <a:srgbClr val="BFD6DF"/>
                </a:solidFill>
                <a:latin typeface="Calibri" pitchFamily="34" charset="0"/>
                <a:ea typeface="Calibri" pitchFamily="34" charset="-122"/>
                <a:cs typeface="Calibri" pitchFamily="34" charset="-120"/>
              </a:rPr>
              <a:t>   ·   Quản lý tài sản</a:t>
            </a:r>
          </a:p>
          <a:p>
            <a:pPr marL="0" indent="0">
              <a:lnSpc>
                <a:spcPct val="100000"/>
              </a:lnSpc>
              <a:spcBef>
                <a:spcPts val="300"/>
              </a:spcBef>
              <a:buNone/>
            </a:pPr>
            <a:r>
              <a:rPr lang="en-US" sz="1250" b="1" kern="0" dirty="0">
                <a:solidFill>
                  <a:srgbClr val="FFFFFF"/>
                </a:solidFill>
                <a:latin typeface="Calibri" pitchFamily="34" charset="0"/>
                <a:ea typeface="Calibri" pitchFamily="34" charset="-122"/>
                <a:cs typeface="Calibri" pitchFamily="34" charset="-120"/>
              </a:rPr>
              <a:t>Nguyễn Xuân Khải</a:t>
            </a:r>
            <a:r>
              <a:rPr lang="en-US" sz="1000" kern="0" dirty="0">
                <a:solidFill>
                  <a:srgbClr val="BFD6DF"/>
                </a:solidFill>
                <a:latin typeface="Calibri" pitchFamily="34" charset="0"/>
                <a:ea typeface="Calibri" pitchFamily="34" charset="-122"/>
                <a:cs typeface="Calibri" pitchFamily="34" charset="-120"/>
              </a:rPr>
              <a:t>   ·   Quản lý dịch vụ</a:t>
            </a:r>
          </a:p>
          <a:p>
            <a:pPr marL="0" indent="0">
              <a:lnSpc>
                <a:spcPct val="100000"/>
              </a:lnSpc>
              <a:spcBef>
                <a:spcPts val="300"/>
              </a:spcBef>
              <a:buNone/>
            </a:pPr>
            <a:r>
              <a:rPr lang="en-US" sz="1250" b="1" kern="0" dirty="0">
                <a:solidFill>
                  <a:srgbClr val="FFFFFF"/>
                </a:solidFill>
                <a:latin typeface="Calibri" pitchFamily="34" charset="0"/>
                <a:ea typeface="Calibri" pitchFamily="34" charset="-122"/>
                <a:cs typeface="Calibri" pitchFamily="34" charset="-120"/>
              </a:rPr>
              <a:t>Lương Thanh Tài</a:t>
            </a:r>
            <a:r>
              <a:rPr lang="en-US" sz="1000" kern="0" dirty="0">
                <a:solidFill>
                  <a:srgbClr val="BFD6DF"/>
                </a:solidFill>
                <a:latin typeface="Calibri" pitchFamily="34" charset="0"/>
                <a:ea typeface="Calibri" pitchFamily="34" charset="-122"/>
                <a:cs typeface="Calibri" pitchFamily="34" charset="-120"/>
              </a:rPr>
              <a:t>   ·   Quản lý dân cư</a:t>
            </a:r>
          </a:p>
        </p:txBody>
      </p:sp>
      <p:sp>
        <p:nvSpPr>
          <p:cNvPr id="15" name="Shape 12"/>
          <p:cNvSpPr/>
          <p:nvPr/>
        </p:nvSpPr>
        <p:spPr>
          <a:xfrm>
            <a:off x="6080760" y="5029200"/>
            <a:ext cx="5120640" cy="1234440"/>
          </a:xfrm>
          <a:prstGeom prst="roundRect">
            <a:avLst>
              <a:gd name="adj" fmla="val 8889"/>
            </a:avLst>
          </a:prstGeom>
          <a:solidFill>
            <a:srgbClr val="16385C"/>
          </a:solidFill>
          <a:ln/>
        </p:spPr>
      </p:sp>
      <p:sp>
        <p:nvSpPr>
          <p:cNvPr id="16" name="Text 13"/>
          <p:cNvSpPr/>
          <p:nvPr/>
        </p:nvSpPr>
        <p:spPr>
          <a:xfrm>
            <a:off x="6309360" y="5138928"/>
            <a:ext cx="4663440" cy="1005840"/>
          </a:xfrm>
          <a:prstGeom prst="rect">
            <a:avLst/>
          </a:prstGeom>
          <a:noFill/>
          <a:ln/>
        </p:spPr>
        <p:txBody>
          <a:bodyPr wrap="square" lIns="0" tIns="0" rIns="0" bIns="0" rtlCol="0" anchor="ctr"/>
          <a:lstStyle/>
          <a:p>
            <a:pPr marL="0" indent="0">
              <a:lnSpc>
                <a:spcPct val="110000"/>
              </a:lnSpc>
              <a:buNone/>
            </a:pPr>
            <a:r>
              <a:rPr lang="en-US" sz="1100" b="1" dirty="0">
                <a:solidFill>
                  <a:srgbClr val="23B5A6"/>
                </a:solidFill>
                <a:latin typeface="Calibri" pitchFamily="34" charset="0"/>
                <a:ea typeface="Calibri" pitchFamily="34" charset="-122"/>
                <a:cs typeface="Calibri" pitchFamily="34" charset="-120"/>
              </a:rPr>
              <a:t>Giảng viên hướng dẫn</a:t>
            </a:r>
            <a:r>
              <a:rPr lang="en-US" sz="1100" b="1">
                <a:solidFill>
                  <a:srgbClr val="23B5A6"/>
                </a:solidFill>
                <a:latin typeface="Calibri" pitchFamily="34" charset="0"/>
                <a:ea typeface="Calibri" pitchFamily="34" charset="-122"/>
                <a:cs typeface="Calibri" pitchFamily="34" charset="-120"/>
              </a:rPr>
              <a:t>
</a:t>
            </a:r>
            <a:r>
              <a:rPr lang="en-US" sz="1700" b="1">
                <a:solidFill>
                  <a:srgbClr val="FFFFFF"/>
                </a:solidFill>
                <a:latin typeface="Calibri" pitchFamily="34" charset="0"/>
                <a:ea typeface="Calibri" pitchFamily="34" charset="-122"/>
                <a:cs typeface="Calibri" pitchFamily="34" charset="-120"/>
              </a:rPr>
              <a:t>TS</a:t>
            </a:r>
            <a:r>
              <a:rPr lang="en-US" sz="1700" b="1" dirty="0">
                <a:solidFill>
                  <a:srgbClr val="FFFFFF"/>
                </a:solidFill>
                <a:latin typeface="Calibri" pitchFamily="34" charset="0"/>
                <a:ea typeface="Calibri" pitchFamily="34" charset="-122"/>
                <a:cs typeface="Calibri" pitchFamily="34" charset="-120"/>
              </a:rPr>
              <a:t>. Hoàng Nam Thắng</a:t>
            </a:r>
            <a:endParaRPr lang="en-US" sz="1100" dirty="0"/>
          </a:p>
          <a:p>
            <a:pPr marL="0" indent="0">
              <a:lnSpc>
                <a:spcPct val="110000"/>
              </a:lnSpc>
              <a:buNone/>
            </a:pPr>
            <a:r>
              <a:rPr lang="en-US" sz="1150" dirty="0">
                <a:solidFill>
                  <a:srgbClr val="BFD6DF"/>
                </a:solidFill>
                <a:latin typeface="Calibri" pitchFamily="34" charset="0"/>
                <a:ea typeface="Calibri" pitchFamily="34" charset="-122"/>
                <a:cs typeface="Calibri" pitchFamily="34" charset="-120"/>
              </a:rPr>
              <a:t>Khoa Công nghệ thông tin</a:t>
            </a:r>
            <a:endParaRPr lang="en-US" sz="1100" dirty="0"/>
          </a:p>
        </p:txBody>
      </p:sp>
      <p:sp>
        <p:nvSpPr>
          <p:cNvPr id="17" name="Text 14"/>
          <p:cNvSpPr/>
          <p:nvPr/>
        </p:nvSpPr>
        <p:spPr>
          <a:xfrm>
            <a:off x="822960" y="6419088"/>
            <a:ext cx="10424160" cy="320040"/>
          </a:xfrm>
          <a:prstGeom prst="rect">
            <a:avLst/>
          </a:prstGeom>
          <a:noFill/>
          <a:ln/>
        </p:spPr>
        <p:txBody>
          <a:bodyPr wrap="square" lIns="0" tIns="0" rIns="0" bIns="0" rtlCol="0" anchor="ctr"/>
          <a:lstStyle/>
          <a:p>
            <a:pPr marL="0" indent="0" algn="ctr">
              <a:buNone/>
            </a:pPr>
            <a:r>
              <a:rPr lang="en-US" sz="1200" b="1" kern="0" spc="300" dirty="0">
                <a:solidFill>
                  <a:srgbClr val="BFD6DF"/>
                </a:solidFill>
                <a:latin typeface="Calibri" pitchFamily="34" charset="0"/>
                <a:ea typeface="Calibri" pitchFamily="34" charset="-122"/>
                <a:cs typeface="Calibri" pitchFamily="34" charset="-120"/>
              </a:rPr>
              <a:t>HÀ NỘI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NỘI DUNG TRÌNH BÀY</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Cấu trúc bài trình bày</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00200"/>
            <a:ext cx="5257800" cy="1371600"/>
          </a:xfrm>
          <a:prstGeom prst="roundRect">
            <a:avLst>
              <a:gd name="adj" fmla="val 7333"/>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822960" y="1892808"/>
            <a:ext cx="786384" cy="786384"/>
          </a:xfrm>
          <a:prstGeom prst="roundRect">
            <a:avLst>
              <a:gd name="adj" fmla="val 50000"/>
            </a:avLst>
          </a:prstGeom>
          <a:solidFill>
            <a:srgbClr val="0E7C86"/>
          </a:solidFill>
          <a:ln/>
        </p:spPr>
      </p:sp>
      <p:pic>
        <p:nvPicPr>
          <p:cNvPr id="10" name="Image 0" descr="preencoded.png"/>
          <p:cNvPicPr>
            <a:picLocks noChangeAspect="1"/>
          </p:cNvPicPr>
          <p:nvPr/>
        </p:nvPicPr>
        <p:blipFill>
          <a:blip r:embed="rId3"/>
          <a:stretch>
            <a:fillRect/>
          </a:stretch>
        </p:blipFill>
        <p:spPr>
          <a:xfrm>
            <a:off x="1011692" y="2081540"/>
            <a:ext cx="408920" cy="408920"/>
          </a:xfrm>
          <a:prstGeom prst="rect">
            <a:avLst/>
          </a:prstGeom>
        </p:spPr>
      </p:pic>
      <p:sp>
        <p:nvSpPr>
          <p:cNvPr id="11" name="Shape 8"/>
          <p:cNvSpPr/>
          <p:nvPr/>
        </p:nvSpPr>
        <p:spPr>
          <a:xfrm>
            <a:off x="4910328" y="1819656"/>
            <a:ext cx="603504" cy="384048"/>
          </a:xfrm>
          <a:prstGeom prst="roundRect">
            <a:avLst>
              <a:gd name="adj" fmla="val 23810"/>
            </a:avLst>
          </a:prstGeom>
          <a:solidFill>
            <a:srgbClr val="F1F5F8"/>
          </a:solidFill>
          <a:ln/>
        </p:spPr>
      </p:sp>
      <p:sp>
        <p:nvSpPr>
          <p:cNvPr id="12" name="Text 9"/>
          <p:cNvSpPr/>
          <p:nvPr/>
        </p:nvSpPr>
        <p:spPr>
          <a:xfrm>
            <a:off x="4910328" y="1819656"/>
            <a:ext cx="603504" cy="384048"/>
          </a:xfrm>
          <a:prstGeom prst="rect">
            <a:avLst/>
          </a:prstGeom>
          <a:noFill/>
          <a:ln/>
        </p:spPr>
        <p:txBody>
          <a:bodyPr wrap="square" lIns="0" tIns="0" rIns="0" bIns="0" rtlCol="0" anchor="ctr"/>
          <a:lstStyle/>
          <a:p>
            <a:pPr marL="0" indent="0" algn="ctr">
              <a:buNone/>
            </a:pPr>
            <a:r>
              <a:rPr lang="en-US" sz="1500" b="1" dirty="0">
                <a:solidFill>
                  <a:srgbClr val="0E7C86"/>
                </a:solidFill>
                <a:latin typeface="Cambria" pitchFamily="34" charset="0"/>
                <a:ea typeface="Cambria" pitchFamily="34" charset="-122"/>
                <a:cs typeface="Cambria" pitchFamily="34" charset="-120"/>
              </a:rPr>
              <a:t>01</a:t>
            </a:r>
            <a:endParaRPr lang="en-US" sz="1500" dirty="0"/>
          </a:p>
        </p:txBody>
      </p:sp>
      <p:sp>
        <p:nvSpPr>
          <p:cNvPr id="13" name="Text 10"/>
          <p:cNvSpPr/>
          <p:nvPr/>
        </p:nvSpPr>
        <p:spPr>
          <a:xfrm>
            <a:off x="1773936" y="1874520"/>
            <a:ext cx="3200400" cy="41148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Đặt vấn đề &amp; mục tiêu</a:t>
            </a:r>
            <a:endParaRPr lang="en-US" sz="1500" dirty="0"/>
          </a:p>
        </p:txBody>
      </p:sp>
      <p:sp>
        <p:nvSpPr>
          <p:cNvPr id="14" name="Text 11"/>
          <p:cNvSpPr/>
          <p:nvPr/>
        </p:nvSpPr>
        <p:spPr>
          <a:xfrm>
            <a:off x="1773936" y="2295144"/>
            <a:ext cx="384048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Bối cảnh, hiện trạng, phân công nhóm</a:t>
            </a:r>
            <a:endParaRPr lang="en-US" sz="1150" dirty="0"/>
          </a:p>
        </p:txBody>
      </p:sp>
      <p:sp>
        <p:nvSpPr>
          <p:cNvPr id="15" name="Shape 12"/>
          <p:cNvSpPr/>
          <p:nvPr/>
        </p:nvSpPr>
        <p:spPr>
          <a:xfrm>
            <a:off x="6144768" y="1600200"/>
            <a:ext cx="5257800" cy="1371600"/>
          </a:xfrm>
          <a:prstGeom prst="roundRect">
            <a:avLst>
              <a:gd name="adj" fmla="val 7333"/>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6" name="Shape 13"/>
          <p:cNvSpPr/>
          <p:nvPr/>
        </p:nvSpPr>
        <p:spPr>
          <a:xfrm>
            <a:off x="6400800" y="1892808"/>
            <a:ext cx="786384" cy="786384"/>
          </a:xfrm>
          <a:prstGeom prst="roundRect">
            <a:avLst>
              <a:gd name="adj" fmla="val 50000"/>
            </a:avLst>
          </a:prstGeom>
          <a:solidFill>
            <a:srgbClr val="0E7C86"/>
          </a:solidFill>
          <a:ln/>
        </p:spPr>
      </p:sp>
      <p:pic>
        <p:nvPicPr>
          <p:cNvPr id="17" name="Image 1" descr="preencoded.png"/>
          <p:cNvPicPr>
            <a:picLocks noChangeAspect="1"/>
          </p:cNvPicPr>
          <p:nvPr/>
        </p:nvPicPr>
        <p:blipFill>
          <a:blip r:embed="rId4"/>
          <a:stretch>
            <a:fillRect/>
          </a:stretch>
        </p:blipFill>
        <p:spPr>
          <a:xfrm>
            <a:off x="6589532" y="2081540"/>
            <a:ext cx="408920" cy="408920"/>
          </a:xfrm>
          <a:prstGeom prst="rect">
            <a:avLst/>
          </a:prstGeom>
        </p:spPr>
      </p:pic>
      <p:sp>
        <p:nvSpPr>
          <p:cNvPr id="18" name="Shape 14"/>
          <p:cNvSpPr/>
          <p:nvPr/>
        </p:nvSpPr>
        <p:spPr>
          <a:xfrm>
            <a:off x="10488168" y="1819656"/>
            <a:ext cx="603504" cy="384048"/>
          </a:xfrm>
          <a:prstGeom prst="roundRect">
            <a:avLst>
              <a:gd name="adj" fmla="val 23810"/>
            </a:avLst>
          </a:prstGeom>
          <a:solidFill>
            <a:srgbClr val="F1F5F8"/>
          </a:solidFill>
          <a:ln/>
        </p:spPr>
      </p:sp>
      <p:sp>
        <p:nvSpPr>
          <p:cNvPr id="19" name="Text 15"/>
          <p:cNvSpPr/>
          <p:nvPr/>
        </p:nvSpPr>
        <p:spPr>
          <a:xfrm>
            <a:off x="10488168" y="1819656"/>
            <a:ext cx="603504" cy="384048"/>
          </a:xfrm>
          <a:prstGeom prst="rect">
            <a:avLst/>
          </a:prstGeom>
          <a:noFill/>
          <a:ln/>
        </p:spPr>
        <p:txBody>
          <a:bodyPr wrap="square" lIns="0" tIns="0" rIns="0" bIns="0" rtlCol="0" anchor="ctr"/>
          <a:lstStyle/>
          <a:p>
            <a:pPr marL="0" indent="0" algn="ctr">
              <a:buNone/>
            </a:pPr>
            <a:r>
              <a:rPr lang="en-US" sz="1500" b="1" dirty="0">
                <a:solidFill>
                  <a:srgbClr val="0E7C86"/>
                </a:solidFill>
                <a:latin typeface="Cambria" pitchFamily="34" charset="0"/>
                <a:ea typeface="Cambria" pitchFamily="34" charset="-122"/>
                <a:cs typeface="Cambria" pitchFamily="34" charset="-120"/>
              </a:rPr>
              <a:t>02</a:t>
            </a:r>
            <a:endParaRPr lang="en-US" sz="1500" dirty="0"/>
          </a:p>
        </p:txBody>
      </p:sp>
      <p:sp>
        <p:nvSpPr>
          <p:cNvPr id="20" name="Text 16"/>
          <p:cNvSpPr/>
          <p:nvPr/>
        </p:nvSpPr>
        <p:spPr>
          <a:xfrm>
            <a:off x="7351776" y="1874520"/>
            <a:ext cx="3200400" cy="41148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Khảo sát &amp; giải pháp</a:t>
            </a:r>
            <a:endParaRPr lang="en-US" sz="1500" dirty="0"/>
          </a:p>
        </p:txBody>
      </p:sp>
      <p:sp>
        <p:nvSpPr>
          <p:cNvPr id="21" name="Text 17"/>
          <p:cNvSpPr/>
          <p:nvPr/>
        </p:nvSpPr>
        <p:spPr>
          <a:xfrm>
            <a:off x="7351776" y="2295144"/>
            <a:ext cx="384048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So sánh giải pháp, định vị TownHub</a:t>
            </a:r>
            <a:endParaRPr lang="en-US" sz="1150" dirty="0"/>
          </a:p>
        </p:txBody>
      </p:sp>
      <p:sp>
        <p:nvSpPr>
          <p:cNvPr id="22" name="Shape 18"/>
          <p:cNvSpPr/>
          <p:nvPr/>
        </p:nvSpPr>
        <p:spPr>
          <a:xfrm>
            <a:off x="566928" y="3227832"/>
            <a:ext cx="5257800" cy="1371600"/>
          </a:xfrm>
          <a:prstGeom prst="roundRect">
            <a:avLst>
              <a:gd name="adj" fmla="val 7333"/>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3" name="Shape 19"/>
          <p:cNvSpPr/>
          <p:nvPr/>
        </p:nvSpPr>
        <p:spPr>
          <a:xfrm>
            <a:off x="822960" y="3520440"/>
            <a:ext cx="786384" cy="786384"/>
          </a:xfrm>
          <a:prstGeom prst="roundRect">
            <a:avLst>
              <a:gd name="adj" fmla="val 50000"/>
            </a:avLst>
          </a:prstGeom>
          <a:solidFill>
            <a:srgbClr val="0E7C86"/>
          </a:solidFill>
          <a:ln/>
        </p:spPr>
      </p:sp>
      <p:pic>
        <p:nvPicPr>
          <p:cNvPr id="24" name="Image 2" descr="preencoded.png"/>
          <p:cNvPicPr>
            <a:picLocks noChangeAspect="1"/>
          </p:cNvPicPr>
          <p:nvPr/>
        </p:nvPicPr>
        <p:blipFill>
          <a:blip r:embed="rId5"/>
          <a:stretch>
            <a:fillRect/>
          </a:stretch>
        </p:blipFill>
        <p:spPr>
          <a:xfrm>
            <a:off x="1011692" y="3709172"/>
            <a:ext cx="408920" cy="408920"/>
          </a:xfrm>
          <a:prstGeom prst="rect">
            <a:avLst/>
          </a:prstGeom>
        </p:spPr>
      </p:pic>
      <p:sp>
        <p:nvSpPr>
          <p:cNvPr id="25" name="Shape 20"/>
          <p:cNvSpPr/>
          <p:nvPr/>
        </p:nvSpPr>
        <p:spPr>
          <a:xfrm>
            <a:off x="4910328" y="3447288"/>
            <a:ext cx="603504" cy="384048"/>
          </a:xfrm>
          <a:prstGeom prst="roundRect">
            <a:avLst>
              <a:gd name="adj" fmla="val 23810"/>
            </a:avLst>
          </a:prstGeom>
          <a:solidFill>
            <a:srgbClr val="F1F5F8"/>
          </a:solidFill>
          <a:ln/>
        </p:spPr>
      </p:sp>
      <p:sp>
        <p:nvSpPr>
          <p:cNvPr id="26" name="Text 21"/>
          <p:cNvSpPr/>
          <p:nvPr/>
        </p:nvSpPr>
        <p:spPr>
          <a:xfrm>
            <a:off x="4910328" y="3447288"/>
            <a:ext cx="603504" cy="384048"/>
          </a:xfrm>
          <a:prstGeom prst="rect">
            <a:avLst/>
          </a:prstGeom>
          <a:noFill/>
          <a:ln/>
        </p:spPr>
        <p:txBody>
          <a:bodyPr wrap="square" lIns="0" tIns="0" rIns="0" bIns="0" rtlCol="0" anchor="ctr"/>
          <a:lstStyle/>
          <a:p>
            <a:pPr marL="0" indent="0" algn="ctr">
              <a:buNone/>
            </a:pPr>
            <a:r>
              <a:rPr lang="en-US" sz="1500" b="1" dirty="0">
                <a:solidFill>
                  <a:srgbClr val="0E7C86"/>
                </a:solidFill>
                <a:latin typeface="Cambria" pitchFamily="34" charset="0"/>
                <a:ea typeface="Cambria" pitchFamily="34" charset="-122"/>
                <a:cs typeface="Cambria" pitchFamily="34" charset="-120"/>
              </a:rPr>
              <a:t>03</a:t>
            </a:r>
            <a:endParaRPr lang="en-US" sz="1500" dirty="0"/>
          </a:p>
        </p:txBody>
      </p:sp>
      <p:sp>
        <p:nvSpPr>
          <p:cNvPr id="27" name="Text 22"/>
          <p:cNvSpPr/>
          <p:nvPr/>
        </p:nvSpPr>
        <p:spPr>
          <a:xfrm>
            <a:off x="1773936" y="3502152"/>
            <a:ext cx="3200400" cy="41148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Công nghệ &amp; kiến trúc</a:t>
            </a:r>
            <a:endParaRPr lang="en-US" sz="1500" dirty="0"/>
          </a:p>
        </p:txBody>
      </p:sp>
      <p:sp>
        <p:nvSpPr>
          <p:cNvPr id="28" name="Text 23"/>
          <p:cNvSpPr/>
          <p:nvPr/>
        </p:nvSpPr>
        <p:spPr>
          <a:xfrm>
            <a:off x="1773936" y="3922776"/>
            <a:ext cx="384048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.NET 8 · Next.js 16 · kiến trúc module hóa</a:t>
            </a:r>
            <a:endParaRPr lang="en-US" sz="1150" dirty="0"/>
          </a:p>
        </p:txBody>
      </p:sp>
      <p:sp>
        <p:nvSpPr>
          <p:cNvPr id="29" name="Shape 24"/>
          <p:cNvSpPr/>
          <p:nvPr/>
        </p:nvSpPr>
        <p:spPr>
          <a:xfrm>
            <a:off x="6144768" y="3227832"/>
            <a:ext cx="5257800" cy="1371600"/>
          </a:xfrm>
          <a:prstGeom prst="roundRect">
            <a:avLst>
              <a:gd name="adj" fmla="val 7333"/>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0" name="Shape 25"/>
          <p:cNvSpPr/>
          <p:nvPr/>
        </p:nvSpPr>
        <p:spPr>
          <a:xfrm>
            <a:off x="6400800" y="3520440"/>
            <a:ext cx="786384" cy="786384"/>
          </a:xfrm>
          <a:prstGeom prst="roundRect">
            <a:avLst>
              <a:gd name="adj" fmla="val 50000"/>
            </a:avLst>
          </a:prstGeom>
          <a:solidFill>
            <a:srgbClr val="0E7C86"/>
          </a:solidFill>
          <a:ln/>
        </p:spPr>
      </p:sp>
      <p:pic>
        <p:nvPicPr>
          <p:cNvPr id="31" name="Image 3" descr="preencoded.png"/>
          <p:cNvPicPr>
            <a:picLocks noChangeAspect="1"/>
          </p:cNvPicPr>
          <p:nvPr/>
        </p:nvPicPr>
        <p:blipFill>
          <a:blip r:embed="rId6"/>
          <a:stretch>
            <a:fillRect/>
          </a:stretch>
        </p:blipFill>
        <p:spPr>
          <a:xfrm>
            <a:off x="6589532" y="3709172"/>
            <a:ext cx="408920" cy="408920"/>
          </a:xfrm>
          <a:prstGeom prst="rect">
            <a:avLst/>
          </a:prstGeom>
        </p:spPr>
      </p:pic>
      <p:sp>
        <p:nvSpPr>
          <p:cNvPr id="32" name="Shape 26"/>
          <p:cNvSpPr/>
          <p:nvPr/>
        </p:nvSpPr>
        <p:spPr>
          <a:xfrm>
            <a:off x="10488168" y="3447288"/>
            <a:ext cx="603504" cy="384048"/>
          </a:xfrm>
          <a:prstGeom prst="roundRect">
            <a:avLst>
              <a:gd name="adj" fmla="val 23810"/>
            </a:avLst>
          </a:prstGeom>
          <a:solidFill>
            <a:srgbClr val="F1F5F8"/>
          </a:solidFill>
          <a:ln/>
        </p:spPr>
      </p:sp>
      <p:sp>
        <p:nvSpPr>
          <p:cNvPr id="33" name="Text 27"/>
          <p:cNvSpPr/>
          <p:nvPr/>
        </p:nvSpPr>
        <p:spPr>
          <a:xfrm>
            <a:off x="10488168" y="3447288"/>
            <a:ext cx="603504" cy="384048"/>
          </a:xfrm>
          <a:prstGeom prst="rect">
            <a:avLst/>
          </a:prstGeom>
          <a:noFill/>
          <a:ln/>
        </p:spPr>
        <p:txBody>
          <a:bodyPr wrap="square" lIns="0" tIns="0" rIns="0" bIns="0" rtlCol="0" anchor="ctr"/>
          <a:lstStyle/>
          <a:p>
            <a:pPr marL="0" indent="0" algn="ctr">
              <a:buNone/>
            </a:pPr>
            <a:r>
              <a:rPr lang="en-US" sz="1500" b="1" dirty="0">
                <a:solidFill>
                  <a:srgbClr val="0E7C86"/>
                </a:solidFill>
                <a:latin typeface="Cambria" pitchFamily="34" charset="0"/>
                <a:ea typeface="Cambria" pitchFamily="34" charset="-122"/>
                <a:cs typeface="Cambria" pitchFamily="34" charset="-120"/>
              </a:rPr>
              <a:t>04</a:t>
            </a:r>
            <a:endParaRPr lang="en-US" sz="1500" dirty="0"/>
          </a:p>
        </p:txBody>
      </p:sp>
      <p:sp>
        <p:nvSpPr>
          <p:cNvPr id="34" name="Text 28"/>
          <p:cNvSpPr/>
          <p:nvPr/>
        </p:nvSpPr>
        <p:spPr>
          <a:xfrm>
            <a:off x="7351776" y="3502152"/>
            <a:ext cx="3200400" cy="41148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Module Base (phần chung)</a:t>
            </a:r>
            <a:endParaRPr lang="en-US" sz="1500" dirty="0"/>
          </a:p>
        </p:txBody>
      </p:sp>
      <p:sp>
        <p:nvSpPr>
          <p:cNvPr id="35" name="Text 29"/>
          <p:cNvSpPr/>
          <p:nvPr/>
        </p:nvSpPr>
        <p:spPr>
          <a:xfrm>
            <a:off x="7351776" y="3922776"/>
            <a:ext cx="384048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Auth/RBAC · dữ liệu lõi · thông báo · báo cáo</a:t>
            </a:r>
            <a:endParaRPr lang="en-US" sz="1150" dirty="0"/>
          </a:p>
        </p:txBody>
      </p:sp>
      <p:sp>
        <p:nvSpPr>
          <p:cNvPr id="36" name="Shape 30"/>
          <p:cNvSpPr/>
          <p:nvPr/>
        </p:nvSpPr>
        <p:spPr>
          <a:xfrm>
            <a:off x="566928" y="4855464"/>
            <a:ext cx="5257800" cy="1371600"/>
          </a:xfrm>
          <a:prstGeom prst="roundRect">
            <a:avLst>
              <a:gd name="adj" fmla="val 7333"/>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7" name="Shape 31"/>
          <p:cNvSpPr/>
          <p:nvPr/>
        </p:nvSpPr>
        <p:spPr>
          <a:xfrm>
            <a:off x="822960" y="5148072"/>
            <a:ext cx="786384" cy="786384"/>
          </a:xfrm>
          <a:prstGeom prst="roundRect">
            <a:avLst>
              <a:gd name="adj" fmla="val 50000"/>
            </a:avLst>
          </a:prstGeom>
          <a:solidFill>
            <a:srgbClr val="EFA13C"/>
          </a:solidFill>
          <a:ln/>
        </p:spPr>
      </p:sp>
      <p:pic>
        <p:nvPicPr>
          <p:cNvPr id="38" name="Image 4" descr="preencoded.png"/>
          <p:cNvPicPr>
            <a:picLocks noChangeAspect="1"/>
          </p:cNvPicPr>
          <p:nvPr/>
        </p:nvPicPr>
        <p:blipFill>
          <a:blip r:embed="rId7"/>
          <a:stretch>
            <a:fillRect/>
          </a:stretch>
        </p:blipFill>
        <p:spPr>
          <a:xfrm>
            <a:off x="1011692" y="5336804"/>
            <a:ext cx="408920" cy="408920"/>
          </a:xfrm>
          <a:prstGeom prst="rect">
            <a:avLst/>
          </a:prstGeom>
        </p:spPr>
      </p:pic>
      <p:sp>
        <p:nvSpPr>
          <p:cNvPr id="39" name="Shape 32"/>
          <p:cNvSpPr/>
          <p:nvPr/>
        </p:nvSpPr>
        <p:spPr>
          <a:xfrm>
            <a:off x="4910328" y="5074920"/>
            <a:ext cx="603504" cy="384048"/>
          </a:xfrm>
          <a:prstGeom prst="roundRect">
            <a:avLst>
              <a:gd name="adj" fmla="val 23810"/>
            </a:avLst>
          </a:prstGeom>
          <a:solidFill>
            <a:srgbClr val="F1F5F8"/>
          </a:solidFill>
          <a:ln/>
        </p:spPr>
      </p:sp>
      <p:sp>
        <p:nvSpPr>
          <p:cNvPr id="40" name="Text 33"/>
          <p:cNvSpPr/>
          <p:nvPr/>
        </p:nvSpPr>
        <p:spPr>
          <a:xfrm>
            <a:off x="4910328" y="5074920"/>
            <a:ext cx="603504" cy="384048"/>
          </a:xfrm>
          <a:prstGeom prst="rect">
            <a:avLst/>
          </a:prstGeom>
          <a:noFill/>
          <a:ln/>
        </p:spPr>
        <p:txBody>
          <a:bodyPr wrap="square" lIns="0" tIns="0" rIns="0" bIns="0" rtlCol="0" anchor="ctr"/>
          <a:lstStyle/>
          <a:p>
            <a:pPr marL="0" indent="0" algn="ctr">
              <a:buNone/>
            </a:pPr>
            <a:r>
              <a:rPr lang="en-US" sz="1500" b="1" dirty="0">
                <a:solidFill>
                  <a:srgbClr val="EFA13C"/>
                </a:solidFill>
                <a:latin typeface="Cambria" pitchFamily="34" charset="0"/>
                <a:ea typeface="Cambria" pitchFamily="34" charset="-122"/>
                <a:cs typeface="Cambria" pitchFamily="34" charset="-120"/>
              </a:rPr>
              <a:t>05</a:t>
            </a:r>
            <a:endParaRPr lang="en-US" sz="1500" dirty="0"/>
          </a:p>
        </p:txBody>
      </p:sp>
      <p:sp>
        <p:nvSpPr>
          <p:cNvPr id="41" name="Text 34"/>
          <p:cNvSpPr/>
          <p:nvPr/>
        </p:nvSpPr>
        <p:spPr>
          <a:xfrm>
            <a:off x="1773936" y="5129784"/>
            <a:ext cx="3200400" cy="41148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Ba phân hệ nghiệp vụ</a:t>
            </a:r>
            <a:endParaRPr lang="en-US" sz="1500" dirty="0"/>
          </a:p>
        </p:txBody>
      </p:sp>
      <p:sp>
        <p:nvSpPr>
          <p:cNvPr id="42" name="Text 35"/>
          <p:cNvSpPr/>
          <p:nvPr/>
        </p:nvSpPr>
        <p:spPr>
          <a:xfrm>
            <a:off x="1773936" y="5550408"/>
            <a:ext cx="384048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Tài sản (phần riêng) · Dịch vụ · Dân cư</a:t>
            </a:r>
            <a:endParaRPr lang="en-US" sz="1150" dirty="0"/>
          </a:p>
        </p:txBody>
      </p:sp>
      <p:sp>
        <p:nvSpPr>
          <p:cNvPr id="43" name="Shape 36"/>
          <p:cNvSpPr/>
          <p:nvPr/>
        </p:nvSpPr>
        <p:spPr>
          <a:xfrm>
            <a:off x="6144768" y="4855464"/>
            <a:ext cx="5257800" cy="1371600"/>
          </a:xfrm>
          <a:prstGeom prst="roundRect">
            <a:avLst>
              <a:gd name="adj" fmla="val 7333"/>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44" name="Shape 37"/>
          <p:cNvSpPr/>
          <p:nvPr/>
        </p:nvSpPr>
        <p:spPr>
          <a:xfrm>
            <a:off x="6400800" y="5148072"/>
            <a:ext cx="786384" cy="786384"/>
          </a:xfrm>
          <a:prstGeom prst="roundRect">
            <a:avLst>
              <a:gd name="adj" fmla="val 50000"/>
            </a:avLst>
          </a:prstGeom>
          <a:solidFill>
            <a:srgbClr val="0E7C86"/>
          </a:solidFill>
          <a:ln/>
        </p:spPr>
      </p:sp>
      <p:pic>
        <p:nvPicPr>
          <p:cNvPr id="45" name="Image 5" descr="preencoded.png"/>
          <p:cNvPicPr>
            <a:picLocks noChangeAspect="1"/>
          </p:cNvPicPr>
          <p:nvPr/>
        </p:nvPicPr>
        <p:blipFill>
          <a:blip r:embed="rId8"/>
          <a:stretch>
            <a:fillRect/>
          </a:stretch>
        </p:blipFill>
        <p:spPr>
          <a:xfrm>
            <a:off x="6589532" y="5336804"/>
            <a:ext cx="408920" cy="408920"/>
          </a:xfrm>
          <a:prstGeom prst="rect">
            <a:avLst/>
          </a:prstGeom>
        </p:spPr>
      </p:pic>
      <p:sp>
        <p:nvSpPr>
          <p:cNvPr id="46" name="Shape 38"/>
          <p:cNvSpPr/>
          <p:nvPr/>
        </p:nvSpPr>
        <p:spPr>
          <a:xfrm>
            <a:off x="10488168" y="5074920"/>
            <a:ext cx="603504" cy="384048"/>
          </a:xfrm>
          <a:prstGeom prst="roundRect">
            <a:avLst>
              <a:gd name="adj" fmla="val 23810"/>
            </a:avLst>
          </a:prstGeom>
          <a:solidFill>
            <a:srgbClr val="F1F5F8"/>
          </a:solidFill>
          <a:ln/>
        </p:spPr>
      </p:sp>
      <p:sp>
        <p:nvSpPr>
          <p:cNvPr id="47" name="Text 39"/>
          <p:cNvSpPr/>
          <p:nvPr/>
        </p:nvSpPr>
        <p:spPr>
          <a:xfrm>
            <a:off x="10488168" y="5074920"/>
            <a:ext cx="603504" cy="384048"/>
          </a:xfrm>
          <a:prstGeom prst="rect">
            <a:avLst/>
          </a:prstGeom>
          <a:noFill/>
          <a:ln/>
        </p:spPr>
        <p:txBody>
          <a:bodyPr wrap="square" lIns="0" tIns="0" rIns="0" bIns="0" rtlCol="0" anchor="ctr"/>
          <a:lstStyle/>
          <a:p>
            <a:pPr marL="0" indent="0" algn="ctr">
              <a:buNone/>
            </a:pPr>
            <a:r>
              <a:rPr lang="en-US" sz="1500" b="1" dirty="0">
                <a:solidFill>
                  <a:srgbClr val="0E7C86"/>
                </a:solidFill>
                <a:latin typeface="Cambria" pitchFamily="34" charset="0"/>
                <a:ea typeface="Cambria" pitchFamily="34" charset="-122"/>
                <a:cs typeface="Cambria" pitchFamily="34" charset="-120"/>
              </a:rPr>
              <a:t>06</a:t>
            </a:r>
            <a:endParaRPr lang="en-US" sz="1500" dirty="0"/>
          </a:p>
        </p:txBody>
      </p:sp>
      <p:sp>
        <p:nvSpPr>
          <p:cNvPr id="48" name="Text 40"/>
          <p:cNvSpPr/>
          <p:nvPr/>
        </p:nvSpPr>
        <p:spPr>
          <a:xfrm>
            <a:off x="7351776" y="5129784"/>
            <a:ext cx="3200400" cy="41148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Triển khai · Kiểm thử · Kết luận</a:t>
            </a:r>
            <a:endParaRPr lang="en-US" sz="1500" dirty="0"/>
          </a:p>
        </p:txBody>
      </p:sp>
      <p:sp>
        <p:nvSpPr>
          <p:cNvPr id="49" name="Text 41"/>
          <p:cNvSpPr/>
          <p:nvPr/>
        </p:nvSpPr>
        <p:spPr>
          <a:xfrm>
            <a:off x="7351776" y="5550408"/>
            <a:ext cx="384048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Docker/Fly.io, kết quả &amp; hướng phát triển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01 · ĐẶT VẤN ĐỀ</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Vì sao cần số hóa quản lý vận hành tòa nhà?</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Text 6"/>
          <p:cNvSpPr/>
          <p:nvPr/>
        </p:nvSpPr>
        <p:spPr>
          <a:xfrm>
            <a:off x="566928" y="1691640"/>
            <a:ext cx="5943600" cy="4206240"/>
          </a:xfrm>
          <a:prstGeom prst="rect">
            <a:avLst/>
          </a:prstGeom>
          <a:noFill/>
          <a:ln/>
        </p:spPr>
        <p:txBody>
          <a:bodyPr wrap="square" lIns="0" tIns="0" rIns="0" bIns="0" rtlCol="0" anchor="t"/>
          <a:lstStyle/>
          <a:p>
            <a:pPr marL="0" indent="0">
              <a:lnSpc>
                <a:spcPct val="105000"/>
              </a:lnSpc>
              <a:spcAft>
                <a:spcPts val="300"/>
              </a:spcAft>
              <a:buNone/>
            </a:pPr>
            <a:r>
              <a:rPr lang="en-US" sz="1500" b="1" dirty="0">
                <a:solidFill>
                  <a:srgbClr val="0E2A47"/>
                </a:solidFill>
                <a:latin typeface="Calibri" pitchFamily="34" charset="0"/>
                <a:ea typeface="Calibri" pitchFamily="34" charset="-122"/>
                <a:cs typeface="Calibri" pitchFamily="34" charset="-120"/>
              </a:rPr>
              <a:t>Đô thị hóa nhanh</a:t>
            </a:r>
            <a:endParaRPr lang="en-US" sz="1500" dirty="0"/>
          </a:p>
          <a:p>
            <a:pPr marL="0" indent="0">
              <a:lnSpc>
                <a:spcPct val="105000"/>
              </a:lnSpc>
              <a:spcAft>
                <a:spcPts val="1200"/>
              </a:spcAft>
              <a:buNone/>
            </a:pPr>
            <a:r>
              <a:rPr lang="en-US" sz="1350" dirty="0">
                <a:solidFill>
                  <a:srgbClr val="22303C"/>
                </a:solidFill>
                <a:latin typeface="Calibri" pitchFamily="34" charset="0"/>
                <a:ea typeface="Calibri" pitchFamily="34" charset="-122"/>
                <a:cs typeface="Calibri" pitchFamily="34" charset="-120"/>
              </a:rPr>
              <a:t>Một tòa nhà điển hình vừa quản lý hàng trăm tài sản – thiết bị kỹ thuật (thang máy, máy bơm, PCCC, máy phát điện…), vừa phục vụ hàng nghìn cư dân với nhu cầu phí, an ninh, dịch vụ hằng ngày.</a:t>
            </a:r>
            <a:endParaRPr lang="en-US" sz="1500" dirty="0"/>
          </a:p>
          <a:p>
            <a:pPr marL="0" indent="0">
              <a:lnSpc>
                <a:spcPct val="105000"/>
              </a:lnSpc>
              <a:spcAft>
                <a:spcPts val="300"/>
              </a:spcAft>
              <a:buNone/>
            </a:pPr>
            <a:r>
              <a:rPr lang="en-US" sz="1500" b="1" dirty="0">
                <a:solidFill>
                  <a:srgbClr val="0E2A47"/>
                </a:solidFill>
                <a:latin typeface="Calibri" pitchFamily="34" charset="0"/>
                <a:ea typeface="Calibri" pitchFamily="34" charset="-122"/>
                <a:cs typeface="Calibri" pitchFamily="34" charset="-120"/>
              </a:rPr>
              <a:t>Quản lý thủ công = rời rạc &amp; sai sót</a:t>
            </a:r>
            <a:endParaRPr lang="en-US" sz="1500" dirty="0"/>
          </a:p>
          <a:p>
            <a:pPr marL="0" indent="0">
              <a:lnSpc>
                <a:spcPct val="105000"/>
              </a:lnSpc>
              <a:buNone/>
            </a:pPr>
            <a:r>
              <a:rPr lang="en-US" sz="1350" dirty="0">
                <a:solidFill>
                  <a:srgbClr val="22303C"/>
                </a:solidFill>
                <a:latin typeface="Calibri" pitchFamily="34" charset="0"/>
                <a:ea typeface="Calibri" pitchFamily="34" charset="-122"/>
                <a:cs typeface="Calibri" pitchFamily="34" charset="-120"/>
              </a:rPr>
              <a:t>Phần lớn đơn vị vẫn dùng sổ sách, bảng tính rời rạc: khó tra cứu, thất lạc thông tin, khấu hao sai, bỏ sót bảo trì, xử lý sự cố chậm, số liệu không khớp sổ kế toán.</a:t>
            </a:r>
            <a:endParaRPr lang="en-US" sz="1500" dirty="0"/>
          </a:p>
        </p:txBody>
      </p:sp>
      <p:sp>
        <p:nvSpPr>
          <p:cNvPr id="9" name="Shape 7"/>
          <p:cNvSpPr/>
          <p:nvPr/>
        </p:nvSpPr>
        <p:spPr>
          <a:xfrm>
            <a:off x="6858000" y="1691640"/>
            <a:ext cx="4754880" cy="1280160"/>
          </a:xfrm>
          <a:prstGeom prst="roundRect">
            <a:avLst>
              <a:gd name="adj" fmla="val 8571"/>
            </a:avLst>
          </a:prstGeom>
          <a:solidFill>
            <a:srgbClr val="F1F5F8"/>
          </a:solidFill>
          <a:ln/>
          <a:effectLst>
            <a:outerShdw blurRad="88900" dist="25400" dir="5400000" algn="bl" rotWithShape="0">
              <a:srgbClr val="B9C7D1">
                <a:alpha val="40000"/>
              </a:srgbClr>
            </a:outerShdw>
          </a:effectLst>
        </p:spPr>
      </p:sp>
      <p:sp>
        <p:nvSpPr>
          <p:cNvPr id="10" name="Shape 8"/>
          <p:cNvSpPr/>
          <p:nvPr/>
        </p:nvSpPr>
        <p:spPr>
          <a:xfrm>
            <a:off x="7132320" y="2002536"/>
            <a:ext cx="658368" cy="658368"/>
          </a:xfrm>
          <a:prstGeom prst="roundRect">
            <a:avLst>
              <a:gd name="adj" fmla="val 50000"/>
            </a:avLst>
          </a:prstGeom>
          <a:solidFill>
            <a:srgbClr val="0E7C86"/>
          </a:solidFill>
          <a:ln/>
        </p:spPr>
      </p:sp>
      <p:pic>
        <p:nvPicPr>
          <p:cNvPr id="11" name="Image 0" descr="preencoded.png"/>
          <p:cNvPicPr>
            <a:picLocks noChangeAspect="1"/>
          </p:cNvPicPr>
          <p:nvPr/>
        </p:nvPicPr>
        <p:blipFill>
          <a:blip r:embed="rId3"/>
          <a:stretch>
            <a:fillRect/>
          </a:stretch>
        </p:blipFill>
        <p:spPr>
          <a:xfrm>
            <a:off x="7290328" y="2160544"/>
            <a:ext cx="342351" cy="342351"/>
          </a:xfrm>
          <a:prstGeom prst="rect">
            <a:avLst/>
          </a:prstGeom>
        </p:spPr>
      </p:pic>
      <p:sp>
        <p:nvSpPr>
          <p:cNvPr id="12" name="Text 9"/>
          <p:cNvSpPr/>
          <p:nvPr/>
        </p:nvSpPr>
        <p:spPr>
          <a:xfrm>
            <a:off x="8001000" y="1911096"/>
            <a:ext cx="3474720" cy="502920"/>
          </a:xfrm>
          <a:prstGeom prst="rect">
            <a:avLst/>
          </a:prstGeom>
          <a:noFill/>
          <a:ln/>
        </p:spPr>
        <p:txBody>
          <a:bodyPr wrap="square" lIns="0" tIns="0" rIns="0" bIns="0" rtlCol="0" anchor="ctr"/>
          <a:lstStyle/>
          <a:p>
            <a:pPr marL="0" indent="0">
              <a:buNone/>
            </a:pPr>
            <a:r>
              <a:rPr lang="en-US" sz="2400" b="1" dirty="0">
                <a:solidFill>
                  <a:srgbClr val="0E2A47"/>
                </a:solidFill>
                <a:latin typeface="Cambria" pitchFamily="34" charset="0"/>
                <a:ea typeface="Cambria" pitchFamily="34" charset="-122"/>
                <a:cs typeface="Cambria" pitchFamily="34" charset="-120"/>
              </a:rPr>
              <a:t>Hàng trăm</a:t>
            </a:r>
            <a:endParaRPr lang="en-US" sz="2400" dirty="0"/>
          </a:p>
        </p:txBody>
      </p:sp>
      <p:sp>
        <p:nvSpPr>
          <p:cNvPr id="13" name="Text 10"/>
          <p:cNvSpPr/>
          <p:nvPr/>
        </p:nvSpPr>
        <p:spPr>
          <a:xfrm>
            <a:off x="8001000" y="2441448"/>
            <a:ext cx="3474720" cy="411480"/>
          </a:xfrm>
          <a:prstGeom prst="rect">
            <a:avLst/>
          </a:prstGeom>
          <a:noFill/>
          <a:ln/>
        </p:spPr>
        <p:txBody>
          <a:bodyPr wrap="square" lIns="0" tIns="0" rIns="0" bIns="0" rtlCol="0" anchor="ctr"/>
          <a:lstStyle/>
          <a:p>
            <a:pPr marL="0" indent="0">
              <a:buNone/>
            </a:pPr>
            <a:r>
              <a:rPr lang="en-US" sz="1250" dirty="0">
                <a:solidFill>
                  <a:srgbClr val="6B7A88"/>
                </a:solidFill>
                <a:latin typeface="Calibri" pitchFamily="34" charset="0"/>
                <a:ea typeface="Calibri" pitchFamily="34" charset="-122"/>
                <a:cs typeface="Calibri" pitchFamily="34" charset="-120"/>
              </a:rPr>
              <a:t>tài sản &amp; thiết bị / tòa nhà</a:t>
            </a:r>
            <a:endParaRPr lang="en-US" sz="1250" dirty="0"/>
          </a:p>
        </p:txBody>
      </p:sp>
      <p:sp>
        <p:nvSpPr>
          <p:cNvPr id="14" name="Shape 11"/>
          <p:cNvSpPr/>
          <p:nvPr/>
        </p:nvSpPr>
        <p:spPr>
          <a:xfrm>
            <a:off x="6858000" y="3227832"/>
            <a:ext cx="4754880" cy="1280160"/>
          </a:xfrm>
          <a:prstGeom prst="roundRect">
            <a:avLst>
              <a:gd name="adj" fmla="val 8571"/>
            </a:avLst>
          </a:prstGeom>
          <a:solidFill>
            <a:srgbClr val="F1F5F8"/>
          </a:solidFill>
          <a:ln/>
          <a:effectLst>
            <a:outerShdw blurRad="88900" dist="25400" dir="5400000" algn="bl" rotWithShape="0">
              <a:srgbClr val="B9C7D1">
                <a:alpha val="40000"/>
              </a:srgbClr>
            </a:outerShdw>
          </a:effectLst>
        </p:spPr>
      </p:sp>
      <p:sp>
        <p:nvSpPr>
          <p:cNvPr id="15" name="Shape 12"/>
          <p:cNvSpPr/>
          <p:nvPr/>
        </p:nvSpPr>
        <p:spPr>
          <a:xfrm>
            <a:off x="7132320" y="3538728"/>
            <a:ext cx="658368" cy="658368"/>
          </a:xfrm>
          <a:prstGeom prst="roundRect">
            <a:avLst>
              <a:gd name="adj" fmla="val 50000"/>
            </a:avLst>
          </a:prstGeom>
          <a:solidFill>
            <a:srgbClr val="23B5A6"/>
          </a:solidFill>
          <a:ln/>
        </p:spPr>
      </p:sp>
      <p:pic>
        <p:nvPicPr>
          <p:cNvPr id="16" name="Image 1" descr="preencoded.png"/>
          <p:cNvPicPr>
            <a:picLocks noChangeAspect="1"/>
          </p:cNvPicPr>
          <p:nvPr/>
        </p:nvPicPr>
        <p:blipFill>
          <a:blip r:embed="rId4"/>
          <a:stretch>
            <a:fillRect/>
          </a:stretch>
        </p:blipFill>
        <p:spPr>
          <a:xfrm>
            <a:off x="7290328" y="3696736"/>
            <a:ext cx="342351" cy="342351"/>
          </a:xfrm>
          <a:prstGeom prst="rect">
            <a:avLst/>
          </a:prstGeom>
        </p:spPr>
      </p:pic>
      <p:sp>
        <p:nvSpPr>
          <p:cNvPr id="17" name="Text 13"/>
          <p:cNvSpPr/>
          <p:nvPr/>
        </p:nvSpPr>
        <p:spPr>
          <a:xfrm>
            <a:off x="8001000" y="3447288"/>
            <a:ext cx="3474720" cy="502920"/>
          </a:xfrm>
          <a:prstGeom prst="rect">
            <a:avLst/>
          </a:prstGeom>
          <a:noFill/>
          <a:ln/>
        </p:spPr>
        <p:txBody>
          <a:bodyPr wrap="square" lIns="0" tIns="0" rIns="0" bIns="0" rtlCol="0" anchor="ctr"/>
          <a:lstStyle/>
          <a:p>
            <a:pPr marL="0" indent="0">
              <a:buNone/>
            </a:pPr>
            <a:r>
              <a:rPr lang="en-US" sz="2400" b="1" dirty="0">
                <a:solidFill>
                  <a:srgbClr val="0E2A47"/>
                </a:solidFill>
                <a:latin typeface="Cambria" pitchFamily="34" charset="0"/>
                <a:ea typeface="Cambria" pitchFamily="34" charset="-122"/>
                <a:cs typeface="Cambria" pitchFamily="34" charset="-120"/>
              </a:rPr>
              <a:t>Hàng nghìn</a:t>
            </a:r>
            <a:endParaRPr lang="en-US" sz="2400" dirty="0"/>
          </a:p>
        </p:txBody>
      </p:sp>
      <p:sp>
        <p:nvSpPr>
          <p:cNvPr id="18" name="Text 14"/>
          <p:cNvSpPr/>
          <p:nvPr/>
        </p:nvSpPr>
        <p:spPr>
          <a:xfrm>
            <a:off x="8001000" y="3977640"/>
            <a:ext cx="3474720" cy="411480"/>
          </a:xfrm>
          <a:prstGeom prst="rect">
            <a:avLst/>
          </a:prstGeom>
          <a:noFill/>
          <a:ln/>
        </p:spPr>
        <p:txBody>
          <a:bodyPr wrap="square" lIns="0" tIns="0" rIns="0" bIns="0" rtlCol="0" anchor="ctr"/>
          <a:lstStyle/>
          <a:p>
            <a:pPr marL="0" indent="0">
              <a:buNone/>
            </a:pPr>
            <a:r>
              <a:rPr lang="en-US" sz="1250" dirty="0">
                <a:solidFill>
                  <a:srgbClr val="6B7A88"/>
                </a:solidFill>
                <a:latin typeface="Calibri" pitchFamily="34" charset="0"/>
                <a:ea typeface="Calibri" pitchFamily="34" charset="-122"/>
                <a:cs typeface="Calibri" pitchFamily="34" charset="-120"/>
              </a:rPr>
              <a:t>cư dân cần phục vụ</a:t>
            </a:r>
            <a:endParaRPr lang="en-US" sz="1250" dirty="0"/>
          </a:p>
        </p:txBody>
      </p:sp>
      <p:sp>
        <p:nvSpPr>
          <p:cNvPr id="19" name="Shape 15"/>
          <p:cNvSpPr/>
          <p:nvPr/>
        </p:nvSpPr>
        <p:spPr>
          <a:xfrm>
            <a:off x="6858000" y="4764024"/>
            <a:ext cx="4754880" cy="1280160"/>
          </a:xfrm>
          <a:prstGeom prst="roundRect">
            <a:avLst>
              <a:gd name="adj" fmla="val 8571"/>
            </a:avLst>
          </a:prstGeom>
          <a:solidFill>
            <a:srgbClr val="F1F5F8"/>
          </a:solidFill>
          <a:ln/>
          <a:effectLst>
            <a:outerShdw blurRad="88900" dist="25400" dir="5400000" algn="bl" rotWithShape="0">
              <a:srgbClr val="B9C7D1">
                <a:alpha val="40000"/>
              </a:srgbClr>
            </a:outerShdw>
          </a:effectLst>
        </p:spPr>
      </p:sp>
      <p:sp>
        <p:nvSpPr>
          <p:cNvPr id="20" name="Shape 16"/>
          <p:cNvSpPr/>
          <p:nvPr/>
        </p:nvSpPr>
        <p:spPr>
          <a:xfrm>
            <a:off x="7132320" y="5074920"/>
            <a:ext cx="658368" cy="658368"/>
          </a:xfrm>
          <a:prstGeom prst="roundRect">
            <a:avLst>
              <a:gd name="adj" fmla="val 50000"/>
            </a:avLst>
          </a:prstGeom>
          <a:solidFill>
            <a:srgbClr val="EFA13C"/>
          </a:solidFill>
          <a:ln/>
        </p:spPr>
      </p:sp>
      <p:pic>
        <p:nvPicPr>
          <p:cNvPr id="21" name="Image 2" descr="preencoded.png"/>
          <p:cNvPicPr>
            <a:picLocks noChangeAspect="1"/>
          </p:cNvPicPr>
          <p:nvPr/>
        </p:nvPicPr>
        <p:blipFill>
          <a:blip r:embed="rId5"/>
          <a:stretch>
            <a:fillRect/>
          </a:stretch>
        </p:blipFill>
        <p:spPr>
          <a:xfrm>
            <a:off x="7290328" y="5232928"/>
            <a:ext cx="342351" cy="342351"/>
          </a:xfrm>
          <a:prstGeom prst="rect">
            <a:avLst/>
          </a:prstGeom>
        </p:spPr>
      </p:pic>
      <p:sp>
        <p:nvSpPr>
          <p:cNvPr id="22" name="Text 17"/>
          <p:cNvSpPr/>
          <p:nvPr/>
        </p:nvSpPr>
        <p:spPr>
          <a:xfrm>
            <a:off x="8001000" y="4983480"/>
            <a:ext cx="3474720" cy="502920"/>
          </a:xfrm>
          <a:prstGeom prst="rect">
            <a:avLst/>
          </a:prstGeom>
          <a:noFill/>
          <a:ln/>
        </p:spPr>
        <p:txBody>
          <a:bodyPr wrap="square" lIns="0" tIns="0" rIns="0" bIns="0" rtlCol="0" anchor="ctr"/>
          <a:lstStyle/>
          <a:p>
            <a:pPr marL="0" indent="0">
              <a:buNone/>
            </a:pPr>
            <a:r>
              <a:rPr lang="en-US" sz="2400" b="1" dirty="0">
                <a:solidFill>
                  <a:srgbClr val="0E2A47"/>
                </a:solidFill>
                <a:latin typeface="Cambria" pitchFamily="34" charset="0"/>
                <a:ea typeface="Cambria" pitchFamily="34" charset="-122"/>
                <a:cs typeface="Cambria" pitchFamily="34" charset="-120"/>
              </a:rPr>
              <a:t>Rời rạc</a:t>
            </a:r>
            <a:endParaRPr lang="en-US" sz="2400" dirty="0"/>
          </a:p>
        </p:txBody>
      </p:sp>
      <p:sp>
        <p:nvSpPr>
          <p:cNvPr id="23" name="Text 18"/>
          <p:cNvSpPr/>
          <p:nvPr/>
        </p:nvSpPr>
        <p:spPr>
          <a:xfrm>
            <a:off x="8001000" y="5513832"/>
            <a:ext cx="3474720" cy="411480"/>
          </a:xfrm>
          <a:prstGeom prst="rect">
            <a:avLst/>
          </a:prstGeom>
          <a:noFill/>
          <a:ln/>
        </p:spPr>
        <p:txBody>
          <a:bodyPr wrap="square" lIns="0" tIns="0" rIns="0" bIns="0" rtlCol="0" anchor="ctr"/>
          <a:lstStyle/>
          <a:p>
            <a:pPr marL="0" indent="0">
              <a:buNone/>
            </a:pPr>
            <a:r>
              <a:rPr lang="en-US" sz="1250" dirty="0">
                <a:solidFill>
                  <a:srgbClr val="6B7A88"/>
                </a:solidFill>
                <a:latin typeface="Calibri" pitchFamily="34" charset="0"/>
                <a:ea typeface="Calibri" pitchFamily="34" charset="-122"/>
                <a:cs typeface="Calibri" pitchFamily="34" charset="-120"/>
              </a:rPr>
              <a:t>nghiệp vụ không liên thông</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01 · HIỆN TRẠNG</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Bất cập trải đều trên ba nhóm nghiệp vụ</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675888" cy="4160520"/>
          </a:xfrm>
          <a:prstGeom prst="roundRect">
            <a:avLst>
              <a:gd name="adj" fmla="val 2985"/>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566928" y="1691640"/>
            <a:ext cx="3675888" cy="914400"/>
          </a:xfrm>
          <a:prstGeom prst="roundRect">
            <a:avLst>
              <a:gd name="adj" fmla="val 12000"/>
            </a:avLst>
          </a:prstGeom>
          <a:solidFill>
            <a:srgbClr val="0E7C86"/>
          </a:solidFill>
          <a:ln/>
        </p:spPr>
      </p:sp>
      <p:sp>
        <p:nvSpPr>
          <p:cNvPr id="10" name="Shape 8"/>
          <p:cNvSpPr/>
          <p:nvPr/>
        </p:nvSpPr>
        <p:spPr>
          <a:xfrm>
            <a:off x="566928" y="2148840"/>
            <a:ext cx="3675888" cy="457200"/>
          </a:xfrm>
          <a:prstGeom prst="rect">
            <a:avLst/>
          </a:prstGeom>
          <a:solidFill>
            <a:srgbClr val="0E7C86"/>
          </a:solidFill>
          <a:ln/>
        </p:spPr>
      </p:sp>
      <p:sp>
        <p:nvSpPr>
          <p:cNvPr id="11" name="Shape 9"/>
          <p:cNvSpPr/>
          <p:nvPr/>
        </p:nvSpPr>
        <p:spPr>
          <a:xfrm>
            <a:off x="841248" y="1911096"/>
            <a:ext cx="502920" cy="502920"/>
          </a:xfrm>
          <a:prstGeom prst="roundRect">
            <a:avLst>
              <a:gd name="adj" fmla="val 50000"/>
            </a:avLst>
          </a:prstGeom>
          <a:solidFill>
            <a:srgbClr val="FFFFFF"/>
          </a:solidFill>
          <a:ln/>
        </p:spPr>
      </p:sp>
      <p:pic>
        <p:nvPicPr>
          <p:cNvPr id="12" name="Image 0" descr="preencoded.png"/>
          <p:cNvPicPr>
            <a:picLocks noChangeAspect="1"/>
          </p:cNvPicPr>
          <p:nvPr/>
        </p:nvPicPr>
        <p:blipFill>
          <a:blip r:embed="rId3"/>
          <a:stretch>
            <a:fillRect/>
          </a:stretch>
        </p:blipFill>
        <p:spPr>
          <a:xfrm>
            <a:off x="961949" y="2031797"/>
            <a:ext cx="261518" cy="261518"/>
          </a:xfrm>
          <a:prstGeom prst="rect">
            <a:avLst/>
          </a:prstGeom>
        </p:spPr>
      </p:pic>
      <p:sp>
        <p:nvSpPr>
          <p:cNvPr id="13" name="Text 10"/>
          <p:cNvSpPr/>
          <p:nvPr/>
        </p:nvSpPr>
        <p:spPr>
          <a:xfrm>
            <a:off x="1481328" y="1911096"/>
            <a:ext cx="2578608" cy="50292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Tài sản</a:t>
            </a:r>
            <a:endParaRPr lang="en-US" sz="2000" dirty="0"/>
          </a:p>
        </p:txBody>
      </p:sp>
      <p:sp>
        <p:nvSpPr>
          <p:cNvPr id="14" name="Text 11"/>
          <p:cNvSpPr/>
          <p:nvPr/>
        </p:nvSpPr>
        <p:spPr>
          <a:xfrm>
            <a:off x="822960" y="2788920"/>
            <a:ext cx="3218688" cy="292608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Khó tra cứu, không theo dõi giá trị còn lại</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Tính khấu hao sai lệch, bỏ sót lịch bảo trì</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Tồn kho không chính xác; chứng từ khó kiểm soát</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Số liệu vật lý không khớp sổ kế toán</a:t>
            </a:r>
            <a:endParaRPr lang="en-US" sz="1250" dirty="0"/>
          </a:p>
        </p:txBody>
      </p:sp>
      <p:sp>
        <p:nvSpPr>
          <p:cNvPr id="15" name="Shape 12"/>
          <p:cNvSpPr/>
          <p:nvPr/>
        </p:nvSpPr>
        <p:spPr>
          <a:xfrm>
            <a:off x="4498848" y="1691640"/>
            <a:ext cx="3675888" cy="4160520"/>
          </a:xfrm>
          <a:prstGeom prst="roundRect">
            <a:avLst>
              <a:gd name="adj" fmla="val 2985"/>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6" name="Shape 13"/>
          <p:cNvSpPr/>
          <p:nvPr/>
        </p:nvSpPr>
        <p:spPr>
          <a:xfrm>
            <a:off x="4498848" y="1691640"/>
            <a:ext cx="3675888" cy="914400"/>
          </a:xfrm>
          <a:prstGeom prst="roundRect">
            <a:avLst>
              <a:gd name="adj" fmla="val 12000"/>
            </a:avLst>
          </a:prstGeom>
          <a:solidFill>
            <a:srgbClr val="23B5A6"/>
          </a:solidFill>
          <a:ln/>
        </p:spPr>
      </p:sp>
      <p:sp>
        <p:nvSpPr>
          <p:cNvPr id="17" name="Shape 14"/>
          <p:cNvSpPr/>
          <p:nvPr/>
        </p:nvSpPr>
        <p:spPr>
          <a:xfrm>
            <a:off x="4498848" y="2148840"/>
            <a:ext cx="3675888" cy="457200"/>
          </a:xfrm>
          <a:prstGeom prst="rect">
            <a:avLst/>
          </a:prstGeom>
          <a:solidFill>
            <a:srgbClr val="23B5A6"/>
          </a:solidFill>
          <a:ln/>
        </p:spPr>
      </p:sp>
      <p:sp>
        <p:nvSpPr>
          <p:cNvPr id="18" name="Shape 15"/>
          <p:cNvSpPr/>
          <p:nvPr/>
        </p:nvSpPr>
        <p:spPr>
          <a:xfrm>
            <a:off x="4773168" y="1911096"/>
            <a:ext cx="502920" cy="502920"/>
          </a:xfrm>
          <a:prstGeom prst="roundRect">
            <a:avLst>
              <a:gd name="adj" fmla="val 50000"/>
            </a:avLst>
          </a:prstGeom>
          <a:solidFill>
            <a:srgbClr val="FFFFFF"/>
          </a:solidFill>
          <a:ln/>
        </p:spPr>
      </p:sp>
      <p:pic>
        <p:nvPicPr>
          <p:cNvPr id="19" name="Image 1" descr="preencoded.png"/>
          <p:cNvPicPr>
            <a:picLocks noChangeAspect="1"/>
          </p:cNvPicPr>
          <p:nvPr/>
        </p:nvPicPr>
        <p:blipFill>
          <a:blip r:embed="rId4"/>
          <a:stretch>
            <a:fillRect/>
          </a:stretch>
        </p:blipFill>
        <p:spPr>
          <a:xfrm>
            <a:off x="4893869" y="2031797"/>
            <a:ext cx="261518" cy="261518"/>
          </a:xfrm>
          <a:prstGeom prst="rect">
            <a:avLst/>
          </a:prstGeom>
        </p:spPr>
      </p:pic>
      <p:sp>
        <p:nvSpPr>
          <p:cNvPr id="20" name="Text 16"/>
          <p:cNvSpPr/>
          <p:nvPr/>
        </p:nvSpPr>
        <p:spPr>
          <a:xfrm>
            <a:off x="5413248" y="1911096"/>
            <a:ext cx="2578608" cy="50292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Dân cư</a:t>
            </a:r>
            <a:endParaRPr lang="en-US" sz="2000" dirty="0"/>
          </a:p>
        </p:txBody>
      </p:sp>
      <p:sp>
        <p:nvSpPr>
          <p:cNvPr id="21" name="Text 17"/>
          <p:cNvSpPr/>
          <p:nvPr/>
        </p:nvSpPr>
        <p:spPr>
          <a:xfrm>
            <a:off x="4754880" y="2788920"/>
            <a:ext cx="3218688" cy="292608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Hồ sơ cư dân – căn hộ lưu rải rác</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Khó cập nhật khi chuyển đến / đổi chủ hộ</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Kiểm soát ra vào thủ công, khó truy vết</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Thông báo phân tán qua nhiều kênh</a:t>
            </a:r>
            <a:endParaRPr lang="en-US" sz="1250" dirty="0"/>
          </a:p>
        </p:txBody>
      </p:sp>
      <p:sp>
        <p:nvSpPr>
          <p:cNvPr id="22" name="Shape 18"/>
          <p:cNvSpPr/>
          <p:nvPr/>
        </p:nvSpPr>
        <p:spPr>
          <a:xfrm>
            <a:off x="8430768" y="1691640"/>
            <a:ext cx="3675888" cy="4160520"/>
          </a:xfrm>
          <a:prstGeom prst="roundRect">
            <a:avLst>
              <a:gd name="adj" fmla="val 2985"/>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3" name="Shape 19"/>
          <p:cNvSpPr/>
          <p:nvPr/>
        </p:nvSpPr>
        <p:spPr>
          <a:xfrm>
            <a:off x="8430768" y="1691640"/>
            <a:ext cx="3675888" cy="914400"/>
          </a:xfrm>
          <a:prstGeom prst="roundRect">
            <a:avLst>
              <a:gd name="adj" fmla="val 12000"/>
            </a:avLst>
          </a:prstGeom>
          <a:solidFill>
            <a:srgbClr val="EFA13C"/>
          </a:solidFill>
          <a:ln/>
        </p:spPr>
      </p:sp>
      <p:sp>
        <p:nvSpPr>
          <p:cNvPr id="24" name="Shape 20"/>
          <p:cNvSpPr/>
          <p:nvPr/>
        </p:nvSpPr>
        <p:spPr>
          <a:xfrm>
            <a:off x="8430768" y="2148840"/>
            <a:ext cx="3675888" cy="457200"/>
          </a:xfrm>
          <a:prstGeom prst="rect">
            <a:avLst/>
          </a:prstGeom>
          <a:solidFill>
            <a:srgbClr val="EFA13C"/>
          </a:solidFill>
          <a:ln/>
        </p:spPr>
      </p:sp>
      <p:sp>
        <p:nvSpPr>
          <p:cNvPr id="25" name="Shape 21"/>
          <p:cNvSpPr/>
          <p:nvPr/>
        </p:nvSpPr>
        <p:spPr>
          <a:xfrm>
            <a:off x="8705088" y="1911096"/>
            <a:ext cx="502920" cy="502920"/>
          </a:xfrm>
          <a:prstGeom prst="roundRect">
            <a:avLst>
              <a:gd name="adj" fmla="val 50000"/>
            </a:avLst>
          </a:prstGeom>
          <a:solidFill>
            <a:srgbClr val="FFFFFF"/>
          </a:solidFill>
          <a:ln/>
        </p:spPr>
      </p:sp>
      <p:pic>
        <p:nvPicPr>
          <p:cNvPr id="26" name="Image 2" descr="preencoded.png"/>
          <p:cNvPicPr>
            <a:picLocks noChangeAspect="1"/>
          </p:cNvPicPr>
          <p:nvPr/>
        </p:nvPicPr>
        <p:blipFill>
          <a:blip r:embed="rId5"/>
          <a:stretch>
            <a:fillRect/>
          </a:stretch>
        </p:blipFill>
        <p:spPr>
          <a:xfrm>
            <a:off x="8825789" y="2031797"/>
            <a:ext cx="261518" cy="261518"/>
          </a:xfrm>
          <a:prstGeom prst="rect">
            <a:avLst/>
          </a:prstGeom>
        </p:spPr>
      </p:pic>
      <p:sp>
        <p:nvSpPr>
          <p:cNvPr id="27" name="Text 22"/>
          <p:cNvSpPr/>
          <p:nvPr/>
        </p:nvSpPr>
        <p:spPr>
          <a:xfrm>
            <a:off x="9345168" y="1911096"/>
            <a:ext cx="2578608" cy="50292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Dịch vụ</a:t>
            </a:r>
            <a:endParaRPr lang="en-US" sz="2000" dirty="0"/>
          </a:p>
        </p:txBody>
      </p:sp>
      <p:sp>
        <p:nvSpPr>
          <p:cNvPr id="28" name="Text 23"/>
          <p:cNvSpPr/>
          <p:nvPr/>
        </p:nvSpPr>
        <p:spPr>
          <a:xfrm>
            <a:off x="8686800" y="2788920"/>
            <a:ext cx="3218688" cy="292608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Khó tìm nhà cung cấp uy tín trong tòa nhà</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Yêu cầu qua điện thoại/tin nhắn, thiếu theo dõi</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Không rõ trạng thái, thời gian, trách nhiệm</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BQL khó đánh giá chất lượng NCC</a:t>
            </a:r>
            <a:endParaRPr lang="en-US" sz="1250" dirty="0"/>
          </a:p>
        </p:txBody>
      </p:sp>
      <p:sp>
        <p:nvSpPr>
          <p:cNvPr id="29" name="Text 24"/>
          <p:cNvSpPr/>
          <p:nvPr/>
        </p:nvSpPr>
        <p:spPr>
          <a:xfrm>
            <a:off x="566928" y="5989320"/>
            <a:ext cx="11064240" cy="365760"/>
          </a:xfrm>
          <a:prstGeom prst="rect">
            <a:avLst/>
          </a:prstGeom>
          <a:noFill/>
          <a:ln/>
        </p:spPr>
        <p:txBody>
          <a:bodyPr wrap="square" lIns="0" tIns="0" rIns="0" bIns="0" rtlCol="0" anchor="ctr"/>
          <a:lstStyle/>
          <a:p>
            <a:pPr marL="0" indent="0">
              <a:buNone/>
            </a:pPr>
            <a:r>
              <a:rPr lang="en-US" sz="1300" b="1" i="1" dirty="0">
                <a:solidFill>
                  <a:srgbClr val="0E7C86"/>
                </a:solidFill>
                <a:latin typeface="Calibri" pitchFamily="34" charset="0"/>
                <a:ea typeface="Calibri" pitchFamily="34" charset="-122"/>
                <a:cs typeface="Calibri" pitchFamily="34" charset="-120"/>
              </a:rPr>
              <a:t>→ Đặt ra yêu cầu: một hệ thống tập trung, tự động hóa và liên thông dữ liệu cho cả ba phân hệ.</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01 · MỤC TIÊU &amp; PHÂN CÔNG</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Đồ án nhóm — kiến trúc module, phần riêng rõ ràng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5</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932688"/>
          </a:xfrm>
          <a:prstGeom prst="roundRect">
            <a:avLst>
              <a:gd name="adj" fmla="val 11765"/>
            </a:avLst>
          </a:prstGeom>
          <a:solidFill>
            <a:srgbClr val="0E2A47"/>
          </a:solidFill>
          <a:ln/>
        </p:spPr>
      </p:sp>
      <p:sp>
        <p:nvSpPr>
          <p:cNvPr id="9" name="Shape 7"/>
          <p:cNvSpPr/>
          <p:nvPr/>
        </p:nvSpPr>
        <p:spPr>
          <a:xfrm>
            <a:off x="822960" y="1847088"/>
            <a:ext cx="548640" cy="548640"/>
          </a:xfrm>
          <a:prstGeom prst="roundRect">
            <a:avLst>
              <a:gd name="adj" fmla="val 50000"/>
            </a:avLst>
          </a:prstGeom>
          <a:solidFill>
            <a:srgbClr val="23B5A6"/>
          </a:solidFill>
          <a:ln/>
        </p:spPr>
      </p:sp>
      <p:pic>
        <p:nvPicPr>
          <p:cNvPr id="10" name="Image 0" descr="preencoded.png"/>
          <p:cNvPicPr>
            <a:picLocks noChangeAspect="1"/>
          </p:cNvPicPr>
          <p:nvPr/>
        </p:nvPicPr>
        <p:blipFill>
          <a:blip r:embed="rId3"/>
          <a:stretch>
            <a:fillRect/>
          </a:stretch>
        </p:blipFill>
        <p:spPr>
          <a:xfrm>
            <a:off x="954634" y="1978762"/>
            <a:ext cx="285293" cy="285293"/>
          </a:xfrm>
          <a:prstGeom prst="rect">
            <a:avLst/>
          </a:prstGeom>
        </p:spPr>
      </p:pic>
      <p:sp>
        <p:nvSpPr>
          <p:cNvPr id="11" name="Text 8"/>
          <p:cNvSpPr/>
          <p:nvPr/>
        </p:nvSpPr>
        <p:spPr>
          <a:xfrm>
            <a:off x="1508760" y="1737360"/>
            <a:ext cx="9966960" cy="77724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Phần Base (dùng chung) — cả nhóm 3 thành viên
</a:t>
            </a:r>
            <a:r>
              <a:rPr lang="en-US" sz="1250" dirty="0">
                <a:solidFill>
                  <a:srgbClr val="BFD6DF"/>
                </a:solidFill>
                <a:latin typeface="Calibri" pitchFamily="34" charset="0"/>
                <a:ea typeface="Calibri" pitchFamily="34" charset="-122"/>
                <a:cs typeface="Calibri" pitchFamily="34" charset="-120"/>
              </a:rPr>
              <a:t>Xác thực – phân quyền · Người dùng · Thông báo · Cấu hình · Báo cáo tổng hợp</a:t>
            </a:r>
            <a:endParaRPr lang="en-US" sz="1500" dirty="0"/>
          </a:p>
        </p:txBody>
      </p:sp>
      <p:sp>
        <p:nvSpPr>
          <p:cNvPr id="12" name="Shape 9"/>
          <p:cNvSpPr/>
          <p:nvPr/>
        </p:nvSpPr>
        <p:spPr>
          <a:xfrm>
            <a:off x="566928" y="2788920"/>
            <a:ext cx="3675888" cy="2148840"/>
          </a:xfrm>
          <a:prstGeom prst="roundRect">
            <a:avLst>
              <a:gd name="adj" fmla="val 5106"/>
            </a:avLst>
          </a:prstGeom>
          <a:solidFill>
            <a:srgbClr val="E4EEF3"/>
          </a:solidFill>
          <a:ln w="25400">
            <a:solidFill>
              <a:srgbClr val="0E7C86"/>
            </a:solidFill>
            <a:prstDash val="solid"/>
          </a:ln>
          <a:effectLst>
            <a:outerShdw blurRad="88900" dist="25400" dir="5400000" algn="bl" rotWithShape="0">
              <a:srgbClr val="B9C7D1">
                <a:alpha val="40000"/>
              </a:srgbClr>
            </a:outerShdw>
          </a:effectLst>
        </p:spPr>
      </p:sp>
      <p:sp>
        <p:nvSpPr>
          <p:cNvPr id="13" name="Shape 10"/>
          <p:cNvSpPr/>
          <p:nvPr/>
        </p:nvSpPr>
        <p:spPr>
          <a:xfrm>
            <a:off x="841248" y="3063240"/>
            <a:ext cx="731520" cy="731520"/>
          </a:xfrm>
          <a:prstGeom prst="roundRect">
            <a:avLst>
              <a:gd name="adj" fmla="val 50000"/>
            </a:avLst>
          </a:prstGeom>
          <a:solidFill>
            <a:srgbClr val="0E7C86"/>
          </a:solidFill>
          <a:ln/>
        </p:spPr>
      </p:sp>
      <p:pic>
        <p:nvPicPr>
          <p:cNvPr id="14" name="Image 1" descr="preencoded.png"/>
          <p:cNvPicPr>
            <a:picLocks noChangeAspect="1"/>
          </p:cNvPicPr>
          <p:nvPr/>
        </p:nvPicPr>
        <p:blipFill>
          <a:blip r:embed="rId4"/>
          <a:stretch>
            <a:fillRect/>
          </a:stretch>
        </p:blipFill>
        <p:spPr>
          <a:xfrm>
            <a:off x="1016813" y="3238805"/>
            <a:ext cx="380390" cy="380390"/>
          </a:xfrm>
          <a:prstGeom prst="rect">
            <a:avLst/>
          </a:prstGeom>
        </p:spPr>
      </p:pic>
      <p:sp>
        <p:nvSpPr>
          <p:cNvPr id="15" name="Text 11"/>
          <p:cNvSpPr/>
          <p:nvPr/>
        </p:nvSpPr>
        <p:spPr>
          <a:xfrm>
            <a:off x="170992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Quản lý tài sản</a:t>
            </a:r>
            <a:endParaRPr lang="en-US" sz="1700" dirty="0"/>
          </a:p>
        </p:txBody>
      </p:sp>
      <p:sp>
        <p:nvSpPr>
          <p:cNvPr id="16" name="Text 12"/>
          <p:cNvSpPr/>
          <p:nvPr/>
        </p:nvSpPr>
        <p:spPr>
          <a:xfrm>
            <a:off x="1709928" y="3502152"/>
            <a:ext cx="2395728" cy="32004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Nguyễn Xuân Thưởng</a:t>
            </a:r>
            <a:endParaRPr lang="en-US" sz="1200" dirty="0"/>
          </a:p>
        </p:txBody>
      </p:sp>
      <p:sp>
        <p:nvSpPr>
          <p:cNvPr id="17" name="Text 13"/>
          <p:cNvSpPr/>
          <p:nvPr/>
        </p:nvSpPr>
        <p:spPr>
          <a:xfrm>
            <a:off x="84124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Tài sản &amp; bảo trì · Kho – Mua sắm – NCC · Sự cố &amp; SLA</a:t>
            </a:r>
            <a:endParaRPr lang="en-US" sz="1200" dirty="0"/>
          </a:p>
        </p:txBody>
      </p:sp>
      <p:sp>
        <p:nvSpPr>
          <p:cNvPr id="18" name="Text 14"/>
          <p:cNvSpPr/>
          <p:nvPr/>
        </p:nvSpPr>
        <p:spPr>
          <a:xfrm>
            <a:off x="841248" y="4617720"/>
            <a:ext cx="3172968" cy="274320"/>
          </a:xfrm>
          <a:prstGeom prst="rect">
            <a:avLst/>
          </a:prstGeom>
          <a:noFill/>
          <a:ln/>
        </p:spPr>
        <p:txBody>
          <a:bodyPr wrap="square" lIns="0" tIns="0" rIns="0" bIns="0" rtlCol="0" anchor="ctr"/>
          <a:lstStyle/>
          <a:p>
            <a:pPr marL="0" indent="0">
              <a:buNone/>
            </a:pPr>
            <a:r>
              <a:rPr lang="en-US" sz="1000" b="1" kern="0" spc="100" dirty="0">
                <a:solidFill>
                  <a:srgbClr val="0E7C86"/>
                </a:solidFill>
                <a:latin typeface="Calibri" pitchFamily="34" charset="0"/>
                <a:ea typeface="Calibri" pitchFamily="34" charset="-122"/>
                <a:cs typeface="Calibri" pitchFamily="34" charset="-120"/>
              </a:rPr>
              <a:t>PHẦN TRÌNH BÀY</a:t>
            </a:r>
            <a:endParaRPr lang="en-US" sz="1000" dirty="0"/>
          </a:p>
        </p:txBody>
      </p:sp>
      <p:sp>
        <p:nvSpPr>
          <p:cNvPr id="19" name="Shape 15"/>
          <p:cNvSpPr/>
          <p:nvPr/>
        </p:nvSpPr>
        <p:spPr>
          <a:xfrm>
            <a:off x="4498848" y="2788920"/>
            <a:ext cx="3675888"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0" name="Shape 16"/>
          <p:cNvSpPr/>
          <p:nvPr/>
        </p:nvSpPr>
        <p:spPr>
          <a:xfrm>
            <a:off x="4773168" y="3063240"/>
            <a:ext cx="731520" cy="731520"/>
          </a:xfrm>
          <a:prstGeom prst="roundRect">
            <a:avLst>
              <a:gd name="adj" fmla="val 50000"/>
            </a:avLst>
          </a:prstGeom>
          <a:solidFill>
            <a:srgbClr val="6B7A88"/>
          </a:solidFill>
          <a:ln/>
        </p:spPr>
      </p:sp>
      <p:pic>
        <p:nvPicPr>
          <p:cNvPr id="21" name="Image 2" descr="preencoded.png"/>
          <p:cNvPicPr>
            <a:picLocks noChangeAspect="1"/>
          </p:cNvPicPr>
          <p:nvPr/>
        </p:nvPicPr>
        <p:blipFill>
          <a:blip r:embed="rId5"/>
          <a:stretch>
            <a:fillRect/>
          </a:stretch>
        </p:blipFill>
        <p:spPr>
          <a:xfrm>
            <a:off x="4948733" y="3238805"/>
            <a:ext cx="380390" cy="380390"/>
          </a:xfrm>
          <a:prstGeom prst="rect">
            <a:avLst/>
          </a:prstGeom>
        </p:spPr>
      </p:pic>
      <p:sp>
        <p:nvSpPr>
          <p:cNvPr id="22" name="Text 17"/>
          <p:cNvSpPr/>
          <p:nvPr/>
        </p:nvSpPr>
        <p:spPr>
          <a:xfrm>
            <a:off x="564184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Quản lý dịch vụ</a:t>
            </a:r>
            <a:endParaRPr lang="en-US" sz="1700" dirty="0"/>
          </a:p>
        </p:txBody>
      </p:sp>
      <p:sp>
        <p:nvSpPr>
          <p:cNvPr id="23" name="Text 18"/>
          <p:cNvSpPr/>
          <p:nvPr/>
        </p:nvSpPr>
        <p:spPr>
          <a:xfrm>
            <a:off x="5641848" y="3502152"/>
            <a:ext cx="2395728" cy="320040"/>
          </a:xfrm>
          <a:prstGeom prst="rect">
            <a:avLst/>
          </a:prstGeom>
          <a:noFill/>
          <a:ln/>
        </p:spPr>
        <p:txBody>
          <a:bodyPr wrap="square" lIns="0" tIns="0" rIns="0" bIns="0" rtlCol="0" anchor="ctr"/>
          <a:lstStyle/>
          <a:p>
            <a:pPr marL="0" indent="0">
              <a:buNone/>
            </a:pPr>
            <a:r>
              <a:rPr lang="en-US" sz="1200" b="1" dirty="0">
                <a:solidFill>
                  <a:srgbClr val="6B7A88"/>
                </a:solidFill>
                <a:latin typeface="Calibri" pitchFamily="34" charset="0"/>
                <a:ea typeface="Calibri" pitchFamily="34" charset="-122"/>
                <a:cs typeface="Calibri" pitchFamily="34" charset="-120"/>
              </a:rPr>
              <a:t>Nguyễn Xuân Khải</a:t>
            </a:r>
            <a:endParaRPr lang="en-US" sz="1200" dirty="0"/>
          </a:p>
        </p:txBody>
      </p:sp>
      <p:sp>
        <p:nvSpPr>
          <p:cNvPr id="24" name="Text 19"/>
          <p:cNvSpPr/>
          <p:nvPr/>
        </p:nvSpPr>
        <p:spPr>
          <a:xfrm>
            <a:off x="477316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Dịch vụ tiện ích · NCC dịch vụ · Quy trình yêu cầu</a:t>
            </a:r>
            <a:endParaRPr lang="en-US" sz="1200" dirty="0"/>
          </a:p>
        </p:txBody>
      </p:sp>
      <p:sp>
        <p:nvSpPr>
          <p:cNvPr id="25" name="Shape 20"/>
          <p:cNvSpPr/>
          <p:nvPr/>
        </p:nvSpPr>
        <p:spPr>
          <a:xfrm>
            <a:off x="8430768" y="2788920"/>
            <a:ext cx="3675888"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6" name="Shape 21"/>
          <p:cNvSpPr/>
          <p:nvPr/>
        </p:nvSpPr>
        <p:spPr>
          <a:xfrm>
            <a:off x="8705088" y="3063240"/>
            <a:ext cx="731520" cy="731520"/>
          </a:xfrm>
          <a:prstGeom prst="roundRect">
            <a:avLst>
              <a:gd name="adj" fmla="val 50000"/>
            </a:avLst>
          </a:prstGeom>
          <a:solidFill>
            <a:srgbClr val="6B7A88"/>
          </a:solidFill>
          <a:ln/>
        </p:spPr>
      </p:sp>
      <p:pic>
        <p:nvPicPr>
          <p:cNvPr id="27" name="Image 3" descr="preencoded.png"/>
          <p:cNvPicPr>
            <a:picLocks noChangeAspect="1"/>
          </p:cNvPicPr>
          <p:nvPr/>
        </p:nvPicPr>
        <p:blipFill>
          <a:blip r:embed="rId6"/>
          <a:stretch>
            <a:fillRect/>
          </a:stretch>
        </p:blipFill>
        <p:spPr>
          <a:xfrm>
            <a:off x="8880653" y="3238805"/>
            <a:ext cx="380390" cy="380390"/>
          </a:xfrm>
          <a:prstGeom prst="rect">
            <a:avLst/>
          </a:prstGeom>
        </p:spPr>
      </p:pic>
      <p:sp>
        <p:nvSpPr>
          <p:cNvPr id="28" name="Text 22"/>
          <p:cNvSpPr/>
          <p:nvPr/>
        </p:nvSpPr>
        <p:spPr>
          <a:xfrm>
            <a:off x="957376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Quản lý dân cư</a:t>
            </a:r>
            <a:endParaRPr lang="en-US" sz="1700" dirty="0"/>
          </a:p>
        </p:txBody>
      </p:sp>
      <p:sp>
        <p:nvSpPr>
          <p:cNvPr id="29" name="Text 23"/>
          <p:cNvSpPr/>
          <p:nvPr/>
        </p:nvSpPr>
        <p:spPr>
          <a:xfrm>
            <a:off x="9573768" y="3502152"/>
            <a:ext cx="2395728" cy="320040"/>
          </a:xfrm>
          <a:prstGeom prst="rect">
            <a:avLst/>
          </a:prstGeom>
          <a:noFill/>
          <a:ln/>
        </p:spPr>
        <p:txBody>
          <a:bodyPr wrap="square" lIns="0" tIns="0" rIns="0" bIns="0" rtlCol="0" anchor="ctr"/>
          <a:lstStyle/>
          <a:p>
            <a:pPr marL="0" indent="0">
              <a:buNone/>
            </a:pPr>
            <a:r>
              <a:rPr lang="en-US" sz="1200" b="1" dirty="0">
                <a:solidFill>
                  <a:srgbClr val="6B7A88"/>
                </a:solidFill>
                <a:latin typeface="Calibri" pitchFamily="34" charset="0"/>
                <a:ea typeface="Calibri" pitchFamily="34" charset="-122"/>
                <a:cs typeface="Calibri" pitchFamily="34" charset="-120"/>
              </a:rPr>
              <a:t>Lương Thanh Tài</a:t>
            </a:r>
            <a:endParaRPr lang="en-US" sz="1200" dirty="0"/>
          </a:p>
        </p:txBody>
      </p:sp>
      <p:sp>
        <p:nvSpPr>
          <p:cNvPr id="30" name="Text 24"/>
          <p:cNvSpPr/>
          <p:nvPr/>
        </p:nvSpPr>
        <p:spPr>
          <a:xfrm>
            <a:off x="870508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Căn hộ – cư dân – phí · An ninh AI nhận diện khuôn mặt</a:t>
            </a:r>
            <a:endParaRPr lang="en-US" sz="1200" dirty="0"/>
          </a:p>
        </p:txBody>
      </p:sp>
      <p:sp>
        <p:nvSpPr>
          <p:cNvPr id="31" name="Text 25"/>
          <p:cNvSpPr/>
          <p:nvPr/>
        </p:nvSpPr>
        <p:spPr>
          <a:xfrm>
            <a:off x="566928" y="5138928"/>
            <a:ext cx="11064240" cy="640080"/>
          </a:xfrm>
          <a:prstGeom prst="rect">
            <a:avLst/>
          </a:prstGeom>
          <a:noFill/>
          <a:ln/>
        </p:spPr>
        <p:txBody>
          <a:bodyPr wrap="square" lIns="0" tIns="0" rIns="0" bIns="0" rtlCol="0" anchor="ctr"/>
          <a:lstStyle/>
          <a:p>
            <a:pPr marL="0" indent="0">
              <a:buNone/>
            </a:pPr>
            <a:r>
              <a:rPr lang="en-US" sz="1250" i="1" dirty="0">
                <a:solidFill>
                  <a:srgbClr val="6B7A88"/>
                </a:solidFill>
                <a:latin typeface="Calibri" pitchFamily="34" charset="0"/>
                <a:ea typeface="Calibri" pitchFamily="34" charset="-122"/>
                <a:cs typeface="Calibri" pitchFamily="34" charset="-120"/>
              </a:rPr>
              <a:t>Mục tiêu: hệ thống chạy được, giao diện &amp; API hoàn chỉnh; áp dụng .NET 8, Next.js 16, PostgreSQL và các thành phần thông minh (OCR hóa đơn, khấu hao tự động).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02 · KHẢO SÁT GIẢI PHÁP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Các phần mềm tương tự đang triển khai thực tế</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6</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3675888" cy="4251960"/>
          </a:xfrm>
          <a:prstGeom prst="roundRect">
            <a:avLst>
              <a:gd name="adj" fmla="val 2985"/>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731520" y="1810512"/>
            <a:ext cx="3346704" cy="1965960"/>
          </a:xfrm>
          <a:prstGeom prst="roundRect">
            <a:avLst>
              <a:gd name="adj" fmla="val 4651"/>
            </a:avLst>
          </a:prstGeom>
          <a:solidFill>
            <a:srgbClr val="FFFFFF"/>
          </a:solidFill>
          <a:ln/>
          <a:effectLst>
            <a:outerShdw blurRad="88900" dist="25400" dir="5400000" algn="bl" rotWithShape="0">
              <a:srgbClr val="B9C7D1">
                <a:alpha val="40000"/>
              </a:srgbClr>
            </a:outerShdw>
          </a:effectLst>
        </p:spPr>
      </p:sp>
      <p:pic>
        <p:nvPicPr>
          <p:cNvPr id="10" name="Image 0" descr="D:/DATN/TownHub/latex/images/img45.png"/>
          <p:cNvPicPr>
            <a:picLocks noChangeAspect="1"/>
          </p:cNvPicPr>
          <p:nvPr/>
        </p:nvPicPr>
        <p:blipFill>
          <a:blip r:embed="rId3"/>
          <a:srcRect/>
          <a:stretch/>
        </p:blipFill>
        <p:spPr>
          <a:xfrm>
            <a:off x="813816" y="1892808"/>
            <a:ext cx="3182112" cy="1801368"/>
          </a:xfrm>
          <a:prstGeom prst="rect">
            <a:avLst/>
          </a:prstGeom>
        </p:spPr>
      </p:pic>
      <p:sp>
        <p:nvSpPr>
          <p:cNvPr id="11" name="Text 8"/>
          <p:cNvSpPr/>
          <p:nvPr/>
        </p:nvSpPr>
        <p:spPr>
          <a:xfrm>
            <a:off x="822960" y="3886200"/>
            <a:ext cx="2670048" cy="365760"/>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Building Care</a:t>
            </a:r>
            <a:endParaRPr lang="en-US" sz="1700" dirty="0"/>
          </a:p>
        </p:txBody>
      </p:sp>
      <p:sp>
        <p:nvSpPr>
          <p:cNvPr id="12" name="Shape 9"/>
          <p:cNvSpPr/>
          <p:nvPr/>
        </p:nvSpPr>
        <p:spPr>
          <a:xfrm>
            <a:off x="3584448" y="3931920"/>
            <a:ext cx="457200" cy="274320"/>
          </a:xfrm>
          <a:prstGeom prst="roundRect">
            <a:avLst>
              <a:gd name="adj" fmla="val 50000"/>
            </a:avLst>
          </a:prstGeom>
          <a:solidFill>
            <a:srgbClr val="0E7C86"/>
          </a:solidFill>
          <a:ln/>
        </p:spPr>
      </p:sp>
      <p:sp>
        <p:nvSpPr>
          <p:cNvPr id="13" name="Text 10"/>
          <p:cNvSpPr/>
          <p:nvPr/>
        </p:nvSpPr>
        <p:spPr>
          <a:xfrm>
            <a:off x="822960" y="4251960"/>
            <a:ext cx="3172968" cy="274320"/>
          </a:xfrm>
          <a:prstGeom prst="rect">
            <a:avLst/>
          </a:prstGeom>
          <a:noFill/>
          <a:ln/>
        </p:spPr>
        <p:txBody>
          <a:bodyPr wrap="square" lIns="0" tIns="0" rIns="0" bIns="0" rtlCol="0" anchor="ctr"/>
          <a:lstStyle/>
          <a:p>
            <a:pPr marL="0" indent="0">
              <a:buNone/>
            </a:pPr>
            <a:r>
              <a:rPr lang="en-US" sz="1150" b="1" dirty="0">
                <a:solidFill>
                  <a:srgbClr val="0E7C86"/>
                </a:solidFill>
                <a:latin typeface="Calibri" pitchFamily="34" charset="0"/>
                <a:ea typeface="Calibri" pitchFamily="34" charset="-122"/>
                <a:cs typeface="Calibri" pitchFamily="34" charset="-120"/>
              </a:rPr>
              <a:t>S-TECH</a:t>
            </a:r>
            <a:endParaRPr lang="en-US" sz="1150" dirty="0"/>
          </a:p>
        </p:txBody>
      </p:sp>
      <p:sp>
        <p:nvSpPr>
          <p:cNvPr id="14" name="Text 11"/>
          <p:cNvSpPr/>
          <p:nvPr/>
        </p:nvSpPr>
        <p:spPr>
          <a:xfrm>
            <a:off x="822960" y="4572000"/>
            <a:ext cx="3172968" cy="1234440"/>
          </a:xfrm>
          <a:prstGeom prst="rect">
            <a:avLst/>
          </a:prstGeom>
          <a:noFill/>
          <a:ln/>
        </p:spPr>
        <p:txBody>
          <a:bodyPr wrap="square" lIns="0" tIns="0" rIns="0" bIns="0" rtlCol="0" anchor="t"/>
          <a:lstStyle/>
          <a:p>
            <a:pPr marL="0" indent="0">
              <a:lnSpc>
                <a:spcPct val="105000"/>
              </a:lnSpc>
              <a:buNone/>
            </a:pPr>
            <a:r>
              <a:rPr lang="en-US" sz="1200" dirty="0">
                <a:solidFill>
                  <a:srgbClr val="22303C"/>
                </a:solidFill>
                <a:latin typeface="Calibri" pitchFamily="34" charset="0"/>
                <a:ea typeface="Calibri" pitchFamily="34" charset="-122"/>
                <a:cs typeface="Calibri" pitchFamily="34" charset="-120"/>
              </a:rPr>
              <a:t>60+ dự án · 172+ tòa nhà. Số hóa yêu cầu bảo trì: cư dân tạo ticket, hệ thống tự phân công KTV. FLC Twin Towers (06/2025).</a:t>
            </a:r>
            <a:endParaRPr lang="en-US" sz="1200" dirty="0"/>
          </a:p>
        </p:txBody>
      </p:sp>
      <p:sp>
        <p:nvSpPr>
          <p:cNvPr id="15" name="Shape 12"/>
          <p:cNvSpPr/>
          <p:nvPr/>
        </p:nvSpPr>
        <p:spPr>
          <a:xfrm>
            <a:off x="4498848" y="1645920"/>
            <a:ext cx="3675888" cy="4251960"/>
          </a:xfrm>
          <a:prstGeom prst="roundRect">
            <a:avLst>
              <a:gd name="adj" fmla="val 2985"/>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6" name="Shape 13"/>
          <p:cNvSpPr/>
          <p:nvPr/>
        </p:nvSpPr>
        <p:spPr>
          <a:xfrm>
            <a:off x="4663440" y="1810512"/>
            <a:ext cx="3346704" cy="1965960"/>
          </a:xfrm>
          <a:prstGeom prst="roundRect">
            <a:avLst>
              <a:gd name="adj" fmla="val 4651"/>
            </a:avLst>
          </a:prstGeom>
          <a:solidFill>
            <a:srgbClr val="FFFFFF"/>
          </a:solidFill>
          <a:ln/>
          <a:effectLst>
            <a:outerShdw blurRad="88900" dist="25400" dir="5400000" algn="bl" rotWithShape="0">
              <a:srgbClr val="B9C7D1">
                <a:alpha val="40000"/>
              </a:srgbClr>
            </a:outerShdw>
          </a:effectLst>
        </p:spPr>
      </p:sp>
      <p:pic>
        <p:nvPicPr>
          <p:cNvPr id="17" name="Image 1" descr="D:/DATN/TownHub/latex/images/img47.png"/>
          <p:cNvPicPr>
            <a:picLocks noChangeAspect="1"/>
          </p:cNvPicPr>
          <p:nvPr/>
        </p:nvPicPr>
        <p:blipFill>
          <a:blip r:embed="rId4"/>
          <a:srcRect/>
          <a:stretch/>
        </p:blipFill>
        <p:spPr>
          <a:xfrm>
            <a:off x="4745736" y="1892808"/>
            <a:ext cx="3182112" cy="1801368"/>
          </a:xfrm>
          <a:prstGeom prst="rect">
            <a:avLst/>
          </a:prstGeom>
        </p:spPr>
      </p:pic>
      <p:sp>
        <p:nvSpPr>
          <p:cNvPr id="18" name="Text 14"/>
          <p:cNvSpPr/>
          <p:nvPr/>
        </p:nvSpPr>
        <p:spPr>
          <a:xfrm>
            <a:off x="4754880" y="3886200"/>
            <a:ext cx="2670048" cy="365760"/>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Landsoft Control</a:t>
            </a:r>
            <a:endParaRPr lang="en-US" sz="1700" dirty="0"/>
          </a:p>
        </p:txBody>
      </p:sp>
      <p:sp>
        <p:nvSpPr>
          <p:cNvPr id="19" name="Shape 15"/>
          <p:cNvSpPr/>
          <p:nvPr/>
        </p:nvSpPr>
        <p:spPr>
          <a:xfrm>
            <a:off x="7516368" y="3931920"/>
            <a:ext cx="457200" cy="274320"/>
          </a:xfrm>
          <a:prstGeom prst="roundRect">
            <a:avLst>
              <a:gd name="adj" fmla="val 50000"/>
            </a:avLst>
          </a:prstGeom>
          <a:solidFill>
            <a:srgbClr val="23B5A6"/>
          </a:solidFill>
          <a:ln/>
        </p:spPr>
      </p:sp>
      <p:sp>
        <p:nvSpPr>
          <p:cNvPr id="20" name="Text 16"/>
          <p:cNvSpPr/>
          <p:nvPr/>
        </p:nvSpPr>
        <p:spPr>
          <a:xfrm>
            <a:off x="4754880" y="4251960"/>
            <a:ext cx="3172968" cy="274320"/>
          </a:xfrm>
          <a:prstGeom prst="rect">
            <a:avLst/>
          </a:prstGeom>
          <a:noFill/>
          <a:ln/>
        </p:spPr>
        <p:txBody>
          <a:bodyPr wrap="square" lIns="0" tIns="0" rIns="0" bIns="0" rtlCol="0" anchor="ctr"/>
          <a:lstStyle/>
          <a:p>
            <a:pPr marL="0" indent="0">
              <a:buNone/>
            </a:pPr>
            <a:r>
              <a:rPr lang="en-US" sz="1150" b="1" dirty="0">
                <a:solidFill>
                  <a:srgbClr val="23B5A6"/>
                </a:solidFill>
                <a:latin typeface="Calibri" pitchFamily="34" charset="0"/>
                <a:ea typeface="Calibri" pitchFamily="34" charset="-122"/>
                <a:cs typeface="Calibri" pitchFamily="34" charset="-120"/>
              </a:rPr>
              <a:t>Landsoft · DIP</a:t>
            </a:r>
            <a:endParaRPr lang="en-US" sz="1150" dirty="0"/>
          </a:p>
        </p:txBody>
      </p:sp>
      <p:sp>
        <p:nvSpPr>
          <p:cNvPr id="21" name="Text 17"/>
          <p:cNvSpPr/>
          <p:nvPr/>
        </p:nvSpPr>
        <p:spPr>
          <a:xfrm>
            <a:off x="4754880" y="4572000"/>
            <a:ext cx="3172968" cy="1234440"/>
          </a:xfrm>
          <a:prstGeom prst="rect">
            <a:avLst/>
          </a:prstGeom>
          <a:noFill/>
          <a:ln/>
        </p:spPr>
        <p:txBody>
          <a:bodyPr wrap="square" lIns="0" tIns="0" rIns="0" bIns="0" rtlCol="0" anchor="t"/>
          <a:lstStyle/>
          <a:p>
            <a:pPr marL="0" indent="0">
              <a:lnSpc>
                <a:spcPct val="105000"/>
              </a:lnSpc>
              <a:buNone/>
            </a:pPr>
            <a:r>
              <a:rPr lang="en-US" sz="1200" dirty="0">
                <a:solidFill>
                  <a:srgbClr val="22303C"/>
                </a:solidFill>
                <a:latin typeface="Calibri" pitchFamily="34" charset="0"/>
                <a:ea typeface="Calibri" pitchFamily="34" charset="-122"/>
                <a:cs typeface="Calibri" pitchFamily="34" charset="-120"/>
              </a:rPr>
              <a:t>Quản lý vòng đời thiết bị. Xuân Mai (11 dự án), Geleximco, SunGroup. Thu phí VNPay/Viettel Pay, tự gạch nợ kế toán.</a:t>
            </a:r>
            <a:endParaRPr lang="en-US" sz="1200" dirty="0"/>
          </a:p>
        </p:txBody>
      </p:sp>
      <p:sp>
        <p:nvSpPr>
          <p:cNvPr id="22" name="Shape 18"/>
          <p:cNvSpPr/>
          <p:nvPr/>
        </p:nvSpPr>
        <p:spPr>
          <a:xfrm>
            <a:off x="8430768" y="1645920"/>
            <a:ext cx="3675888" cy="4251960"/>
          </a:xfrm>
          <a:prstGeom prst="roundRect">
            <a:avLst>
              <a:gd name="adj" fmla="val 2985"/>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3" name="Shape 19"/>
          <p:cNvSpPr/>
          <p:nvPr/>
        </p:nvSpPr>
        <p:spPr>
          <a:xfrm>
            <a:off x="8595360" y="1810512"/>
            <a:ext cx="3346704" cy="1965960"/>
          </a:xfrm>
          <a:prstGeom prst="roundRect">
            <a:avLst>
              <a:gd name="adj" fmla="val 4651"/>
            </a:avLst>
          </a:prstGeom>
          <a:solidFill>
            <a:srgbClr val="FFFFFF"/>
          </a:solidFill>
          <a:ln/>
          <a:effectLst>
            <a:outerShdw blurRad="88900" dist="25400" dir="5400000" algn="bl" rotWithShape="0">
              <a:srgbClr val="B9C7D1">
                <a:alpha val="40000"/>
              </a:srgbClr>
            </a:outerShdw>
          </a:effectLst>
        </p:spPr>
      </p:sp>
      <p:pic>
        <p:nvPicPr>
          <p:cNvPr id="24" name="Image 2" descr="D:/DATN/TownHub/latex/images/img51.png"/>
          <p:cNvPicPr>
            <a:picLocks noChangeAspect="1"/>
          </p:cNvPicPr>
          <p:nvPr/>
        </p:nvPicPr>
        <p:blipFill>
          <a:blip r:embed="rId5"/>
          <a:srcRect/>
          <a:stretch/>
        </p:blipFill>
        <p:spPr>
          <a:xfrm>
            <a:off x="8677656" y="1892808"/>
            <a:ext cx="3182112" cy="1801368"/>
          </a:xfrm>
          <a:prstGeom prst="rect">
            <a:avLst/>
          </a:prstGeom>
        </p:spPr>
      </p:pic>
      <p:sp>
        <p:nvSpPr>
          <p:cNvPr id="25" name="Text 20"/>
          <p:cNvSpPr/>
          <p:nvPr/>
        </p:nvSpPr>
        <p:spPr>
          <a:xfrm>
            <a:off x="8686800" y="3886200"/>
            <a:ext cx="2670048" cy="365760"/>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CyHome PMS</a:t>
            </a:r>
            <a:endParaRPr lang="en-US" sz="1700" dirty="0"/>
          </a:p>
        </p:txBody>
      </p:sp>
      <p:sp>
        <p:nvSpPr>
          <p:cNvPr id="26" name="Shape 21"/>
          <p:cNvSpPr/>
          <p:nvPr/>
        </p:nvSpPr>
        <p:spPr>
          <a:xfrm>
            <a:off x="11448288" y="3931920"/>
            <a:ext cx="457200" cy="274320"/>
          </a:xfrm>
          <a:prstGeom prst="roundRect">
            <a:avLst>
              <a:gd name="adj" fmla="val 50000"/>
            </a:avLst>
          </a:prstGeom>
          <a:solidFill>
            <a:srgbClr val="EFA13C"/>
          </a:solidFill>
          <a:ln/>
        </p:spPr>
      </p:sp>
      <p:sp>
        <p:nvSpPr>
          <p:cNvPr id="27" name="Text 22"/>
          <p:cNvSpPr/>
          <p:nvPr/>
        </p:nvSpPr>
        <p:spPr>
          <a:xfrm>
            <a:off x="8686800" y="4251960"/>
            <a:ext cx="3172968" cy="274320"/>
          </a:xfrm>
          <a:prstGeom prst="rect">
            <a:avLst/>
          </a:prstGeom>
          <a:noFill/>
          <a:ln/>
        </p:spPr>
        <p:txBody>
          <a:bodyPr wrap="square" lIns="0" tIns="0" rIns="0" bIns="0" rtlCol="0" anchor="ctr"/>
          <a:lstStyle/>
          <a:p>
            <a:pPr marL="0" indent="0">
              <a:buNone/>
            </a:pPr>
            <a:r>
              <a:rPr lang="en-US" sz="1150" b="1" dirty="0">
                <a:solidFill>
                  <a:srgbClr val="EFA13C"/>
                </a:solidFill>
                <a:latin typeface="Calibri" pitchFamily="34" charset="0"/>
                <a:ea typeface="Calibri" pitchFamily="34" charset="-122"/>
                <a:cs typeface="Calibri" pitchFamily="34" charset="-120"/>
              </a:rPr>
              <a:t>CYFEER · SaaS/AWS</a:t>
            </a:r>
            <a:endParaRPr lang="en-US" sz="1150" dirty="0"/>
          </a:p>
        </p:txBody>
      </p:sp>
      <p:sp>
        <p:nvSpPr>
          <p:cNvPr id="28" name="Text 23"/>
          <p:cNvSpPr/>
          <p:nvPr/>
        </p:nvSpPr>
        <p:spPr>
          <a:xfrm>
            <a:off x="8686800" y="4572000"/>
            <a:ext cx="3172968" cy="1234440"/>
          </a:xfrm>
          <a:prstGeom prst="rect">
            <a:avLst/>
          </a:prstGeom>
          <a:noFill/>
          <a:ln/>
        </p:spPr>
        <p:txBody>
          <a:bodyPr wrap="square" lIns="0" tIns="0" rIns="0" bIns="0" rtlCol="0" anchor="t"/>
          <a:lstStyle/>
          <a:p>
            <a:pPr marL="0" indent="0">
              <a:lnSpc>
                <a:spcPct val="105000"/>
              </a:lnSpc>
              <a:buNone/>
            </a:pPr>
            <a:r>
              <a:rPr lang="en-US" sz="1200" dirty="0">
                <a:solidFill>
                  <a:srgbClr val="22303C"/>
                </a:solidFill>
                <a:latin typeface="Calibri" pitchFamily="34" charset="0"/>
                <a:ea typeface="Calibri" pitchFamily="34" charset="-122"/>
                <a:cs typeface="Calibri" pitchFamily="34" charset="-120"/>
              </a:rPr>
              <a:t>200+ dự án · 180k+ cư dân (CBRE, Vingroup…). App KTV chốt số + chụp ảnh hiện trường. Giải Sao Khuê 2022.</a:t>
            </a:r>
            <a:endParaRPr lang="en-US" sz="1200" dirty="0"/>
          </a:p>
        </p:txBody>
      </p:sp>
      <p:sp>
        <p:nvSpPr>
          <p:cNvPr id="29" name="Text 24"/>
          <p:cNvSpPr/>
          <p:nvPr/>
        </p:nvSpPr>
        <p:spPr>
          <a:xfrm>
            <a:off x="566928" y="5989320"/>
            <a:ext cx="11064240" cy="274320"/>
          </a:xfrm>
          <a:prstGeom prst="rect">
            <a:avLst/>
          </a:prstGeom>
          <a:noFill/>
          <a:ln/>
        </p:spPr>
        <p:txBody>
          <a:bodyPr wrap="square" lIns="0" tIns="0" rIns="0" bIns="0" rtlCol="0" anchor="ctr"/>
          <a:lstStyle/>
          <a:p>
            <a:pPr marL="0" indent="0">
              <a:buNone/>
            </a:pPr>
            <a:r>
              <a:rPr lang="en-US" sz="1050" i="1" dirty="0">
                <a:solidFill>
                  <a:srgbClr val="6B7A88"/>
                </a:solidFill>
                <a:latin typeface="Calibri" pitchFamily="34" charset="0"/>
                <a:ea typeface="Calibri" pitchFamily="34" charset="-122"/>
                <a:cs typeface="Calibri" pitchFamily="34" charset="-120"/>
              </a:rPr>
              <a:t>Nguồn: trang chủ / thông cáo chính thức của từng sản phẩm (ảnh chụp màn hình, truy cập 07/2026).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02 · KHẢO SÁT GIẢI PHÁP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Định vị TownHub giữa các giải pháp hiện có</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383280" cy="502920"/>
          </a:xfrm>
          <a:prstGeom prst="rect">
            <a:avLst/>
          </a:prstGeom>
          <a:solidFill>
            <a:srgbClr val="0E2A47"/>
          </a:solidFill>
          <a:ln w="15240">
            <a:solidFill>
              <a:srgbClr val="FFFFFF"/>
            </a:solidFill>
            <a:prstDash val="solid"/>
          </a:ln>
        </p:spPr>
      </p:sp>
      <p:sp>
        <p:nvSpPr>
          <p:cNvPr id="9" name="Text 7"/>
          <p:cNvSpPr/>
          <p:nvPr/>
        </p:nvSpPr>
        <p:spPr>
          <a:xfrm>
            <a:off x="694944" y="1691640"/>
            <a:ext cx="3163824" cy="50292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Tiêu chí</a:t>
            </a:r>
            <a:endParaRPr lang="en-US" sz="1200" dirty="0"/>
          </a:p>
        </p:txBody>
      </p:sp>
      <p:sp>
        <p:nvSpPr>
          <p:cNvPr id="10" name="Shape 8"/>
          <p:cNvSpPr/>
          <p:nvPr/>
        </p:nvSpPr>
        <p:spPr>
          <a:xfrm>
            <a:off x="3950208" y="1691640"/>
            <a:ext cx="2468880" cy="502920"/>
          </a:xfrm>
          <a:prstGeom prst="rect">
            <a:avLst/>
          </a:prstGeom>
          <a:solidFill>
            <a:srgbClr val="0E2A47"/>
          </a:solidFill>
          <a:ln w="15240">
            <a:solidFill>
              <a:srgbClr val="FFFFFF"/>
            </a:solidFill>
            <a:prstDash val="solid"/>
          </a:ln>
        </p:spPr>
      </p:sp>
      <p:sp>
        <p:nvSpPr>
          <p:cNvPr id="11" name="Text 9"/>
          <p:cNvSpPr/>
          <p:nvPr/>
        </p:nvSpPr>
        <p:spPr>
          <a:xfrm>
            <a:off x="4078224" y="1691640"/>
            <a:ext cx="224942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Thủ công (Excel)</a:t>
            </a:r>
            <a:endParaRPr lang="en-US" sz="1200" dirty="0"/>
          </a:p>
        </p:txBody>
      </p:sp>
      <p:sp>
        <p:nvSpPr>
          <p:cNvPr id="12" name="Shape 10"/>
          <p:cNvSpPr/>
          <p:nvPr/>
        </p:nvSpPr>
        <p:spPr>
          <a:xfrm>
            <a:off x="6419088" y="1691640"/>
            <a:ext cx="2651760" cy="502920"/>
          </a:xfrm>
          <a:prstGeom prst="rect">
            <a:avLst/>
          </a:prstGeom>
          <a:solidFill>
            <a:srgbClr val="0E2A47"/>
          </a:solidFill>
          <a:ln w="15240">
            <a:solidFill>
              <a:srgbClr val="FFFFFF"/>
            </a:solidFill>
            <a:prstDash val="solid"/>
          </a:ln>
        </p:spPr>
      </p:sp>
      <p:sp>
        <p:nvSpPr>
          <p:cNvPr id="13" name="Text 11"/>
          <p:cNvSpPr/>
          <p:nvPr/>
        </p:nvSpPr>
        <p:spPr>
          <a:xfrm>
            <a:off x="6547104" y="1691640"/>
            <a:ext cx="243230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PM thương mại*</a:t>
            </a:r>
            <a:endParaRPr lang="en-US" sz="1200" dirty="0"/>
          </a:p>
        </p:txBody>
      </p:sp>
      <p:sp>
        <p:nvSpPr>
          <p:cNvPr id="14" name="Shape 12"/>
          <p:cNvSpPr/>
          <p:nvPr/>
        </p:nvSpPr>
        <p:spPr>
          <a:xfrm>
            <a:off x="9070848" y="1691640"/>
            <a:ext cx="2560320" cy="502920"/>
          </a:xfrm>
          <a:prstGeom prst="rect">
            <a:avLst/>
          </a:prstGeom>
          <a:solidFill>
            <a:srgbClr val="0E7C86"/>
          </a:solidFill>
          <a:ln w="15240">
            <a:solidFill>
              <a:srgbClr val="FFFFFF"/>
            </a:solidFill>
            <a:prstDash val="solid"/>
          </a:ln>
        </p:spPr>
      </p:sp>
      <p:sp>
        <p:nvSpPr>
          <p:cNvPr id="15" name="Text 13"/>
          <p:cNvSpPr/>
          <p:nvPr/>
        </p:nvSpPr>
        <p:spPr>
          <a:xfrm>
            <a:off x="9198864" y="1691640"/>
            <a:ext cx="23408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TownHub</a:t>
            </a:r>
            <a:endParaRPr lang="en-US" sz="1200" dirty="0"/>
          </a:p>
        </p:txBody>
      </p:sp>
      <p:sp>
        <p:nvSpPr>
          <p:cNvPr id="16" name="Shape 14"/>
          <p:cNvSpPr/>
          <p:nvPr/>
        </p:nvSpPr>
        <p:spPr>
          <a:xfrm>
            <a:off x="566928" y="2194560"/>
            <a:ext cx="3383280" cy="502920"/>
          </a:xfrm>
          <a:prstGeom prst="rect">
            <a:avLst/>
          </a:prstGeom>
          <a:solidFill>
            <a:srgbClr val="FFFFFF"/>
          </a:solidFill>
          <a:ln w="15240">
            <a:solidFill>
              <a:srgbClr val="FFFFFF"/>
            </a:solidFill>
            <a:prstDash val="solid"/>
          </a:ln>
        </p:spPr>
      </p:sp>
      <p:sp>
        <p:nvSpPr>
          <p:cNvPr id="17" name="Text 15"/>
          <p:cNvSpPr/>
          <p:nvPr/>
        </p:nvSpPr>
        <p:spPr>
          <a:xfrm>
            <a:off x="694944" y="2194560"/>
            <a:ext cx="3163824" cy="502920"/>
          </a:xfrm>
          <a:prstGeom prst="rect">
            <a:avLst/>
          </a:prstGeom>
          <a:noFill/>
          <a:ln/>
        </p:spPr>
        <p:txBody>
          <a:bodyPr wrap="square" lIns="0" tIns="0" rIns="0" bIns="0"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Vòng đời &amp; khấu hao TS</a:t>
            </a:r>
            <a:endParaRPr lang="en-US" sz="1200" dirty="0"/>
          </a:p>
        </p:txBody>
      </p:sp>
      <p:sp>
        <p:nvSpPr>
          <p:cNvPr id="18" name="Shape 16"/>
          <p:cNvSpPr/>
          <p:nvPr/>
        </p:nvSpPr>
        <p:spPr>
          <a:xfrm>
            <a:off x="3950208" y="2194560"/>
            <a:ext cx="2468880" cy="502920"/>
          </a:xfrm>
          <a:prstGeom prst="rect">
            <a:avLst/>
          </a:prstGeom>
          <a:solidFill>
            <a:srgbClr val="FFFFFF"/>
          </a:solidFill>
          <a:ln w="15240">
            <a:solidFill>
              <a:srgbClr val="FFFFFF"/>
            </a:solidFill>
            <a:prstDash val="solid"/>
          </a:ln>
        </p:spPr>
      </p:sp>
      <p:sp>
        <p:nvSpPr>
          <p:cNvPr id="19" name="Text 17"/>
          <p:cNvSpPr/>
          <p:nvPr/>
        </p:nvSpPr>
        <p:spPr>
          <a:xfrm>
            <a:off x="4078224" y="2194560"/>
            <a:ext cx="224942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Thủ công, dễ sai</a:t>
            </a:r>
            <a:endParaRPr lang="en-US" sz="1200" dirty="0"/>
          </a:p>
        </p:txBody>
      </p:sp>
      <p:sp>
        <p:nvSpPr>
          <p:cNvPr id="20" name="Shape 18"/>
          <p:cNvSpPr/>
          <p:nvPr/>
        </p:nvSpPr>
        <p:spPr>
          <a:xfrm>
            <a:off x="6419088" y="2194560"/>
            <a:ext cx="2651760" cy="502920"/>
          </a:xfrm>
          <a:prstGeom prst="rect">
            <a:avLst/>
          </a:prstGeom>
          <a:solidFill>
            <a:srgbClr val="FFFFFF"/>
          </a:solidFill>
          <a:ln w="15240">
            <a:solidFill>
              <a:srgbClr val="FFFFFF"/>
            </a:solidFill>
            <a:prstDash val="solid"/>
          </a:ln>
        </p:spPr>
      </p:sp>
      <p:sp>
        <p:nvSpPr>
          <p:cNvPr id="21" name="Text 19"/>
          <p:cNvSpPr/>
          <p:nvPr/>
        </p:nvSpPr>
        <p:spPr>
          <a:xfrm>
            <a:off x="6547104" y="2194560"/>
            <a:ext cx="243230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Có</a:t>
            </a:r>
            <a:endParaRPr lang="en-US" sz="1200" dirty="0"/>
          </a:p>
        </p:txBody>
      </p:sp>
      <p:sp>
        <p:nvSpPr>
          <p:cNvPr id="22" name="Shape 20"/>
          <p:cNvSpPr/>
          <p:nvPr/>
        </p:nvSpPr>
        <p:spPr>
          <a:xfrm>
            <a:off x="9070848" y="2194560"/>
            <a:ext cx="2560320" cy="502920"/>
          </a:xfrm>
          <a:prstGeom prst="rect">
            <a:avLst/>
          </a:prstGeom>
          <a:solidFill>
            <a:srgbClr val="E4EEF3"/>
          </a:solidFill>
          <a:ln w="15240">
            <a:solidFill>
              <a:srgbClr val="FFFFFF"/>
            </a:solidFill>
            <a:prstDash val="solid"/>
          </a:ln>
        </p:spPr>
      </p:sp>
      <p:sp>
        <p:nvSpPr>
          <p:cNvPr id="23" name="Text 21"/>
          <p:cNvSpPr/>
          <p:nvPr/>
        </p:nvSpPr>
        <p:spPr>
          <a:xfrm>
            <a:off x="9198864" y="2194560"/>
            <a:ext cx="2340864" cy="502920"/>
          </a:xfrm>
          <a:prstGeom prst="rect">
            <a:avLst/>
          </a:prstGeom>
          <a:noFill/>
          <a:ln/>
        </p:spPr>
        <p:txBody>
          <a:bodyPr wrap="square" lIns="0" tIns="0" rIns="0" bIns="0" rtlCol="0" anchor="ctr"/>
          <a:lstStyle/>
          <a:p>
            <a:pPr marL="0" indent="0" algn="ctr">
              <a:buNone/>
            </a:pPr>
            <a:r>
              <a:rPr lang="en-US" sz="1200" b="1" dirty="0">
                <a:solidFill>
                  <a:srgbClr val="0E2A47"/>
                </a:solidFill>
                <a:latin typeface="Calibri" pitchFamily="34" charset="0"/>
                <a:ea typeface="Calibri" pitchFamily="34" charset="-122"/>
                <a:cs typeface="Calibri" pitchFamily="34" charset="-120"/>
              </a:rPr>
              <a:t>Tự động</a:t>
            </a:r>
            <a:endParaRPr lang="en-US" sz="1200" dirty="0"/>
          </a:p>
        </p:txBody>
      </p:sp>
      <p:sp>
        <p:nvSpPr>
          <p:cNvPr id="24" name="Shape 22"/>
          <p:cNvSpPr/>
          <p:nvPr/>
        </p:nvSpPr>
        <p:spPr>
          <a:xfrm>
            <a:off x="566928" y="2697480"/>
            <a:ext cx="3383280" cy="502920"/>
          </a:xfrm>
          <a:prstGeom prst="rect">
            <a:avLst/>
          </a:prstGeom>
          <a:solidFill>
            <a:srgbClr val="F1F5F8"/>
          </a:solidFill>
          <a:ln w="15240">
            <a:solidFill>
              <a:srgbClr val="FFFFFF"/>
            </a:solidFill>
            <a:prstDash val="solid"/>
          </a:ln>
        </p:spPr>
      </p:sp>
      <p:sp>
        <p:nvSpPr>
          <p:cNvPr id="25" name="Text 23"/>
          <p:cNvSpPr/>
          <p:nvPr/>
        </p:nvSpPr>
        <p:spPr>
          <a:xfrm>
            <a:off x="694944" y="2697480"/>
            <a:ext cx="3163824" cy="502920"/>
          </a:xfrm>
          <a:prstGeom prst="rect">
            <a:avLst/>
          </a:prstGeom>
          <a:noFill/>
          <a:ln/>
        </p:spPr>
        <p:txBody>
          <a:bodyPr wrap="square" lIns="0" tIns="0" rIns="0" bIns="0"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Bảo trì phòng ngừa (PM/WO)</a:t>
            </a:r>
            <a:endParaRPr lang="en-US" sz="1200" dirty="0"/>
          </a:p>
        </p:txBody>
      </p:sp>
      <p:sp>
        <p:nvSpPr>
          <p:cNvPr id="26" name="Shape 24"/>
          <p:cNvSpPr/>
          <p:nvPr/>
        </p:nvSpPr>
        <p:spPr>
          <a:xfrm>
            <a:off x="3950208" y="2697480"/>
            <a:ext cx="2468880" cy="502920"/>
          </a:xfrm>
          <a:prstGeom prst="rect">
            <a:avLst/>
          </a:prstGeom>
          <a:solidFill>
            <a:srgbClr val="F1F5F8"/>
          </a:solidFill>
          <a:ln w="15240">
            <a:solidFill>
              <a:srgbClr val="FFFFFF"/>
            </a:solidFill>
            <a:prstDash val="solid"/>
          </a:ln>
        </p:spPr>
      </p:sp>
      <p:sp>
        <p:nvSpPr>
          <p:cNvPr id="27" name="Text 25"/>
          <p:cNvSpPr/>
          <p:nvPr/>
        </p:nvSpPr>
        <p:spPr>
          <a:xfrm>
            <a:off x="4078224" y="2697480"/>
            <a:ext cx="224942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Không</a:t>
            </a:r>
            <a:endParaRPr lang="en-US" sz="1200" dirty="0"/>
          </a:p>
        </p:txBody>
      </p:sp>
      <p:sp>
        <p:nvSpPr>
          <p:cNvPr id="28" name="Shape 26"/>
          <p:cNvSpPr/>
          <p:nvPr/>
        </p:nvSpPr>
        <p:spPr>
          <a:xfrm>
            <a:off x="6419088" y="2697480"/>
            <a:ext cx="2651760" cy="502920"/>
          </a:xfrm>
          <a:prstGeom prst="rect">
            <a:avLst/>
          </a:prstGeom>
          <a:solidFill>
            <a:srgbClr val="F1F5F8"/>
          </a:solidFill>
          <a:ln w="15240">
            <a:solidFill>
              <a:srgbClr val="FFFFFF"/>
            </a:solidFill>
            <a:prstDash val="solid"/>
          </a:ln>
        </p:spPr>
      </p:sp>
      <p:sp>
        <p:nvSpPr>
          <p:cNvPr id="29" name="Text 27"/>
          <p:cNvSpPr/>
          <p:nvPr/>
        </p:nvSpPr>
        <p:spPr>
          <a:xfrm>
            <a:off x="6547104" y="2697480"/>
            <a:ext cx="243230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Có</a:t>
            </a:r>
            <a:endParaRPr lang="en-US" sz="1200" dirty="0"/>
          </a:p>
        </p:txBody>
      </p:sp>
      <p:sp>
        <p:nvSpPr>
          <p:cNvPr id="30" name="Shape 28"/>
          <p:cNvSpPr/>
          <p:nvPr/>
        </p:nvSpPr>
        <p:spPr>
          <a:xfrm>
            <a:off x="9070848" y="2697480"/>
            <a:ext cx="2560320" cy="502920"/>
          </a:xfrm>
          <a:prstGeom prst="rect">
            <a:avLst/>
          </a:prstGeom>
          <a:solidFill>
            <a:srgbClr val="E4EEF3"/>
          </a:solidFill>
          <a:ln w="15240">
            <a:solidFill>
              <a:srgbClr val="FFFFFF"/>
            </a:solidFill>
            <a:prstDash val="solid"/>
          </a:ln>
        </p:spPr>
      </p:sp>
      <p:sp>
        <p:nvSpPr>
          <p:cNvPr id="31" name="Text 29"/>
          <p:cNvSpPr/>
          <p:nvPr/>
        </p:nvSpPr>
        <p:spPr>
          <a:xfrm>
            <a:off x="9198864" y="2697480"/>
            <a:ext cx="2340864" cy="502920"/>
          </a:xfrm>
          <a:prstGeom prst="rect">
            <a:avLst/>
          </a:prstGeom>
          <a:noFill/>
          <a:ln/>
        </p:spPr>
        <p:txBody>
          <a:bodyPr wrap="square" lIns="0" tIns="0" rIns="0" bIns="0" rtlCol="0" anchor="ctr"/>
          <a:lstStyle/>
          <a:p>
            <a:pPr marL="0" indent="0" algn="ctr">
              <a:buNone/>
            </a:pPr>
            <a:r>
              <a:rPr lang="en-US" sz="1200" b="1" dirty="0">
                <a:solidFill>
                  <a:srgbClr val="0E2A47"/>
                </a:solidFill>
                <a:latin typeface="Calibri" pitchFamily="34" charset="0"/>
                <a:ea typeface="Calibri" pitchFamily="34" charset="-122"/>
                <a:cs typeface="Calibri" pitchFamily="34" charset="-120"/>
              </a:rPr>
              <a:t>Có</a:t>
            </a:r>
            <a:endParaRPr lang="en-US" sz="1200" dirty="0"/>
          </a:p>
        </p:txBody>
      </p:sp>
      <p:sp>
        <p:nvSpPr>
          <p:cNvPr id="32" name="Shape 30"/>
          <p:cNvSpPr/>
          <p:nvPr/>
        </p:nvSpPr>
        <p:spPr>
          <a:xfrm>
            <a:off x="566928" y="3200400"/>
            <a:ext cx="3383280" cy="502920"/>
          </a:xfrm>
          <a:prstGeom prst="rect">
            <a:avLst/>
          </a:prstGeom>
          <a:solidFill>
            <a:srgbClr val="FFFFFF"/>
          </a:solidFill>
          <a:ln w="15240">
            <a:solidFill>
              <a:srgbClr val="FFFFFF"/>
            </a:solidFill>
            <a:prstDash val="solid"/>
          </a:ln>
        </p:spPr>
      </p:sp>
      <p:sp>
        <p:nvSpPr>
          <p:cNvPr id="33" name="Text 31"/>
          <p:cNvSpPr/>
          <p:nvPr/>
        </p:nvSpPr>
        <p:spPr>
          <a:xfrm>
            <a:off x="694944" y="3200400"/>
            <a:ext cx="3163824" cy="502920"/>
          </a:xfrm>
          <a:prstGeom prst="rect">
            <a:avLst/>
          </a:prstGeom>
          <a:noFill/>
          <a:ln/>
        </p:spPr>
        <p:txBody>
          <a:bodyPr wrap="square" lIns="0" tIns="0" rIns="0" bIns="0"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OCR hóa đơn tiếng Việt</a:t>
            </a:r>
            <a:endParaRPr lang="en-US" sz="1200" dirty="0"/>
          </a:p>
        </p:txBody>
      </p:sp>
      <p:sp>
        <p:nvSpPr>
          <p:cNvPr id="34" name="Shape 32"/>
          <p:cNvSpPr/>
          <p:nvPr/>
        </p:nvSpPr>
        <p:spPr>
          <a:xfrm>
            <a:off x="3950208" y="3200400"/>
            <a:ext cx="2468880" cy="502920"/>
          </a:xfrm>
          <a:prstGeom prst="rect">
            <a:avLst/>
          </a:prstGeom>
          <a:solidFill>
            <a:srgbClr val="FFFFFF"/>
          </a:solidFill>
          <a:ln w="15240">
            <a:solidFill>
              <a:srgbClr val="FFFFFF"/>
            </a:solidFill>
            <a:prstDash val="solid"/>
          </a:ln>
        </p:spPr>
      </p:sp>
      <p:sp>
        <p:nvSpPr>
          <p:cNvPr id="35" name="Text 33"/>
          <p:cNvSpPr/>
          <p:nvPr/>
        </p:nvSpPr>
        <p:spPr>
          <a:xfrm>
            <a:off x="4078224" y="3200400"/>
            <a:ext cx="224942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Không</a:t>
            </a:r>
            <a:endParaRPr lang="en-US" sz="1200" dirty="0"/>
          </a:p>
        </p:txBody>
      </p:sp>
      <p:sp>
        <p:nvSpPr>
          <p:cNvPr id="36" name="Shape 34"/>
          <p:cNvSpPr/>
          <p:nvPr/>
        </p:nvSpPr>
        <p:spPr>
          <a:xfrm>
            <a:off x="6419088" y="3200400"/>
            <a:ext cx="2651760" cy="502920"/>
          </a:xfrm>
          <a:prstGeom prst="rect">
            <a:avLst/>
          </a:prstGeom>
          <a:solidFill>
            <a:srgbClr val="FFFFFF"/>
          </a:solidFill>
          <a:ln w="15240">
            <a:solidFill>
              <a:srgbClr val="FFFFFF"/>
            </a:solidFill>
            <a:prstDash val="solid"/>
          </a:ln>
        </p:spPr>
      </p:sp>
      <p:sp>
        <p:nvSpPr>
          <p:cNvPr id="37" name="Text 35"/>
          <p:cNvSpPr/>
          <p:nvPr/>
        </p:nvSpPr>
        <p:spPr>
          <a:xfrm>
            <a:off x="6547104" y="3200400"/>
            <a:ext cx="243230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Hiếm / Không</a:t>
            </a:r>
            <a:endParaRPr lang="en-US" sz="1200" dirty="0"/>
          </a:p>
        </p:txBody>
      </p:sp>
      <p:sp>
        <p:nvSpPr>
          <p:cNvPr id="38" name="Shape 36"/>
          <p:cNvSpPr/>
          <p:nvPr/>
        </p:nvSpPr>
        <p:spPr>
          <a:xfrm>
            <a:off x="9070848" y="3200400"/>
            <a:ext cx="2560320" cy="502920"/>
          </a:xfrm>
          <a:prstGeom prst="rect">
            <a:avLst/>
          </a:prstGeom>
          <a:solidFill>
            <a:srgbClr val="E4EEF3"/>
          </a:solidFill>
          <a:ln w="15240">
            <a:solidFill>
              <a:srgbClr val="FFFFFF"/>
            </a:solidFill>
            <a:prstDash val="solid"/>
          </a:ln>
        </p:spPr>
      </p:sp>
      <p:sp>
        <p:nvSpPr>
          <p:cNvPr id="39" name="Text 37"/>
          <p:cNvSpPr/>
          <p:nvPr/>
        </p:nvSpPr>
        <p:spPr>
          <a:xfrm>
            <a:off x="9198864" y="3200400"/>
            <a:ext cx="2340864" cy="502920"/>
          </a:xfrm>
          <a:prstGeom prst="rect">
            <a:avLst/>
          </a:prstGeom>
          <a:noFill/>
          <a:ln/>
        </p:spPr>
        <p:txBody>
          <a:bodyPr wrap="square" lIns="0" tIns="0" rIns="0" bIns="0" rtlCol="0" anchor="ctr"/>
          <a:lstStyle/>
          <a:p>
            <a:pPr marL="0" indent="0" algn="ctr">
              <a:buNone/>
            </a:pPr>
            <a:r>
              <a:rPr lang="en-US" sz="1200" b="1" dirty="0">
                <a:solidFill>
                  <a:srgbClr val="0E2A47"/>
                </a:solidFill>
                <a:latin typeface="Calibri" pitchFamily="34" charset="0"/>
                <a:ea typeface="Calibri" pitchFamily="34" charset="-122"/>
                <a:cs typeface="Calibri" pitchFamily="34" charset="-120"/>
              </a:rPr>
              <a:t>Có (VietOCR/Paddle)</a:t>
            </a:r>
            <a:endParaRPr lang="en-US" sz="1200" dirty="0"/>
          </a:p>
        </p:txBody>
      </p:sp>
      <p:sp>
        <p:nvSpPr>
          <p:cNvPr id="40" name="Shape 38"/>
          <p:cNvSpPr/>
          <p:nvPr/>
        </p:nvSpPr>
        <p:spPr>
          <a:xfrm>
            <a:off x="566928" y="3703320"/>
            <a:ext cx="3383280" cy="502920"/>
          </a:xfrm>
          <a:prstGeom prst="rect">
            <a:avLst/>
          </a:prstGeom>
          <a:solidFill>
            <a:srgbClr val="F1F5F8"/>
          </a:solidFill>
          <a:ln w="15240">
            <a:solidFill>
              <a:srgbClr val="FFFFFF"/>
            </a:solidFill>
            <a:prstDash val="solid"/>
          </a:ln>
        </p:spPr>
      </p:sp>
      <p:sp>
        <p:nvSpPr>
          <p:cNvPr id="41" name="Text 39"/>
          <p:cNvSpPr/>
          <p:nvPr/>
        </p:nvSpPr>
        <p:spPr>
          <a:xfrm>
            <a:off x="694944" y="3703320"/>
            <a:ext cx="3163824" cy="502920"/>
          </a:xfrm>
          <a:prstGeom prst="rect">
            <a:avLst/>
          </a:prstGeom>
          <a:noFill/>
          <a:ln/>
        </p:spPr>
        <p:txBody>
          <a:bodyPr wrap="square" lIns="0" tIns="0" rIns="0" bIns="0"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Kế toán TS — bút toán Nợ/Có</a:t>
            </a:r>
            <a:endParaRPr lang="en-US" sz="1200" dirty="0"/>
          </a:p>
        </p:txBody>
      </p:sp>
      <p:sp>
        <p:nvSpPr>
          <p:cNvPr id="42" name="Shape 40"/>
          <p:cNvSpPr/>
          <p:nvPr/>
        </p:nvSpPr>
        <p:spPr>
          <a:xfrm>
            <a:off x="3950208" y="3703320"/>
            <a:ext cx="2468880" cy="502920"/>
          </a:xfrm>
          <a:prstGeom prst="rect">
            <a:avLst/>
          </a:prstGeom>
          <a:solidFill>
            <a:srgbClr val="F1F5F8"/>
          </a:solidFill>
          <a:ln w="15240">
            <a:solidFill>
              <a:srgbClr val="FFFFFF"/>
            </a:solidFill>
            <a:prstDash val="solid"/>
          </a:ln>
        </p:spPr>
      </p:sp>
      <p:sp>
        <p:nvSpPr>
          <p:cNvPr id="43" name="Text 41"/>
          <p:cNvSpPr/>
          <p:nvPr/>
        </p:nvSpPr>
        <p:spPr>
          <a:xfrm>
            <a:off x="4078224" y="3703320"/>
            <a:ext cx="224942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Thủ công</a:t>
            </a:r>
            <a:endParaRPr lang="en-US" sz="1200" dirty="0"/>
          </a:p>
        </p:txBody>
      </p:sp>
      <p:sp>
        <p:nvSpPr>
          <p:cNvPr id="44" name="Shape 42"/>
          <p:cNvSpPr/>
          <p:nvPr/>
        </p:nvSpPr>
        <p:spPr>
          <a:xfrm>
            <a:off x="6419088" y="3703320"/>
            <a:ext cx="2651760" cy="502920"/>
          </a:xfrm>
          <a:prstGeom prst="rect">
            <a:avLst/>
          </a:prstGeom>
          <a:solidFill>
            <a:srgbClr val="F1F5F8"/>
          </a:solidFill>
          <a:ln w="15240">
            <a:solidFill>
              <a:srgbClr val="FFFFFF"/>
            </a:solidFill>
            <a:prstDash val="solid"/>
          </a:ln>
        </p:spPr>
      </p:sp>
      <p:sp>
        <p:nvSpPr>
          <p:cNvPr id="45" name="Text 43"/>
          <p:cNvSpPr/>
          <p:nvPr/>
        </p:nvSpPr>
        <p:spPr>
          <a:xfrm>
            <a:off x="6547104" y="3703320"/>
            <a:ext cx="243230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Tùy sản phẩm</a:t>
            </a:r>
            <a:endParaRPr lang="en-US" sz="1200" dirty="0"/>
          </a:p>
        </p:txBody>
      </p:sp>
      <p:sp>
        <p:nvSpPr>
          <p:cNvPr id="46" name="Shape 44"/>
          <p:cNvSpPr/>
          <p:nvPr/>
        </p:nvSpPr>
        <p:spPr>
          <a:xfrm>
            <a:off x="9070848" y="3703320"/>
            <a:ext cx="2560320" cy="502920"/>
          </a:xfrm>
          <a:prstGeom prst="rect">
            <a:avLst/>
          </a:prstGeom>
          <a:solidFill>
            <a:srgbClr val="E4EEF3"/>
          </a:solidFill>
          <a:ln w="15240">
            <a:solidFill>
              <a:srgbClr val="FFFFFF"/>
            </a:solidFill>
            <a:prstDash val="solid"/>
          </a:ln>
        </p:spPr>
      </p:sp>
      <p:sp>
        <p:nvSpPr>
          <p:cNvPr id="47" name="Text 45"/>
          <p:cNvSpPr/>
          <p:nvPr/>
        </p:nvSpPr>
        <p:spPr>
          <a:xfrm>
            <a:off x="9198864" y="3703320"/>
            <a:ext cx="2340864" cy="502920"/>
          </a:xfrm>
          <a:prstGeom prst="rect">
            <a:avLst/>
          </a:prstGeom>
          <a:noFill/>
          <a:ln/>
        </p:spPr>
        <p:txBody>
          <a:bodyPr wrap="square" lIns="0" tIns="0" rIns="0" bIns="0" rtlCol="0" anchor="ctr"/>
          <a:lstStyle/>
          <a:p>
            <a:pPr marL="0" indent="0" algn="ctr">
              <a:buNone/>
            </a:pPr>
            <a:r>
              <a:rPr lang="en-US" sz="1200" b="1" dirty="0">
                <a:solidFill>
                  <a:srgbClr val="0E2A47"/>
                </a:solidFill>
                <a:latin typeface="Calibri" pitchFamily="34" charset="0"/>
                <a:ea typeface="Calibri" pitchFamily="34" charset="-122"/>
                <a:cs typeface="Calibri" pitchFamily="34" charset="-120"/>
              </a:rPr>
              <a:t>Có</a:t>
            </a:r>
            <a:endParaRPr lang="en-US" sz="1200" dirty="0"/>
          </a:p>
        </p:txBody>
      </p:sp>
      <p:sp>
        <p:nvSpPr>
          <p:cNvPr id="48" name="Shape 46"/>
          <p:cNvSpPr/>
          <p:nvPr/>
        </p:nvSpPr>
        <p:spPr>
          <a:xfrm>
            <a:off x="566928" y="4206240"/>
            <a:ext cx="3383280" cy="502920"/>
          </a:xfrm>
          <a:prstGeom prst="rect">
            <a:avLst/>
          </a:prstGeom>
          <a:solidFill>
            <a:srgbClr val="FFFFFF"/>
          </a:solidFill>
          <a:ln w="15240">
            <a:solidFill>
              <a:srgbClr val="FFFFFF"/>
            </a:solidFill>
            <a:prstDash val="solid"/>
          </a:ln>
        </p:spPr>
      </p:sp>
      <p:sp>
        <p:nvSpPr>
          <p:cNvPr id="49" name="Text 47"/>
          <p:cNvSpPr/>
          <p:nvPr/>
        </p:nvSpPr>
        <p:spPr>
          <a:xfrm>
            <a:off x="694944" y="4206240"/>
            <a:ext cx="3163824" cy="502920"/>
          </a:xfrm>
          <a:prstGeom prst="rect">
            <a:avLst/>
          </a:prstGeom>
          <a:noFill/>
          <a:ln/>
        </p:spPr>
        <p:txBody>
          <a:bodyPr wrap="square" lIns="0" tIns="0" rIns="0" bIns="0"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Nhận diện khuôn mặt ra/vào</a:t>
            </a:r>
            <a:endParaRPr lang="en-US" sz="1200" dirty="0"/>
          </a:p>
        </p:txBody>
      </p:sp>
      <p:sp>
        <p:nvSpPr>
          <p:cNvPr id="50" name="Shape 48"/>
          <p:cNvSpPr/>
          <p:nvPr/>
        </p:nvSpPr>
        <p:spPr>
          <a:xfrm>
            <a:off x="3950208" y="4206240"/>
            <a:ext cx="2468880" cy="502920"/>
          </a:xfrm>
          <a:prstGeom prst="rect">
            <a:avLst/>
          </a:prstGeom>
          <a:solidFill>
            <a:srgbClr val="FFFFFF"/>
          </a:solidFill>
          <a:ln w="15240">
            <a:solidFill>
              <a:srgbClr val="FFFFFF"/>
            </a:solidFill>
            <a:prstDash val="solid"/>
          </a:ln>
        </p:spPr>
      </p:sp>
      <p:sp>
        <p:nvSpPr>
          <p:cNvPr id="51" name="Text 49"/>
          <p:cNvSpPr/>
          <p:nvPr/>
        </p:nvSpPr>
        <p:spPr>
          <a:xfrm>
            <a:off x="4078224" y="4206240"/>
            <a:ext cx="224942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Không</a:t>
            </a:r>
            <a:endParaRPr lang="en-US" sz="1200" dirty="0"/>
          </a:p>
        </p:txBody>
      </p:sp>
      <p:sp>
        <p:nvSpPr>
          <p:cNvPr id="52" name="Shape 50"/>
          <p:cNvSpPr/>
          <p:nvPr/>
        </p:nvSpPr>
        <p:spPr>
          <a:xfrm>
            <a:off x="6419088" y="4206240"/>
            <a:ext cx="2651760" cy="502920"/>
          </a:xfrm>
          <a:prstGeom prst="rect">
            <a:avLst/>
          </a:prstGeom>
          <a:solidFill>
            <a:srgbClr val="FFFFFF"/>
          </a:solidFill>
          <a:ln w="15240">
            <a:solidFill>
              <a:srgbClr val="FFFFFF"/>
            </a:solidFill>
            <a:prstDash val="solid"/>
          </a:ln>
        </p:spPr>
      </p:sp>
      <p:sp>
        <p:nvSpPr>
          <p:cNvPr id="53" name="Text 51"/>
          <p:cNvSpPr/>
          <p:nvPr/>
        </p:nvSpPr>
        <p:spPr>
          <a:xfrm>
            <a:off x="6547104" y="4206240"/>
            <a:ext cx="243230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Tùy tích hợp</a:t>
            </a:r>
            <a:endParaRPr lang="en-US" sz="1200" dirty="0"/>
          </a:p>
        </p:txBody>
      </p:sp>
      <p:sp>
        <p:nvSpPr>
          <p:cNvPr id="54" name="Shape 52"/>
          <p:cNvSpPr/>
          <p:nvPr/>
        </p:nvSpPr>
        <p:spPr>
          <a:xfrm>
            <a:off x="9070848" y="4206240"/>
            <a:ext cx="2560320" cy="502920"/>
          </a:xfrm>
          <a:prstGeom prst="rect">
            <a:avLst/>
          </a:prstGeom>
          <a:solidFill>
            <a:srgbClr val="E4EEF3"/>
          </a:solidFill>
          <a:ln w="15240">
            <a:solidFill>
              <a:srgbClr val="FFFFFF"/>
            </a:solidFill>
            <a:prstDash val="solid"/>
          </a:ln>
        </p:spPr>
      </p:sp>
      <p:sp>
        <p:nvSpPr>
          <p:cNvPr id="55" name="Text 53"/>
          <p:cNvSpPr/>
          <p:nvPr/>
        </p:nvSpPr>
        <p:spPr>
          <a:xfrm>
            <a:off x="9198864" y="4206240"/>
            <a:ext cx="2340864" cy="502920"/>
          </a:xfrm>
          <a:prstGeom prst="rect">
            <a:avLst/>
          </a:prstGeom>
          <a:noFill/>
          <a:ln/>
        </p:spPr>
        <p:txBody>
          <a:bodyPr wrap="square" lIns="0" tIns="0" rIns="0" bIns="0" rtlCol="0" anchor="ctr"/>
          <a:lstStyle/>
          <a:p>
            <a:pPr marL="0" indent="0" algn="ctr">
              <a:buNone/>
            </a:pPr>
            <a:r>
              <a:rPr lang="en-US" sz="1200" b="1" dirty="0">
                <a:solidFill>
                  <a:srgbClr val="0E2A47"/>
                </a:solidFill>
                <a:latin typeface="Calibri" pitchFamily="34" charset="0"/>
                <a:ea typeface="Calibri" pitchFamily="34" charset="-122"/>
                <a:cs typeface="Calibri" pitchFamily="34" charset="-120"/>
              </a:rPr>
              <a:t>Có</a:t>
            </a:r>
            <a:endParaRPr lang="en-US" sz="1200" dirty="0"/>
          </a:p>
        </p:txBody>
      </p:sp>
      <p:sp>
        <p:nvSpPr>
          <p:cNvPr id="56" name="Shape 54"/>
          <p:cNvSpPr/>
          <p:nvPr/>
        </p:nvSpPr>
        <p:spPr>
          <a:xfrm>
            <a:off x="566928" y="4709160"/>
            <a:ext cx="3383280" cy="502920"/>
          </a:xfrm>
          <a:prstGeom prst="rect">
            <a:avLst/>
          </a:prstGeom>
          <a:solidFill>
            <a:srgbClr val="F1F5F8"/>
          </a:solidFill>
          <a:ln w="15240">
            <a:solidFill>
              <a:srgbClr val="FFFFFF"/>
            </a:solidFill>
            <a:prstDash val="solid"/>
          </a:ln>
        </p:spPr>
      </p:sp>
      <p:sp>
        <p:nvSpPr>
          <p:cNvPr id="57" name="Text 55"/>
          <p:cNvSpPr/>
          <p:nvPr/>
        </p:nvSpPr>
        <p:spPr>
          <a:xfrm>
            <a:off x="694944" y="4709160"/>
            <a:ext cx="3163824" cy="502920"/>
          </a:xfrm>
          <a:prstGeom prst="rect">
            <a:avLst/>
          </a:prstGeom>
          <a:noFill/>
          <a:ln/>
        </p:spPr>
        <p:txBody>
          <a:bodyPr wrap="square" lIns="0" tIns="0" rIns="0" bIns="0"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Chi phí &amp; tùy biến mã nguồn</a:t>
            </a:r>
            <a:endParaRPr lang="en-US" sz="1200" dirty="0"/>
          </a:p>
        </p:txBody>
      </p:sp>
      <p:sp>
        <p:nvSpPr>
          <p:cNvPr id="58" name="Shape 56"/>
          <p:cNvSpPr/>
          <p:nvPr/>
        </p:nvSpPr>
        <p:spPr>
          <a:xfrm>
            <a:off x="3950208" y="4709160"/>
            <a:ext cx="2468880" cy="502920"/>
          </a:xfrm>
          <a:prstGeom prst="rect">
            <a:avLst/>
          </a:prstGeom>
          <a:solidFill>
            <a:srgbClr val="F1F5F8"/>
          </a:solidFill>
          <a:ln w="15240">
            <a:solidFill>
              <a:srgbClr val="FFFFFF"/>
            </a:solidFill>
            <a:prstDash val="solid"/>
          </a:ln>
        </p:spPr>
      </p:sp>
      <p:sp>
        <p:nvSpPr>
          <p:cNvPr id="59" name="Text 57"/>
          <p:cNvSpPr/>
          <p:nvPr/>
        </p:nvSpPr>
        <p:spPr>
          <a:xfrm>
            <a:off x="4078224" y="4709160"/>
            <a:ext cx="224942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Rời rạc</a:t>
            </a:r>
            <a:endParaRPr lang="en-US" sz="1200" dirty="0"/>
          </a:p>
        </p:txBody>
      </p:sp>
      <p:sp>
        <p:nvSpPr>
          <p:cNvPr id="60" name="Shape 58"/>
          <p:cNvSpPr/>
          <p:nvPr/>
        </p:nvSpPr>
        <p:spPr>
          <a:xfrm>
            <a:off x="6419088" y="4709160"/>
            <a:ext cx="2651760" cy="502920"/>
          </a:xfrm>
          <a:prstGeom prst="rect">
            <a:avLst/>
          </a:prstGeom>
          <a:solidFill>
            <a:srgbClr val="F1F5F8"/>
          </a:solidFill>
          <a:ln w="15240">
            <a:solidFill>
              <a:srgbClr val="FFFFFF"/>
            </a:solidFill>
            <a:prstDash val="solid"/>
          </a:ln>
        </p:spPr>
      </p:sp>
      <p:sp>
        <p:nvSpPr>
          <p:cNvPr id="61" name="Text 59"/>
          <p:cNvSpPr/>
          <p:nvPr/>
        </p:nvSpPr>
        <p:spPr>
          <a:xfrm>
            <a:off x="6547104" y="4709160"/>
            <a:ext cx="243230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Cao, đóng</a:t>
            </a:r>
            <a:endParaRPr lang="en-US" sz="1200" dirty="0"/>
          </a:p>
        </p:txBody>
      </p:sp>
      <p:sp>
        <p:nvSpPr>
          <p:cNvPr id="62" name="Shape 60"/>
          <p:cNvSpPr/>
          <p:nvPr/>
        </p:nvSpPr>
        <p:spPr>
          <a:xfrm>
            <a:off x="9070848" y="4709160"/>
            <a:ext cx="2560320" cy="502920"/>
          </a:xfrm>
          <a:prstGeom prst="rect">
            <a:avLst/>
          </a:prstGeom>
          <a:solidFill>
            <a:srgbClr val="E4EEF3"/>
          </a:solidFill>
          <a:ln w="15240">
            <a:solidFill>
              <a:srgbClr val="FFFFFF"/>
            </a:solidFill>
            <a:prstDash val="solid"/>
          </a:ln>
        </p:spPr>
      </p:sp>
      <p:sp>
        <p:nvSpPr>
          <p:cNvPr id="63" name="Text 61"/>
          <p:cNvSpPr/>
          <p:nvPr/>
        </p:nvSpPr>
        <p:spPr>
          <a:xfrm>
            <a:off x="9198864" y="4709160"/>
            <a:ext cx="2340864" cy="502920"/>
          </a:xfrm>
          <a:prstGeom prst="rect">
            <a:avLst/>
          </a:prstGeom>
          <a:noFill/>
          <a:ln/>
        </p:spPr>
        <p:txBody>
          <a:bodyPr wrap="square" lIns="0" tIns="0" rIns="0" bIns="0" rtlCol="0" anchor="ctr"/>
          <a:lstStyle/>
          <a:p>
            <a:pPr marL="0" indent="0" algn="ctr">
              <a:buNone/>
            </a:pPr>
            <a:r>
              <a:rPr lang="en-US" sz="1200" b="1" dirty="0">
                <a:solidFill>
                  <a:srgbClr val="0E2A47"/>
                </a:solidFill>
                <a:latin typeface="Calibri" pitchFamily="34" charset="0"/>
                <a:ea typeface="Calibri" pitchFamily="34" charset="-122"/>
                <a:cs typeface="Calibri" pitchFamily="34" charset="-120"/>
              </a:rPr>
              <a:t>Thấp, tự chủ</a:t>
            </a:r>
            <a:endParaRPr lang="en-US" sz="1200" dirty="0"/>
          </a:p>
        </p:txBody>
      </p:sp>
      <p:sp>
        <p:nvSpPr>
          <p:cNvPr id="64" name="Text 62"/>
          <p:cNvSpPr/>
          <p:nvPr/>
        </p:nvSpPr>
        <p:spPr>
          <a:xfrm>
            <a:off x="566928" y="5285232"/>
            <a:ext cx="6949440" cy="274320"/>
          </a:xfrm>
          <a:prstGeom prst="rect">
            <a:avLst/>
          </a:prstGeom>
          <a:noFill/>
          <a:ln/>
        </p:spPr>
        <p:txBody>
          <a:bodyPr wrap="square" lIns="0" tIns="0" rIns="0" bIns="0" rtlCol="0" anchor="ctr"/>
          <a:lstStyle/>
          <a:p>
            <a:pPr marL="0" indent="0">
              <a:buNone/>
            </a:pPr>
            <a:r>
              <a:rPr lang="en-US" sz="1050" i="1" dirty="0">
                <a:solidFill>
                  <a:srgbClr val="6B7A88"/>
                </a:solidFill>
                <a:latin typeface="Calibri" pitchFamily="34" charset="0"/>
                <a:ea typeface="Calibri" pitchFamily="34" charset="-122"/>
                <a:cs typeface="Calibri" pitchFamily="34" charset="-120"/>
              </a:rPr>
              <a:t>* Đại diện: Building Care · Landsoft Control · CyHome (đã triển khai 60–200+ dự án thực tế)</a:t>
            </a:r>
            <a:endParaRPr lang="en-US" sz="1050" dirty="0"/>
          </a:p>
        </p:txBody>
      </p:sp>
      <p:sp>
        <p:nvSpPr>
          <p:cNvPr id="65" name="Shape 63"/>
          <p:cNvSpPr/>
          <p:nvPr/>
        </p:nvSpPr>
        <p:spPr>
          <a:xfrm>
            <a:off x="7635240" y="5257800"/>
            <a:ext cx="3995928" cy="868680"/>
          </a:xfrm>
          <a:prstGeom prst="roundRect">
            <a:avLst>
              <a:gd name="adj" fmla="val 12632"/>
            </a:avLst>
          </a:prstGeom>
          <a:solidFill>
            <a:srgbClr val="0E2A47"/>
          </a:solidFill>
          <a:ln/>
        </p:spPr>
      </p:sp>
      <p:sp>
        <p:nvSpPr>
          <p:cNvPr id="66" name="Text 64"/>
          <p:cNvSpPr/>
          <p:nvPr/>
        </p:nvSpPr>
        <p:spPr>
          <a:xfrm>
            <a:off x="7818120" y="5257800"/>
            <a:ext cx="3657600" cy="868680"/>
          </a:xfrm>
          <a:prstGeom prst="rect">
            <a:avLst/>
          </a:prstGeom>
          <a:noFill/>
          <a:ln/>
        </p:spPr>
        <p:txBody>
          <a:bodyPr wrap="square" lIns="0" tIns="0" rIns="0" bIns="0" rtlCol="0" anchor="ctr"/>
          <a:lstStyle/>
          <a:p>
            <a:pPr marL="0" indent="0">
              <a:lnSpc>
                <a:spcPct val="102000"/>
              </a:lnSpc>
              <a:buNone/>
            </a:pPr>
            <a:r>
              <a:rPr lang="en-US" sz="1150" b="1" dirty="0">
                <a:solidFill>
                  <a:srgbClr val="23B5A6"/>
                </a:solidFill>
                <a:latin typeface="Calibri" pitchFamily="34" charset="0"/>
                <a:ea typeface="Calibri" pitchFamily="34" charset="-122"/>
                <a:cs typeface="Calibri" pitchFamily="34" charset="-120"/>
              </a:rPr>
              <a:t>Khoảng trống TownHub lấp đầy:  </a:t>
            </a:r>
            <a:r>
              <a:rPr lang="en-US" sz="1150" dirty="0">
                <a:solidFill>
                  <a:srgbClr val="FFFFFF"/>
                </a:solidFill>
                <a:latin typeface="Calibri" pitchFamily="34" charset="0"/>
                <a:ea typeface="Calibri" pitchFamily="34" charset="-122"/>
                <a:cs typeface="Calibri" pitchFamily="34" charset="-120"/>
              </a:rPr>
              <a:t>OCR hóa đơn VN · kế toán Nợ/Có · nhận diện khuôn mặt — liên thông cả 3 phân hệ, tự chủ mã nguồn.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02 · ĐỀ XUẤT GIẢI PHÁP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Kiến trúc module hóa — độc lập nhưng liên thông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8</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marL="0" indent="0">
              <a:buNone/>
            </a:pPr>
            <a:r>
              <a:rPr lang="en-US" sz="1250" b="1" kern="0" spc="150" dirty="0">
                <a:solidFill>
                  <a:srgbClr val="23B5A6"/>
                </a:solidFill>
                <a:latin typeface="Calibri" pitchFamily="34" charset="0"/>
                <a:ea typeface="Calibri" pitchFamily="34" charset="-122"/>
                <a:cs typeface="Calibri" pitchFamily="34" charset="-120"/>
              </a:rPr>
              <a:t>NỀN TẢNG BASE (LÕI DÙNG CHUNG)</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Xác thực &amp; phân quyền (RBAC)   ·   Người dùng   ·   Thông báo   ·   Cấu hình &amp; danh mục   ·   Báo cáo   ·   Dữ liệu nền dân cư/dịch vụ</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icPr>
            <a:picLocks noChangeAspect="1"/>
          </p:cNvPicPr>
          <p:nvPr/>
        </p:nvPicPr>
        <p:blipFill>
          <a:blip r:embed="rId3"/>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Phân hệ Tài sản</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kế thừa Base</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icPr>
            <a:picLocks noChangeAspect="1"/>
          </p:cNvPicPr>
          <p:nvPr/>
        </p:nvPicPr>
        <p:blipFill>
          <a:blip r:embed="rId4"/>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Phân hệ Dân cư</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kế thừa Base</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blurRad="88900" dist="25400" dir="5400000" algn="bl" rotWithShape="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icPr>
            <a:picLocks noChangeAspect="1"/>
          </p:cNvPicPr>
          <p:nvPr/>
        </p:nvPicPr>
        <p:blipFill>
          <a:blip r:embed="rId5"/>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Phân hệ Dịch vụ</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kế thừa Base</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marL="0" indent="0" algn="ctr">
              <a:buNone/>
            </a:pPr>
            <a:r>
              <a:rPr lang="en-US" sz="1250" b="1" dirty="0">
                <a:solidFill>
                  <a:srgbClr val="0E2A47"/>
                </a:solidFill>
                <a:latin typeface="Calibri" pitchFamily="34" charset="0"/>
                <a:ea typeface="Calibri" pitchFamily="34" charset="-122"/>
                <a:cs typeface="Calibri" pitchFamily="34" charset="-120"/>
              </a:rPr>
              <a:t>3 module backend  </a:t>
            </a:r>
            <a:r>
              <a:rPr lang="en-US" sz="1250" b="1" dirty="0">
                <a:solidFill>
                  <a:srgbClr val="0E7C86"/>
                </a:solidFill>
                <a:latin typeface="Calibri" pitchFamily="34" charset="0"/>
                <a:ea typeface="Calibri" pitchFamily="34" charset="-122"/>
                <a:cs typeface="Calibri" pitchFamily="34" charset="-120"/>
              </a:rPr>
              <a:t>Auth · Base · Asset</a:t>
            </a:r>
            <a:r>
              <a:rPr lang="en-US" sz="1250" b="1" dirty="0">
                <a:solidFill>
                  <a:srgbClr val="0E2A47"/>
                </a:solidFill>
                <a:latin typeface="Calibri" pitchFamily="34" charset="0"/>
                <a:ea typeface="Calibri" pitchFamily="34" charset="-122"/>
                <a:cs typeface="Calibri" pitchFamily="34" charset="-120"/>
              </a:rPr>
              <a:t>   ~   3 schema CSDL  </a:t>
            </a:r>
            <a:r>
              <a:rPr lang="en-US" sz="1250" b="1" dirty="0">
                <a:solidFill>
                  <a:srgbClr val="0E7C86"/>
                </a:solidFill>
                <a:latin typeface="Calibri" pitchFamily="34" charset="0"/>
                <a:ea typeface="Calibri" pitchFamily="34" charset="-122"/>
                <a:cs typeface="Calibri" pitchFamily="34" charset="-120"/>
              </a:rPr>
              <a:t>auth · base · asset</a:t>
            </a:r>
            <a:r>
              <a:rPr lang="en-US" sz="1250" dirty="0">
                <a:solidFill>
                  <a:srgbClr val="22303C"/>
                </a:solidFill>
                <a:latin typeface="Calibri" pitchFamily="34" charset="0"/>
                <a:ea typeface="Calibri" pitchFamily="34" charset="-122"/>
                <a:cs typeface="Calibri" pitchFamily="34" charset="-120"/>
              </a:rPr>
              <a:t>   ·   giao tiếp qua định danh cross-service dạng Guid, không phụ thuộc chặt.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03 · CÔNG NGHỆ</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Ngăn xếp công nghệ TownHub</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9</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822960" y="1947672"/>
            <a:ext cx="658368" cy="658368"/>
          </a:xfrm>
          <a:prstGeom prst="roundRect">
            <a:avLst>
              <a:gd name="adj" fmla="val 50000"/>
            </a:avLst>
          </a:prstGeom>
          <a:solidFill>
            <a:srgbClr val="0E7C86"/>
          </a:solidFill>
          <a:ln/>
        </p:spPr>
      </p:sp>
      <p:pic>
        <p:nvPicPr>
          <p:cNvPr id="10" name="Image 0" descr="preencoded.png"/>
          <p:cNvPicPr>
            <a:picLocks noChangeAspect="1"/>
          </p:cNvPicPr>
          <p:nvPr/>
        </p:nvPicPr>
        <p:blipFill>
          <a:blip r:embed="rId3"/>
          <a:stretch>
            <a:fillRect/>
          </a:stretch>
        </p:blipFill>
        <p:spPr>
          <a:xfrm>
            <a:off x="980968" y="2105680"/>
            <a:ext cx="342351" cy="342351"/>
          </a:xfrm>
          <a:prstGeom prst="rect">
            <a:avLst/>
          </a:prstGeom>
        </p:spPr>
      </p:pic>
      <p:sp>
        <p:nvSpPr>
          <p:cNvPr id="11" name="Text 8"/>
          <p:cNvSpPr/>
          <p:nvPr/>
        </p:nvSpPr>
        <p:spPr>
          <a:xfrm>
            <a:off x="164592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Backend</a:t>
            </a:r>
            <a:endParaRPr lang="en-US" sz="1800" dirty="0"/>
          </a:p>
        </p:txBody>
      </p:sp>
      <p:sp>
        <p:nvSpPr>
          <p:cNvPr id="12" name="Text 9"/>
          <p:cNvSpPr/>
          <p:nvPr/>
        </p:nvSpPr>
        <p:spPr>
          <a:xfrm>
            <a:off x="84124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.NET 8 Web API</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EF Core 8 (ORM)</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Kiến trúc phân tầng</a:t>
            </a:r>
            <a:endParaRPr lang="en-US" sz="1200" dirty="0"/>
          </a:p>
        </p:txBody>
      </p:sp>
      <p:sp>
        <p:nvSpPr>
          <p:cNvPr id="13" name="Shape 10"/>
          <p:cNvSpPr/>
          <p:nvPr/>
        </p:nvSpPr>
        <p:spPr>
          <a:xfrm>
            <a:off x="431596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4" name="Shape 11"/>
          <p:cNvSpPr/>
          <p:nvPr/>
        </p:nvSpPr>
        <p:spPr>
          <a:xfrm>
            <a:off x="4572000" y="1947672"/>
            <a:ext cx="658368" cy="658368"/>
          </a:xfrm>
          <a:prstGeom prst="roundRect">
            <a:avLst>
              <a:gd name="adj" fmla="val 50000"/>
            </a:avLst>
          </a:prstGeom>
          <a:solidFill>
            <a:srgbClr val="23B5A6"/>
          </a:solidFill>
          <a:ln/>
        </p:spPr>
      </p:sp>
      <p:pic>
        <p:nvPicPr>
          <p:cNvPr id="15" name="Image 1" descr="preencoded.png"/>
          <p:cNvPicPr>
            <a:picLocks noChangeAspect="1"/>
          </p:cNvPicPr>
          <p:nvPr/>
        </p:nvPicPr>
        <p:blipFill>
          <a:blip r:embed="rId4"/>
          <a:stretch>
            <a:fillRect/>
          </a:stretch>
        </p:blipFill>
        <p:spPr>
          <a:xfrm>
            <a:off x="4730008" y="2105680"/>
            <a:ext cx="342351" cy="342351"/>
          </a:xfrm>
          <a:prstGeom prst="rect">
            <a:avLst/>
          </a:prstGeom>
        </p:spPr>
      </p:pic>
      <p:sp>
        <p:nvSpPr>
          <p:cNvPr id="16" name="Text 12"/>
          <p:cNvSpPr/>
          <p:nvPr/>
        </p:nvSpPr>
        <p:spPr>
          <a:xfrm>
            <a:off x="539496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Frontend</a:t>
            </a:r>
            <a:endParaRPr lang="en-US" sz="1800" dirty="0"/>
          </a:p>
        </p:txBody>
      </p:sp>
      <p:sp>
        <p:nvSpPr>
          <p:cNvPr id="17" name="Text 13"/>
          <p:cNvSpPr/>
          <p:nvPr/>
        </p:nvSpPr>
        <p:spPr>
          <a:xfrm>
            <a:off x="459028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Next.js 16 · React 19</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TypeScript · Tailwind v4</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Radix UI · recharts</a:t>
            </a:r>
            <a:endParaRPr lang="en-US" sz="1200" dirty="0"/>
          </a:p>
        </p:txBody>
      </p:sp>
      <p:sp>
        <p:nvSpPr>
          <p:cNvPr id="18" name="Shape 14"/>
          <p:cNvSpPr/>
          <p:nvPr/>
        </p:nvSpPr>
        <p:spPr>
          <a:xfrm>
            <a:off x="806500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9" name="Shape 15"/>
          <p:cNvSpPr/>
          <p:nvPr/>
        </p:nvSpPr>
        <p:spPr>
          <a:xfrm>
            <a:off x="8321040" y="1947672"/>
            <a:ext cx="658368" cy="658368"/>
          </a:xfrm>
          <a:prstGeom prst="roundRect">
            <a:avLst>
              <a:gd name="adj" fmla="val 50000"/>
            </a:avLst>
          </a:prstGeom>
          <a:solidFill>
            <a:srgbClr val="1E3A57"/>
          </a:solidFill>
          <a:ln/>
        </p:spPr>
      </p:sp>
      <p:pic>
        <p:nvPicPr>
          <p:cNvPr id="20" name="Image 2" descr="preencoded.png"/>
          <p:cNvPicPr>
            <a:picLocks noChangeAspect="1"/>
          </p:cNvPicPr>
          <p:nvPr/>
        </p:nvPicPr>
        <p:blipFill>
          <a:blip r:embed="rId5"/>
          <a:stretch>
            <a:fillRect/>
          </a:stretch>
        </p:blipFill>
        <p:spPr>
          <a:xfrm>
            <a:off x="8479048" y="2105680"/>
            <a:ext cx="342351" cy="342351"/>
          </a:xfrm>
          <a:prstGeom prst="rect">
            <a:avLst/>
          </a:prstGeom>
        </p:spPr>
      </p:pic>
      <p:sp>
        <p:nvSpPr>
          <p:cNvPr id="21" name="Text 16"/>
          <p:cNvSpPr/>
          <p:nvPr/>
        </p:nvSpPr>
        <p:spPr>
          <a:xfrm>
            <a:off x="914400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Dữ liệu</a:t>
            </a:r>
            <a:endParaRPr lang="en-US" sz="1800" dirty="0"/>
          </a:p>
        </p:txBody>
      </p:sp>
      <p:sp>
        <p:nvSpPr>
          <p:cNvPr id="22" name="Text 17"/>
          <p:cNvSpPr/>
          <p:nvPr/>
        </p:nvSpPr>
        <p:spPr>
          <a:xfrm>
            <a:off x="833932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PostgreSQL (3 schema)</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Redis (cache/phiên)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Cloudinary (ảnh/tệp)</a:t>
            </a:r>
            <a:endParaRPr lang="en-US" sz="1200" dirty="0"/>
          </a:p>
        </p:txBody>
      </p:sp>
      <p:sp>
        <p:nvSpPr>
          <p:cNvPr id="23" name="Shape 18"/>
          <p:cNvSpPr/>
          <p:nvPr/>
        </p:nvSpPr>
        <p:spPr>
          <a:xfrm>
            <a:off x="56692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4" name="Shape 19"/>
          <p:cNvSpPr/>
          <p:nvPr/>
        </p:nvSpPr>
        <p:spPr>
          <a:xfrm>
            <a:off x="822960" y="4050792"/>
            <a:ext cx="658368" cy="658368"/>
          </a:xfrm>
          <a:prstGeom prst="roundRect">
            <a:avLst>
              <a:gd name="adj" fmla="val 50000"/>
            </a:avLst>
          </a:prstGeom>
          <a:solidFill>
            <a:srgbClr val="16385C"/>
          </a:solidFill>
          <a:ln/>
        </p:spPr>
      </p:sp>
      <p:pic>
        <p:nvPicPr>
          <p:cNvPr id="25" name="Image 3" descr="preencoded.png"/>
          <p:cNvPicPr>
            <a:picLocks noChangeAspect="1"/>
          </p:cNvPicPr>
          <p:nvPr/>
        </p:nvPicPr>
        <p:blipFill>
          <a:blip r:embed="rId6"/>
          <a:stretch>
            <a:fillRect/>
          </a:stretch>
        </p:blipFill>
        <p:spPr>
          <a:xfrm>
            <a:off x="980968" y="4208800"/>
            <a:ext cx="342351" cy="342351"/>
          </a:xfrm>
          <a:prstGeom prst="rect">
            <a:avLst/>
          </a:prstGeom>
        </p:spPr>
      </p:pic>
      <p:sp>
        <p:nvSpPr>
          <p:cNvPr id="26" name="Text 20"/>
          <p:cNvSpPr/>
          <p:nvPr/>
        </p:nvSpPr>
        <p:spPr>
          <a:xfrm>
            <a:off x="164592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Bảo mật</a:t>
            </a:r>
            <a:endParaRPr lang="en-US" sz="1800" dirty="0"/>
          </a:p>
        </p:txBody>
      </p:sp>
      <p:sp>
        <p:nvSpPr>
          <p:cNvPr id="27" name="Text 21"/>
          <p:cNvSpPr/>
          <p:nvPr/>
        </p:nvSpPr>
        <p:spPr>
          <a:xfrm>
            <a:off x="84124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JWT · Google OAuth 2.0</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MFA / TOTP</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RBAC (74 quyền)</a:t>
            </a:r>
            <a:endParaRPr lang="en-US" sz="1200" dirty="0"/>
          </a:p>
        </p:txBody>
      </p:sp>
      <p:sp>
        <p:nvSpPr>
          <p:cNvPr id="28" name="Shape 22"/>
          <p:cNvSpPr/>
          <p:nvPr/>
        </p:nvSpPr>
        <p:spPr>
          <a:xfrm>
            <a:off x="431596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9" name="Shape 23"/>
          <p:cNvSpPr/>
          <p:nvPr/>
        </p:nvSpPr>
        <p:spPr>
          <a:xfrm>
            <a:off x="4572000" y="4050792"/>
            <a:ext cx="658368" cy="658368"/>
          </a:xfrm>
          <a:prstGeom prst="roundRect">
            <a:avLst>
              <a:gd name="adj" fmla="val 50000"/>
            </a:avLst>
          </a:prstGeom>
          <a:solidFill>
            <a:srgbClr val="EFA13C"/>
          </a:solidFill>
          <a:ln/>
        </p:spPr>
      </p:sp>
      <p:pic>
        <p:nvPicPr>
          <p:cNvPr id="30" name="Image 4" descr="preencoded.png"/>
          <p:cNvPicPr>
            <a:picLocks noChangeAspect="1"/>
          </p:cNvPicPr>
          <p:nvPr/>
        </p:nvPicPr>
        <p:blipFill>
          <a:blip r:embed="rId7"/>
          <a:stretch>
            <a:fillRect/>
          </a:stretch>
        </p:blipFill>
        <p:spPr>
          <a:xfrm>
            <a:off x="4730008" y="4208800"/>
            <a:ext cx="342351" cy="342351"/>
          </a:xfrm>
          <a:prstGeom prst="rect">
            <a:avLst/>
          </a:prstGeom>
        </p:spPr>
      </p:pic>
      <p:sp>
        <p:nvSpPr>
          <p:cNvPr id="31" name="Text 24"/>
          <p:cNvSpPr/>
          <p:nvPr/>
        </p:nvSpPr>
        <p:spPr>
          <a:xfrm>
            <a:off x="539496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AI / OCR</a:t>
            </a:r>
            <a:endParaRPr lang="en-US" sz="1800" dirty="0"/>
          </a:p>
        </p:txBody>
      </p:sp>
      <p:sp>
        <p:nvSpPr>
          <p:cNvPr id="32" name="Text 25"/>
          <p:cNvSpPr/>
          <p:nvPr/>
        </p:nvSpPr>
        <p:spPr>
          <a:xfrm>
            <a:off x="459028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VietOCR · PaddleOCR</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FastAPI · hàng đợi nền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Bóc tách hóa đơn VN</a:t>
            </a:r>
            <a:endParaRPr lang="en-US" sz="1200" dirty="0"/>
          </a:p>
        </p:txBody>
      </p:sp>
      <p:sp>
        <p:nvSpPr>
          <p:cNvPr id="33" name="Shape 26"/>
          <p:cNvSpPr/>
          <p:nvPr/>
        </p:nvSpPr>
        <p:spPr>
          <a:xfrm>
            <a:off x="806500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4" name="Shape 27"/>
          <p:cNvSpPr/>
          <p:nvPr/>
        </p:nvSpPr>
        <p:spPr>
          <a:xfrm>
            <a:off x="8321040" y="4050792"/>
            <a:ext cx="658368" cy="658368"/>
          </a:xfrm>
          <a:prstGeom prst="roundRect">
            <a:avLst>
              <a:gd name="adj" fmla="val 50000"/>
            </a:avLst>
          </a:prstGeom>
          <a:solidFill>
            <a:srgbClr val="E4572E"/>
          </a:solidFill>
          <a:ln/>
        </p:spPr>
      </p:sp>
      <p:pic>
        <p:nvPicPr>
          <p:cNvPr id="35" name="Image 5" descr="preencoded.png"/>
          <p:cNvPicPr>
            <a:picLocks noChangeAspect="1"/>
          </p:cNvPicPr>
          <p:nvPr/>
        </p:nvPicPr>
        <p:blipFill>
          <a:blip r:embed="rId8"/>
          <a:stretch>
            <a:fillRect/>
          </a:stretch>
        </p:blipFill>
        <p:spPr>
          <a:xfrm>
            <a:off x="8479048" y="4208800"/>
            <a:ext cx="342351" cy="342351"/>
          </a:xfrm>
          <a:prstGeom prst="rect">
            <a:avLst/>
          </a:prstGeom>
        </p:spPr>
      </p:pic>
      <p:sp>
        <p:nvSpPr>
          <p:cNvPr id="36" name="Text 28"/>
          <p:cNvSpPr/>
          <p:nvPr/>
        </p:nvSpPr>
        <p:spPr>
          <a:xfrm>
            <a:off x="914400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Triển khai</a:t>
            </a:r>
            <a:endParaRPr lang="en-US" sz="1800" dirty="0"/>
          </a:p>
        </p:txBody>
      </p:sp>
      <p:sp>
        <p:nvSpPr>
          <p:cNvPr id="37" name="Text 29"/>
          <p:cNvSpPr/>
          <p:nvPr/>
        </p:nvSpPr>
        <p:spPr>
          <a:xfrm>
            <a:off x="833932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Docker multi-stage</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Fly.io · HTTPS</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Git · Swagger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03 · KIẾN TRÚC TỔNG THỂ</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Client–server nhiều tầng, REST API + JWT</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10</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868680"/>
          </a:xfrm>
          <a:prstGeom prst="roundRect">
            <a:avLst>
              <a:gd name="adj" fmla="val 12632"/>
            </a:avLst>
          </a:prstGeom>
          <a:solidFill>
            <a:srgbClr val="E4EEF3"/>
          </a:solidFill>
          <a:ln/>
          <a:effectLst>
            <a:outerShdw blurRad="88900" dist="25400" dir="5400000" algn="bl" rotWithShape="0">
              <a:srgbClr val="B9C7D1">
                <a:alpha val="40000"/>
              </a:srgbClr>
            </a:outerShdw>
          </a:effectLst>
        </p:spPr>
      </p:sp>
      <p:sp>
        <p:nvSpPr>
          <p:cNvPr id="9" name="Shape 7"/>
          <p:cNvSpPr/>
          <p:nvPr/>
        </p:nvSpPr>
        <p:spPr>
          <a:xfrm>
            <a:off x="777240" y="1828800"/>
            <a:ext cx="502920" cy="502920"/>
          </a:xfrm>
          <a:prstGeom prst="roundRect">
            <a:avLst>
              <a:gd name="adj" fmla="val 50000"/>
            </a:avLst>
          </a:prstGeom>
          <a:solidFill>
            <a:srgbClr val="23B5A6"/>
          </a:solidFill>
          <a:ln/>
        </p:spPr>
      </p:sp>
      <p:pic>
        <p:nvPicPr>
          <p:cNvPr id="10" name="Image 0" descr="preencoded.png"/>
          <p:cNvPicPr>
            <a:picLocks noChangeAspect="1"/>
          </p:cNvPicPr>
          <p:nvPr/>
        </p:nvPicPr>
        <p:blipFill>
          <a:blip r:embed="rId3"/>
          <a:stretch>
            <a:fillRect/>
          </a:stretch>
        </p:blipFill>
        <p:spPr>
          <a:xfrm>
            <a:off x="897941" y="1949501"/>
            <a:ext cx="261518" cy="261518"/>
          </a:xfrm>
          <a:prstGeom prst="rect">
            <a:avLst/>
          </a:prstGeom>
        </p:spPr>
      </p:pic>
      <p:sp>
        <p:nvSpPr>
          <p:cNvPr id="11" name="Text 8"/>
          <p:cNvSpPr/>
          <p:nvPr/>
        </p:nvSpPr>
        <p:spPr>
          <a:xfrm>
            <a:off x="1417320" y="1645920"/>
            <a:ext cx="10058400" cy="868680"/>
          </a:xfrm>
          <a:prstGeom prst="rect">
            <a:avLst/>
          </a:prstGeom>
          <a:noFill/>
          <a:ln/>
        </p:spPr>
        <p:txBody>
          <a:bodyPr wrap="square" lIns="0" tIns="0" rIns="0" bIns="0" rtlCol="0" anchor="ctr"/>
          <a:lstStyle/>
          <a:p>
            <a:pPr marL="0" indent="0">
              <a:buNone/>
            </a:pPr>
            <a:r>
              <a:rPr lang="en-US" sz="1300" b="1" dirty="0">
                <a:solidFill>
                  <a:srgbClr val="0E2A47"/>
                </a:solidFill>
                <a:latin typeface="Calibri" pitchFamily="34" charset="0"/>
                <a:ea typeface="Calibri" pitchFamily="34" charset="-122"/>
                <a:cs typeface="Calibri" pitchFamily="34" charset="-120"/>
              </a:rPr>
              <a:t>FRONTEND  </a:t>
            </a:r>
            <a:r>
              <a:rPr lang="en-US" sz="1250" dirty="0">
                <a:solidFill>
                  <a:srgbClr val="22303C"/>
                </a:solidFill>
                <a:latin typeface="Calibri" pitchFamily="34" charset="0"/>
                <a:ea typeface="Calibri" pitchFamily="34" charset="-122"/>
                <a:cs typeface="Calibri" pitchFamily="34" charset="-120"/>
              </a:rPr>
              <a:t>Next.js 16 (App Router) · React 19 · TypeScript · Tailwind · Radix UI — lib/api.ts tự gắn token</a:t>
            </a:r>
            <a:endParaRPr lang="en-US" sz="1300" dirty="0"/>
          </a:p>
        </p:txBody>
      </p:sp>
      <p:sp>
        <p:nvSpPr>
          <p:cNvPr id="12" name="Text 9"/>
          <p:cNvSpPr/>
          <p:nvPr/>
        </p:nvSpPr>
        <p:spPr>
          <a:xfrm>
            <a:off x="566928" y="2578608"/>
            <a:ext cx="11064240" cy="292608"/>
          </a:xfrm>
          <a:prstGeom prst="rect">
            <a:avLst/>
          </a:prstGeom>
          <a:noFill/>
          <a:ln/>
        </p:spPr>
        <p:txBody>
          <a:bodyPr wrap="square" lIns="0" tIns="0" rIns="0" bIns="0" rtlCol="0" anchor="ctr"/>
          <a:lstStyle/>
          <a:p>
            <a:pPr marL="0" indent="0" algn="ctr">
              <a:buNone/>
            </a:pPr>
            <a:r>
              <a:rPr lang="en-US" sz="1150" b="1" dirty="0">
                <a:solidFill>
                  <a:srgbClr val="0E7C86"/>
                </a:solidFill>
                <a:latin typeface="Calibri" pitchFamily="34" charset="0"/>
                <a:ea typeface="Calibri" pitchFamily="34" charset="-122"/>
                <a:cs typeface="Calibri" pitchFamily="34" charset="-120"/>
              </a:rPr>
              <a:t>▼   REST API (JSON) · JWT Bearer · ResponseDto&lt;T&gt; { ErrorCode, ErrorMessage, Data }</a:t>
            </a:r>
            <a:endParaRPr lang="en-US" sz="1150" dirty="0"/>
          </a:p>
        </p:txBody>
      </p:sp>
      <p:sp>
        <p:nvSpPr>
          <p:cNvPr id="13" name="Shape 10"/>
          <p:cNvSpPr/>
          <p:nvPr/>
        </p:nvSpPr>
        <p:spPr>
          <a:xfrm>
            <a:off x="566928" y="2971800"/>
            <a:ext cx="11064240" cy="1600200"/>
          </a:xfrm>
          <a:prstGeom prst="roundRect">
            <a:avLst>
              <a:gd name="adj" fmla="val 6857"/>
            </a:avLst>
          </a:prstGeom>
          <a:solidFill>
            <a:srgbClr val="0E2A47"/>
          </a:solidFill>
          <a:ln/>
        </p:spPr>
      </p:sp>
      <p:sp>
        <p:nvSpPr>
          <p:cNvPr id="14" name="Text 11"/>
          <p:cNvSpPr/>
          <p:nvPr/>
        </p:nvSpPr>
        <p:spPr>
          <a:xfrm>
            <a:off x="822960" y="3108960"/>
            <a:ext cx="10515600" cy="320040"/>
          </a:xfrm>
          <a:prstGeom prst="rect">
            <a:avLst/>
          </a:prstGeom>
          <a:noFill/>
          <a:ln/>
        </p:spPr>
        <p:txBody>
          <a:bodyPr wrap="square" lIns="0" tIns="0" rIns="0" bIns="0" rtlCol="0" anchor="ctr"/>
          <a:lstStyle/>
          <a:p>
            <a:pPr marL="0" indent="0">
              <a:buNone/>
            </a:pPr>
            <a:r>
              <a:rPr lang="en-US" sz="1250" b="1" dirty="0">
                <a:solidFill>
                  <a:srgbClr val="23B5A6"/>
                </a:solidFill>
                <a:latin typeface="Calibri" pitchFamily="34" charset="0"/>
                <a:ea typeface="Calibri" pitchFamily="34" charset="-122"/>
                <a:cs typeface="Calibri" pitchFamily="34" charset="-120"/>
              </a:rPr>
              <a:t>BACKEND · .NET 8 Web API — 3 module độc lập (Auth · Base · Asset)</a:t>
            </a:r>
            <a:endParaRPr lang="en-US" sz="1250" dirty="0"/>
          </a:p>
        </p:txBody>
      </p:sp>
      <p:sp>
        <p:nvSpPr>
          <p:cNvPr id="15" name="Shape 12"/>
          <p:cNvSpPr/>
          <p:nvPr/>
        </p:nvSpPr>
        <p:spPr>
          <a:xfrm>
            <a:off x="822960" y="3520440"/>
            <a:ext cx="2542032" cy="868680"/>
          </a:xfrm>
          <a:prstGeom prst="roundRect">
            <a:avLst>
              <a:gd name="adj" fmla="val 10526"/>
            </a:avLst>
          </a:prstGeom>
          <a:solidFill>
            <a:srgbClr val="16385C"/>
          </a:solidFill>
          <a:ln/>
        </p:spPr>
      </p:sp>
      <p:sp>
        <p:nvSpPr>
          <p:cNvPr id="16" name="Text 13"/>
          <p:cNvSpPr/>
          <p:nvPr/>
        </p:nvSpPr>
        <p:spPr>
          <a:xfrm>
            <a:off x="914400" y="3520440"/>
            <a:ext cx="2359152" cy="868680"/>
          </a:xfrm>
          <a:prstGeom prst="rect">
            <a:avLst/>
          </a:prstGeom>
          <a:noFill/>
          <a:ln/>
        </p:spPr>
        <p:txBody>
          <a:bodyPr wrap="square" lIns="0" tIns="0" rIns="0" bIns="0" rtlCol="0" anchor="ctr"/>
          <a:lstStyle/>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Controllers</a:t>
            </a:r>
            <a:endParaRPr lang="en-US" sz="1150" dirty="0"/>
          </a:p>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(nhận request, kiểm tra quyền)</a:t>
            </a:r>
            <a:endParaRPr lang="en-US" sz="1150" dirty="0"/>
          </a:p>
        </p:txBody>
      </p:sp>
      <p:sp>
        <p:nvSpPr>
          <p:cNvPr id="17" name="Shape 14"/>
          <p:cNvSpPr/>
          <p:nvPr/>
        </p:nvSpPr>
        <p:spPr>
          <a:xfrm>
            <a:off x="3364992" y="3849624"/>
            <a:ext cx="155448" cy="201168"/>
          </a:xfrm>
          <a:prstGeom prst="rightArrow">
            <a:avLst/>
          </a:prstGeom>
          <a:solidFill>
            <a:srgbClr val="23B5A6"/>
          </a:solidFill>
          <a:ln/>
        </p:spPr>
      </p:sp>
      <p:sp>
        <p:nvSpPr>
          <p:cNvPr id="18" name="Shape 15"/>
          <p:cNvSpPr/>
          <p:nvPr/>
        </p:nvSpPr>
        <p:spPr>
          <a:xfrm>
            <a:off x="3529584" y="3520440"/>
            <a:ext cx="2542032" cy="868680"/>
          </a:xfrm>
          <a:prstGeom prst="roundRect">
            <a:avLst>
              <a:gd name="adj" fmla="val 10526"/>
            </a:avLst>
          </a:prstGeom>
          <a:solidFill>
            <a:srgbClr val="16385C"/>
          </a:solidFill>
          <a:ln/>
        </p:spPr>
      </p:sp>
      <p:sp>
        <p:nvSpPr>
          <p:cNvPr id="19" name="Text 16"/>
          <p:cNvSpPr/>
          <p:nvPr/>
        </p:nvSpPr>
        <p:spPr>
          <a:xfrm>
            <a:off x="3621024" y="3520440"/>
            <a:ext cx="2359152" cy="868680"/>
          </a:xfrm>
          <a:prstGeom prst="rect">
            <a:avLst/>
          </a:prstGeom>
          <a:noFill/>
          <a:ln/>
        </p:spPr>
        <p:txBody>
          <a:bodyPr wrap="square" lIns="0" tIns="0" rIns="0" bIns="0" rtlCol="0" anchor="ctr"/>
          <a:lstStyle/>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ApplicationService</a:t>
            </a:r>
            <a:endParaRPr lang="en-US" sz="1150" dirty="0"/>
          </a:p>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(logic nghiệp vụ)</a:t>
            </a:r>
            <a:endParaRPr lang="en-US" sz="1150" dirty="0"/>
          </a:p>
        </p:txBody>
      </p:sp>
      <p:sp>
        <p:nvSpPr>
          <p:cNvPr id="20" name="Shape 17"/>
          <p:cNvSpPr/>
          <p:nvPr/>
        </p:nvSpPr>
        <p:spPr>
          <a:xfrm>
            <a:off x="6071616" y="3849624"/>
            <a:ext cx="155448" cy="201168"/>
          </a:xfrm>
          <a:prstGeom prst="rightArrow">
            <a:avLst/>
          </a:prstGeom>
          <a:solidFill>
            <a:srgbClr val="23B5A6"/>
          </a:solidFill>
          <a:ln/>
        </p:spPr>
      </p:sp>
      <p:sp>
        <p:nvSpPr>
          <p:cNvPr id="21" name="Shape 18"/>
          <p:cNvSpPr/>
          <p:nvPr/>
        </p:nvSpPr>
        <p:spPr>
          <a:xfrm>
            <a:off x="6236208" y="3520440"/>
            <a:ext cx="2542032" cy="868680"/>
          </a:xfrm>
          <a:prstGeom prst="roundRect">
            <a:avLst>
              <a:gd name="adj" fmla="val 10526"/>
            </a:avLst>
          </a:prstGeom>
          <a:solidFill>
            <a:srgbClr val="16385C"/>
          </a:solidFill>
          <a:ln/>
        </p:spPr>
      </p:sp>
      <p:sp>
        <p:nvSpPr>
          <p:cNvPr id="22" name="Text 19"/>
          <p:cNvSpPr/>
          <p:nvPr/>
        </p:nvSpPr>
        <p:spPr>
          <a:xfrm>
            <a:off x="6327648" y="3520440"/>
            <a:ext cx="2359152" cy="868680"/>
          </a:xfrm>
          <a:prstGeom prst="rect">
            <a:avLst/>
          </a:prstGeom>
          <a:noFill/>
          <a:ln/>
        </p:spPr>
        <p:txBody>
          <a:bodyPr wrap="square" lIns="0" tIns="0" rIns="0" bIns="0" rtlCol="0" anchor="ctr"/>
          <a:lstStyle/>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Domain</a:t>
            </a:r>
            <a:endParaRPr lang="en-US" sz="1150" dirty="0"/>
          </a:p>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(thực thể)</a:t>
            </a:r>
            <a:endParaRPr lang="en-US" sz="1150" dirty="0"/>
          </a:p>
        </p:txBody>
      </p:sp>
      <p:sp>
        <p:nvSpPr>
          <p:cNvPr id="23" name="Shape 20"/>
          <p:cNvSpPr/>
          <p:nvPr/>
        </p:nvSpPr>
        <p:spPr>
          <a:xfrm>
            <a:off x="8778240" y="3849624"/>
            <a:ext cx="155448" cy="201168"/>
          </a:xfrm>
          <a:prstGeom prst="rightArrow">
            <a:avLst/>
          </a:prstGeom>
          <a:solidFill>
            <a:srgbClr val="23B5A6"/>
          </a:solidFill>
          <a:ln/>
        </p:spPr>
      </p:sp>
      <p:sp>
        <p:nvSpPr>
          <p:cNvPr id="24" name="Shape 21"/>
          <p:cNvSpPr/>
          <p:nvPr/>
        </p:nvSpPr>
        <p:spPr>
          <a:xfrm>
            <a:off x="8942832" y="3520440"/>
            <a:ext cx="2542032" cy="868680"/>
          </a:xfrm>
          <a:prstGeom prst="roundRect">
            <a:avLst>
              <a:gd name="adj" fmla="val 10526"/>
            </a:avLst>
          </a:prstGeom>
          <a:solidFill>
            <a:srgbClr val="16385C"/>
          </a:solidFill>
          <a:ln/>
        </p:spPr>
      </p:sp>
      <p:sp>
        <p:nvSpPr>
          <p:cNvPr id="25" name="Text 22"/>
          <p:cNvSpPr/>
          <p:nvPr/>
        </p:nvSpPr>
        <p:spPr>
          <a:xfrm>
            <a:off x="9034272" y="3520440"/>
            <a:ext cx="2359152" cy="868680"/>
          </a:xfrm>
          <a:prstGeom prst="rect">
            <a:avLst/>
          </a:prstGeom>
          <a:noFill/>
          <a:ln/>
        </p:spPr>
        <p:txBody>
          <a:bodyPr wrap="square" lIns="0" tIns="0" rIns="0" bIns="0" rtlCol="0" anchor="ctr"/>
          <a:lstStyle/>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Infrastructure</a:t>
            </a:r>
            <a:endParaRPr lang="en-US" sz="1150" dirty="0"/>
          </a:p>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(EF Core · Npgsql)</a:t>
            </a:r>
            <a:endParaRPr lang="en-US" sz="1150" dirty="0"/>
          </a:p>
        </p:txBody>
      </p:sp>
      <p:sp>
        <p:nvSpPr>
          <p:cNvPr id="26" name="Text 23"/>
          <p:cNvSpPr/>
          <p:nvPr/>
        </p:nvSpPr>
        <p:spPr>
          <a:xfrm>
            <a:off x="566928" y="4617720"/>
            <a:ext cx="11064240" cy="256032"/>
          </a:xfrm>
          <a:prstGeom prst="rect">
            <a:avLst/>
          </a:prstGeom>
          <a:noFill/>
          <a:ln/>
        </p:spPr>
        <p:txBody>
          <a:bodyPr wrap="square" lIns="0" tIns="0" rIns="0" bIns="0" rtlCol="0" anchor="ctr"/>
          <a:lstStyle/>
          <a:p>
            <a:pPr marL="0" indent="0" algn="ctr">
              <a:buNone/>
            </a:pPr>
            <a:r>
              <a:rPr lang="en-US" sz="1200" b="1" dirty="0">
                <a:solidFill>
                  <a:srgbClr val="0E7C86"/>
                </a:solidFill>
                <a:latin typeface="Calibri" pitchFamily="34" charset="0"/>
                <a:ea typeface="Calibri" pitchFamily="34" charset="-122"/>
                <a:cs typeface="Calibri" pitchFamily="34" charset="-120"/>
              </a:rPr>
              <a:t>▼</a:t>
            </a:r>
            <a:endParaRPr lang="en-US" sz="1200" dirty="0"/>
          </a:p>
        </p:txBody>
      </p:sp>
      <p:sp>
        <p:nvSpPr>
          <p:cNvPr id="27" name="Shape 24"/>
          <p:cNvSpPr/>
          <p:nvPr/>
        </p:nvSpPr>
        <p:spPr>
          <a:xfrm>
            <a:off x="566928" y="4937760"/>
            <a:ext cx="2688336" cy="1234440"/>
          </a:xfrm>
          <a:prstGeom prst="roundRect">
            <a:avLst>
              <a:gd name="adj" fmla="val 8148"/>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8" name="Shape 25"/>
          <p:cNvSpPr/>
          <p:nvPr/>
        </p:nvSpPr>
        <p:spPr>
          <a:xfrm>
            <a:off x="1609344" y="5102352"/>
            <a:ext cx="603504" cy="603504"/>
          </a:xfrm>
          <a:prstGeom prst="roundRect">
            <a:avLst>
              <a:gd name="adj" fmla="val 50000"/>
            </a:avLst>
          </a:prstGeom>
          <a:solidFill>
            <a:srgbClr val="0E7C86"/>
          </a:solidFill>
          <a:ln/>
        </p:spPr>
      </p:sp>
      <p:pic>
        <p:nvPicPr>
          <p:cNvPr id="29" name="Image 1" descr="preencoded.png"/>
          <p:cNvPicPr>
            <a:picLocks noChangeAspect="1"/>
          </p:cNvPicPr>
          <p:nvPr/>
        </p:nvPicPr>
        <p:blipFill>
          <a:blip r:embed="rId4"/>
          <a:stretch>
            <a:fillRect/>
          </a:stretch>
        </p:blipFill>
        <p:spPr>
          <a:xfrm>
            <a:off x="1754185" y="5247193"/>
            <a:ext cx="313822" cy="313822"/>
          </a:xfrm>
          <a:prstGeom prst="rect">
            <a:avLst/>
          </a:prstGeom>
        </p:spPr>
      </p:pic>
      <p:sp>
        <p:nvSpPr>
          <p:cNvPr id="30" name="Text 26"/>
          <p:cNvSpPr/>
          <p:nvPr/>
        </p:nvSpPr>
        <p:spPr>
          <a:xfrm>
            <a:off x="566928" y="5724144"/>
            <a:ext cx="2688336" cy="274320"/>
          </a:xfrm>
          <a:prstGeom prst="rect">
            <a:avLst/>
          </a:prstGeom>
          <a:noFill/>
          <a:ln/>
        </p:spPr>
        <p:txBody>
          <a:bodyPr wrap="square" lIns="0" tIns="0" rIns="0" bIns="0" rtlCol="0" anchor="ctr"/>
          <a:lstStyle/>
          <a:p>
            <a:pPr marL="0" indent="0" algn="ctr">
              <a:buNone/>
            </a:pPr>
            <a:r>
              <a:rPr lang="en-US" sz="1300" b="1" dirty="0">
                <a:solidFill>
                  <a:srgbClr val="0E2A47"/>
                </a:solidFill>
                <a:latin typeface="Calibri" pitchFamily="34" charset="0"/>
                <a:ea typeface="Calibri" pitchFamily="34" charset="-122"/>
                <a:cs typeface="Calibri" pitchFamily="34" charset="-120"/>
              </a:rPr>
              <a:t>PostgreSQL</a:t>
            </a:r>
            <a:endParaRPr lang="en-US" sz="1300" dirty="0"/>
          </a:p>
        </p:txBody>
      </p:sp>
      <p:sp>
        <p:nvSpPr>
          <p:cNvPr id="31" name="Text 27"/>
          <p:cNvSpPr/>
          <p:nvPr/>
        </p:nvSpPr>
        <p:spPr>
          <a:xfrm>
            <a:off x="658368" y="5961888"/>
            <a:ext cx="2505456" cy="256032"/>
          </a:xfrm>
          <a:prstGeom prst="rect">
            <a:avLst/>
          </a:prstGeom>
          <a:noFill/>
          <a:ln/>
        </p:spPr>
        <p:txBody>
          <a:bodyPr wrap="square" lIns="0" tIns="0" rIns="0" bIns="0" rtlCol="0" anchor="ctr"/>
          <a:lstStyle/>
          <a:p>
            <a:pPr marL="0" indent="0" algn="ctr">
              <a:buNone/>
            </a:pPr>
            <a:r>
              <a:rPr lang="en-US" sz="1050" dirty="0">
                <a:solidFill>
                  <a:srgbClr val="6B7A88"/>
                </a:solidFill>
                <a:latin typeface="Calibri" pitchFamily="34" charset="0"/>
                <a:ea typeface="Calibri" pitchFamily="34" charset="-122"/>
                <a:cs typeface="Calibri" pitchFamily="34" charset="-120"/>
              </a:rPr>
              <a:t>3 schema auth/base/asset</a:t>
            </a:r>
            <a:endParaRPr lang="en-US" sz="1050" dirty="0"/>
          </a:p>
        </p:txBody>
      </p:sp>
      <p:sp>
        <p:nvSpPr>
          <p:cNvPr id="32" name="Shape 28"/>
          <p:cNvSpPr/>
          <p:nvPr/>
        </p:nvSpPr>
        <p:spPr>
          <a:xfrm>
            <a:off x="3374136" y="4937760"/>
            <a:ext cx="2688336" cy="1234440"/>
          </a:xfrm>
          <a:prstGeom prst="roundRect">
            <a:avLst>
              <a:gd name="adj" fmla="val 8148"/>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3" name="Shape 29"/>
          <p:cNvSpPr/>
          <p:nvPr/>
        </p:nvSpPr>
        <p:spPr>
          <a:xfrm>
            <a:off x="4416552" y="5102352"/>
            <a:ext cx="603504" cy="603504"/>
          </a:xfrm>
          <a:prstGeom prst="roundRect">
            <a:avLst>
              <a:gd name="adj" fmla="val 50000"/>
            </a:avLst>
          </a:prstGeom>
          <a:solidFill>
            <a:srgbClr val="EFA13C"/>
          </a:solidFill>
          <a:ln/>
        </p:spPr>
      </p:sp>
      <p:pic>
        <p:nvPicPr>
          <p:cNvPr id="34" name="Image 2" descr="preencoded.png"/>
          <p:cNvPicPr>
            <a:picLocks noChangeAspect="1"/>
          </p:cNvPicPr>
          <p:nvPr/>
        </p:nvPicPr>
        <p:blipFill>
          <a:blip r:embed="rId5"/>
          <a:stretch>
            <a:fillRect/>
          </a:stretch>
        </p:blipFill>
        <p:spPr>
          <a:xfrm>
            <a:off x="4561393" y="5247193"/>
            <a:ext cx="313822" cy="313822"/>
          </a:xfrm>
          <a:prstGeom prst="rect">
            <a:avLst/>
          </a:prstGeom>
        </p:spPr>
      </p:pic>
      <p:sp>
        <p:nvSpPr>
          <p:cNvPr id="35" name="Text 30"/>
          <p:cNvSpPr/>
          <p:nvPr/>
        </p:nvSpPr>
        <p:spPr>
          <a:xfrm>
            <a:off x="3374136" y="5724144"/>
            <a:ext cx="2688336" cy="274320"/>
          </a:xfrm>
          <a:prstGeom prst="rect">
            <a:avLst/>
          </a:prstGeom>
          <a:noFill/>
          <a:ln/>
        </p:spPr>
        <p:txBody>
          <a:bodyPr wrap="square" lIns="0" tIns="0" rIns="0" bIns="0" rtlCol="0" anchor="ctr"/>
          <a:lstStyle/>
          <a:p>
            <a:pPr marL="0" indent="0" algn="ctr">
              <a:buNone/>
            </a:pPr>
            <a:r>
              <a:rPr lang="en-US" sz="1300" b="1" dirty="0">
                <a:solidFill>
                  <a:srgbClr val="0E2A47"/>
                </a:solidFill>
                <a:latin typeface="Calibri" pitchFamily="34" charset="0"/>
                <a:ea typeface="Calibri" pitchFamily="34" charset="-122"/>
                <a:cs typeface="Calibri" pitchFamily="34" charset="-120"/>
              </a:rPr>
              <a:t>Redis</a:t>
            </a:r>
            <a:endParaRPr lang="en-US" sz="1300" dirty="0"/>
          </a:p>
        </p:txBody>
      </p:sp>
      <p:sp>
        <p:nvSpPr>
          <p:cNvPr id="36" name="Text 31"/>
          <p:cNvSpPr/>
          <p:nvPr/>
        </p:nvSpPr>
        <p:spPr>
          <a:xfrm>
            <a:off x="3465576" y="5961888"/>
            <a:ext cx="2505456" cy="256032"/>
          </a:xfrm>
          <a:prstGeom prst="rect">
            <a:avLst/>
          </a:prstGeom>
          <a:noFill/>
          <a:ln/>
        </p:spPr>
        <p:txBody>
          <a:bodyPr wrap="square" lIns="0" tIns="0" rIns="0" bIns="0" rtlCol="0" anchor="ctr"/>
          <a:lstStyle/>
          <a:p>
            <a:pPr marL="0" indent="0" algn="ctr">
              <a:buNone/>
            </a:pPr>
            <a:r>
              <a:rPr lang="en-US" sz="1050" dirty="0">
                <a:solidFill>
                  <a:srgbClr val="6B7A88"/>
                </a:solidFill>
                <a:latin typeface="Calibri" pitchFamily="34" charset="0"/>
                <a:ea typeface="Calibri" pitchFamily="34" charset="-122"/>
                <a:cs typeface="Calibri" pitchFamily="34" charset="-120"/>
              </a:rPr>
              <a:t>phiên &amp; trạng thái MFA</a:t>
            </a:r>
            <a:endParaRPr lang="en-US" sz="1050" dirty="0"/>
          </a:p>
        </p:txBody>
      </p:sp>
      <p:sp>
        <p:nvSpPr>
          <p:cNvPr id="37" name="Shape 32"/>
          <p:cNvSpPr/>
          <p:nvPr/>
        </p:nvSpPr>
        <p:spPr>
          <a:xfrm>
            <a:off x="6181344" y="4937760"/>
            <a:ext cx="2688336" cy="1234440"/>
          </a:xfrm>
          <a:prstGeom prst="roundRect">
            <a:avLst>
              <a:gd name="adj" fmla="val 8148"/>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8" name="Shape 33"/>
          <p:cNvSpPr/>
          <p:nvPr/>
        </p:nvSpPr>
        <p:spPr>
          <a:xfrm>
            <a:off x="7223760" y="5102352"/>
            <a:ext cx="603504" cy="603504"/>
          </a:xfrm>
          <a:prstGeom prst="roundRect">
            <a:avLst>
              <a:gd name="adj" fmla="val 50000"/>
            </a:avLst>
          </a:prstGeom>
          <a:solidFill>
            <a:srgbClr val="1E3A57"/>
          </a:solidFill>
          <a:ln/>
        </p:spPr>
      </p:sp>
      <p:pic>
        <p:nvPicPr>
          <p:cNvPr id="39" name="Image 3" descr="preencoded.png"/>
          <p:cNvPicPr>
            <a:picLocks noChangeAspect="1"/>
          </p:cNvPicPr>
          <p:nvPr/>
        </p:nvPicPr>
        <p:blipFill>
          <a:blip r:embed="rId6"/>
          <a:stretch>
            <a:fillRect/>
          </a:stretch>
        </p:blipFill>
        <p:spPr>
          <a:xfrm>
            <a:off x="7368601" y="5247193"/>
            <a:ext cx="313822" cy="313822"/>
          </a:xfrm>
          <a:prstGeom prst="rect">
            <a:avLst/>
          </a:prstGeom>
        </p:spPr>
      </p:pic>
      <p:sp>
        <p:nvSpPr>
          <p:cNvPr id="40" name="Text 34"/>
          <p:cNvSpPr/>
          <p:nvPr/>
        </p:nvSpPr>
        <p:spPr>
          <a:xfrm>
            <a:off x="6181344" y="5724144"/>
            <a:ext cx="2688336" cy="274320"/>
          </a:xfrm>
          <a:prstGeom prst="rect">
            <a:avLst/>
          </a:prstGeom>
          <a:noFill/>
          <a:ln/>
        </p:spPr>
        <p:txBody>
          <a:bodyPr wrap="square" lIns="0" tIns="0" rIns="0" bIns="0" rtlCol="0" anchor="ctr"/>
          <a:lstStyle/>
          <a:p>
            <a:pPr marL="0" indent="0" algn="ctr">
              <a:buNone/>
            </a:pPr>
            <a:r>
              <a:rPr lang="en-US" sz="1300" b="1" dirty="0">
                <a:solidFill>
                  <a:srgbClr val="0E2A47"/>
                </a:solidFill>
                <a:latin typeface="Calibri" pitchFamily="34" charset="0"/>
                <a:ea typeface="Calibri" pitchFamily="34" charset="-122"/>
                <a:cs typeface="Calibri" pitchFamily="34" charset="-120"/>
              </a:rPr>
              <a:t>Cloudinary</a:t>
            </a:r>
            <a:endParaRPr lang="en-US" sz="1300" dirty="0"/>
          </a:p>
        </p:txBody>
      </p:sp>
      <p:sp>
        <p:nvSpPr>
          <p:cNvPr id="41" name="Text 35"/>
          <p:cNvSpPr/>
          <p:nvPr/>
        </p:nvSpPr>
        <p:spPr>
          <a:xfrm>
            <a:off x="6272784" y="5961888"/>
            <a:ext cx="2505456" cy="256032"/>
          </a:xfrm>
          <a:prstGeom prst="rect">
            <a:avLst/>
          </a:prstGeom>
          <a:noFill/>
          <a:ln/>
        </p:spPr>
        <p:txBody>
          <a:bodyPr wrap="square" lIns="0" tIns="0" rIns="0" bIns="0" rtlCol="0" anchor="ctr"/>
          <a:lstStyle/>
          <a:p>
            <a:pPr marL="0" indent="0" algn="ctr">
              <a:buNone/>
            </a:pPr>
            <a:r>
              <a:rPr lang="en-US" sz="1050" dirty="0">
                <a:solidFill>
                  <a:srgbClr val="6B7A88"/>
                </a:solidFill>
                <a:latin typeface="Calibri" pitchFamily="34" charset="0"/>
                <a:ea typeface="Calibri" pitchFamily="34" charset="-122"/>
                <a:cs typeface="Calibri" pitchFamily="34" charset="-120"/>
              </a:rPr>
              <a:t>ảnh, hóa đơn, minh chứng</a:t>
            </a:r>
            <a:endParaRPr lang="en-US" sz="1050" dirty="0"/>
          </a:p>
        </p:txBody>
      </p:sp>
      <p:sp>
        <p:nvSpPr>
          <p:cNvPr id="42" name="Shape 36"/>
          <p:cNvSpPr/>
          <p:nvPr/>
        </p:nvSpPr>
        <p:spPr>
          <a:xfrm>
            <a:off x="8988552" y="4937760"/>
            <a:ext cx="2688336" cy="1234440"/>
          </a:xfrm>
          <a:prstGeom prst="roundRect">
            <a:avLst>
              <a:gd name="adj" fmla="val 8148"/>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43" name="Shape 37"/>
          <p:cNvSpPr/>
          <p:nvPr/>
        </p:nvSpPr>
        <p:spPr>
          <a:xfrm>
            <a:off x="10030968" y="5102352"/>
            <a:ext cx="603504" cy="603504"/>
          </a:xfrm>
          <a:prstGeom prst="roundRect">
            <a:avLst>
              <a:gd name="adj" fmla="val 50000"/>
            </a:avLst>
          </a:prstGeom>
          <a:solidFill>
            <a:srgbClr val="E4572E"/>
          </a:solidFill>
          <a:ln/>
        </p:spPr>
      </p:sp>
      <p:pic>
        <p:nvPicPr>
          <p:cNvPr id="44" name="Image 4" descr="preencoded.png"/>
          <p:cNvPicPr>
            <a:picLocks noChangeAspect="1"/>
          </p:cNvPicPr>
          <p:nvPr/>
        </p:nvPicPr>
        <p:blipFill>
          <a:blip r:embed="rId7"/>
          <a:stretch>
            <a:fillRect/>
          </a:stretch>
        </p:blipFill>
        <p:spPr>
          <a:xfrm>
            <a:off x="10175809" y="5247193"/>
            <a:ext cx="313822" cy="313822"/>
          </a:xfrm>
          <a:prstGeom prst="rect">
            <a:avLst/>
          </a:prstGeom>
        </p:spPr>
      </p:pic>
      <p:sp>
        <p:nvSpPr>
          <p:cNvPr id="45" name="Text 38"/>
          <p:cNvSpPr/>
          <p:nvPr/>
        </p:nvSpPr>
        <p:spPr>
          <a:xfrm>
            <a:off x="8988552" y="5724144"/>
            <a:ext cx="2688336" cy="274320"/>
          </a:xfrm>
          <a:prstGeom prst="rect">
            <a:avLst/>
          </a:prstGeom>
          <a:noFill/>
          <a:ln/>
        </p:spPr>
        <p:txBody>
          <a:bodyPr wrap="square" lIns="0" tIns="0" rIns="0" bIns="0" rtlCol="0" anchor="ctr"/>
          <a:lstStyle/>
          <a:p>
            <a:pPr marL="0" indent="0" algn="ctr">
              <a:buNone/>
            </a:pPr>
            <a:r>
              <a:rPr lang="en-US" sz="1300" b="1" dirty="0">
                <a:solidFill>
                  <a:srgbClr val="0E2A47"/>
                </a:solidFill>
                <a:latin typeface="Calibri" pitchFamily="34" charset="0"/>
                <a:ea typeface="Calibri" pitchFamily="34" charset="-122"/>
                <a:cs typeface="Calibri" pitchFamily="34" charset="-120"/>
              </a:rPr>
              <a:t>VietOCR + MailKit</a:t>
            </a:r>
            <a:endParaRPr lang="en-US" sz="1300" dirty="0"/>
          </a:p>
        </p:txBody>
      </p:sp>
      <p:sp>
        <p:nvSpPr>
          <p:cNvPr id="46" name="Text 39"/>
          <p:cNvSpPr/>
          <p:nvPr/>
        </p:nvSpPr>
        <p:spPr>
          <a:xfrm>
            <a:off x="9079992" y="5961888"/>
            <a:ext cx="2505456" cy="256032"/>
          </a:xfrm>
          <a:prstGeom prst="rect">
            <a:avLst/>
          </a:prstGeom>
          <a:noFill/>
          <a:ln/>
        </p:spPr>
        <p:txBody>
          <a:bodyPr wrap="square" lIns="0" tIns="0" rIns="0" bIns="0" rtlCol="0" anchor="ctr"/>
          <a:lstStyle/>
          <a:p>
            <a:pPr marL="0" indent="0" algn="ctr">
              <a:buNone/>
            </a:pPr>
            <a:r>
              <a:rPr lang="en-US" sz="1050" dirty="0">
                <a:solidFill>
                  <a:srgbClr val="6B7A88"/>
                </a:solidFill>
                <a:latin typeface="Calibri" pitchFamily="34" charset="0"/>
                <a:ea typeface="Calibri" pitchFamily="34" charset="-122"/>
                <a:cs typeface="Calibri" pitchFamily="34" charset="-120"/>
              </a:rPr>
              <a:t>OCR hóa đơn · gửi email</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10789920" cy="27432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04 · MODULE BASE</a:t>
            </a:r>
            <a:endParaRPr lang="en-US" sz="1200" dirty="0"/>
          </a:p>
        </p:txBody>
      </p:sp>
      <p:sp>
        <p:nvSpPr>
          <p:cNvPr id="3" name="Text 1"/>
          <p:cNvSpPr/>
          <p:nvPr/>
        </p:nvSpPr>
        <p:spPr>
          <a:xfrm>
            <a:off x="457200" y="530352"/>
            <a:ext cx="10972800" cy="548640"/>
          </a:xfrm>
          <a:prstGeom prst="rect">
            <a:avLst/>
          </a:prstGeom>
          <a:noFill/>
          <a:ln/>
        </p:spPr>
        <p:txBody>
          <a:bodyPr wrap="square" rtlCol="0" anchor="ctr"/>
          <a:lstStyle/>
          <a:p>
            <a:pPr marL="0" indent="0" algn="l">
              <a:buNone/>
            </a:pPr>
            <a:r>
              <a:rPr lang="en-US" sz="2500" b="1" dirty="0">
                <a:solidFill>
                  <a:srgbClr val="0E2A47"/>
                </a:solidFill>
                <a:latin typeface="Cambria" pitchFamily="34" charset="0"/>
                <a:ea typeface="Cambria" pitchFamily="34" charset="-122"/>
                <a:cs typeface="Cambria" pitchFamily="34" charset="-120"/>
              </a:rPr>
              <a:t>Nền tảng chung (Base) &amp; bản đồ chức năng</a:t>
            </a:r>
            <a:endParaRPr lang="en-US" sz="2500" dirty="0"/>
          </a:p>
        </p:txBody>
      </p:sp>
      <p:sp>
        <p:nvSpPr>
          <p:cNvPr id="4" name="Text 2"/>
          <p:cNvSpPr/>
          <p:nvPr/>
        </p:nvSpPr>
        <p:spPr>
          <a:xfrm>
            <a:off x="457200" y="6455664"/>
            <a:ext cx="7315200" cy="292608"/>
          </a:xfrm>
          <a:prstGeom prst="rect">
            <a:avLst/>
          </a:prstGeom>
          <a:noFill/>
          <a:ln/>
        </p:spPr>
        <p:txBody>
          <a:bodyPr wrap="square"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5" name="Text 3"/>
          <p:cNvSpPr/>
          <p:nvPr/>
        </p:nvSpPr>
        <p:spPr>
          <a:xfrm>
            <a:off x="5029200" y="6455664"/>
            <a:ext cx="6702552" cy="292608"/>
          </a:xfrm>
          <a:prstGeom prst="rect">
            <a:avLst/>
          </a:prstGeom>
          <a:noFill/>
          <a:ln/>
        </p:spPr>
        <p:txBody>
          <a:bodyPr wrap="square"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6" name="Text 4"/>
          <p:cNvSpPr/>
          <p:nvPr/>
        </p:nvSpPr>
        <p:spPr>
          <a:xfrm>
            <a:off x="11475720" y="256032"/>
            <a:ext cx="457200" cy="365760"/>
          </a:xfrm>
          <a:prstGeom prst="rect">
            <a:avLst/>
          </a:prstGeom>
          <a:noFill/>
          <a:ln/>
        </p:spPr>
        <p:txBody>
          <a:bodyPr wrap="square" rtlCol="0" anchor="ctr"/>
          <a:lstStyle/>
          <a:p>
            <a:pPr marL="0" indent="0" algn="r">
              <a:buNone/>
            </a:pPr>
            <a:r>
              <a:rPr lang="en-US" sz="1300" b="1" dirty="0">
                <a:solidFill>
                  <a:srgbClr val="CBDAE4"/>
                </a:solidFill>
                <a:latin typeface="Cambria" pitchFamily="34" charset="0"/>
                <a:ea typeface="Cambria" pitchFamily="34" charset="-122"/>
                <a:cs typeface="Cambria" pitchFamily="34" charset="-120"/>
              </a:rPr>
              <a:t>11</a:t>
            </a:r>
            <a:endParaRPr lang="en-US" sz="1300" dirty="0"/>
          </a:p>
        </p:txBody>
      </p:sp>
      <p:sp>
        <p:nvSpPr>
          <p:cNvPr id="7" name="Shape 5"/>
          <p:cNvSpPr/>
          <p:nvPr/>
        </p:nvSpPr>
        <p:spPr>
          <a:xfrm>
            <a:off x="457200" y="1188720"/>
            <a:ext cx="7680960" cy="4581144"/>
          </a:xfrm>
          <a:prstGeom prst="roundRect">
            <a:avLst>
              <a:gd name="adj" fmla="val 1198"/>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8" name="Image 0" descr="C:\Users\ADMIN\AppData\Local\Temp\claude\D--DATN-TownHub\2a20fba2-0cd4-4668-a5dd-e0d1f8301abd\scratchpad\assets\fig_funcmap.png"/>
          <p:cNvPicPr>
            <a:picLocks noChangeAspect="1"/>
          </p:cNvPicPr>
          <p:nvPr/>
        </p:nvPicPr>
        <p:blipFill>
          <a:blip r:embed="rId3"/>
          <a:stretch>
            <a:fillRect/>
          </a:stretch>
        </p:blipFill>
        <p:spPr>
          <a:xfrm>
            <a:off x="548640" y="1400203"/>
            <a:ext cx="7498080" cy="4158178"/>
          </a:xfrm>
          <a:prstGeom prst="rect">
            <a:avLst/>
          </a:prstGeom>
        </p:spPr>
      </p:pic>
      <p:sp>
        <p:nvSpPr>
          <p:cNvPr id="9" name="Text 6"/>
          <p:cNvSpPr/>
          <p:nvPr/>
        </p:nvSpPr>
        <p:spPr>
          <a:xfrm>
            <a:off x="457200" y="5788152"/>
            <a:ext cx="7680960" cy="310896"/>
          </a:xfrm>
          <a:prstGeom prst="rect">
            <a:avLst/>
          </a:prstGeom>
          <a:noFill/>
          <a:ln/>
        </p:spPr>
        <p:txBody>
          <a:bodyPr wrap="square" rtlCol="0" anchor="ctr"/>
          <a:lstStyle/>
          <a:p>
            <a:pPr marL="0" indent="0" algn="ctr">
              <a:buNone/>
            </a:pPr>
            <a:r>
              <a:rPr lang="en-US" sz="1050" i="1" dirty="0">
                <a:solidFill>
                  <a:srgbClr val="6B7A88"/>
                </a:solidFill>
                <a:latin typeface="Calibri" pitchFamily="34" charset="0"/>
                <a:ea typeface="Calibri" pitchFamily="34" charset="-122"/>
                <a:cs typeface="Calibri" pitchFamily="34" charset="-120"/>
              </a:rPr>
              <a:t>Hình 3.2 — Bản đồ phân rã chức năng tổng thể (chung/riêng)</a:t>
            </a:r>
            <a:endParaRPr lang="en-US" sz="1050" dirty="0"/>
          </a:p>
        </p:txBody>
      </p:sp>
      <p:sp>
        <p:nvSpPr>
          <p:cNvPr id="10" name="Shape 7"/>
          <p:cNvSpPr/>
          <p:nvPr/>
        </p:nvSpPr>
        <p:spPr>
          <a:xfrm>
            <a:off x="8321040" y="1188720"/>
            <a:ext cx="3429000" cy="2331720"/>
          </a:xfrm>
          <a:prstGeom prst="roundRect">
            <a:avLst>
              <a:gd name="adj" fmla="val 2353"/>
            </a:avLst>
          </a:prstGeom>
          <a:solidFill>
            <a:srgbClr val="F1F5F8"/>
          </a:solidFill>
          <a:ln w="12700">
            <a:solidFill>
              <a:srgbClr val="CBDAE4"/>
            </a:solidFill>
            <a:prstDash val="solid"/>
          </a:ln>
        </p:spPr>
      </p:sp>
      <p:sp>
        <p:nvSpPr>
          <p:cNvPr id="11" name="Text 8"/>
          <p:cNvSpPr/>
          <p:nvPr/>
        </p:nvSpPr>
        <p:spPr>
          <a:xfrm>
            <a:off x="8485632" y="1289304"/>
            <a:ext cx="3099816" cy="292608"/>
          </a:xfrm>
          <a:prstGeom prst="rect">
            <a:avLst/>
          </a:prstGeom>
          <a:noFill/>
          <a:ln/>
        </p:spPr>
        <p:txBody>
          <a:bodyPr wrap="square" rtlCol="0" anchor="ctr"/>
          <a:lstStyle/>
          <a:p>
            <a:pPr marL="0" indent="0" algn="l">
              <a:buNone/>
            </a:pPr>
            <a:r>
              <a:rPr lang="en-US" sz="1300" b="1" dirty="0">
                <a:solidFill>
                  <a:srgbClr val="0E7C86"/>
                </a:solidFill>
                <a:latin typeface="Cambria" pitchFamily="34" charset="0"/>
                <a:ea typeface="Cambria" pitchFamily="34" charset="-122"/>
                <a:cs typeface="Cambria" pitchFamily="34" charset="-120"/>
              </a:rPr>
              <a:t>Nền tảng Base — dùng chung</a:t>
            </a:r>
            <a:endParaRPr lang="en-US" sz="1300" dirty="0"/>
          </a:p>
        </p:txBody>
      </p:sp>
      <p:sp>
        <p:nvSpPr>
          <p:cNvPr id="12" name="Text 9"/>
          <p:cNvSpPr/>
          <p:nvPr/>
        </p:nvSpPr>
        <p:spPr>
          <a:xfrm>
            <a:off x="8467344" y="1609344"/>
            <a:ext cx="3136392" cy="1801368"/>
          </a:xfrm>
          <a:prstGeom prst="rect">
            <a:avLst/>
          </a:prstGeom>
          <a:noFill/>
          <a:ln/>
        </p:spPr>
        <p:txBody>
          <a:bodyPr wrap="square" rtlCol="0" anchor="t"/>
          <a:lstStyle/>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Xác thực/MFA &amp; phân quyền RBAC</a:t>
            </a:r>
            <a:endParaRPr lang="en-US" sz="1200" dirty="0"/>
          </a:p>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Người dùng · phiên đăng nhập</a:t>
            </a:r>
            <a:endParaRPr lang="en-US" sz="1200" dirty="0"/>
          </a:p>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Thông báo · Cấu hình &amp; danh mục</a:t>
            </a:r>
            <a:endParaRPr lang="en-US" sz="1200" dirty="0"/>
          </a:p>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Báo cáo/Dashboard · Audit log</a:t>
            </a:r>
            <a:endParaRPr lang="en-US" sz="1200" dirty="0"/>
          </a:p>
        </p:txBody>
      </p:sp>
      <p:sp>
        <p:nvSpPr>
          <p:cNvPr id="13" name="Shape 10"/>
          <p:cNvSpPr/>
          <p:nvPr/>
        </p:nvSpPr>
        <p:spPr>
          <a:xfrm>
            <a:off x="8321040" y="3703320"/>
            <a:ext cx="3429000" cy="2377440"/>
          </a:xfrm>
          <a:prstGeom prst="roundRect">
            <a:avLst>
              <a:gd name="adj" fmla="val 2308"/>
            </a:avLst>
          </a:prstGeom>
          <a:solidFill>
            <a:srgbClr val="F1F5F8"/>
          </a:solidFill>
          <a:ln w="12700">
            <a:solidFill>
              <a:srgbClr val="CBDAE4"/>
            </a:solidFill>
            <a:prstDash val="solid"/>
          </a:ln>
        </p:spPr>
      </p:sp>
      <p:sp>
        <p:nvSpPr>
          <p:cNvPr id="14" name="Text 11"/>
          <p:cNvSpPr/>
          <p:nvPr/>
        </p:nvSpPr>
        <p:spPr>
          <a:xfrm>
            <a:off x="8485632" y="3803904"/>
            <a:ext cx="3099816" cy="292608"/>
          </a:xfrm>
          <a:prstGeom prst="rect">
            <a:avLst/>
          </a:prstGeom>
          <a:noFill/>
          <a:ln/>
        </p:spPr>
        <p:txBody>
          <a:bodyPr wrap="square" rtlCol="0" anchor="ctr"/>
          <a:lstStyle/>
          <a:p>
            <a:pPr marL="0" indent="0" algn="l">
              <a:buNone/>
            </a:pPr>
            <a:r>
              <a:rPr lang="en-US" sz="1300" b="1" dirty="0">
                <a:solidFill>
                  <a:srgbClr val="EFA13C"/>
                </a:solidFill>
                <a:latin typeface="Cambria" pitchFamily="34" charset="0"/>
                <a:ea typeface="Cambria" pitchFamily="34" charset="-122"/>
                <a:cs typeface="Cambria" pitchFamily="34" charset="-120"/>
              </a:rPr>
              <a:t>Tài sản (phần riêng) — 3 nhóm</a:t>
            </a:r>
            <a:endParaRPr lang="en-US" sz="1300" dirty="0"/>
          </a:p>
        </p:txBody>
      </p:sp>
      <p:sp>
        <p:nvSpPr>
          <p:cNvPr id="15" name="Text 12"/>
          <p:cNvSpPr/>
          <p:nvPr/>
        </p:nvSpPr>
        <p:spPr>
          <a:xfrm>
            <a:off x="8467344" y="4123944"/>
            <a:ext cx="3136392" cy="1847088"/>
          </a:xfrm>
          <a:prstGeom prst="rect">
            <a:avLst/>
          </a:prstGeom>
          <a:noFill/>
          <a:ln/>
        </p:spPr>
        <p:txBody>
          <a:bodyPr wrap="square" rtlCol="0" anchor="t"/>
          <a:lstStyle/>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Vòng đời tài sản: ghi tăng, QR, khấu hao, thanh lý</a:t>
            </a:r>
            <a:endParaRPr lang="en-US" sz="1200" dirty="0"/>
          </a:p>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Bảo trì &amp; Sự cố: lịch PM, Work Order, ticket, SLA</a:t>
            </a:r>
            <a:endParaRPr lang="en-US" sz="1200" dirty="0"/>
          </a:p>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Mua sắm: kho, vật tư, NCC, PR/PO, hóa đơn OCR</a:t>
            </a:r>
            <a:endParaRPr lang="en-US" sz="1200" dirty="0"/>
          </a:p>
        </p:txBody>
      </p:sp>
    </p:spTree>
    <p:extLst>
      <p:ext uri="{BB962C8B-B14F-4D97-AF65-F5344CB8AC3E}">
        <p14:creationId xmlns:p14="http://schemas.microsoft.com/office/powerpoint/2010/main" val="742025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10789920" cy="27432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04 · MODULE BASE</a:t>
            </a:r>
            <a:endParaRPr lang="en-US" sz="1200" dirty="0"/>
          </a:p>
        </p:txBody>
      </p:sp>
      <p:sp>
        <p:nvSpPr>
          <p:cNvPr id="3" name="Text 1"/>
          <p:cNvSpPr/>
          <p:nvPr/>
        </p:nvSpPr>
        <p:spPr>
          <a:xfrm>
            <a:off x="457200" y="530352"/>
            <a:ext cx="10972800" cy="548640"/>
          </a:xfrm>
          <a:prstGeom prst="rect">
            <a:avLst/>
          </a:prstGeom>
          <a:noFill/>
          <a:ln/>
        </p:spPr>
        <p:txBody>
          <a:bodyPr wrap="square" rtlCol="0" anchor="ctr"/>
          <a:lstStyle/>
          <a:p>
            <a:pPr marL="0" indent="0" algn="l">
              <a:buNone/>
            </a:pPr>
            <a:r>
              <a:rPr lang="en-US" sz="2500" b="1" dirty="0">
                <a:solidFill>
                  <a:srgbClr val="0E2A47"/>
                </a:solidFill>
                <a:latin typeface="Cambria" pitchFamily="34" charset="0"/>
                <a:ea typeface="Cambria" pitchFamily="34" charset="-122"/>
                <a:cs typeface="Cambria" pitchFamily="34" charset="-120"/>
              </a:rPr>
              <a:t>Use case tổng quát &amp; sáu vai trò người dùng</a:t>
            </a:r>
            <a:endParaRPr lang="en-US" sz="2500" dirty="0"/>
          </a:p>
        </p:txBody>
      </p:sp>
      <p:sp>
        <p:nvSpPr>
          <p:cNvPr id="4" name="Text 2"/>
          <p:cNvSpPr/>
          <p:nvPr/>
        </p:nvSpPr>
        <p:spPr>
          <a:xfrm>
            <a:off x="457200" y="6455664"/>
            <a:ext cx="7315200" cy="292608"/>
          </a:xfrm>
          <a:prstGeom prst="rect">
            <a:avLst/>
          </a:prstGeom>
          <a:noFill/>
          <a:ln/>
        </p:spPr>
        <p:txBody>
          <a:bodyPr wrap="square"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5" name="Text 3"/>
          <p:cNvSpPr/>
          <p:nvPr/>
        </p:nvSpPr>
        <p:spPr>
          <a:xfrm>
            <a:off x="5029200" y="6455664"/>
            <a:ext cx="6702552" cy="292608"/>
          </a:xfrm>
          <a:prstGeom prst="rect">
            <a:avLst/>
          </a:prstGeom>
          <a:noFill/>
          <a:ln/>
        </p:spPr>
        <p:txBody>
          <a:bodyPr wrap="square"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6" name="Text 4"/>
          <p:cNvSpPr/>
          <p:nvPr/>
        </p:nvSpPr>
        <p:spPr>
          <a:xfrm>
            <a:off x="11475720" y="256032"/>
            <a:ext cx="457200" cy="365760"/>
          </a:xfrm>
          <a:prstGeom prst="rect">
            <a:avLst/>
          </a:prstGeom>
          <a:noFill/>
          <a:ln/>
        </p:spPr>
        <p:txBody>
          <a:bodyPr wrap="square" rtlCol="0" anchor="ctr"/>
          <a:lstStyle/>
          <a:p>
            <a:pPr marL="0" indent="0" algn="r">
              <a:buNone/>
            </a:pPr>
            <a:r>
              <a:rPr lang="en-US" sz="1300" b="1" dirty="0">
                <a:solidFill>
                  <a:srgbClr val="CBDAE4"/>
                </a:solidFill>
                <a:latin typeface="Cambria" pitchFamily="34" charset="0"/>
                <a:ea typeface="Cambria" pitchFamily="34" charset="-122"/>
                <a:cs typeface="Cambria" pitchFamily="34" charset="-120"/>
              </a:rPr>
              <a:t>12</a:t>
            </a:r>
            <a:endParaRPr lang="en-US" sz="1300" dirty="0"/>
          </a:p>
        </p:txBody>
      </p:sp>
      <p:sp>
        <p:nvSpPr>
          <p:cNvPr id="7" name="Shape 5"/>
          <p:cNvSpPr/>
          <p:nvPr/>
        </p:nvSpPr>
        <p:spPr>
          <a:xfrm>
            <a:off x="457200" y="1188720"/>
            <a:ext cx="8366760" cy="4581144"/>
          </a:xfrm>
          <a:prstGeom prst="roundRect">
            <a:avLst>
              <a:gd name="adj" fmla="val 1198"/>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8" name="Image 0" descr="C:\Users\ADMIN\AppData\Local\Temp\claude\D--DATN-TownHub\2a20fba2-0cd4-4668-a5dd-e0d1f8301abd\scratchpad\assets\fig_uc_overall.png"/>
          <p:cNvPicPr>
            <a:picLocks noChangeAspect="1"/>
          </p:cNvPicPr>
          <p:nvPr/>
        </p:nvPicPr>
        <p:blipFill>
          <a:blip r:embed="rId3"/>
          <a:stretch>
            <a:fillRect/>
          </a:stretch>
        </p:blipFill>
        <p:spPr>
          <a:xfrm>
            <a:off x="548640" y="1437469"/>
            <a:ext cx="8183880" cy="4083647"/>
          </a:xfrm>
          <a:prstGeom prst="rect">
            <a:avLst/>
          </a:prstGeom>
        </p:spPr>
      </p:pic>
      <p:sp>
        <p:nvSpPr>
          <p:cNvPr id="9" name="Text 6"/>
          <p:cNvSpPr/>
          <p:nvPr/>
        </p:nvSpPr>
        <p:spPr>
          <a:xfrm>
            <a:off x="457200" y="5788152"/>
            <a:ext cx="8366760" cy="310896"/>
          </a:xfrm>
          <a:prstGeom prst="rect">
            <a:avLst/>
          </a:prstGeom>
          <a:noFill/>
          <a:ln/>
        </p:spPr>
        <p:txBody>
          <a:bodyPr wrap="square" rtlCol="0" anchor="ctr"/>
          <a:lstStyle/>
          <a:p>
            <a:pPr marL="0" indent="0" algn="ctr">
              <a:buNone/>
            </a:pPr>
            <a:r>
              <a:rPr lang="en-US" sz="1050" i="1" dirty="0">
                <a:solidFill>
                  <a:srgbClr val="6B7A88"/>
                </a:solidFill>
                <a:latin typeface="Calibri" pitchFamily="34" charset="0"/>
                <a:ea typeface="Calibri" pitchFamily="34" charset="-122"/>
                <a:cs typeface="Calibri" pitchFamily="34" charset="-120"/>
              </a:rPr>
              <a:t>Hình 3.3 — Use case tổng quát toàn hệ thống (phân biệt chung/riêng)</a:t>
            </a:r>
            <a:endParaRPr lang="en-US" sz="1050" dirty="0"/>
          </a:p>
        </p:txBody>
      </p:sp>
      <p:sp>
        <p:nvSpPr>
          <p:cNvPr id="10" name="Text 7"/>
          <p:cNvSpPr/>
          <p:nvPr/>
        </p:nvSpPr>
        <p:spPr>
          <a:xfrm>
            <a:off x="9006840" y="1234440"/>
            <a:ext cx="2743200" cy="310896"/>
          </a:xfrm>
          <a:prstGeom prst="rect">
            <a:avLst/>
          </a:prstGeom>
          <a:noFill/>
          <a:ln/>
        </p:spPr>
        <p:txBody>
          <a:bodyPr wrap="square" rtlCol="0" anchor="ctr"/>
          <a:lstStyle/>
          <a:p>
            <a:pPr marL="0" indent="0" algn="l">
              <a:buNone/>
            </a:pPr>
            <a:r>
              <a:rPr lang="en-US" sz="1300" b="1" dirty="0">
                <a:solidFill>
                  <a:srgbClr val="0E2A47"/>
                </a:solidFill>
                <a:latin typeface="Cambria" pitchFamily="34" charset="0"/>
                <a:ea typeface="Cambria" pitchFamily="34" charset="-122"/>
                <a:cs typeface="Cambria" pitchFamily="34" charset="-120"/>
              </a:rPr>
              <a:t>Sáu vai trò (khởi tạo trong mã)</a:t>
            </a:r>
            <a:endParaRPr lang="en-US" sz="1300" dirty="0"/>
          </a:p>
        </p:txBody>
      </p:sp>
      <p:sp>
        <p:nvSpPr>
          <p:cNvPr id="11" name="Text 8"/>
          <p:cNvSpPr/>
          <p:nvPr/>
        </p:nvSpPr>
        <p:spPr>
          <a:xfrm>
            <a:off x="9052560" y="1572768"/>
            <a:ext cx="2697480" cy="1828800"/>
          </a:xfrm>
          <a:prstGeom prst="rect">
            <a:avLst/>
          </a:prstGeom>
          <a:noFill/>
          <a:ln/>
        </p:spPr>
        <p:txBody>
          <a:bodyPr wrap="square" rtlCol="0" anchor="t"/>
          <a:lstStyle/>
          <a:p>
            <a:pPr marL="177800" indent="-177800" algn="l">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admin — quản trị hệ thống</a:t>
            </a:r>
            <a:endParaRPr lang="en-US" sz="1250" dirty="0"/>
          </a:p>
          <a:p>
            <a:pPr marL="177800" indent="-177800" algn="l">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Ban quản lý (BQL)</a:t>
            </a:r>
            <a:endParaRPr lang="en-US" sz="1250" dirty="0"/>
          </a:p>
          <a:p>
            <a:pPr marL="177800" indent="-177800" algn="l">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Kỹ sư trưởng</a:t>
            </a:r>
            <a:endParaRPr lang="en-US" sz="1250" dirty="0"/>
          </a:p>
          <a:p>
            <a:pPr marL="177800" indent="-177800" algn="l">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Kỹ thuật viên (KTV)</a:t>
            </a:r>
            <a:endParaRPr lang="en-US" sz="1250" dirty="0"/>
          </a:p>
          <a:p>
            <a:pPr marL="177800" indent="-177800" algn="l">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Kế toán</a:t>
            </a:r>
            <a:endParaRPr lang="en-US" sz="1250" dirty="0"/>
          </a:p>
          <a:p>
            <a:pPr marL="177800" indent="-177800" algn="l">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Cư dân</a:t>
            </a:r>
            <a:endParaRPr lang="en-US" sz="1250" dirty="0"/>
          </a:p>
        </p:txBody>
      </p:sp>
      <p:sp>
        <p:nvSpPr>
          <p:cNvPr id="12" name="Shape 9"/>
          <p:cNvSpPr/>
          <p:nvPr/>
        </p:nvSpPr>
        <p:spPr>
          <a:xfrm>
            <a:off x="9006840" y="3611880"/>
            <a:ext cx="2743200" cy="2468880"/>
          </a:xfrm>
          <a:prstGeom prst="roundRect">
            <a:avLst>
              <a:gd name="adj" fmla="val 1852"/>
            </a:avLst>
          </a:prstGeom>
          <a:solidFill>
            <a:srgbClr val="FBF1E0"/>
          </a:solidFill>
          <a:ln w="12700">
            <a:solidFill>
              <a:srgbClr val="EFA13C"/>
            </a:solidFill>
            <a:prstDash val="solid"/>
          </a:ln>
        </p:spPr>
      </p:sp>
      <p:sp>
        <p:nvSpPr>
          <p:cNvPr id="13" name="Text 10"/>
          <p:cNvSpPr/>
          <p:nvPr/>
        </p:nvSpPr>
        <p:spPr>
          <a:xfrm>
            <a:off x="9153144" y="3648456"/>
            <a:ext cx="2450592" cy="2395728"/>
          </a:xfrm>
          <a:prstGeom prst="rect">
            <a:avLst/>
          </a:prstGeom>
          <a:noFill/>
          <a:ln/>
        </p:spPr>
        <p:txBody>
          <a:bodyPr wrap="square" rtlCol="0" anchor="ctr"/>
          <a:lstStyle/>
          <a:p>
            <a:pPr marL="0" indent="0" algn="l">
              <a:buNone/>
            </a:pPr>
            <a:r>
              <a:rPr lang="en-US" sz="1100" b="1" dirty="0">
                <a:solidFill>
                  <a:srgbClr val="B9781F"/>
                </a:solidFill>
                <a:latin typeface="Calibri" pitchFamily="34" charset="0"/>
                <a:ea typeface="Calibri" pitchFamily="34" charset="-122"/>
                <a:cs typeface="Calibri" pitchFamily="34" charset="-120"/>
              </a:rPr>
              <a:t>Kế thừa vai trò:  </a:t>
            </a:r>
            <a:r>
              <a:rPr lang="en-US" sz="1100" dirty="0">
                <a:solidFill>
                  <a:srgbClr val="22303C"/>
                </a:solidFill>
                <a:latin typeface="Calibri" pitchFamily="34" charset="0"/>
                <a:ea typeface="Calibri" pitchFamily="34" charset="-122"/>
                <a:cs typeface="Calibri" pitchFamily="34" charset="-120"/>
              </a:rPr>
              <a:t>Kỹ sư trưởng ▷ Kỹ thuật viên là generalization (kế thừa mọi use case của KTV), không phải association giữa hai tác nhân. Association là đường thẳng nối tác nhân–use case.</a:t>
            </a:r>
            <a:endParaRPr lang="en-US" sz="1100" dirty="0"/>
          </a:p>
        </p:txBody>
      </p:sp>
    </p:spTree>
    <p:extLst>
      <p:ext uri="{BB962C8B-B14F-4D97-AF65-F5344CB8AC3E}">
        <p14:creationId xmlns:p14="http://schemas.microsoft.com/office/powerpoint/2010/main" val="181047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10789920" cy="27432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04 · MODULE BASE</a:t>
            </a:r>
            <a:endParaRPr lang="en-US" sz="1200" dirty="0"/>
          </a:p>
        </p:txBody>
      </p:sp>
      <p:sp>
        <p:nvSpPr>
          <p:cNvPr id="3" name="Text 1"/>
          <p:cNvSpPr/>
          <p:nvPr/>
        </p:nvSpPr>
        <p:spPr>
          <a:xfrm>
            <a:off x="457200" y="530352"/>
            <a:ext cx="10972800" cy="548640"/>
          </a:xfrm>
          <a:prstGeom prst="rect">
            <a:avLst/>
          </a:prstGeom>
          <a:noFill/>
          <a:ln/>
        </p:spPr>
        <p:txBody>
          <a:bodyPr wrap="square" rtlCol="0" anchor="ctr"/>
          <a:lstStyle/>
          <a:p>
            <a:pPr marL="0" indent="0" algn="l">
              <a:buNone/>
            </a:pPr>
            <a:r>
              <a:rPr lang="en-US" sz="2500" b="1" dirty="0">
                <a:solidFill>
                  <a:srgbClr val="0E2A47"/>
                </a:solidFill>
                <a:latin typeface="Cambria" pitchFamily="34" charset="0"/>
                <a:ea typeface="Cambria" pitchFamily="34" charset="-122"/>
                <a:cs typeface="Cambria" pitchFamily="34" charset="-120"/>
              </a:rPr>
              <a:t>Xác thực đa lớp &amp; MFA — cấp JWT hai pha</a:t>
            </a:r>
            <a:endParaRPr lang="en-US" sz="2500" dirty="0"/>
          </a:p>
        </p:txBody>
      </p:sp>
      <p:sp>
        <p:nvSpPr>
          <p:cNvPr id="4" name="Text 2"/>
          <p:cNvSpPr/>
          <p:nvPr/>
        </p:nvSpPr>
        <p:spPr>
          <a:xfrm>
            <a:off x="457200" y="6455664"/>
            <a:ext cx="7315200" cy="292608"/>
          </a:xfrm>
          <a:prstGeom prst="rect">
            <a:avLst/>
          </a:prstGeom>
          <a:noFill/>
          <a:ln/>
        </p:spPr>
        <p:txBody>
          <a:bodyPr wrap="square"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5" name="Text 3"/>
          <p:cNvSpPr/>
          <p:nvPr/>
        </p:nvSpPr>
        <p:spPr>
          <a:xfrm>
            <a:off x="5029200" y="6455664"/>
            <a:ext cx="6702552" cy="292608"/>
          </a:xfrm>
          <a:prstGeom prst="rect">
            <a:avLst/>
          </a:prstGeom>
          <a:noFill/>
          <a:ln/>
        </p:spPr>
        <p:txBody>
          <a:bodyPr wrap="square"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6" name="Text 4"/>
          <p:cNvSpPr/>
          <p:nvPr/>
        </p:nvSpPr>
        <p:spPr>
          <a:xfrm>
            <a:off x="11475720" y="256032"/>
            <a:ext cx="457200" cy="365760"/>
          </a:xfrm>
          <a:prstGeom prst="rect">
            <a:avLst/>
          </a:prstGeom>
          <a:noFill/>
          <a:ln/>
        </p:spPr>
        <p:txBody>
          <a:bodyPr wrap="square" rtlCol="0" anchor="ctr"/>
          <a:lstStyle/>
          <a:p>
            <a:pPr marL="0" indent="0" algn="r">
              <a:buNone/>
            </a:pPr>
            <a:r>
              <a:rPr lang="en-US" sz="1300" b="1" dirty="0">
                <a:solidFill>
                  <a:srgbClr val="CBDAE4"/>
                </a:solidFill>
                <a:latin typeface="Cambria" pitchFamily="34" charset="0"/>
                <a:ea typeface="Cambria" pitchFamily="34" charset="-122"/>
                <a:cs typeface="Cambria" pitchFamily="34" charset="-120"/>
              </a:rPr>
              <a:t>13</a:t>
            </a:r>
            <a:endParaRPr lang="en-US" sz="1300" dirty="0"/>
          </a:p>
        </p:txBody>
      </p:sp>
      <p:sp>
        <p:nvSpPr>
          <p:cNvPr id="7" name="Shape 5"/>
          <p:cNvSpPr/>
          <p:nvPr/>
        </p:nvSpPr>
        <p:spPr>
          <a:xfrm>
            <a:off x="457200" y="1188720"/>
            <a:ext cx="7955280" cy="4581144"/>
          </a:xfrm>
          <a:prstGeom prst="roundRect">
            <a:avLst>
              <a:gd name="adj" fmla="val 1198"/>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8" name="Image 0" descr="C:\Users\ADMIN\AppData\Local\Temp\claude\D--DATN-TownHub\2a20fba2-0cd4-4668-a5dd-e0d1f8301abd\scratchpad\assets\fig_seq_login_mfa.png"/>
          <p:cNvPicPr>
            <a:picLocks noChangeAspect="1"/>
          </p:cNvPicPr>
          <p:nvPr/>
        </p:nvPicPr>
        <p:blipFill>
          <a:blip r:embed="rId3"/>
          <a:stretch>
            <a:fillRect/>
          </a:stretch>
        </p:blipFill>
        <p:spPr>
          <a:xfrm>
            <a:off x="548640" y="1419303"/>
            <a:ext cx="7772400" cy="4119977"/>
          </a:xfrm>
          <a:prstGeom prst="rect">
            <a:avLst/>
          </a:prstGeom>
        </p:spPr>
      </p:pic>
      <p:sp>
        <p:nvSpPr>
          <p:cNvPr id="9" name="Text 6"/>
          <p:cNvSpPr/>
          <p:nvPr/>
        </p:nvSpPr>
        <p:spPr>
          <a:xfrm>
            <a:off x="457200" y="5788152"/>
            <a:ext cx="7955280" cy="310896"/>
          </a:xfrm>
          <a:prstGeom prst="rect">
            <a:avLst/>
          </a:prstGeom>
          <a:noFill/>
          <a:ln/>
        </p:spPr>
        <p:txBody>
          <a:bodyPr wrap="square" rtlCol="0" anchor="ctr"/>
          <a:lstStyle/>
          <a:p>
            <a:pPr marL="0" indent="0" algn="ctr">
              <a:buNone/>
            </a:pPr>
            <a:r>
              <a:rPr lang="en-US" sz="1050" i="1" dirty="0">
                <a:solidFill>
                  <a:srgbClr val="6B7A88"/>
                </a:solidFill>
                <a:latin typeface="Calibri" pitchFamily="34" charset="0"/>
                <a:ea typeface="Calibri" pitchFamily="34" charset="-122"/>
                <a:cs typeface="Calibri" pitchFamily="34" charset="-120"/>
              </a:rPr>
              <a:t>Hình 3.5 — Biểu đồ tuần tự đăng nhập có MFA và cấp JWT (2 pha)</a:t>
            </a:r>
            <a:endParaRPr lang="en-US" sz="1050" dirty="0"/>
          </a:p>
        </p:txBody>
      </p:sp>
      <p:sp>
        <p:nvSpPr>
          <p:cNvPr id="10" name="Shape 7"/>
          <p:cNvSpPr/>
          <p:nvPr/>
        </p:nvSpPr>
        <p:spPr>
          <a:xfrm>
            <a:off x="8595360" y="1188720"/>
            <a:ext cx="3154680" cy="2331720"/>
          </a:xfrm>
          <a:prstGeom prst="roundRect">
            <a:avLst>
              <a:gd name="adj" fmla="val 2353"/>
            </a:avLst>
          </a:prstGeom>
          <a:solidFill>
            <a:srgbClr val="F1F5F8"/>
          </a:solidFill>
          <a:ln w="12700">
            <a:solidFill>
              <a:srgbClr val="CBDAE4"/>
            </a:solidFill>
            <a:prstDash val="solid"/>
          </a:ln>
        </p:spPr>
      </p:sp>
      <p:sp>
        <p:nvSpPr>
          <p:cNvPr id="11" name="Text 8"/>
          <p:cNvSpPr/>
          <p:nvPr/>
        </p:nvSpPr>
        <p:spPr>
          <a:xfrm>
            <a:off x="8759952" y="1289304"/>
            <a:ext cx="2825496" cy="292608"/>
          </a:xfrm>
          <a:prstGeom prst="rect">
            <a:avLst/>
          </a:prstGeom>
          <a:noFill/>
          <a:ln/>
        </p:spPr>
        <p:txBody>
          <a:bodyPr wrap="square" rtlCol="0" anchor="ctr"/>
          <a:lstStyle/>
          <a:p>
            <a:pPr marL="0" indent="0" algn="l">
              <a:buNone/>
            </a:pPr>
            <a:r>
              <a:rPr lang="en-US" sz="1300" b="1" dirty="0">
                <a:solidFill>
                  <a:srgbClr val="0E7C86"/>
                </a:solidFill>
                <a:latin typeface="Cambria" pitchFamily="34" charset="0"/>
                <a:ea typeface="Cambria" pitchFamily="34" charset="-122"/>
                <a:cs typeface="Cambria" pitchFamily="34" charset="-120"/>
              </a:rPr>
              <a:t>Xác thực</a:t>
            </a:r>
            <a:endParaRPr lang="en-US" sz="1300" dirty="0"/>
          </a:p>
        </p:txBody>
      </p:sp>
      <p:sp>
        <p:nvSpPr>
          <p:cNvPr id="12" name="Text 9"/>
          <p:cNvSpPr/>
          <p:nvPr/>
        </p:nvSpPr>
        <p:spPr>
          <a:xfrm>
            <a:off x="8741664" y="1609344"/>
            <a:ext cx="2862072" cy="1801368"/>
          </a:xfrm>
          <a:prstGeom prst="rect">
            <a:avLst/>
          </a:prstGeom>
          <a:noFill/>
          <a:ln/>
        </p:spPr>
        <p:txBody>
          <a:bodyPr wrap="square" rtlCol="0" anchor="t"/>
          <a:lstStyle/>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Email/mật khẩu · Google OAuth 2.0</a:t>
            </a:r>
            <a:endParaRPr lang="en-US" sz="1150" dirty="0"/>
          </a:p>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Cư dân /userLogin · nhân sự /StaffLogin</a:t>
            </a:r>
            <a:endParaRPr lang="en-US" sz="1150" dirty="0"/>
          </a:p>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JWT HS256 + refresh token; rotation + tokenVersion</a:t>
            </a:r>
            <a:endParaRPr lang="en-US" sz="1150" dirty="0"/>
          </a:p>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Cookie HttpOnly · quản lý phiên theo thiết bị</a:t>
            </a:r>
            <a:endParaRPr lang="en-US" sz="1150" dirty="0"/>
          </a:p>
        </p:txBody>
      </p:sp>
      <p:sp>
        <p:nvSpPr>
          <p:cNvPr id="13" name="Shape 10"/>
          <p:cNvSpPr/>
          <p:nvPr/>
        </p:nvSpPr>
        <p:spPr>
          <a:xfrm>
            <a:off x="8595360" y="3703320"/>
            <a:ext cx="3154680" cy="2377440"/>
          </a:xfrm>
          <a:prstGeom prst="roundRect">
            <a:avLst>
              <a:gd name="adj" fmla="val 2308"/>
            </a:avLst>
          </a:prstGeom>
          <a:solidFill>
            <a:srgbClr val="F1F5F8"/>
          </a:solidFill>
          <a:ln w="12700">
            <a:solidFill>
              <a:srgbClr val="CBDAE4"/>
            </a:solidFill>
            <a:prstDash val="solid"/>
          </a:ln>
        </p:spPr>
      </p:sp>
      <p:sp>
        <p:nvSpPr>
          <p:cNvPr id="14" name="Text 11"/>
          <p:cNvSpPr/>
          <p:nvPr/>
        </p:nvSpPr>
        <p:spPr>
          <a:xfrm>
            <a:off x="8759952" y="3803904"/>
            <a:ext cx="2825496" cy="292608"/>
          </a:xfrm>
          <a:prstGeom prst="rect">
            <a:avLst/>
          </a:prstGeom>
          <a:noFill/>
          <a:ln/>
        </p:spPr>
        <p:txBody>
          <a:bodyPr wrap="square" rtlCol="0" anchor="ctr"/>
          <a:lstStyle/>
          <a:p>
            <a:pPr marL="0" indent="0" algn="l">
              <a:buNone/>
            </a:pPr>
            <a:r>
              <a:rPr lang="en-US" sz="1300" b="1" dirty="0">
                <a:solidFill>
                  <a:srgbClr val="0E2A47"/>
                </a:solidFill>
                <a:latin typeface="Cambria" pitchFamily="34" charset="0"/>
                <a:ea typeface="Cambria" pitchFamily="34" charset="-122"/>
                <a:cs typeface="Cambria" pitchFamily="34" charset="-120"/>
              </a:rPr>
              <a:t>MFA (TOTP)</a:t>
            </a:r>
            <a:endParaRPr lang="en-US" sz="1300" dirty="0"/>
          </a:p>
        </p:txBody>
      </p:sp>
      <p:sp>
        <p:nvSpPr>
          <p:cNvPr id="15" name="Text 12"/>
          <p:cNvSpPr/>
          <p:nvPr/>
        </p:nvSpPr>
        <p:spPr>
          <a:xfrm>
            <a:off x="8741664" y="4123944"/>
            <a:ext cx="2862072" cy="1847088"/>
          </a:xfrm>
          <a:prstGeom prst="rect">
            <a:avLst/>
          </a:prstGeom>
          <a:noFill/>
          <a:ln/>
        </p:spPr>
        <p:txBody>
          <a:bodyPr wrap="square" rtlCol="0" anchor="t"/>
          <a:lstStyle/>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Vé đăng nhập lưu Redis, TTL 5'</a:t>
            </a:r>
            <a:endParaRPr lang="en-US" sz="1150" dirty="0"/>
          </a:p>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Xác minh mã OtpNet (±window)</a:t>
            </a:r>
            <a:endParaRPr lang="en-US" sz="1150" dirty="0"/>
          </a:p>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Trạng thái: Pending → Enabled → Disabled</a:t>
            </a:r>
            <a:endParaRPr lang="en-US" sz="1150" dirty="0"/>
          </a:p>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Xác minh email · đặt lại mật khẩu</a:t>
            </a:r>
            <a:endParaRPr lang="en-US" sz="1150" dirty="0"/>
          </a:p>
        </p:txBody>
      </p:sp>
    </p:spTree>
    <p:extLst>
      <p:ext uri="{BB962C8B-B14F-4D97-AF65-F5344CB8AC3E}">
        <p14:creationId xmlns:p14="http://schemas.microsoft.com/office/powerpoint/2010/main" val="667134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10789920" cy="27432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04 · MODULE BASE</a:t>
            </a:r>
            <a:endParaRPr lang="en-US" sz="1200" dirty="0"/>
          </a:p>
        </p:txBody>
      </p:sp>
      <p:sp>
        <p:nvSpPr>
          <p:cNvPr id="3" name="Text 1"/>
          <p:cNvSpPr/>
          <p:nvPr/>
        </p:nvSpPr>
        <p:spPr>
          <a:xfrm>
            <a:off x="457200" y="530352"/>
            <a:ext cx="10972800" cy="548640"/>
          </a:xfrm>
          <a:prstGeom prst="rect">
            <a:avLst/>
          </a:prstGeom>
          <a:noFill/>
          <a:ln/>
        </p:spPr>
        <p:txBody>
          <a:bodyPr wrap="square" rtlCol="0" anchor="ctr"/>
          <a:lstStyle/>
          <a:p>
            <a:pPr marL="0" indent="0" algn="l">
              <a:buNone/>
            </a:pPr>
            <a:r>
              <a:rPr lang="en-US" sz="2500" b="1" dirty="0">
                <a:solidFill>
                  <a:srgbClr val="0E2A47"/>
                </a:solidFill>
                <a:latin typeface="Cambria" pitchFamily="34" charset="0"/>
                <a:ea typeface="Cambria" pitchFamily="34" charset="-122"/>
                <a:cs typeface="Cambria" pitchFamily="34" charset="-120"/>
              </a:rPr>
              <a:t>Phân quyền RBAC — thực thi ở mỗi request</a:t>
            </a:r>
            <a:endParaRPr lang="en-US" sz="2500" dirty="0"/>
          </a:p>
        </p:txBody>
      </p:sp>
      <p:sp>
        <p:nvSpPr>
          <p:cNvPr id="4" name="Text 2"/>
          <p:cNvSpPr/>
          <p:nvPr/>
        </p:nvSpPr>
        <p:spPr>
          <a:xfrm>
            <a:off x="457200" y="6455664"/>
            <a:ext cx="7315200" cy="292608"/>
          </a:xfrm>
          <a:prstGeom prst="rect">
            <a:avLst/>
          </a:prstGeom>
          <a:noFill/>
          <a:ln/>
        </p:spPr>
        <p:txBody>
          <a:bodyPr wrap="square"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5" name="Text 3"/>
          <p:cNvSpPr/>
          <p:nvPr/>
        </p:nvSpPr>
        <p:spPr>
          <a:xfrm>
            <a:off x="5029200" y="6455664"/>
            <a:ext cx="6702552" cy="292608"/>
          </a:xfrm>
          <a:prstGeom prst="rect">
            <a:avLst/>
          </a:prstGeom>
          <a:noFill/>
          <a:ln/>
        </p:spPr>
        <p:txBody>
          <a:bodyPr wrap="square"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6" name="Text 4"/>
          <p:cNvSpPr/>
          <p:nvPr/>
        </p:nvSpPr>
        <p:spPr>
          <a:xfrm>
            <a:off x="11475720" y="256032"/>
            <a:ext cx="457200" cy="365760"/>
          </a:xfrm>
          <a:prstGeom prst="rect">
            <a:avLst/>
          </a:prstGeom>
          <a:noFill/>
          <a:ln/>
        </p:spPr>
        <p:txBody>
          <a:bodyPr wrap="square" rtlCol="0" anchor="ctr"/>
          <a:lstStyle/>
          <a:p>
            <a:pPr marL="0" indent="0" algn="r">
              <a:buNone/>
            </a:pPr>
            <a:r>
              <a:rPr lang="en-US" sz="1300" b="1" dirty="0">
                <a:solidFill>
                  <a:srgbClr val="CBDAE4"/>
                </a:solidFill>
                <a:latin typeface="Cambria" pitchFamily="34" charset="0"/>
                <a:ea typeface="Cambria" pitchFamily="34" charset="-122"/>
                <a:cs typeface="Cambria" pitchFamily="34" charset="-120"/>
              </a:rPr>
              <a:t>14</a:t>
            </a:r>
            <a:endParaRPr lang="en-US" sz="1300" dirty="0"/>
          </a:p>
        </p:txBody>
      </p:sp>
      <p:sp>
        <p:nvSpPr>
          <p:cNvPr id="7" name="Shape 5"/>
          <p:cNvSpPr/>
          <p:nvPr/>
        </p:nvSpPr>
        <p:spPr>
          <a:xfrm>
            <a:off x="457200" y="1188720"/>
            <a:ext cx="5989320" cy="4581144"/>
          </a:xfrm>
          <a:prstGeom prst="roundRect">
            <a:avLst>
              <a:gd name="adj" fmla="val 1198"/>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8" name="Image 0" descr="C:\Users\ADMIN\AppData\Local\Temp\claude\D--DATN-TownHub\2a20fba2-0cd4-4668-a5dd-e0d1f8301abd\scratchpad\assets\fig_flow_auth.png"/>
          <p:cNvPicPr>
            <a:picLocks noChangeAspect="1"/>
          </p:cNvPicPr>
          <p:nvPr/>
        </p:nvPicPr>
        <p:blipFill>
          <a:blip r:embed="rId3"/>
          <a:stretch>
            <a:fillRect/>
          </a:stretch>
        </p:blipFill>
        <p:spPr>
          <a:xfrm>
            <a:off x="548640" y="1415209"/>
            <a:ext cx="5806440" cy="4128167"/>
          </a:xfrm>
          <a:prstGeom prst="rect">
            <a:avLst/>
          </a:prstGeom>
        </p:spPr>
      </p:pic>
      <p:sp>
        <p:nvSpPr>
          <p:cNvPr id="9" name="Text 6"/>
          <p:cNvSpPr/>
          <p:nvPr/>
        </p:nvSpPr>
        <p:spPr>
          <a:xfrm>
            <a:off x="457200" y="5788152"/>
            <a:ext cx="5989320" cy="310896"/>
          </a:xfrm>
          <a:prstGeom prst="rect">
            <a:avLst/>
          </a:prstGeom>
          <a:noFill/>
          <a:ln/>
        </p:spPr>
        <p:txBody>
          <a:bodyPr wrap="square" rtlCol="0" anchor="ctr"/>
          <a:lstStyle/>
          <a:p>
            <a:pPr marL="0" indent="0" algn="ctr">
              <a:buNone/>
            </a:pPr>
            <a:r>
              <a:rPr lang="en-US" sz="1050" i="1" dirty="0">
                <a:solidFill>
                  <a:srgbClr val="6B7A88"/>
                </a:solidFill>
                <a:latin typeface="Calibri" pitchFamily="34" charset="0"/>
                <a:ea typeface="Calibri" pitchFamily="34" charset="-122"/>
                <a:cs typeface="Calibri" pitchFamily="34" charset="-120"/>
              </a:rPr>
              <a:t>Hình 3.6 — Luồng xác thực &amp; phân quyền RBAC mỗi request</a:t>
            </a:r>
            <a:endParaRPr lang="en-US" sz="1050" dirty="0"/>
          </a:p>
        </p:txBody>
      </p:sp>
      <p:sp>
        <p:nvSpPr>
          <p:cNvPr id="10" name="Text 7"/>
          <p:cNvSpPr/>
          <p:nvPr/>
        </p:nvSpPr>
        <p:spPr>
          <a:xfrm>
            <a:off x="6629400" y="1188720"/>
            <a:ext cx="5120640" cy="640080"/>
          </a:xfrm>
          <a:prstGeom prst="rect">
            <a:avLst/>
          </a:prstGeom>
          <a:noFill/>
          <a:ln/>
        </p:spPr>
        <p:txBody>
          <a:bodyPr wrap="square" rtlCol="0" anchor="ctr"/>
          <a:lstStyle/>
          <a:p>
            <a:pPr marL="0" indent="0" algn="l">
              <a:buNone/>
            </a:pPr>
            <a:r>
              <a:rPr lang="en-US" sz="3000" b="1" dirty="0">
                <a:solidFill>
                  <a:srgbClr val="0E7C86"/>
                </a:solidFill>
                <a:latin typeface="Cambria" pitchFamily="34" charset="0"/>
                <a:ea typeface="Cambria" pitchFamily="34" charset="-122"/>
                <a:cs typeface="Cambria" pitchFamily="34" charset="-120"/>
              </a:rPr>
              <a:t>74</a:t>
            </a:r>
            <a:r>
              <a:rPr lang="en-US" sz="1300" dirty="0">
                <a:solidFill>
                  <a:srgbClr val="6B7A88"/>
                </a:solidFill>
                <a:latin typeface="Calibri" pitchFamily="34" charset="0"/>
                <a:ea typeface="Calibri" pitchFamily="34" charset="-122"/>
                <a:cs typeface="Calibri" pitchFamily="34" charset="-120"/>
              </a:rPr>
              <a:t>  quyền  </a:t>
            </a:r>
            <a:r>
              <a:rPr lang="en-US" sz="3000" b="1" dirty="0">
                <a:solidFill>
                  <a:srgbClr val="EFA13C"/>
                </a:solidFill>
                <a:latin typeface="Cambria" pitchFamily="34" charset="0"/>
                <a:ea typeface="Cambria" pitchFamily="34" charset="-122"/>
                <a:cs typeface="Cambria" pitchFamily="34" charset="-120"/>
              </a:rPr>
              <a:t>6</a:t>
            </a:r>
            <a:r>
              <a:rPr lang="en-US" sz="1300" dirty="0">
                <a:solidFill>
                  <a:srgbClr val="6B7A88"/>
                </a:solidFill>
                <a:latin typeface="Calibri" pitchFamily="34" charset="0"/>
                <a:ea typeface="Calibri" pitchFamily="34" charset="-122"/>
                <a:cs typeface="Calibri" pitchFamily="34" charset="-120"/>
              </a:rPr>
              <a:t>  vai trò</a:t>
            </a:r>
            <a:endParaRPr lang="en-US" sz="3000" dirty="0"/>
          </a:p>
        </p:txBody>
      </p:sp>
      <p:sp>
        <p:nvSpPr>
          <p:cNvPr id="11" name="Text 8"/>
          <p:cNvSpPr/>
          <p:nvPr/>
        </p:nvSpPr>
        <p:spPr>
          <a:xfrm>
            <a:off x="6629400" y="1920240"/>
            <a:ext cx="5120640" cy="2103120"/>
          </a:xfrm>
          <a:prstGeom prst="rect">
            <a:avLst/>
          </a:prstGeom>
          <a:noFill/>
          <a:ln/>
        </p:spPr>
        <p:txBody>
          <a:bodyPr wrap="square" rtlCol="0" anchor="t"/>
          <a:lstStyle/>
          <a:p>
            <a:pPr marL="177800" indent="-177800" algn="l">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Quyền = resource.action (asset.create) → gán cho vai trò → gán cho người dùng.</a:t>
            </a:r>
            <a:endParaRPr lang="en-US" sz="1250" dirty="0"/>
          </a:p>
          <a:p>
            <a:pPr marL="177800" indent="-177800" algn="l">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Nguồn sự thật PermissionConstants; mỗi quyền tự sinh Authorization Policy.</a:t>
            </a:r>
            <a:endParaRPr lang="en-US" sz="1250" dirty="0"/>
          </a:p>
          <a:p>
            <a:pPr marL="177800" indent="-177800" algn="l">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Đặc quyền tối thiểu: policy tổng hợp (WorkOrderWrite = create ∨ execute).</a:t>
            </a:r>
            <a:endParaRPr lang="en-US" sz="1250" dirty="0"/>
          </a:p>
          <a:p>
            <a:pPr marL="177800" indent="-177800" algn="l">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Quyền hàng (DenyIfNotAssigned): KTV chỉ thấy phiếu được giao — 403 nếu không thuộc.</a:t>
            </a:r>
            <a:endParaRPr lang="en-US" sz="1250" dirty="0"/>
          </a:p>
        </p:txBody>
      </p:sp>
      <p:sp>
        <p:nvSpPr>
          <p:cNvPr id="12" name="Shape 9"/>
          <p:cNvSpPr/>
          <p:nvPr/>
        </p:nvSpPr>
        <p:spPr>
          <a:xfrm>
            <a:off x="6629400" y="3977640"/>
            <a:ext cx="5120640" cy="1792224"/>
          </a:xfrm>
          <a:prstGeom prst="roundRect">
            <a:avLst>
              <a:gd name="adj" fmla="val 3061"/>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13" name="Image 1" descr="C:\Users\ADMIN\AppData\Local\Temp\claude\D--DATN-TownHub\2a20fba2-0cd4-4668-a5dd-e0d1f8301abd\scratchpad\assets\real_permissions.png"/>
          <p:cNvPicPr>
            <a:picLocks noChangeAspect="1"/>
          </p:cNvPicPr>
          <p:nvPr/>
        </p:nvPicPr>
        <p:blipFill>
          <a:blip r:embed="rId4"/>
          <a:stretch>
            <a:fillRect/>
          </a:stretch>
        </p:blipFill>
        <p:spPr>
          <a:xfrm>
            <a:off x="7902245" y="4069080"/>
            <a:ext cx="2574950" cy="1609344"/>
          </a:xfrm>
          <a:prstGeom prst="rect">
            <a:avLst/>
          </a:prstGeom>
        </p:spPr>
      </p:pic>
      <p:sp>
        <p:nvSpPr>
          <p:cNvPr id="14" name="Text 10"/>
          <p:cNvSpPr/>
          <p:nvPr/>
        </p:nvSpPr>
        <p:spPr>
          <a:xfrm>
            <a:off x="6629400" y="5788152"/>
            <a:ext cx="5120640" cy="310896"/>
          </a:xfrm>
          <a:prstGeom prst="rect">
            <a:avLst/>
          </a:prstGeom>
          <a:noFill/>
          <a:ln/>
        </p:spPr>
        <p:txBody>
          <a:bodyPr wrap="square" rtlCol="0" anchor="ctr"/>
          <a:lstStyle/>
          <a:p>
            <a:pPr marL="0" indent="0" algn="ctr">
              <a:buNone/>
            </a:pPr>
            <a:r>
              <a:rPr lang="en-US" sz="1050" i="1" dirty="0">
                <a:solidFill>
                  <a:srgbClr val="6B7A88"/>
                </a:solidFill>
                <a:latin typeface="Calibri" pitchFamily="34" charset="0"/>
                <a:ea typeface="Calibri" pitchFamily="34" charset="-122"/>
                <a:cs typeface="Calibri" pitchFamily="34" charset="-120"/>
              </a:rPr>
              <a:t>Giao diện phân quyền theo vai trò (RBAC) — dữ liệu thật</a:t>
            </a:r>
            <a:endParaRPr lang="en-US" sz="1050" dirty="0"/>
          </a:p>
        </p:txBody>
      </p:sp>
    </p:spTree>
    <p:extLst>
      <p:ext uri="{BB962C8B-B14F-4D97-AF65-F5344CB8AC3E}">
        <p14:creationId xmlns:p14="http://schemas.microsoft.com/office/powerpoint/2010/main" val="3360519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10789920" cy="27432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04 · MODULE BASE</a:t>
            </a:r>
            <a:endParaRPr lang="en-US" sz="1200" dirty="0"/>
          </a:p>
        </p:txBody>
      </p:sp>
      <p:sp>
        <p:nvSpPr>
          <p:cNvPr id="3" name="Text 1"/>
          <p:cNvSpPr/>
          <p:nvPr/>
        </p:nvSpPr>
        <p:spPr>
          <a:xfrm>
            <a:off x="457200" y="530352"/>
            <a:ext cx="10972800" cy="548640"/>
          </a:xfrm>
          <a:prstGeom prst="rect">
            <a:avLst/>
          </a:prstGeom>
          <a:noFill/>
          <a:ln/>
        </p:spPr>
        <p:txBody>
          <a:bodyPr wrap="square" rtlCol="0" anchor="ctr"/>
          <a:lstStyle/>
          <a:p>
            <a:pPr marL="0" indent="0" algn="l">
              <a:buNone/>
            </a:pPr>
            <a:r>
              <a:rPr lang="en-US" sz="2500" b="1" dirty="0">
                <a:solidFill>
                  <a:srgbClr val="0E2A47"/>
                </a:solidFill>
                <a:latin typeface="Cambria" pitchFamily="34" charset="0"/>
                <a:ea typeface="Cambria" pitchFamily="34" charset="-122"/>
                <a:cs typeface="Cambria" pitchFamily="34" charset="-120"/>
              </a:rPr>
              <a:t>Dịch vụ nền tảng dùng chung &amp; dữ liệu schema auth</a:t>
            </a:r>
            <a:endParaRPr lang="en-US" sz="2500" dirty="0"/>
          </a:p>
        </p:txBody>
      </p:sp>
      <p:sp>
        <p:nvSpPr>
          <p:cNvPr id="4" name="Text 2"/>
          <p:cNvSpPr/>
          <p:nvPr/>
        </p:nvSpPr>
        <p:spPr>
          <a:xfrm>
            <a:off x="457200" y="6455664"/>
            <a:ext cx="7315200" cy="292608"/>
          </a:xfrm>
          <a:prstGeom prst="rect">
            <a:avLst/>
          </a:prstGeom>
          <a:noFill/>
          <a:ln/>
        </p:spPr>
        <p:txBody>
          <a:bodyPr wrap="square"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5" name="Text 3"/>
          <p:cNvSpPr/>
          <p:nvPr/>
        </p:nvSpPr>
        <p:spPr>
          <a:xfrm>
            <a:off x="5029200" y="6455664"/>
            <a:ext cx="6702552" cy="292608"/>
          </a:xfrm>
          <a:prstGeom prst="rect">
            <a:avLst/>
          </a:prstGeom>
          <a:noFill/>
          <a:ln/>
        </p:spPr>
        <p:txBody>
          <a:bodyPr wrap="square"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6" name="Text 4"/>
          <p:cNvSpPr/>
          <p:nvPr/>
        </p:nvSpPr>
        <p:spPr>
          <a:xfrm>
            <a:off x="11475720" y="256032"/>
            <a:ext cx="457200" cy="365760"/>
          </a:xfrm>
          <a:prstGeom prst="rect">
            <a:avLst/>
          </a:prstGeom>
          <a:noFill/>
          <a:ln/>
        </p:spPr>
        <p:txBody>
          <a:bodyPr wrap="square" rtlCol="0" anchor="ctr"/>
          <a:lstStyle/>
          <a:p>
            <a:pPr marL="0" indent="0" algn="r">
              <a:buNone/>
            </a:pPr>
            <a:r>
              <a:rPr lang="en-US" sz="1300" b="1" dirty="0">
                <a:solidFill>
                  <a:srgbClr val="CBDAE4"/>
                </a:solidFill>
                <a:latin typeface="Cambria" pitchFamily="34" charset="0"/>
                <a:ea typeface="Cambria" pitchFamily="34" charset="-122"/>
                <a:cs typeface="Cambria" pitchFamily="34" charset="-120"/>
              </a:rPr>
              <a:t>15</a:t>
            </a:r>
            <a:endParaRPr lang="en-US" sz="1300" dirty="0"/>
          </a:p>
        </p:txBody>
      </p:sp>
      <p:sp>
        <p:nvSpPr>
          <p:cNvPr id="7" name="Shape 5"/>
          <p:cNvSpPr/>
          <p:nvPr/>
        </p:nvSpPr>
        <p:spPr>
          <a:xfrm>
            <a:off x="457200" y="1188720"/>
            <a:ext cx="3657600" cy="1170432"/>
          </a:xfrm>
          <a:prstGeom prst="roundRect">
            <a:avLst>
              <a:gd name="adj" fmla="val 4688"/>
            </a:avLst>
          </a:prstGeom>
          <a:solidFill>
            <a:srgbClr val="F1F5F8"/>
          </a:solidFill>
          <a:ln w="12700">
            <a:solidFill>
              <a:srgbClr val="CBDAE4"/>
            </a:solidFill>
            <a:prstDash val="solid"/>
          </a:ln>
        </p:spPr>
      </p:sp>
      <p:sp>
        <p:nvSpPr>
          <p:cNvPr id="8" name="Text 6"/>
          <p:cNvSpPr/>
          <p:nvPr/>
        </p:nvSpPr>
        <p:spPr>
          <a:xfrm>
            <a:off x="621792" y="1289304"/>
            <a:ext cx="3328416" cy="292608"/>
          </a:xfrm>
          <a:prstGeom prst="rect">
            <a:avLst/>
          </a:prstGeom>
          <a:noFill/>
          <a:ln/>
        </p:spPr>
        <p:txBody>
          <a:bodyPr wrap="square" rtlCol="0" anchor="ctr"/>
          <a:lstStyle/>
          <a:p>
            <a:pPr marL="0" indent="0" algn="l">
              <a:buNone/>
            </a:pPr>
            <a:r>
              <a:rPr lang="en-US" sz="1300" b="1" dirty="0">
                <a:solidFill>
                  <a:srgbClr val="0E7C86"/>
                </a:solidFill>
                <a:latin typeface="Cambria" pitchFamily="34" charset="0"/>
                <a:ea typeface="Cambria" pitchFamily="34" charset="-122"/>
                <a:cs typeface="Cambria" pitchFamily="34" charset="-120"/>
              </a:rPr>
              <a:t>Người dùng &amp; Nhật ký</a:t>
            </a:r>
            <a:endParaRPr lang="en-US" sz="1300" dirty="0"/>
          </a:p>
        </p:txBody>
      </p:sp>
      <p:sp>
        <p:nvSpPr>
          <p:cNvPr id="9" name="Text 7"/>
          <p:cNvSpPr/>
          <p:nvPr/>
        </p:nvSpPr>
        <p:spPr>
          <a:xfrm>
            <a:off x="603504" y="1609344"/>
            <a:ext cx="3364992" cy="640080"/>
          </a:xfrm>
          <a:prstGeom prst="rect">
            <a:avLst/>
          </a:prstGeom>
          <a:noFill/>
          <a:ln/>
        </p:spPr>
        <p:txBody>
          <a:bodyPr wrap="square" rtlCol="0" anchor="t"/>
          <a:lstStyle/>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CRUD tài khoản/vai trò/quyền</a:t>
            </a:r>
            <a:endParaRPr lang="en-US" sz="1150" dirty="0"/>
          </a:p>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Audit Log truy vết mọi hành động</a:t>
            </a:r>
            <a:endParaRPr lang="en-US" sz="1150" dirty="0"/>
          </a:p>
        </p:txBody>
      </p:sp>
      <p:sp>
        <p:nvSpPr>
          <p:cNvPr id="10" name="Shape 8"/>
          <p:cNvSpPr/>
          <p:nvPr/>
        </p:nvSpPr>
        <p:spPr>
          <a:xfrm>
            <a:off x="4297680" y="1188720"/>
            <a:ext cx="3657600" cy="1170432"/>
          </a:xfrm>
          <a:prstGeom prst="roundRect">
            <a:avLst>
              <a:gd name="adj" fmla="val 4688"/>
            </a:avLst>
          </a:prstGeom>
          <a:solidFill>
            <a:srgbClr val="F1F5F8"/>
          </a:solidFill>
          <a:ln w="12700">
            <a:solidFill>
              <a:srgbClr val="CBDAE4"/>
            </a:solidFill>
            <a:prstDash val="solid"/>
          </a:ln>
        </p:spPr>
      </p:sp>
      <p:sp>
        <p:nvSpPr>
          <p:cNvPr id="11" name="Text 9"/>
          <p:cNvSpPr/>
          <p:nvPr/>
        </p:nvSpPr>
        <p:spPr>
          <a:xfrm>
            <a:off x="4462272" y="1289304"/>
            <a:ext cx="3328416" cy="292608"/>
          </a:xfrm>
          <a:prstGeom prst="rect">
            <a:avLst/>
          </a:prstGeom>
          <a:noFill/>
          <a:ln/>
        </p:spPr>
        <p:txBody>
          <a:bodyPr wrap="square" rtlCol="0" anchor="ctr"/>
          <a:lstStyle/>
          <a:p>
            <a:pPr marL="0" indent="0" algn="l">
              <a:buNone/>
            </a:pPr>
            <a:r>
              <a:rPr lang="en-US" sz="1300" b="1" dirty="0">
                <a:solidFill>
                  <a:srgbClr val="0E7C86"/>
                </a:solidFill>
                <a:latin typeface="Cambria" pitchFamily="34" charset="0"/>
                <a:ea typeface="Cambria" pitchFamily="34" charset="-122"/>
                <a:cs typeface="Cambria" pitchFamily="34" charset="-120"/>
              </a:rPr>
              <a:t>Thông báo</a:t>
            </a:r>
            <a:endParaRPr lang="en-US" sz="1300" dirty="0"/>
          </a:p>
        </p:txBody>
      </p:sp>
      <p:sp>
        <p:nvSpPr>
          <p:cNvPr id="12" name="Text 10"/>
          <p:cNvSpPr/>
          <p:nvPr/>
        </p:nvSpPr>
        <p:spPr>
          <a:xfrm>
            <a:off x="4443984" y="1609344"/>
            <a:ext cx="3364992" cy="640080"/>
          </a:xfrm>
          <a:prstGeom prst="rect">
            <a:avLst/>
          </a:prstGeom>
          <a:noFill/>
          <a:ln/>
        </p:spPr>
        <p:txBody>
          <a:bodyPr wrap="square" rtlCol="0" anchor="t"/>
          <a:lstStyle/>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Email thật (MailKit) + hộp thư hệ thống</a:t>
            </a:r>
            <a:endParaRPr lang="en-US" sz="1150" dirty="0"/>
          </a:p>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Mẫu tái sử dụng · lịch sử gửi</a:t>
            </a:r>
            <a:endParaRPr lang="en-US" sz="1150" dirty="0"/>
          </a:p>
        </p:txBody>
      </p:sp>
      <p:sp>
        <p:nvSpPr>
          <p:cNvPr id="13" name="Shape 11"/>
          <p:cNvSpPr/>
          <p:nvPr/>
        </p:nvSpPr>
        <p:spPr>
          <a:xfrm>
            <a:off x="457200" y="2496312"/>
            <a:ext cx="3657600" cy="1170432"/>
          </a:xfrm>
          <a:prstGeom prst="roundRect">
            <a:avLst>
              <a:gd name="adj" fmla="val 4688"/>
            </a:avLst>
          </a:prstGeom>
          <a:solidFill>
            <a:srgbClr val="F1F5F8"/>
          </a:solidFill>
          <a:ln w="12700">
            <a:solidFill>
              <a:srgbClr val="CBDAE4"/>
            </a:solidFill>
            <a:prstDash val="solid"/>
          </a:ln>
        </p:spPr>
      </p:sp>
      <p:sp>
        <p:nvSpPr>
          <p:cNvPr id="14" name="Text 12"/>
          <p:cNvSpPr/>
          <p:nvPr/>
        </p:nvSpPr>
        <p:spPr>
          <a:xfrm>
            <a:off x="621792" y="2596896"/>
            <a:ext cx="3328416" cy="292608"/>
          </a:xfrm>
          <a:prstGeom prst="rect">
            <a:avLst/>
          </a:prstGeom>
          <a:noFill/>
          <a:ln/>
        </p:spPr>
        <p:txBody>
          <a:bodyPr wrap="square" rtlCol="0" anchor="ctr"/>
          <a:lstStyle/>
          <a:p>
            <a:pPr marL="0" indent="0" algn="l">
              <a:buNone/>
            </a:pPr>
            <a:r>
              <a:rPr lang="en-US" sz="1300" b="1" dirty="0">
                <a:solidFill>
                  <a:srgbClr val="0E7C86"/>
                </a:solidFill>
                <a:latin typeface="Cambria" pitchFamily="34" charset="0"/>
                <a:ea typeface="Cambria" pitchFamily="34" charset="-122"/>
                <a:cs typeface="Cambria" pitchFamily="34" charset="-120"/>
              </a:rPr>
              <a:t>Cấu hình &amp; danh mục</a:t>
            </a:r>
            <a:endParaRPr lang="en-US" sz="1300" dirty="0"/>
          </a:p>
        </p:txBody>
      </p:sp>
      <p:sp>
        <p:nvSpPr>
          <p:cNvPr id="15" name="Text 13"/>
          <p:cNvSpPr/>
          <p:nvPr/>
        </p:nvSpPr>
        <p:spPr>
          <a:xfrm>
            <a:off x="603504" y="2916936"/>
            <a:ext cx="3364992" cy="640080"/>
          </a:xfrm>
          <a:prstGeom prst="rect">
            <a:avLst/>
          </a:prstGeom>
          <a:noFill/>
          <a:ln/>
        </p:spPr>
        <p:txBody>
          <a:bodyPr wrap="square" rtlCol="0" anchor="t"/>
          <a:lstStyle/>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Tham số khóa–giá trị (sinh mã, khấu hao…)</a:t>
            </a:r>
            <a:endParaRPr lang="en-US" sz="1150" dirty="0"/>
          </a:p>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Danh mục toà nhà/tầng/căn hộ</a:t>
            </a:r>
            <a:endParaRPr lang="en-US" sz="1150" dirty="0"/>
          </a:p>
        </p:txBody>
      </p:sp>
      <p:sp>
        <p:nvSpPr>
          <p:cNvPr id="16" name="Shape 14"/>
          <p:cNvSpPr/>
          <p:nvPr/>
        </p:nvSpPr>
        <p:spPr>
          <a:xfrm>
            <a:off x="4297680" y="2496312"/>
            <a:ext cx="3657600" cy="1170432"/>
          </a:xfrm>
          <a:prstGeom prst="roundRect">
            <a:avLst>
              <a:gd name="adj" fmla="val 4688"/>
            </a:avLst>
          </a:prstGeom>
          <a:solidFill>
            <a:srgbClr val="F1F5F8"/>
          </a:solidFill>
          <a:ln w="12700">
            <a:solidFill>
              <a:srgbClr val="CBDAE4"/>
            </a:solidFill>
            <a:prstDash val="solid"/>
          </a:ln>
        </p:spPr>
      </p:sp>
      <p:sp>
        <p:nvSpPr>
          <p:cNvPr id="17" name="Text 15"/>
          <p:cNvSpPr/>
          <p:nvPr/>
        </p:nvSpPr>
        <p:spPr>
          <a:xfrm>
            <a:off x="4462272" y="2596896"/>
            <a:ext cx="3328416" cy="292608"/>
          </a:xfrm>
          <a:prstGeom prst="rect">
            <a:avLst/>
          </a:prstGeom>
          <a:noFill/>
          <a:ln/>
        </p:spPr>
        <p:txBody>
          <a:bodyPr wrap="square" rtlCol="0" anchor="ctr"/>
          <a:lstStyle/>
          <a:p>
            <a:pPr marL="0" indent="0" algn="l">
              <a:buNone/>
            </a:pPr>
            <a:r>
              <a:rPr lang="en-US" sz="1300" b="1" dirty="0">
                <a:solidFill>
                  <a:srgbClr val="0E7C86"/>
                </a:solidFill>
                <a:latin typeface="Cambria" pitchFamily="34" charset="0"/>
                <a:ea typeface="Cambria" pitchFamily="34" charset="-122"/>
                <a:cs typeface="Cambria" pitchFamily="34" charset="-120"/>
              </a:rPr>
              <a:t>Báo cáo &amp; Dashboard</a:t>
            </a:r>
            <a:endParaRPr lang="en-US" sz="1300" dirty="0"/>
          </a:p>
        </p:txBody>
      </p:sp>
      <p:sp>
        <p:nvSpPr>
          <p:cNvPr id="18" name="Text 16"/>
          <p:cNvSpPr/>
          <p:nvPr/>
        </p:nvSpPr>
        <p:spPr>
          <a:xfrm>
            <a:off x="4443984" y="2916936"/>
            <a:ext cx="3364992" cy="640080"/>
          </a:xfrm>
          <a:prstGeom prst="rect">
            <a:avLst/>
          </a:prstGeom>
          <a:noFill/>
          <a:ln/>
        </p:spPr>
        <p:txBody>
          <a:bodyPr wrap="square" rtlCol="0" anchor="t"/>
          <a:lstStyle/>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KPI · chi phí · SLA (policy ReportKpi)</a:t>
            </a:r>
            <a:endParaRPr lang="en-US" sz="1150" dirty="0"/>
          </a:p>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Tổng hợp qua Guid cross-service</a:t>
            </a:r>
            <a:endParaRPr lang="en-US" sz="1150" dirty="0"/>
          </a:p>
        </p:txBody>
      </p:sp>
      <p:sp>
        <p:nvSpPr>
          <p:cNvPr id="19" name="Shape 17"/>
          <p:cNvSpPr/>
          <p:nvPr/>
        </p:nvSpPr>
        <p:spPr>
          <a:xfrm>
            <a:off x="457200" y="3840480"/>
            <a:ext cx="7498080" cy="1929384"/>
          </a:xfrm>
          <a:prstGeom prst="roundRect">
            <a:avLst>
              <a:gd name="adj" fmla="val 2844"/>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20" name="Image 0" descr="C:\Users\ADMIN\AppData\Local\Temp\claude\D--DATN-TownHub\2a20fba2-0cd4-4668-a5dd-e0d1f8301abd\scratchpad\assets\img11.png"/>
          <p:cNvPicPr>
            <a:picLocks noChangeAspect="1"/>
          </p:cNvPicPr>
          <p:nvPr/>
        </p:nvPicPr>
        <p:blipFill>
          <a:blip r:embed="rId3"/>
          <a:stretch>
            <a:fillRect/>
          </a:stretch>
        </p:blipFill>
        <p:spPr>
          <a:xfrm>
            <a:off x="2809037" y="3931920"/>
            <a:ext cx="2794406" cy="1746504"/>
          </a:xfrm>
          <a:prstGeom prst="rect">
            <a:avLst/>
          </a:prstGeom>
        </p:spPr>
      </p:pic>
      <p:sp>
        <p:nvSpPr>
          <p:cNvPr id="21" name="Text 18"/>
          <p:cNvSpPr/>
          <p:nvPr/>
        </p:nvSpPr>
        <p:spPr>
          <a:xfrm>
            <a:off x="457200" y="5788152"/>
            <a:ext cx="7498080" cy="310896"/>
          </a:xfrm>
          <a:prstGeom prst="rect">
            <a:avLst/>
          </a:prstGeom>
          <a:noFill/>
          <a:ln/>
        </p:spPr>
        <p:txBody>
          <a:bodyPr wrap="square" rtlCol="0" anchor="ctr"/>
          <a:lstStyle/>
          <a:p>
            <a:pPr marL="0" indent="0" algn="ctr">
              <a:buNone/>
            </a:pPr>
            <a:r>
              <a:rPr lang="en-US" sz="1050" i="1" dirty="0">
                <a:solidFill>
                  <a:srgbClr val="6B7A88"/>
                </a:solidFill>
                <a:latin typeface="Calibri" pitchFamily="34" charset="0"/>
                <a:ea typeface="Calibri" pitchFamily="34" charset="-122"/>
                <a:cs typeface="Calibri" pitchFamily="34" charset="-120"/>
              </a:rPr>
              <a:t>Dashboard tổng quan (KPI, chi phí) — giao diện thật</a:t>
            </a:r>
            <a:endParaRPr lang="en-US" sz="1050" dirty="0"/>
          </a:p>
        </p:txBody>
      </p:sp>
      <p:sp>
        <p:nvSpPr>
          <p:cNvPr id="22" name="Shape 19"/>
          <p:cNvSpPr/>
          <p:nvPr/>
        </p:nvSpPr>
        <p:spPr>
          <a:xfrm>
            <a:off x="8138160" y="1188720"/>
            <a:ext cx="3611880" cy="4892040"/>
          </a:xfrm>
          <a:prstGeom prst="roundRect">
            <a:avLst>
              <a:gd name="adj" fmla="val 1519"/>
            </a:avLst>
          </a:prstGeom>
          <a:solidFill>
            <a:srgbClr val="F1F5F8"/>
          </a:solidFill>
          <a:ln w="12700">
            <a:solidFill>
              <a:srgbClr val="CBDAE4"/>
            </a:solidFill>
            <a:prstDash val="solid"/>
          </a:ln>
        </p:spPr>
      </p:sp>
      <p:sp>
        <p:nvSpPr>
          <p:cNvPr id="23" name="Text 20"/>
          <p:cNvSpPr/>
          <p:nvPr/>
        </p:nvSpPr>
        <p:spPr>
          <a:xfrm>
            <a:off x="8302752" y="1298448"/>
            <a:ext cx="3291840" cy="310896"/>
          </a:xfrm>
          <a:prstGeom prst="rect">
            <a:avLst/>
          </a:prstGeom>
          <a:noFill/>
          <a:ln/>
        </p:spPr>
        <p:txBody>
          <a:bodyPr wrap="square" rtlCol="0" anchor="ctr"/>
          <a:lstStyle/>
          <a:p>
            <a:pPr marL="0" indent="0">
              <a:buNone/>
            </a:pPr>
            <a:r>
              <a:rPr lang="en-US" sz="1350" b="1" dirty="0">
                <a:solidFill>
                  <a:srgbClr val="0E2A47"/>
                </a:solidFill>
                <a:latin typeface="Cambria" pitchFamily="34" charset="0"/>
                <a:ea typeface="Cambria" pitchFamily="34" charset="-122"/>
                <a:cs typeface="Cambria" pitchFamily="34" charset="-120"/>
              </a:rPr>
              <a:t>CSDL schema auth (Base)</a:t>
            </a:r>
            <a:endParaRPr lang="en-US" sz="1350" dirty="0"/>
          </a:p>
        </p:txBody>
      </p:sp>
      <p:sp>
        <p:nvSpPr>
          <p:cNvPr id="24" name="Text 21"/>
          <p:cNvSpPr/>
          <p:nvPr/>
        </p:nvSpPr>
        <p:spPr>
          <a:xfrm>
            <a:off x="8302752" y="1627632"/>
            <a:ext cx="3310128" cy="868680"/>
          </a:xfrm>
          <a:prstGeom prst="rect">
            <a:avLst/>
          </a:prstGeom>
          <a:noFill/>
          <a:ln/>
        </p:spPr>
        <p:txBody>
          <a:bodyPr wrap="square" rtlCol="0" anchor="t"/>
          <a:lstStyle/>
          <a:p>
            <a:pPr marL="0" indent="0">
              <a:buNone/>
            </a:pPr>
            <a:r>
              <a:rPr lang="en-US" sz="1100" dirty="0">
                <a:solidFill>
                  <a:srgbClr val="22303C"/>
                </a:solidFill>
                <a:latin typeface="Calibri" pitchFamily="34" charset="0"/>
                <a:ea typeface="Calibri" pitchFamily="34" charset="-122"/>
                <a:cs typeface="Calibri" pitchFamily="34" charset="-120"/>
              </a:rPr>
              <a:t>AuthUser làm trung tâm; các phân hệ riêng tham chiếu định danh Base qua Guid cross-service (không nối khóa ngoại xuyên schema).</a:t>
            </a:r>
            <a:endParaRPr lang="en-US" sz="1100" dirty="0"/>
          </a:p>
        </p:txBody>
      </p:sp>
      <p:sp>
        <p:nvSpPr>
          <p:cNvPr id="25" name="Text 22"/>
          <p:cNvSpPr/>
          <p:nvPr/>
        </p:nvSpPr>
        <p:spPr>
          <a:xfrm>
            <a:off x="8302752" y="2542032"/>
            <a:ext cx="3310128" cy="3429000"/>
          </a:xfrm>
          <a:prstGeom prst="rect">
            <a:avLst/>
          </a:prstGeom>
          <a:noFill/>
          <a:ln/>
        </p:spPr>
        <p:txBody>
          <a:bodyPr wrap="square" rtlCol="0" anchor="t"/>
          <a:lstStyle/>
          <a:p>
            <a:pPr marL="0" indent="0" algn="l">
              <a:buNone/>
            </a:pPr>
            <a:r>
              <a:rPr lang="en-US" sz="1150" b="1" dirty="0">
                <a:solidFill>
                  <a:srgbClr val="0E7C86"/>
                </a:solidFill>
                <a:latin typeface="Calibri" pitchFamily="34" charset="0"/>
                <a:ea typeface="Calibri" pitchFamily="34" charset="-122"/>
                <a:cs typeface="Calibri" pitchFamily="34" charset="-120"/>
              </a:rPr>
              <a:t>Người dùng &amp; hồ sơ
</a:t>
            </a:r>
            <a:endParaRPr lang="en-US" sz="1150" dirty="0"/>
          </a:p>
          <a:p>
            <a:pPr marL="0" indent="0" algn="l">
              <a:spcAft>
                <a:spcPts val="600"/>
              </a:spcAft>
              <a:buNone/>
            </a:pPr>
            <a:r>
              <a:rPr lang="en-US" sz="1100" dirty="0">
                <a:solidFill>
                  <a:srgbClr val="22303C"/>
                </a:solidFill>
                <a:latin typeface="Calibri" pitchFamily="34" charset="0"/>
                <a:ea typeface="Calibri" pitchFamily="34" charset="-122"/>
                <a:cs typeface="Calibri" pitchFamily="34" charset="-120"/>
              </a:rPr>
              <a:t>AuthUser · AuthProfile
</a:t>
            </a:r>
            <a:endParaRPr lang="en-US" sz="1150" dirty="0"/>
          </a:p>
          <a:p>
            <a:pPr marL="0" indent="0" algn="l">
              <a:buNone/>
            </a:pPr>
            <a:r>
              <a:rPr lang="en-US" sz="1150" b="1" dirty="0">
                <a:solidFill>
                  <a:srgbClr val="0E7C86"/>
                </a:solidFill>
                <a:latin typeface="Calibri" pitchFamily="34" charset="0"/>
                <a:ea typeface="Calibri" pitchFamily="34" charset="-122"/>
                <a:cs typeface="Calibri" pitchFamily="34" charset="-120"/>
              </a:rPr>
              <a:t>Vai trò &amp; quyền (RBAC)
</a:t>
            </a:r>
            <a:endParaRPr lang="en-US" sz="1150" dirty="0"/>
          </a:p>
          <a:p>
            <a:pPr marL="0" indent="0" algn="l">
              <a:spcAft>
                <a:spcPts val="600"/>
              </a:spcAft>
              <a:buNone/>
            </a:pPr>
            <a:r>
              <a:rPr lang="en-US" sz="1100" dirty="0">
                <a:solidFill>
                  <a:srgbClr val="22303C"/>
                </a:solidFill>
                <a:latin typeface="Calibri" pitchFamily="34" charset="0"/>
                <a:ea typeface="Calibri" pitchFamily="34" charset="-122"/>
                <a:cs typeface="Calibri" pitchFamily="34" charset="-120"/>
              </a:rPr>
              <a:t>AuthRole · AuthPermission · AuthUserRole · AuthRolePermission
</a:t>
            </a:r>
            <a:endParaRPr lang="en-US" sz="1150" dirty="0"/>
          </a:p>
          <a:p>
            <a:pPr marL="0" indent="0" algn="l">
              <a:buNone/>
            </a:pPr>
            <a:r>
              <a:rPr lang="en-US" sz="1150" b="1" dirty="0">
                <a:solidFill>
                  <a:srgbClr val="0E7C86"/>
                </a:solidFill>
                <a:latin typeface="Calibri" pitchFamily="34" charset="0"/>
                <a:ea typeface="Calibri" pitchFamily="34" charset="-122"/>
                <a:cs typeface="Calibri" pitchFamily="34" charset="-120"/>
              </a:rPr>
              <a:t>Phiên &amp; bảo mật
</a:t>
            </a:r>
            <a:endParaRPr lang="en-US" sz="1150" dirty="0"/>
          </a:p>
          <a:p>
            <a:pPr marL="0" indent="0" algn="l">
              <a:spcAft>
                <a:spcPts val="600"/>
              </a:spcAft>
              <a:buNone/>
            </a:pPr>
            <a:r>
              <a:rPr lang="en-US" sz="1100" dirty="0">
                <a:solidFill>
                  <a:srgbClr val="22303C"/>
                </a:solidFill>
                <a:latin typeface="Calibri" pitchFamily="34" charset="0"/>
                <a:ea typeface="Calibri" pitchFamily="34" charset="-122"/>
                <a:cs typeface="Calibri" pitchFamily="34" charset="-120"/>
              </a:rPr>
              <a:t>AuthUserSession · AuthRefreshToken · AuthMfaSecret
</a:t>
            </a:r>
            <a:endParaRPr lang="en-US" sz="1150" dirty="0"/>
          </a:p>
          <a:p>
            <a:pPr marL="0" indent="0" algn="l">
              <a:buNone/>
            </a:pPr>
            <a:r>
              <a:rPr lang="en-US" sz="1150" b="1" dirty="0">
                <a:solidFill>
                  <a:srgbClr val="0E7C86"/>
                </a:solidFill>
                <a:latin typeface="Calibri" pitchFamily="34" charset="0"/>
                <a:ea typeface="Calibri" pitchFamily="34" charset="-122"/>
                <a:cs typeface="Calibri" pitchFamily="34" charset="-120"/>
              </a:rPr>
              <a:t>Xác minh &amp; nhật ký
</a:t>
            </a:r>
            <a:endParaRPr lang="en-US" sz="1150" dirty="0"/>
          </a:p>
          <a:p>
            <a:pPr marL="0" indent="0" algn="l">
              <a:buNone/>
            </a:pPr>
            <a:r>
              <a:rPr lang="en-US" sz="1100" dirty="0">
                <a:solidFill>
                  <a:srgbClr val="22303C"/>
                </a:solidFill>
                <a:latin typeface="Calibri" pitchFamily="34" charset="0"/>
                <a:ea typeface="Calibri" pitchFamily="34" charset="-122"/>
                <a:cs typeface="Calibri" pitchFamily="34" charset="-120"/>
              </a:rPr>
              <a:t>AuthEmailVerification · AuthPasswordReset · AuthAuditLog</a:t>
            </a:r>
            <a:endParaRPr lang="en-US" sz="1150" dirty="0"/>
          </a:p>
        </p:txBody>
      </p:sp>
    </p:spTree>
    <p:extLst>
      <p:ext uri="{BB962C8B-B14F-4D97-AF65-F5344CB8AC3E}">
        <p14:creationId xmlns:p14="http://schemas.microsoft.com/office/powerpoint/2010/main" val="748411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22960" y="1143000"/>
            <a:ext cx="3291840" cy="457200"/>
          </a:xfrm>
          <a:prstGeom prst="roundRect">
            <a:avLst>
              <a:gd name="adj" fmla="val 50000"/>
            </a:avLst>
          </a:prstGeom>
          <a:solidFill>
            <a:srgbClr val="0E7C86"/>
          </a:solidFill>
          <a:ln w="12700">
            <a:solidFill>
              <a:srgbClr val="0E7C86"/>
            </a:solidFill>
            <a:prstDash val="solid"/>
          </a:ln>
        </p:spPr>
      </p:sp>
      <p:sp>
        <p:nvSpPr>
          <p:cNvPr id="3" name="Text 1"/>
          <p:cNvSpPr/>
          <p:nvPr/>
        </p:nvSpPr>
        <p:spPr>
          <a:xfrm>
            <a:off x="822960" y="1143000"/>
            <a:ext cx="3291840" cy="457200"/>
          </a:xfrm>
          <a:prstGeom prst="rect">
            <a:avLst/>
          </a:prstGeom>
          <a:noFill/>
          <a:ln/>
        </p:spPr>
        <p:txBody>
          <a:bodyPr wrap="square"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PHẦN RIÊNG · CHƯƠNG 4</a:t>
            </a:r>
            <a:endParaRPr lang="en-US" sz="1300" dirty="0"/>
          </a:p>
        </p:txBody>
      </p:sp>
      <p:sp>
        <p:nvSpPr>
          <p:cNvPr id="4" name="Text 2"/>
          <p:cNvSpPr/>
          <p:nvPr/>
        </p:nvSpPr>
        <p:spPr>
          <a:xfrm>
            <a:off x="822960" y="1828800"/>
            <a:ext cx="10515600" cy="868680"/>
          </a:xfrm>
          <a:prstGeom prst="rect">
            <a:avLst/>
          </a:prstGeom>
          <a:noFill/>
          <a:ln/>
        </p:spPr>
        <p:txBody>
          <a:bodyPr wrap="square" rtlCol="0" anchor="ctr"/>
          <a:lstStyle/>
          <a:p>
            <a:pPr marL="0" indent="0" algn="l">
              <a:buNone/>
            </a:pPr>
            <a:r>
              <a:rPr lang="en-US" sz="4200" b="1" dirty="0">
                <a:solidFill>
                  <a:srgbClr val="FFFFFF"/>
                </a:solidFill>
                <a:latin typeface="Cambria" pitchFamily="34" charset="0"/>
                <a:ea typeface="Cambria" pitchFamily="34" charset="-122"/>
                <a:cs typeface="Cambria" pitchFamily="34" charset="-120"/>
              </a:rPr>
              <a:t>Phân hệ Quản lý tài sản</a:t>
            </a:r>
            <a:endParaRPr lang="en-US" sz="4200" dirty="0"/>
          </a:p>
        </p:txBody>
      </p:sp>
      <p:sp>
        <p:nvSpPr>
          <p:cNvPr id="5" name="Text 3"/>
          <p:cNvSpPr/>
          <p:nvPr/>
        </p:nvSpPr>
        <p:spPr>
          <a:xfrm>
            <a:off x="841248" y="2697480"/>
            <a:ext cx="10515600" cy="457200"/>
          </a:xfrm>
          <a:prstGeom prst="rect">
            <a:avLst/>
          </a:prstGeom>
          <a:noFill/>
          <a:ln/>
        </p:spPr>
        <p:txBody>
          <a:bodyPr wrap="square" rtlCol="0" anchor="ctr"/>
          <a:lstStyle/>
          <a:p>
            <a:pPr marL="0" indent="0" algn="l">
              <a:buNone/>
            </a:pPr>
            <a:r>
              <a:rPr lang="en-US" sz="1500" dirty="0">
                <a:solidFill>
                  <a:srgbClr val="BFD6DF"/>
                </a:solidFill>
                <a:latin typeface="Calibri" pitchFamily="34" charset="0"/>
                <a:ea typeface="Calibri" pitchFamily="34" charset="-122"/>
                <a:cs typeface="Calibri" pitchFamily="34" charset="-120"/>
              </a:rPr>
              <a:t>Đóng góp cá nhân — Nguyễn Xuân Thưởng · thuộc module Asset, kế thừa nền tảng Base</a:t>
            </a:r>
            <a:endParaRPr lang="en-US" sz="1500" dirty="0"/>
          </a:p>
        </p:txBody>
      </p:sp>
      <p:sp>
        <p:nvSpPr>
          <p:cNvPr id="6" name="Shape 4"/>
          <p:cNvSpPr/>
          <p:nvPr/>
        </p:nvSpPr>
        <p:spPr>
          <a:xfrm>
            <a:off x="822960" y="3520440"/>
            <a:ext cx="3035808" cy="2148840"/>
          </a:xfrm>
          <a:prstGeom prst="roundRect">
            <a:avLst>
              <a:gd name="adj" fmla="val 3404"/>
            </a:avLst>
          </a:prstGeom>
          <a:solidFill>
            <a:srgbClr val="16385C"/>
          </a:solidFill>
          <a:ln w="12700">
            <a:solidFill>
              <a:srgbClr val="2A557E"/>
            </a:solidFill>
            <a:prstDash val="solid"/>
          </a:ln>
        </p:spPr>
      </p:sp>
      <p:sp>
        <p:nvSpPr>
          <p:cNvPr id="7" name="Text 5"/>
          <p:cNvSpPr/>
          <p:nvPr/>
        </p:nvSpPr>
        <p:spPr>
          <a:xfrm>
            <a:off x="1024128" y="3675888"/>
            <a:ext cx="2651760" cy="292608"/>
          </a:xfrm>
          <a:prstGeom prst="rect">
            <a:avLst/>
          </a:prstGeom>
          <a:noFill/>
          <a:ln/>
        </p:spPr>
        <p:txBody>
          <a:bodyPr wrap="square" rtlCol="0" anchor="ctr"/>
          <a:lstStyle/>
          <a:p>
            <a:pPr marL="0" indent="0" algn="l">
              <a:buNone/>
            </a:pPr>
            <a:r>
              <a:rPr lang="en-US" sz="1100" b="1" kern="0" spc="100" dirty="0">
                <a:solidFill>
                  <a:srgbClr val="23B5A6"/>
                </a:solidFill>
                <a:latin typeface="Calibri" pitchFamily="34" charset="0"/>
                <a:ea typeface="Calibri" pitchFamily="34" charset="-122"/>
                <a:cs typeface="Calibri" pitchFamily="34" charset="-120"/>
              </a:rPr>
              <a:t>Nghiệp vụ 1</a:t>
            </a:r>
            <a:endParaRPr lang="en-US" sz="1100" dirty="0"/>
          </a:p>
        </p:txBody>
      </p:sp>
      <p:sp>
        <p:nvSpPr>
          <p:cNvPr id="8" name="Text 6"/>
          <p:cNvSpPr/>
          <p:nvPr/>
        </p:nvSpPr>
        <p:spPr>
          <a:xfrm>
            <a:off x="1024128" y="3986784"/>
            <a:ext cx="2651760" cy="457200"/>
          </a:xfrm>
          <a:prstGeom prst="rect">
            <a:avLst/>
          </a:prstGeom>
          <a:noFill/>
          <a:ln/>
        </p:spPr>
        <p:txBody>
          <a:bodyPr wrap="square"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Vòng đời tài sản</a:t>
            </a:r>
            <a:endParaRPr lang="en-US" sz="1800" dirty="0"/>
          </a:p>
        </p:txBody>
      </p:sp>
      <p:sp>
        <p:nvSpPr>
          <p:cNvPr id="9" name="Text 7"/>
          <p:cNvSpPr/>
          <p:nvPr/>
        </p:nvSpPr>
        <p:spPr>
          <a:xfrm>
            <a:off x="1024128" y="4526280"/>
            <a:ext cx="2651760" cy="1005840"/>
          </a:xfrm>
          <a:prstGeom prst="rect">
            <a:avLst/>
          </a:prstGeom>
          <a:noFill/>
          <a:ln/>
        </p:spPr>
        <p:txBody>
          <a:bodyPr wrap="square" rtlCol="0" anchor="t"/>
          <a:lstStyle/>
          <a:p>
            <a:pPr marL="0" indent="0" algn="l">
              <a:buNone/>
            </a:pPr>
            <a:r>
              <a:rPr lang="en-US" sz="1200" dirty="0">
                <a:solidFill>
                  <a:srgbClr val="CADCEC"/>
                </a:solidFill>
                <a:latin typeface="Calibri" pitchFamily="34" charset="0"/>
                <a:ea typeface="Calibri" pitchFamily="34" charset="-122"/>
                <a:cs typeface="Calibri" pitchFamily="34" charset="-120"/>
              </a:rPr>
              <a:t>Ghi tăng · QR · điều chuyển · khấu hao · thanh lý · kế toán</a:t>
            </a:r>
            <a:endParaRPr lang="en-US" sz="1200" dirty="0"/>
          </a:p>
        </p:txBody>
      </p:sp>
      <p:sp>
        <p:nvSpPr>
          <p:cNvPr id="10" name="Shape 8"/>
          <p:cNvSpPr/>
          <p:nvPr/>
        </p:nvSpPr>
        <p:spPr>
          <a:xfrm>
            <a:off x="4590288" y="3520440"/>
            <a:ext cx="3035808" cy="2148840"/>
          </a:xfrm>
          <a:prstGeom prst="roundRect">
            <a:avLst>
              <a:gd name="adj" fmla="val 3404"/>
            </a:avLst>
          </a:prstGeom>
          <a:solidFill>
            <a:srgbClr val="16385C"/>
          </a:solidFill>
          <a:ln w="12700">
            <a:solidFill>
              <a:srgbClr val="2A557E"/>
            </a:solidFill>
            <a:prstDash val="solid"/>
          </a:ln>
        </p:spPr>
      </p:sp>
      <p:sp>
        <p:nvSpPr>
          <p:cNvPr id="11" name="Text 9"/>
          <p:cNvSpPr/>
          <p:nvPr/>
        </p:nvSpPr>
        <p:spPr>
          <a:xfrm>
            <a:off x="4791456" y="3675888"/>
            <a:ext cx="2651760" cy="292608"/>
          </a:xfrm>
          <a:prstGeom prst="rect">
            <a:avLst/>
          </a:prstGeom>
          <a:noFill/>
          <a:ln/>
        </p:spPr>
        <p:txBody>
          <a:bodyPr wrap="square" rtlCol="0" anchor="ctr"/>
          <a:lstStyle/>
          <a:p>
            <a:pPr marL="0" indent="0" algn="l">
              <a:buNone/>
            </a:pPr>
            <a:r>
              <a:rPr lang="en-US" sz="1100" b="1" kern="0" spc="100" dirty="0">
                <a:solidFill>
                  <a:srgbClr val="23B5A6"/>
                </a:solidFill>
                <a:latin typeface="Calibri" pitchFamily="34" charset="0"/>
                <a:ea typeface="Calibri" pitchFamily="34" charset="-122"/>
                <a:cs typeface="Calibri" pitchFamily="34" charset="-120"/>
              </a:rPr>
              <a:t>Nghiệp vụ 2</a:t>
            </a:r>
            <a:endParaRPr lang="en-US" sz="1100" dirty="0"/>
          </a:p>
        </p:txBody>
      </p:sp>
      <p:sp>
        <p:nvSpPr>
          <p:cNvPr id="12" name="Text 10"/>
          <p:cNvSpPr/>
          <p:nvPr/>
        </p:nvSpPr>
        <p:spPr>
          <a:xfrm>
            <a:off x="4791456" y="3986784"/>
            <a:ext cx="2651760" cy="457200"/>
          </a:xfrm>
          <a:prstGeom prst="rect">
            <a:avLst/>
          </a:prstGeom>
          <a:noFill/>
          <a:ln/>
        </p:spPr>
        <p:txBody>
          <a:bodyPr wrap="square"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Bảo trì &amp; Sự cố</a:t>
            </a:r>
            <a:endParaRPr lang="en-US" sz="1800" dirty="0"/>
          </a:p>
        </p:txBody>
      </p:sp>
      <p:sp>
        <p:nvSpPr>
          <p:cNvPr id="13" name="Text 11"/>
          <p:cNvSpPr/>
          <p:nvPr/>
        </p:nvSpPr>
        <p:spPr>
          <a:xfrm>
            <a:off x="4791456" y="4526280"/>
            <a:ext cx="2651760" cy="1005840"/>
          </a:xfrm>
          <a:prstGeom prst="rect">
            <a:avLst/>
          </a:prstGeom>
          <a:noFill/>
          <a:ln/>
        </p:spPr>
        <p:txBody>
          <a:bodyPr wrap="square" rtlCol="0" anchor="t"/>
          <a:lstStyle/>
          <a:p>
            <a:pPr marL="0" indent="0" algn="l">
              <a:buNone/>
            </a:pPr>
            <a:r>
              <a:rPr lang="en-US" sz="1200" dirty="0">
                <a:solidFill>
                  <a:srgbClr val="CADCEC"/>
                </a:solidFill>
                <a:latin typeface="Calibri" pitchFamily="34" charset="0"/>
                <a:ea typeface="Calibri" pitchFamily="34" charset="-122"/>
                <a:cs typeface="Calibri" pitchFamily="34" charset="-120"/>
              </a:rPr>
              <a:t>Lịch PM · Work Order · ticket · SLA · leo thang · đánh giá</a:t>
            </a:r>
            <a:endParaRPr lang="en-US" sz="1200" dirty="0"/>
          </a:p>
        </p:txBody>
      </p:sp>
      <p:sp>
        <p:nvSpPr>
          <p:cNvPr id="14" name="Shape 12"/>
          <p:cNvSpPr/>
          <p:nvPr/>
        </p:nvSpPr>
        <p:spPr>
          <a:xfrm>
            <a:off x="8357616" y="3520440"/>
            <a:ext cx="3035808" cy="2148840"/>
          </a:xfrm>
          <a:prstGeom prst="roundRect">
            <a:avLst>
              <a:gd name="adj" fmla="val 3404"/>
            </a:avLst>
          </a:prstGeom>
          <a:solidFill>
            <a:srgbClr val="16385C"/>
          </a:solidFill>
          <a:ln w="12700">
            <a:solidFill>
              <a:srgbClr val="2A557E"/>
            </a:solidFill>
            <a:prstDash val="solid"/>
          </a:ln>
        </p:spPr>
      </p:sp>
      <p:sp>
        <p:nvSpPr>
          <p:cNvPr id="15" name="Text 13"/>
          <p:cNvSpPr/>
          <p:nvPr/>
        </p:nvSpPr>
        <p:spPr>
          <a:xfrm>
            <a:off x="8558784" y="3675888"/>
            <a:ext cx="2651760" cy="292608"/>
          </a:xfrm>
          <a:prstGeom prst="rect">
            <a:avLst/>
          </a:prstGeom>
          <a:noFill/>
          <a:ln/>
        </p:spPr>
        <p:txBody>
          <a:bodyPr wrap="square" rtlCol="0" anchor="ctr"/>
          <a:lstStyle/>
          <a:p>
            <a:pPr marL="0" indent="0" algn="l">
              <a:buNone/>
            </a:pPr>
            <a:r>
              <a:rPr lang="en-US" sz="1100" b="1" kern="0" spc="100" dirty="0">
                <a:solidFill>
                  <a:srgbClr val="23B5A6"/>
                </a:solidFill>
                <a:latin typeface="Calibri" pitchFamily="34" charset="0"/>
                <a:ea typeface="Calibri" pitchFamily="34" charset="-122"/>
                <a:cs typeface="Calibri" pitchFamily="34" charset="-120"/>
              </a:rPr>
              <a:t>Nghiệp vụ 3</a:t>
            </a:r>
            <a:endParaRPr lang="en-US" sz="1100" dirty="0"/>
          </a:p>
        </p:txBody>
      </p:sp>
      <p:sp>
        <p:nvSpPr>
          <p:cNvPr id="16" name="Text 14"/>
          <p:cNvSpPr/>
          <p:nvPr/>
        </p:nvSpPr>
        <p:spPr>
          <a:xfrm>
            <a:off x="8558784" y="3986784"/>
            <a:ext cx="2651760" cy="457200"/>
          </a:xfrm>
          <a:prstGeom prst="rect">
            <a:avLst/>
          </a:prstGeom>
          <a:noFill/>
          <a:ln/>
        </p:spPr>
        <p:txBody>
          <a:bodyPr wrap="square"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Mua sắm &amp; Kho</a:t>
            </a:r>
            <a:endParaRPr lang="en-US" sz="1800" dirty="0"/>
          </a:p>
        </p:txBody>
      </p:sp>
      <p:sp>
        <p:nvSpPr>
          <p:cNvPr id="17" name="Text 15"/>
          <p:cNvSpPr/>
          <p:nvPr/>
        </p:nvSpPr>
        <p:spPr>
          <a:xfrm>
            <a:off x="8558784" y="4526280"/>
            <a:ext cx="2651760" cy="1005840"/>
          </a:xfrm>
          <a:prstGeom prst="rect">
            <a:avLst/>
          </a:prstGeom>
          <a:noFill/>
          <a:ln/>
        </p:spPr>
        <p:txBody>
          <a:bodyPr wrap="square" rtlCol="0" anchor="t"/>
          <a:lstStyle/>
          <a:p>
            <a:pPr marL="0" indent="0" algn="l">
              <a:buNone/>
            </a:pPr>
            <a:r>
              <a:rPr lang="en-US" sz="1200" dirty="0">
                <a:solidFill>
                  <a:srgbClr val="CADCEC"/>
                </a:solidFill>
                <a:latin typeface="Calibri" pitchFamily="34" charset="0"/>
                <a:ea typeface="Calibri" pitchFamily="34" charset="-122"/>
                <a:cs typeface="Calibri" pitchFamily="34" charset="-120"/>
              </a:rPr>
              <a:t>Kho · vật tư · NCC · PR→PO→hóa đơn · OCR · kiểm kê</a:t>
            </a:r>
            <a:endParaRPr lang="en-US" sz="1200" dirty="0"/>
          </a:p>
        </p:txBody>
      </p:sp>
      <p:sp>
        <p:nvSpPr>
          <p:cNvPr id="18" name="Text 16"/>
          <p:cNvSpPr/>
          <p:nvPr/>
        </p:nvSpPr>
        <p:spPr>
          <a:xfrm>
            <a:off x="822960" y="5870448"/>
            <a:ext cx="10515600" cy="502920"/>
          </a:xfrm>
          <a:prstGeom prst="rect">
            <a:avLst/>
          </a:prstGeom>
          <a:noFill/>
          <a:ln/>
        </p:spPr>
        <p:txBody>
          <a:bodyPr wrap="square" rtlCol="0" anchor="ctr"/>
          <a:lstStyle/>
          <a:p>
            <a:pPr marL="0" indent="0" algn="l">
              <a:buNone/>
            </a:pPr>
            <a:r>
              <a:rPr lang="en-US" sz="1250" i="1" dirty="0">
                <a:solidFill>
                  <a:srgbClr val="8FB0C8"/>
                </a:solidFill>
                <a:latin typeface="Calibri" pitchFamily="34" charset="0"/>
                <a:ea typeface="Calibri" pitchFamily="34" charset="-122"/>
                <a:cs typeface="Calibri" pitchFamily="34" charset="-120"/>
              </a:rPr>
              <a:t>Trình bày theo dòng nghiệp vụ chuẩn — ba nhóm liên thông: tài sản ghi tăng &amp; theo dõi vòng đời → bảo trì/sự cố xuất dùng vật tư → mua sắm nhập kho bù vật tư.</a:t>
            </a:r>
            <a:endParaRPr lang="en-US" sz="1250" dirty="0"/>
          </a:p>
        </p:txBody>
      </p:sp>
    </p:spTree>
    <p:extLst>
      <p:ext uri="{BB962C8B-B14F-4D97-AF65-F5344CB8AC3E}">
        <p14:creationId xmlns:p14="http://schemas.microsoft.com/office/powerpoint/2010/main" val="509117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10789920" cy="27432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4.1 · VÒNG ĐỜI TÀI SẢN</a:t>
            </a:r>
            <a:endParaRPr lang="en-US" sz="1200" dirty="0"/>
          </a:p>
        </p:txBody>
      </p:sp>
      <p:sp>
        <p:nvSpPr>
          <p:cNvPr id="3" name="Text 1"/>
          <p:cNvSpPr/>
          <p:nvPr/>
        </p:nvSpPr>
        <p:spPr>
          <a:xfrm>
            <a:off x="457200" y="530352"/>
            <a:ext cx="10972800" cy="548640"/>
          </a:xfrm>
          <a:prstGeom prst="rect">
            <a:avLst/>
          </a:prstGeom>
          <a:noFill/>
          <a:ln/>
        </p:spPr>
        <p:txBody>
          <a:bodyPr wrap="square" rtlCol="0" anchor="ctr"/>
          <a:lstStyle/>
          <a:p>
            <a:pPr marL="0" indent="0" algn="l">
              <a:buNone/>
            </a:pPr>
            <a:r>
              <a:rPr lang="en-US" sz="2500" b="1" dirty="0">
                <a:solidFill>
                  <a:srgbClr val="0E2A47"/>
                </a:solidFill>
                <a:latin typeface="Cambria" pitchFamily="34" charset="0"/>
                <a:ea typeface="Cambria" pitchFamily="34" charset="-122"/>
                <a:cs typeface="Cambria" pitchFamily="34" charset="-120"/>
              </a:rPr>
              <a:t>Quản lý trọn vòng đời tài sản &amp; khấu hao</a:t>
            </a:r>
            <a:endParaRPr lang="en-US" sz="2500" dirty="0"/>
          </a:p>
        </p:txBody>
      </p:sp>
      <p:sp>
        <p:nvSpPr>
          <p:cNvPr id="4" name="Text 2"/>
          <p:cNvSpPr/>
          <p:nvPr/>
        </p:nvSpPr>
        <p:spPr>
          <a:xfrm>
            <a:off x="457200" y="6455664"/>
            <a:ext cx="7315200" cy="292608"/>
          </a:xfrm>
          <a:prstGeom prst="rect">
            <a:avLst/>
          </a:prstGeom>
          <a:noFill/>
          <a:ln/>
        </p:spPr>
        <p:txBody>
          <a:bodyPr wrap="square"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5" name="Text 3"/>
          <p:cNvSpPr/>
          <p:nvPr/>
        </p:nvSpPr>
        <p:spPr>
          <a:xfrm>
            <a:off x="5029200" y="6455664"/>
            <a:ext cx="6702552" cy="292608"/>
          </a:xfrm>
          <a:prstGeom prst="rect">
            <a:avLst/>
          </a:prstGeom>
          <a:noFill/>
          <a:ln/>
        </p:spPr>
        <p:txBody>
          <a:bodyPr wrap="square"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6" name="Text 4"/>
          <p:cNvSpPr/>
          <p:nvPr/>
        </p:nvSpPr>
        <p:spPr>
          <a:xfrm>
            <a:off x="11475720" y="256032"/>
            <a:ext cx="457200" cy="365760"/>
          </a:xfrm>
          <a:prstGeom prst="rect">
            <a:avLst/>
          </a:prstGeom>
          <a:noFill/>
          <a:ln/>
        </p:spPr>
        <p:txBody>
          <a:bodyPr wrap="square" rtlCol="0" anchor="ctr"/>
          <a:lstStyle/>
          <a:p>
            <a:pPr marL="0" indent="0" algn="r">
              <a:buNone/>
            </a:pPr>
            <a:r>
              <a:rPr lang="en-US" sz="1300" b="1" dirty="0">
                <a:solidFill>
                  <a:srgbClr val="CBDAE4"/>
                </a:solidFill>
                <a:latin typeface="Cambria" pitchFamily="34" charset="0"/>
                <a:ea typeface="Cambria" pitchFamily="34" charset="-122"/>
                <a:cs typeface="Cambria" pitchFamily="34" charset="-120"/>
              </a:rPr>
              <a:t>17</a:t>
            </a:r>
            <a:endParaRPr lang="en-US" sz="1300" dirty="0"/>
          </a:p>
        </p:txBody>
      </p:sp>
      <p:sp>
        <p:nvSpPr>
          <p:cNvPr id="7" name="Shape 5"/>
          <p:cNvSpPr/>
          <p:nvPr/>
        </p:nvSpPr>
        <p:spPr>
          <a:xfrm>
            <a:off x="457200" y="1188720"/>
            <a:ext cx="11292840" cy="2569464"/>
          </a:xfrm>
          <a:prstGeom prst="roundRect">
            <a:avLst>
              <a:gd name="adj" fmla="val 2135"/>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8" name="Image 0" descr="C:\Users\ADMIN\AppData\Local\Temp\claude\D--DATN-TownHub\2a20fba2-0cd4-4668-a5dd-e0d1f8301abd\scratchpad\assets\fig_flow_asset.png"/>
          <p:cNvPicPr>
            <a:picLocks noChangeAspect="1"/>
          </p:cNvPicPr>
          <p:nvPr/>
        </p:nvPicPr>
        <p:blipFill>
          <a:blip r:embed="rId3"/>
          <a:stretch>
            <a:fillRect/>
          </a:stretch>
        </p:blipFill>
        <p:spPr>
          <a:xfrm>
            <a:off x="2179674" y="1280160"/>
            <a:ext cx="7847892" cy="2386584"/>
          </a:xfrm>
          <a:prstGeom prst="rect">
            <a:avLst/>
          </a:prstGeom>
        </p:spPr>
      </p:pic>
      <p:sp>
        <p:nvSpPr>
          <p:cNvPr id="9" name="Text 6"/>
          <p:cNvSpPr/>
          <p:nvPr/>
        </p:nvSpPr>
        <p:spPr>
          <a:xfrm>
            <a:off x="457200" y="3776472"/>
            <a:ext cx="11292840" cy="310896"/>
          </a:xfrm>
          <a:prstGeom prst="rect">
            <a:avLst/>
          </a:prstGeom>
          <a:noFill/>
          <a:ln/>
        </p:spPr>
        <p:txBody>
          <a:bodyPr wrap="square" rtlCol="0" anchor="ctr"/>
          <a:lstStyle/>
          <a:p>
            <a:pPr marL="0" indent="0" algn="ctr">
              <a:buNone/>
            </a:pPr>
            <a:r>
              <a:rPr lang="en-US" sz="1050" i="1" dirty="0">
                <a:solidFill>
                  <a:srgbClr val="6B7A88"/>
                </a:solidFill>
                <a:latin typeface="Calibri" pitchFamily="34" charset="0"/>
                <a:ea typeface="Calibri" pitchFamily="34" charset="-122"/>
                <a:cs typeface="Calibri" pitchFamily="34" charset="-120"/>
              </a:rPr>
              <a:t>Hình 4.8 — Sơ đồ luồng vòng đời tài sản &amp; kế toán (ghi tăng → khấu hao → thanh lý)</a:t>
            </a:r>
            <a:endParaRPr lang="en-US" sz="1050" dirty="0"/>
          </a:p>
        </p:txBody>
      </p:sp>
      <p:sp>
        <p:nvSpPr>
          <p:cNvPr id="10" name="Shape 7"/>
          <p:cNvSpPr/>
          <p:nvPr/>
        </p:nvSpPr>
        <p:spPr>
          <a:xfrm>
            <a:off x="457200" y="4251960"/>
            <a:ext cx="3931920" cy="1828800"/>
          </a:xfrm>
          <a:prstGeom prst="roundRect">
            <a:avLst>
              <a:gd name="adj" fmla="val 3000"/>
            </a:avLst>
          </a:prstGeom>
          <a:solidFill>
            <a:srgbClr val="F1F5F8"/>
          </a:solidFill>
          <a:ln w="12700">
            <a:solidFill>
              <a:srgbClr val="CBDAE4"/>
            </a:solidFill>
            <a:prstDash val="solid"/>
          </a:ln>
        </p:spPr>
      </p:sp>
      <p:sp>
        <p:nvSpPr>
          <p:cNvPr id="11" name="Text 8"/>
          <p:cNvSpPr/>
          <p:nvPr/>
        </p:nvSpPr>
        <p:spPr>
          <a:xfrm>
            <a:off x="621792" y="4352544"/>
            <a:ext cx="3602736" cy="292608"/>
          </a:xfrm>
          <a:prstGeom prst="rect">
            <a:avLst/>
          </a:prstGeom>
          <a:noFill/>
          <a:ln/>
        </p:spPr>
        <p:txBody>
          <a:bodyPr wrap="square" rtlCol="0" anchor="ctr"/>
          <a:lstStyle/>
          <a:p>
            <a:pPr marL="0" indent="0" algn="l">
              <a:buNone/>
            </a:pPr>
            <a:r>
              <a:rPr lang="en-US" sz="1300" b="1" dirty="0">
                <a:solidFill>
                  <a:srgbClr val="EFA13C"/>
                </a:solidFill>
                <a:latin typeface="Cambria" pitchFamily="34" charset="0"/>
                <a:ea typeface="Cambria" pitchFamily="34" charset="-122"/>
                <a:cs typeface="Cambria" pitchFamily="34" charset="-120"/>
              </a:rPr>
              <a:t>Khấu hao &amp; mã QR</a:t>
            </a:r>
            <a:endParaRPr lang="en-US" sz="1300" dirty="0"/>
          </a:p>
        </p:txBody>
      </p:sp>
      <p:sp>
        <p:nvSpPr>
          <p:cNvPr id="12" name="Text 9"/>
          <p:cNvSpPr/>
          <p:nvPr/>
        </p:nvSpPr>
        <p:spPr>
          <a:xfrm>
            <a:off x="603504" y="4672584"/>
            <a:ext cx="3639312" cy="1298448"/>
          </a:xfrm>
          <a:prstGeom prst="rect">
            <a:avLst/>
          </a:prstGeom>
          <a:noFill/>
          <a:ln/>
        </p:spPr>
        <p:txBody>
          <a:bodyPr wrap="square" rtlCol="0" anchor="t"/>
          <a:lstStyle/>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Đường thẳng: nguyên giá / số kỳ khấu hao</a:t>
            </a:r>
            <a:endParaRPr lang="en-US" sz="1200" dirty="0"/>
          </a:p>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Số dư giảm dần: khấu hao nhanh giai đoạn đầu</a:t>
            </a:r>
            <a:endParaRPr lang="en-US" sz="1200" dirty="0"/>
          </a:p>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Mã QR tự sinh mỗi tài sản — quét check-in &amp; kiểm kê hiện trường</a:t>
            </a:r>
            <a:endParaRPr lang="en-US" sz="1200" dirty="0"/>
          </a:p>
        </p:txBody>
      </p:sp>
      <p:sp>
        <p:nvSpPr>
          <p:cNvPr id="13" name="Text 10"/>
          <p:cNvSpPr/>
          <p:nvPr/>
        </p:nvSpPr>
        <p:spPr>
          <a:xfrm>
            <a:off x="4572000" y="4297680"/>
            <a:ext cx="3794760" cy="1828800"/>
          </a:xfrm>
          <a:prstGeom prst="rect">
            <a:avLst/>
          </a:prstGeom>
          <a:noFill/>
          <a:ln/>
        </p:spPr>
        <p:txBody>
          <a:bodyPr wrap="square" rtlCol="0" anchor="t"/>
          <a:lstStyle/>
          <a:p>
            <a:pPr marL="177800" indent="-177800" algn="l">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assets là trung tâm: nguyên giá, phương pháp khấu hao, hao mòn luỹ kế, giá trị còn lại.</a:t>
            </a:r>
            <a:endParaRPr lang="en-US" sz="1250" dirty="0"/>
          </a:p>
          <a:p>
            <a:pPr marL="177800" indent="-177800" algn="l">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Danh mục loại · vị trí · điều chuyển (có thể gắn Work Order).</a:t>
            </a:r>
            <a:endParaRPr lang="en-US" sz="1250" dirty="0"/>
          </a:p>
          <a:p>
            <a:pPr marL="177800" indent="-177800" algn="l">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Mọi biến động sinh chứng từ kế toán kèm định khoản Nợ/Có.</a:t>
            </a:r>
            <a:endParaRPr lang="en-US" sz="1250" dirty="0"/>
          </a:p>
        </p:txBody>
      </p:sp>
      <p:sp>
        <p:nvSpPr>
          <p:cNvPr id="14" name="Shape 11"/>
          <p:cNvSpPr/>
          <p:nvPr/>
        </p:nvSpPr>
        <p:spPr>
          <a:xfrm>
            <a:off x="8549640" y="4251960"/>
            <a:ext cx="3200400" cy="1517904"/>
          </a:xfrm>
          <a:prstGeom prst="roundRect">
            <a:avLst>
              <a:gd name="adj" fmla="val 3614"/>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15" name="Image 1" descr="C:\Users\ADMIN\AppData\Local\Temp\claude\D--DATN-TownHub\2a20fba2-0cd4-4668-a5dd-e0d1f8301abd\scratchpad\assets\fig_state_asset.png"/>
          <p:cNvPicPr>
            <a:picLocks noChangeAspect="1"/>
          </p:cNvPicPr>
          <p:nvPr/>
        </p:nvPicPr>
        <p:blipFill>
          <a:blip r:embed="rId4"/>
          <a:stretch>
            <a:fillRect/>
          </a:stretch>
        </p:blipFill>
        <p:spPr>
          <a:xfrm>
            <a:off x="9100538" y="4343400"/>
            <a:ext cx="2098605" cy="1335024"/>
          </a:xfrm>
          <a:prstGeom prst="rect">
            <a:avLst/>
          </a:prstGeom>
        </p:spPr>
      </p:pic>
      <p:sp>
        <p:nvSpPr>
          <p:cNvPr id="16" name="Text 12"/>
          <p:cNvSpPr/>
          <p:nvPr/>
        </p:nvSpPr>
        <p:spPr>
          <a:xfrm>
            <a:off x="8549640" y="5788152"/>
            <a:ext cx="3200400" cy="310896"/>
          </a:xfrm>
          <a:prstGeom prst="rect">
            <a:avLst/>
          </a:prstGeom>
          <a:noFill/>
          <a:ln/>
        </p:spPr>
        <p:txBody>
          <a:bodyPr wrap="square" rtlCol="0" anchor="ctr"/>
          <a:lstStyle/>
          <a:p>
            <a:pPr marL="0" indent="0" algn="ctr">
              <a:buNone/>
            </a:pPr>
            <a:r>
              <a:rPr lang="en-US" sz="1050" i="1" dirty="0">
                <a:solidFill>
                  <a:srgbClr val="6B7A88"/>
                </a:solidFill>
                <a:latin typeface="Calibri" pitchFamily="34" charset="0"/>
                <a:ea typeface="Calibri" pitchFamily="34" charset="-122"/>
                <a:cs typeface="Calibri" pitchFamily="34" charset="-120"/>
              </a:rPr>
              <a:t>Hình 4.10 — Trạng thái vòng đời tài sản</a:t>
            </a:r>
            <a:endParaRPr lang="en-US" sz="1050" dirty="0"/>
          </a:p>
        </p:txBody>
      </p:sp>
    </p:spTree>
    <p:extLst>
      <p:ext uri="{BB962C8B-B14F-4D97-AF65-F5344CB8AC3E}">
        <p14:creationId xmlns:p14="http://schemas.microsoft.com/office/powerpoint/2010/main" val="3705500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10789920" cy="27432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4.1 · VÒNG ĐỜI TÀI SẢN</a:t>
            </a:r>
            <a:endParaRPr lang="en-US" sz="1200" dirty="0"/>
          </a:p>
        </p:txBody>
      </p:sp>
      <p:sp>
        <p:nvSpPr>
          <p:cNvPr id="3" name="Text 1"/>
          <p:cNvSpPr/>
          <p:nvPr/>
        </p:nvSpPr>
        <p:spPr>
          <a:xfrm>
            <a:off x="457200" y="530352"/>
            <a:ext cx="10972800" cy="548640"/>
          </a:xfrm>
          <a:prstGeom prst="rect">
            <a:avLst/>
          </a:prstGeom>
          <a:noFill/>
          <a:ln/>
        </p:spPr>
        <p:txBody>
          <a:bodyPr wrap="square" rtlCol="0" anchor="ctr"/>
          <a:lstStyle/>
          <a:p>
            <a:pPr marL="0" indent="0" algn="l">
              <a:buNone/>
            </a:pPr>
            <a:r>
              <a:rPr lang="en-US" sz="2500" b="1" dirty="0">
                <a:solidFill>
                  <a:srgbClr val="0E2A47"/>
                </a:solidFill>
                <a:latin typeface="Cambria" pitchFamily="34" charset="0"/>
                <a:ea typeface="Cambria" pitchFamily="34" charset="-122"/>
                <a:cs typeface="Cambria" pitchFamily="34" charset="-120"/>
              </a:rPr>
              <a:t>Tích hợp kế toán — luôn khớp sổ (Thông tư 200)</a:t>
            </a:r>
            <a:endParaRPr lang="en-US" sz="2500" dirty="0"/>
          </a:p>
        </p:txBody>
      </p:sp>
      <p:sp>
        <p:nvSpPr>
          <p:cNvPr id="4" name="Text 2"/>
          <p:cNvSpPr/>
          <p:nvPr/>
        </p:nvSpPr>
        <p:spPr>
          <a:xfrm>
            <a:off x="457200" y="6455664"/>
            <a:ext cx="7315200" cy="292608"/>
          </a:xfrm>
          <a:prstGeom prst="rect">
            <a:avLst/>
          </a:prstGeom>
          <a:noFill/>
          <a:ln/>
        </p:spPr>
        <p:txBody>
          <a:bodyPr wrap="square"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5" name="Text 3"/>
          <p:cNvSpPr/>
          <p:nvPr/>
        </p:nvSpPr>
        <p:spPr>
          <a:xfrm>
            <a:off x="5029200" y="6455664"/>
            <a:ext cx="6702552" cy="292608"/>
          </a:xfrm>
          <a:prstGeom prst="rect">
            <a:avLst/>
          </a:prstGeom>
          <a:noFill/>
          <a:ln/>
        </p:spPr>
        <p:txBody>
          <a:bodyPr wrap="square"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6" name="Text 4"/>
          <p:cNvSpPr/>
          <p:nvPr/>
        </p:nvSpPr>
        <p:spPr>
          <a:xfrm>
            <a:off x="11475720" y="256032"/>
            <a:ext cx="457200" cy="365760"/>
          </a:xfrm>
          <a:prstGeom prst="rect">
            <a:avLst/>
          </a:prstGeom>
          <a:noFill/>
          <a:ln/>
        </p:spPr>
        <p:txBody>
          <a:bodyPr wrap="square" rtlCol="0" anchor="ctr"/>
          <a:lstStyle/>
          <a:p>
            <a:pPr marL="0" indent="0" algn="r">
              <a:buNone/>
            </a:pPr>
            <a:r>
              <a:rPr lang="en-US" sz="1300" b="1" dirty="0">
                <a:solidFill>
                  <a:srgbClr val="CBDAE4"/>
                </a:solidFill>
                <a:latin typeface="Cambria" pitchFamily="34" charset="0"/>
                <a:ea typeface="Cambria" pitchFamily="34" charset="-122"/>
                <a:cs typeface="Cambria" pitchFamily="34" charset="-120"/>
              </a:rPr>
              <a:t>18</a:t>
            </a:r>
            <a:endParaRPr lang="en-US" sz="1300" dirty="0"/>
          </a:p>
        </p:txBody>
      </p:sp>
      <p:sp>
        <p:nvSpPr>
          <p:cNvPr id="7" name="Shape 5"/>
          <p:cNvSpPr/>
          <p:nvPr/>
        </p:nvSpPr>
        <p:spPr>
          <a:xfrm>
            <a:off x="457200" y="1234440"/>
            <a:ext cx="2194560" cy="1417320"/>
          </a:xfrm>
          <a:prstGeom prst="roundRect">
            <a:avLst>
              <a:gd name="adj" fmla="val 3871"/>
            </a:avLst>
          </a:prstGeom>
          <a:solidFill>
            <a:srgbClr val="0E2A47"/>
          </a:solidFill>
          <a:ln w="12700">
            <a:solidFill>
              <a:srgbClr val="0E2A47"/>
            </a:solidFill>
            <a:prstDash val="solid"/>
          </a:ln>
        </p:spPr>
      </p:sp>
      <p:sp>
        <p:nvSpPr>
          <p:cNvPr id="8" name="Text 6"/>
          <p:cNvSpPr/>
          <p:nvPr/>
        </p:nvSpPr>
        <p:spPr>
          <a:xfrm>
            <a:off x="457200" y="1335024"/>
            <a:ext cx="2194560" cy="329184"/>
          </a:xfrm>
          <a:prstGeom prst="rect">
            <a:avLst/>
          </a:prstGeom>
          <a:noFill/>
          <a:ln/>
        </p:spPr>
        <p:txBody>
          <a:bodyPr wrap="square" rtlCol="0" anchor="ctr"/>
          <a:lstStyle/>
          <a:p>
            <a:pPr marL="0" indent="0" algn="ctr">
              <a:buNone/>
            </a:pPr>
            <a:r>
              <a:rPr lang="en-US" sz="1400" b="1" dirty="0">
                <a:solidFill>
                  <a:srgbClr val="23B5A6"/>
                </a:solidFill>
                <a:latin typeface="Cambria" pitchFamily="34" charset="0"/>
                <a:ea typeface="Cambria" pitchFamily="34" charset="-122"/>
                <a:cs typeface="Cambria" pitchFamily="34" charset="-120"/>
              </a:rPr>
              <a:t>Ghi tăng</a:t>
            </a:r>
            <a:endParaRPr lang="en-US" sz="1400" dirty="0"/>
          </a:p>
        </p:txBody>
      </p:sp>
      <p:sp>
        <p:nvSpPr>
          <p:cNvPr id="9" name="Text 7"/>
          <p:cNvSpPr/>
          <p:nvPr/>
        </p:nvSpPr>
        <p:spPr>
          <a:xfrm>
            <a:off x="457200" y="1737360"/>
            <a:ext cx="2194560" cy="82296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Nợ 211 / 213</a:t>
            </a:r>
            <a:endParaRPr lang="en-US" sz="1350" dirty="0"/>
          </a:p>
          <a:p>
            <a:pPr marL="0" indent="0" algn="ctr">
              <a:buNone/>
            </a:pPr>
            <a:r>
              <a:rPr lang="en-US" sz="1350" b="1" dirty="0">
                <a:solidFill>
                  <a:srgbClr val="BFD6DF"/>
                </a:solidFill>
                <a:latin typeface="Calibri" pitchFamily="34" charset="0"/>
                <a:ea typeface="Calibri" pitchFamily="34" charset="-122"/>
                <a:cs typeface="Calibri" pitchFamily="34" charset="-120"/>
              </a:rPr>
              <a:t>Có 111 / 112</a:t>
            </a:r>
            <a:endParaRPr lang="en-US" sz="1350" dirty="0"/>
          </a:p>
        </p:txBody>
      </p:sp>
      <p:sp>
        <p:nvSpPr>
          <p:cNvPr id="10" name="Shape 8"/>
          <p:cNvSpPr/>
          <p:nvPr/>
        </p:nvSpPr>
        <p:spPr>
          <a:xfrm>
            <a:off x="2788920" y="1234440"/>
            <a:ext cx="2194560" cy="1417320"/>
          </a:xfrm>
          <a:prstGeom prst="roundRect">
            <a:avLst>
              <a:gd name="adj" fmla="val 3871"/>
            </a:avLst>
          </a:prstGeom>
          <a:solidFill>
            <a:srgbClr val="0E2A47"/>
          </a:solidFill>
          <a:ln w="12700">
            <a:solidFill>
              <a:srgbClr val="0E2A47"/>
            </a:solidFill>
            <a:prstDash val="solid"/>
          </a:ln>
        </p:spPr>
      </p:sp>
      <p:sp>
        <p:nvSpPr>
          <p:cNvPr id="11" name="Text 9"/>
          <p:cNvSpPr/>
          <p:nvPr/>
        </p:nvSpPr>
        <p:spPr>
          <a:xfrm>
            <a:off x="2788920" y="1335024"/>
            <a:ext cx="2194560" cy="329184"/>
          </a:xfrm>
          <a:prstGeom prst="rect">
            <a:avLst/>
          </a:prstGeom>
          <a:noFill/>
          <a:ln/>
        </p:spPr>
        <p:txBody>
          <a:bodyPr wrap="square" rtlCol="0" anchor="ctr"/>
          <a:lstStyle/>
          <a:p>
            <a:pPr marL="0" indent="0" algn="ctr">
              <a:buNone/>
            </a:pPr>
            <a:r>
              <a:rPr lang="en-US" sz="1400" b="1" dirty="0">
                <a:solidFill>
                  <a:srgbClr val="23B5A6"/>
                </a:solidFill>
                <a:latin typeface="Cambria" pitchFamily="34" charset="0"/>
                <a:ea typeface="Cambria" pitchFamily="34" charset="-122"/>
                <a:cs typeface="Cambria" pitchFamily="34" charset="-120"/>
              </a:rPr>
              <a:t>Khấu hao kỳ</a:t>
            </a:r>
            <a:endParaRPr lang="en-US" sz="1400" dirty="0"/>
          </a:p>
        </p:txBody>
      </p:sp>
      <p:sp>
        <p:nvSpPr>
          <p:cNvPr id="12" name="Text 10"/>
          <p:cNvSpPr/>
          <p:nvPr/>
        </p:nvSpPr>
        <p:spPr>
          <a:xfrm>
            <a:off x="2788920" y="1737360"/>
            <a:ext cx="2194560" cy="82296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Nợ 642</a:t>
            </a:r>
            <a:endParaRPr lang="en-US" sz="1350" dirty="0"/>
          </a:p>
          <a:p>
            <a:pPr marL="0" indent="0" algn="ctr">
              <a:buNone/>
            </a:pPr>
            <a:r>
              <a:rPr lang="en-US" sz="1350" b="1" dirty="0">
                <a:solidFill>
                  <a:srgbClr val="BFD6DF"/>
                </a:solidFill>
                <a:latin typeface="Calibri" pitchFamily="34" charset="0"/>
                <a:ea typeface="Calibri" pitchFamily="34" charset="-122"/>
                <a:cs typeface="Calibri" pitchFamily="34" charset="-120"/>
              </a:rPr>
              <a:t>Có 2141 / 2143</a:t>
            </a:r>
            <a:endParaRPr lang="en-US" sz="1350" dirty="0"/>
          </a:p>
        </p:txBody>
      </p:sp>
      <p:sp>
        <p:nvSpPr>
          <p:cNvPr id="13" name="Shape 11"/>
          <p:cNvSpPr/>
          <p:nvPr/>
        </p:nvSpPr>
        <p:spPr>
          <a:xfrm>
            <a:off x="5120640" y="1234440"/>
            <a:ext cx="2194560" cy="1417320"/>
          </a:xfrm>
          <a:prstGeom prst="roundRect">
            <a:avLst>
              <a:gd name="adj" fmla="val 3871"/>
            </a:avLst>
          </a:prstGeom>
          <a:solidFill>
            <a:srgbClr val="0E2A47"/>
          </a:solidFill>
          <a:ln w="12700">
            <a:solidFill>
              <a:srgbClr val="0E2A47"/>
            </a:solidFill>
            <a:prstDash val="solid"/>
          </a:ln>
        </p:spPr>
      </p:sp>
      <p:sp>
        <p:nvSpPr>
          <p:cNvPr id="14" name="Text 12"/>
          <p:cNvSpPr/>
          <p:nvPr/>
        </p:nvSpPr>
        <p:spPr>
          <a:xfrm>
            <a:off x="5120640" y="1335024"/>
            <a:ext cx="2194560" cy="329184"/>
          </a:xfrm>
          <a:prstGeom prst="rect">
            <a:avLst/>
          </a:prstGeom>
          <a:noFill/>
          <a:ln/>
        </p:spPr>
        <p:txBody>
          <a:bodyPr wrap="square" rtlCol="0" anchor="ctr"/>
          <a:lstStyle/>
          <a:p>
            <a:pPr marL="0" indent="0" algn="ctr">
              <a:buNone/>
            </a:pPr>
            <a:r>
              <a:rPr lang="en-US" sz="1400" b="1" dirty="0">
                <a:solidFill>
                  <a:srgbClr val="23B5A6"/>
                </a:solidFill>
                <a:latin typeface="Cambria" pitchFamily="34" charset="0"/>
                <a:ea typeface="Cambria" pitchFamily="34" charset="-122"/>
                <a:cs typeface="Cambria" pitchFamily="34" charset="-120"/>
              </a:rPr>
              <a:t>Thanh lý</a:t>
            </a:r>
            <a:endParaRPr lang="en-US" sz="1400" dirty="0"/>
          </a:p>
        </p:txBody>
      </p:sp>
      <p:sp>
        <p:nvSpPr>
          <p:cNvPr id="15" name="Text 13"/>
          <p:cNvSpPr/>
          <p:nvPr/>
        </p:nvSpPr>
        <p:spPr>
          <a:xfrm>
            <a:off x="5120640" y="1737360"/>
            <a:ext cx="2194560" cy="82296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Nợ 2141 + 811</a:t>
            </a:r>
            <a:endParaRPr lang="en-US" sz="1350" dirty="0"/>
          </a:p>
          <a:p>
            <a:pPr marL="0" indent="0" algn="ctr">
              <a:buNone/>
            </a:pPr>
            <a:r>
              <a:rPr lang="en-US" sz="1350" b="1" dirty="0">
                <a:solidFill>
                  <a:srgbClr val="BFD6DF"/>
                </a:solidFill>
                <a:latin typeface="Calibri" pitchFamily="34" charset="0"/>
                <a:ea typeface="Calibri" pitchFamily="34" charset="-122"/>
                <a:cs typeface="Calibri" pitchFamily="34" charset="-120"/>
              </a:rPr>
              <a:t>Có 211</a:t>
            </a:r>
            <a:endParaRPr lang="en-US" sz="1350" dirty="0"/>
          </a:p>
        </p:txBody>
      </p:sp>
      <p:sp>
        <p:nvSpPr>
          <p:cNvPr id="16" name="Text 14"/>
          <p:cNvSpPr/>
          <p:nvPr/>
        </p:nvSpPr>
        <p:spPr>
          <a:xfrm>
            <a:off x="457200" y="2788920"/>
            <a:ext cx="6858000" cy="320040"/>
          </a:xfrm>
          <a:prstGeom prst="rect">
            <a:avLst/>
          </a:prstGeom>
          <a:noFill/>
          <a:ln/>
        </p:spPr>
        <p:txBody>
          <a:bodyPr wrap="square" rtlCol="0" anchor="ctr"/>
          <a:lstStyle/>
          <a:p>
            <a:pPr marL="0" indent="0" algn="ctr">
              <a:buNone/>
            </a:pPr>
            <a:r>
              <a:rPr lang="en-US" sz="1150" i="1" dirty="0">
                <a:solidFill>
                  <a:srgbClr val="6B7A88"/>
                </a:solidFill>
                <a:latin typeface="Calibri" pitchFamily="34" charset="0"/>
                <a:ea typeface="Calibri" pitchFamily="34" charset="-122"/>
                <a:cs typeface="Calibri" pitchFamily="34" charset="-120"/>
              </a:rPr>
              <a:t>Chứng từ tự sinh (asset_document + asset_document_line) → sổ sách dẫn xuất trực tiếp</a:t>
            </a:r>
            <a:endParaRPr lang="en-US" sz="1150" dirty="0"/>
          </a:p>
        </p:txBody>
      </p:sp>
      <p:sp>
        <p:nvSpPr>
          <p:cNvPr id="17" name="Shape 15"/>
          <p:cNvSpPr/>
          <p:nvPr/>
        </p:nvSpPr>
        <p:spPr>
          <a:xfrm>
            <a:off x="457200" y="3246120"/>
            <a:ext cx="6858000" cy="2834640"/>
          </a:xfrm>
          <a:prstGeom prst="roundRect">
            <a:avLst>
              <a:gd name="adj" fmla="val 1935"/>
            </a:avLst>
          </a:prstGeom>
          <a:solidFill>
            <a:srgbClr val="F1F5F8"/>
          </a:solidFill>
          <a:ln w="12700">
            <a:solidFill>
              <a:srgbClr val="CBDAE4"/>
            </a:solidFill>
            <a:prstDash val="solid"/>
          </a:ln>
        </p:spPr>
      </p:sp>
      <p:sp>
        <p:nvSpPr>
          <p:cNvPr id="18" name="Text 16"/>
          <p:cNvSpPr/>
          <p:nvPr/>
        </p:nvSpPr>
        <p:spPr>
          <a:xfrm>
            <a:off x="621792" y="3346704"/>
            <a:ext cx="6528816" cy="292608"/>
          </a:xfrm>
          <a:prstGeom prst="rect">
            <a:avLst/>
          </a:prstGeom>
          <a:noFill/>
          <a:ln/>
        </p:spPr>
        <p:txBody>
          <a:bodyPr wrap="square" rtlCol="0" anchor="ctr"/>
          <a:lstStyle/>
          <a:p>
            <a:pPr marL="0" indent="0" algn="l">
              <a:buNone/>
            </a:pPr>
            <a:r>
              <a:rPr lang="en-US" sz="1300" b="1" dirty="0">
                <a:solidFill>
                  <a:srgbClr val="0E7C86"/>
                </a:solidFill>
                <a:latin typeface="Cambria" pitchFamily="34" charset="0"/>
                <a:ea typeface="Cambria" pitchFamily="34" charset="-122"/>
                <a:cs typeface="Cambria" pitchFamily="34" charset="-120"/>
              </a:rPr>
              <a:t>Hệ thống sổ sách &amp; báo cáo — dẫn xuất từ chứng từ</a:t>
            </a:r>
            <a:endParaRPr lang="en-US" sz="1300" dirty="0"/>
          </a:p>
        </p:txBody>
      </p:sp>
      <p:sp>
        <p:nvSpPr>
          <p:cNvPr id="19" name="Text 17"/>
          <p:cNvSpPr/>
          <p:nvPr/>
        </p:nvSpPr>
        <p:spPr>
          <a:xfrm>
            <a:off x="603504" y="3666744"/>
            <a:ext cx="6565392" cy="2304288"/>
          </a:xfrm>
          <a:prstGeom prst="rect">
            <a:avLst/>
          </a:prstGeom>
          <a:noFill/>
          <a:ln/>
        </p:spPr>
        <p:txBody>
          <a:bodyPr wrap="square" rtlCol="0" anchor="t"/>
          <a:lstStyle/>
          <a:p>
            <a:pPr marL="152400" indent="-152400" algn="l">
              <a:spcAft>
                <a:spcPts val="300"/>
              </a:spcAft>
              <a:buSzPct val="100000"/>
              <a:buChar char="•"/>
            </a:pPr>
            <a:r>
              <a:rPr lang="en-US" sz="1300" dirty="0">
                <a:solidFill>
                  <a:srgbClr val="22303C"/>
                </a:solidFill>
                <a:latin typeface="Calibri" pitchFamily="34" charset="0"/>
                <a:ea typeface="Calibri" pitchFamily="34" charset="-122"/>
                <a:cs typeface="Calibri" pitchFamily="34" charset="-120"/>
              </a:rPr>
              <a:t>Nhật ký chung — toàn bộ bút toán theo thời gian</a:t>
            </a:r>
            <a:endParaRPr lang="en-US" sz="1300" dirty="0"/>
          </a:p>
          <a:p>
            <a:pPr marL="152400" indent="-152400" algn="l">
              <a:spcAft>
                <a:spcPts val="300"/>
              </a:spcAft>
              <a:buSzPct val="100000"/>
              <a:buChar char="•"/>
            </a:pPr>
            <a:r>
              <a:rPr lang="en-US" sz="1300" dirty="0">
                <a:solidFill>
                  <a:srgbClr val="22303C"/>
                </a:solidFill>
                <a:latin typeface="Calibri" pitchFamily="34" charset="0"/>
                <a:ea typeface="Calibri" pitchFamily="34" charset="-122"/>
                <a:cs typeface="Calibri" pitchFamily="34" charset="-120"/>
              </a:rPr>
              <a:t>Sổ cái — phát sinh Nợ/Có &amp; số dư từng tài khoản</a:t>
            </a:r>
            <a:endParaRPr lang="en-US" sz="1300" dirty="0"/>
          </a:p>
          <a:p>
            <a:pPr marL="152400" indent="-152400" algn="l">
              <a:spcAft>
                <a:spcPts val="300"/>
              </a:spcAft>
              <a:buSzPct val="100000"/>
              <a:buChar char="•"/>
            </a:pPr>
            <a:r>
              <a:rPr lang="en-US" sz="1300" dirty="0">
                <a:solidFill>
                  <a:srgbClr val="22303C"/>
                </a:solidFill>
                <a:latin typeface="Calibri" pitchFamily="34" charset="0"/>
                <a:ea typeface="Calibri" pitchFamily="34" charset="-122"/>
                <a:cs typeface="Calibri" pitchFamily="34" charset="-120"/>
              </a:rPr>
              <a:t>Bảng cân đối số phát sinh — đối chiếu ΣNợ = ΣCó</a:t>
            </a:r>
            <a:endParaRPr lang="en-US" sz="1300" dirty="0"/>
          </a:p>
          <a:p>
            <a:pPr marL="152400" indent="-152400" algn="l">
              <a:spcAft>
                <a:spcPts val="300"/>
              </a:spcAft>
              <a:buSzPct val="100000"/>
              <a:buChar char="•"/>
            </a:pPr>
            <a:r>
              <a:rPr lang="en-US" sz="1300" dirty="0">
                <a:solidFill>
                  <a:srgbClr val="22303C"/>
                </a:solidFill>
                <a:latin typeface="Calibri" pitchFamily="34" charset="0"/>
                <a:ea typeface="Calibri" pitchFamily="34" charset="-122"/>
                <a:cs typeface="Calibri" pitchFamily="34" charset="-120"/>
              </a:rPr>
              <a:t>Sổ tài sản cố định — nguyên giá, hao mòn, còn lại</a:t>
            </a:r>
            <a:endParaRPr lang="en-US" sz="1300" dirty="0"/>
          </a:p>
          <a:p>
            <a:pPr marL="152400" indent="-152400" algn="l">
              <a:spcAft>
                <a:spcPts val="300"/>
              </a:spcAft>
              <a:buSzPct val="100000"/>
              <a:buChar char="•"/>
            </a:pPr>
            <a:r>
              <a:rPr lang="en-US" sz="1300" dirty="0">
                <a:solidFill>
                  <a:srgbClr val="22303C"/>
                </a:solidFill>
                <a:latin typeface="Calibri" pitchFamily="34" charset="0"/>
                <a:ea typeface="Calibri" pitchFamily="34" charset="-122"/>
                <a:cs typeface="Calibri" pitchFamily="34" charset="-120"/>
              </a:rPr>
              <a:t>Báo cáo tăng/giảm tài sản — kèm lãi/lỗ thanh lý</a:t>
            </a:r>
            <a:endParaRPr lang="en-US" sz="1300" dirty="0"/>
          </a:p>
        </p:txBody>
      </p:sp>
      <p:sp>
        <p:nvSpPr>
          <p:cNvPr id="20" name="Shape 18"/>
          <p:cNvSpPr/>
          <p:nvPr/>
        </p:nvSpPr>
        <p:spPr>
          <a:xfrm>
            <a:off x="7498080" y="1234440"/>
            <a:ext cx="4251960" cy="4535424"/>
          </a:xfrm>
          <a:prstGeom prst="roundRect">
            <a:avLst>
              <a:gd name="adj" fmla="val 1290"/>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21" name="Image 0" descr="C:\Users\ADMIN\AppData\Local\Temp\claude\D--DATN-TownHub\2a20fba2-0cd4-4668-a5dd-e0d1f8301abd\scratchpad\assets\img17.png"/>
          <p:cNvPicPr>
            <a:picLocks noChangeAspect="1"/>
          </p:cNvPicPr>
          <p:nvPr/>
        </p:nvPicPr>
        <p:blipFill>
          <a:blip r:embed="rId3"/>
          <a:stretch>
            <a:fillRect/>
          </a:stretch>
        </p:blipFill>
        <p:spPr>
          <a:xfrm>
            <a:off x="7589520" y="2230565"/>
            <a:ext cx="4069080" cy="2543175"/>
          </a:xfrm>
          <a:prstGeom prst="rect">
            <a:avLst/>
          </a:prstGeom>
        </p:spPr>
      </p:pic>
      <p:sp>
        <p:nvSpPr>
          <p:cNvPr id="22" name="Text 19"/>
          <p:cNvSpPr/>
          <p:nvPr/>
        </p:nvSpPr>
        <p:spPr>
          <a:xfrm>
            <a:off x="7498080" y="5788152"/>
            <a:ext cx="4251960" cy="310896"/>
          </a:xfrm>
          <a:prstGeom prst="rect">
            <a:avLst/>
          </a:prstGeom>
          <a:noFill/>
          <a:ln/>
        </p:spPr>
        <p:txBody>
          <a:bodyPr wrap="square" rtlCol="0" anchor="ctr"/>
          <a:lstStyle/>
          <a:p>
            <a:pPr marL="0" indent="0" algn="ctr">
              <a:buNone/>
            </a:pPr>
            <a:r>
              <a:rPr lang="en-US" sz="1050" i="1" dirty="0">
                <a:solidFill>
                  <a:srgbClr val="6B7A88"/>
                </a:solidFill>
                <a:latin typeface="Calibri" pitchFamily="34" charset="0"/>
                <a:ea typeface="Calibri" pitchFamily="34" charset="-122"/>
                <a:cs typeface="Calibri" pitchFamily="34" charset="-120"/>
              </a:rPr>
              <a:t>Giao diện Danh sách tài sản (dữ liệu thật)</a:t>
            </a:r>
            <a:endParaRPr lang="en-US" sz="1050" dirty="0"/>
          </a:p>
        </p:txBody>
      </p:sp>
    </p:spTree>
    <p:extLst>
      <p:ext uri="{BB962C8B-B14F-4D97-AF65-F5344CB8AC3E}">
        <p14:creationId xmlns:p14="http://schemas.microsoft.com/office/powerpoint/2010/main" val="1154482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10789920" cy="27432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4.2 · BẢO TRÌ &amp; SỰ CỐ</a:t>
            </a:r>
            <a:endParaRPr lang="en-US" sz="1200" dirty="0"/>
          </a:p>
        </p:txBody>
      </p:sp>
      <p:sp>
        <p:nvSpPr>
          <p:cNvPr id="3" name="Text 1"/>
          <p:cNvSpPr/>
          <p:nvPr/>
        </p:nvSpPr>
        <p:spPr>
          <a:xfrm>
            <a:off x="457200" y="530352"/>
            <a:ext cx="10972800" cy="548640"/>
          </a:xfrm>
          <a:prstGeom prst="rect">
            <a:avLst/>
          </a:prstGeom>
          <a:noFill/>
          <a:ln/>
        </p:spPr>
        <p:txBody>
          <a:bodyPr wrap="square" rtlCol="0" anchor="ctr"/>
          <a:lstStyle/>
          <a:p>
            <a:pPr marL="0" indent="0" algn="l">
              <a:buNone/>
            </a:pPr>
            <a:r>
              <a:rPr lang="en-US" sz="2500" b="1" dirty="0">
                <a:solidFill>
                  <a:srgbClr val="0E2A47"/>
                </a:solidFill>
                <a:latin typeface="Cambria" pitchFamily="34" charset="0"/>
                <a:ea typeface="Cambria" pitchFamily="34" charset="-122"/>
                <a:cs typeface="Cambria" pitchFamily="34" charset="-120"/>
              </a:rPr>
              <a:t>Bảo trì phòng ngừa — Work Order khép kín</a:t>
            </a:r>
            <a:endParaRPr lang="en-US" sz="2500" dirty="0"/>
          </a:p>
        </p:txBody>
      </p:sp>
      <p:sp>
        <p:nvSpPr>
          <p:cNvPr id="4" name="Text 2"/>
          <p:cNvSpPr/>
          <p:nvPr/>
        </p:nvSpPr>
        <p:spPr>
          <a:xfrm>
            <a:off x="457200" y="6455664"/>
            <a:ext cx="7315200" cy="292608"/>
          </a:xfrm>
          <a:prstGeom prst="rect">
            <a:avLst/>
          </a:prstGeom>
          <a:noFill/>
          <a:ln/>
        </p:spPr>
        <p:txBody>
          <a:bodyPr wrap="square"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5" name="Text 3"/>
          <p:cNvSpPr/>
          <p:nvPr/>
        </p:nvSpPr>
        <p:spPr>
          <a:xfrm>
            <a:off x="5029200" y="6455664"/>
            <a:ext cx="6702552" cy="292608"/>
          </a:xfrm>
          <a:prstGeom prst="rect">
            <a:avLst/>
          </a:prstGeom>
          <a:noFill/>
          <a:ln/>
        </p:spPr>
        <p:txBody>
          <a:bodyPr wrap="square"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6" name="Text 4"/>
          <p:cNvSpPr/>
          <p:nvPr/>
        </p:nvSpPr>
        <p:spPr>
          <a:xfrm>
            <a:off x="11475720" y="256032"/>
            <a:ext cx="457200" cy="365760"/>
          </a:xfrm>
          <a:prstGeom prst="rect">
            <a:avLst/>
          </a:prstGeom>
          <a:noFill/>
          <a:ln/>
        </p:spPr>
        <p:txBody>
          <a:bodyPr wrap="square" rtlCol="0" anchor="ctr"/>
          <a:lstStyle/>
          <a:p>
            <a:pPr marL="0" indent="0" algn="r">
              <a:buNone/>
            </a:pPr>
            <a:r>
              <a:rPr lang="en-US" sz="1300" b="1" dirty="0">
                <a:solidFill>
                  <a:srgbClr val="CBDAE4"/>
                </a:solidFill>
                <a:latin typeface="Cambria" pitchFamily="34" charset="0"/>
                <a:ea typeface="Cambria" pitchFamily="34" charset="-122"/>
                <a:cs typeface="Cambria" pitchFamily="34" charset="-120"/>
              </a:rPr>
              <a:t>19</a:t>
            </a:r>
            <a:endParaRPr lang="en-US" sz="1300" dirty="0"/>
          </a:p>
        </p:txBody>
      </p:sp>
      <p:sp>
        <p:nvSpPr>
          <p:cNvPr id="7" name="Shape 5"/>
          <p:cNvSpPr/>
          <p:nvPr/>
        </p:nvSpPr>
        <p:spPr>
          <a:xfrm>
            <a:off x="457200" y="1188720"/>
            <a:ext cx="11292840" cy="2478024"/>
          </a:xfrm>
          <a:prstGeom prst="roundRect">
            <a:avLst>
              <a:gd name="adj" fmla="val 2214"/>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8" name="Image 0" descr="C:\Users\ADMIN\AppData\Local\Temp\claude\D--DATN-TownHub\2a20fba2-0cd4-4668-a5dd-e0d1f8301abd\scratchpad\assets\fig_flow_pm.png"/>
          <p:cNvPicPr>
            <a:picLocks noChangeAspect="1"/>
          </p:cNvPicPr>
          <p:nvPr/>
        </p:nvPicPr>
        <p:blipFill>
          <a:blip r:embed="rId3"/>
          <a:stretch>
            <a:fillRect/>
          </a:stretch>
        </p:blipFill>
        <p:spPr>
          <a:xfrm>
            <a:off x="2537705" y="1280160"/>
            <a:ext cx="7131829" cy="2295144"/>
          </a:xfrm>
          <a:prstGeom prst="rect">
            <a:avLst/>
          </a:prstGeom>
        </p:spPr>
      </p:pic>
      <p:sp>
        <p:nvSpPr>
          <p:cNvPr id="9" name="Text 6"/>
          <p:cNvSpPr/>
          <p:nvPr/>
        </p:nvSpPr>
        <p:spPr>
          <a:xfrm>
            <a:off x="457200" y="3685032"/>
            <a:ext cx="11292840" cy="310896"/>
          </a:xfrm>
          <a:prstGeom prst="rect">
            <a:avLst/>
          </a:prstGeom>
          <a:noFill/>
          <a:ln/>
        </p:spPr>
        <p:txBody>
          <a:bodyPr wrap="square" rtlCol="0" anchor="ctr"/>
          <a:lstStyle/>
          <a:p>
            <a:pPr marL="0" indent="0" algn="ctr">
              <a:buNone/>
            </a:pPr>
            <a:r>
              <a:rPr lang="en-US" sz="1050" i="1" dirty="0">
                <a:solidFill>
                  <a:srgbClr val="6B7A88"/>
                </a:solidFill>
                <a:latin typeface="Calibri" pitchFamily="34" charset="0"/>
                <a:ea typeface="Calibri" pitchFamily="34" charset="-122"/>
                <a:cs typeface="Calibri" pitchFamily="34" charset="-120"/>
              </a:rPr>
              <a:t>Hình 4.13 — Sơ đồ luồng nghiệp vụ Bảo trì phòng ngừa (6 bước)</a:t>
            </a:r>
            <a:endParaRPr lang="en-US" sz="1050" dirty="0"/>
          </a:p>
        </p:txBody>
      </p:sp>
      <p:sp>
        <p:nvSpPr>
          <p:cNvPr id="10" name="Text 7"/>
          <p:cNvSpPr/>
          <p:nvPr/>
        </p:nvSpPr>
        <p:spPr>
          <a:xfrm>
            <a:off x="457200" y="4160520"/>
            <a:ext cx="2468880" cy="457200"/>
          </a:xfrm>
          <a:prstGeom prst="rect">
            <a:avLst/>
          </a:prstGeom>
          <a:noFill/>
          <a:ln/>
        </p:spPr>
        <p:txBody>
          <a:bodyPr wrap="square"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1 Lịch đến hạn  </a:t>
            </a:r>
            <a:r>
              <a:rPr lang="en-US" sz="1050" i="1" dirty="0">
                <a:solidFill>
                  <a:srgbClr val="6B7A88"/>
                </a:solidFill>
                <a:latin typeface="Calibri" pitchFamily="34" charset="0"/>
                <a:ea typeface="Calibri" pitchFamily="34" charset="-122"/>
                <a:cs typeface="Calibri" pitchFamily="34" charset="-120"/>
              </a:rPr>
              <a:t>chu kỳ, lead time</a:t>
            </a:r>
            <a:endParaRPr lang="en-US" sz="1200" dirty="0"/>
          </a:p>
        </p:txBody>
      </p:sp>
      <p:sp>
        <p:nvSpPr>
          <p:cNvPr id="11" name="Text 8"/>
          <p:cNvSpPr/>
          <p:nvPr/>
        </p:nvSpPr>
        <p:spPr>
          <a:xfrm>
            <a:off x="2971800" y="4160520"/>
            <a:ext cx="2468880" cy="457200"/>
          </a:xfrm>
          <a:prstGeom prst="rect">
            <a:avLst/>
          </a:prstGeom>
          <a:noFill/>
          <a:ln/>
        </p:spPr>
        <p:txBody>
          <a:bodyPr wrap="square"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2 Tạo WO  </a:t>
            </a:r>
            <a:r>
              <a:rPr lang="en-US" sz="1050" i="1" dirty="0">
                <a:solidFill>
                  <a:srgbClr val="6B7A88"/>
                </a:solidFill>
                <a:latin typeface="Calibri" pitchFamily="34" charset="0"/>
                <a:ea typeface="Calibri" pitchFamily="34" charset="-122"/>
                <a:cs typeface="Calibri" pitchFamily="34" charset="-120"/>
              </a:rPr>
              <a:t>DRAFT</a:t>
            </a:r>
            <a:endParaRPr lang="en-US" sz="1200" dirty="0"/>
          </a:p>
        </p:txBody>
      </p:sp>
      <p:sp>
        <p:nvSpPr>
          <p:cNvPr id="12" name="Text 9"/>
          <p:cNvSpPr/>
          <p:nvPr/>
        </p:nvSpPr>
        <p:spPr>
          <a:xfrm>
            <a:off x="5486400" y="4160520"/>
            <a:ext cx="2468880" cy="457200"/>
          </a:xfrm>
          <a:prstGeom prst="rect">
            <a:avLst/>
          </a:prstGeom>
          <a:noFill/>
          <a:ln/>
        </p:spPr>
        <p:txBody>
          <a:bodyPr wrap="square"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3 Phân công KTV  </a:t>
            </a:r>
            <a:r>
              <a:rPr lang="en-US" sz="1050" i="1" dirty="0">
                <a:solidFill>
                  <a:srgbClr val="6B7A88"/>
                </a:solidFill>
                <a:latin typeface="Calibri" pitchFamily="34" charset="0"/>
                <a:ea typeface="Calibri" pitchFamily="34" charset="-122"/>
                <a:cs typeface="Calibri" pitchFamily="34" charset="-120"/>
              </a:rPr>
              <a:t>ASSIGNED</a:t>
            </a:r>
            <a:endParaRPr lang="en-US" sz="1200" dirty="0"/>
          </a:p>
        </p:txBody>
      </p:sp>
      <p:sp>
        <p:nvSpPr>
          <p:cNvPr id="13" name="Text 10"/>
          <p:cNvSpPr/>
          <p:nvPr/>
        </p:nvSpPr>
        <p:spPr>
          <a:xfrm>
            <a:off x="457200" y="4727448"/>
            <a:ext cx="2468880" cy="457200"/>
          </a:xfrm>
          <a:prstGeom prst="rect">
            <a:avLst/>
          </a:prstGeom>
          <a:noFill/>
          <a:ln/>
        </p:spPr>
        <p:txBody>
          <a:bodyPr wrap="square"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4 Check-in QR  </a:t>
            </a:r>
            <a:r>
              <a:rPr lang="en-US" sz="1050" i="1" dirty="0">
                <a:solidFill>
                  <a:srgbClr val="6B7A88"/>
                </a:solidFill>
                <a:latin typeface="Calibri" pitchFamily="34" charset="0"/>
                <a:ea typeface="Calibri" pitchFamily="34" charset="-122"/>
                <a:cs typeface="Calibri" pitchFamily="34" charset="-120"/>
              </a:rPr>
              <a:t>IN_PROGRESS</a:t>
            </a:r>
            <a:endParaRPr lang="en-US" sz="1200" dirty="0"/>
          </a:p>
        </p:txBody>
      </p:sp>
      <p:sp>
        <p:nvSpPr>
          <p:cNvPr id="14" name="Text 11"/>
          <p:cNvSpPr/>
          <p:nvPr/>
        </p:nvSpPr>
        <p:spPr>
          <a:xfrm>
            <a:off x="2971800" y="4727448"/>
            <a:ext cx="2468880" cy="457200"/>
          </a:xfrm>
          <a:prstGeom prst="rect">
            <a:avLst/>
          </a:prstGeom>
          <a:noFill/>
          <a:ln/>
        </p:spPr>
        <p:txBody>
          <a:bodyPr wrap="square"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5 Checklist + ảnh  </a:t>
            </a:r>
            <a:r>
              <a:rPr lang="en-US" sz="1050" i="1" dirty="0">
                <a:solidFill>
                  <a:srgbClr val="6B7A88"/>
                </a:solidFill>
                <a:latin typeface="Calibri" pitchFamily="34" charset="0"/>
                <a:ea typeface="Calibri" pitchFamily="34" charset="-122"/>
                <a:cs typeface="Calibri" pitchFamily="34" charset="-120"/>
              </a:rPr>
              <a:t>thực hiện</a:t>
            </a:r>
            <a:endParaRPr lang="en-US" sz="1200" dirty="0"/>
          </a:p>
        </p:txBody>
      </p:sp>
      <p:sp>
        <p:nvSpPr>
          <p:cNvPr id="15" name="Text 12"/>
          <p:cNvSpPr/>
          <p:nvPr/>
        </p:nvSpPr>
        <p:spPr>
          <a:xfrm>
            <a:off x="5486400" y="4727448"/>
            <a:ext cx="2468880" cy="457200"/>
          </a:xfrm>
          <a:prstGeom prst="rect">
            <a:avLst/>
          </a:prstGeom>
          <a:noFill/>
          <a:ln/>
        </p:spPr>
        <p:txBody>
          <a:bodyPr wrap="square"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6 Nghiệm thu  </a:t>
            </a:r>
            <a:r>
              <a:rPr lang="en-US" sz="1050" i="1" dirty="0">
                <a:solidFill>
                  <a:srgbClr val="6B7A88"/>
                </a:solidFill>
                <a:latin typeface="Calibri" pitchFamily="34" charset="0"/>
                <a:ea typeface="Calibri" pitchFamily="34" charset="-122"/>
                <a:cs typeface="Calibri" pitchFamily="34" charset="-120"/>
              </a:rPr>
              <a:t>COMPLETED/REJECTED</a:t>
            </a:r>
            <a:endParaRPr lang="en-US" sz="1200" dirty="0"/>
          </a:p>
        </p:txBody>
      </p:sp>
      <p:sp>
        <p:nvSpPr>
          <p:cNvPr id="16" name="Shape 13"/>
          <p:cNvSpPr/>
          <p:nvPr/>
        </p:nvSpPr>
        <p:spPr>
          <a:xfrm>
            <a:off x="457200" y="5394960"/>
            <a:ext cx="7452360" cy="685800"/>
          </a:xfrm>
          <a:prstGeom prst="roundRect">
            <a:avLst>
              <a:gd name="adj" fmla="val 6667"/>
            </a:avLst>
          </a:prstGeom>
          <a:solidFill>
            <a:srgbClr val="FBF1E0"/>
          </a:solidFill>
          <a:ln w="12700">
            <a:solidFill>
              <a:srgbClr val="EFA13C"/>
            </a:solidFill>
            <a:prstDash val="solid"/>
          </a:ln>
        </p:spPr>
      </p:sp>
      <p:sp>
        <p:nvSpPr>
          <p:cNvPr id="17" name="Text 14"/>
          <p:cNvSpPr/>
          <p:nvPr/>
        </p:nvSpPr>
        <p:spPr>
          <a:xfrm>
            <a:off x="603504" y="5431536"/>
            <a:ext cx="7159752" cy="612648"/>
          </a:xfrm>
          <a:prstGeom prst="rect">
            <a:avLst/>
          </a:prstGeom>
          <a:noFill/>
          <a:ln/>
        </p:spPr>
        <p:txBody>
          <a:bodyPr wrap="square" rtlCol="0" anchor="ctr"/>
          <a:lstStyle/>
          <a:p>
            <a:pPr marL="0" indent="0" algn="l">
              <a:buNone/>
            </a:pPr>
            <a:r>
              <a:rPr lang="en-US" sz="1100" b="1" dirty="0">
                <a:solidFill>
                  <a:srgbClr val="B9781F"/>
                </a:solidFill>
                <a:latin typeface="Calibri" pitchFamily="34" charset="0"/>
                <a:ea typeface="Calibri" pitchFamily="34" charset="-122"/>
                <a:cs typeface="Calibri" pitchFamily="34" charset="-120"/>
              </a:rPr>
              <a:t>Kế toán chi phí bảo trì:  </a:t>
            </a:r>
            <a:r>
              <a:rPr lang="en-US" sz="1100" dirty="0">
                <a:solidFill>
                  <a:srgbClr val="22303C"/>
                </a:solidFill>
                <a:latin typeface="Calibri" pitchFamily="34" charset="0"/>
                <a:ea typeface="Calibri" pitchFamily="34" charset="-122"/>
                <a:cs typeface="Calibri" pitchFamily="34" charset="-120"/>
              </a:rPr>
              <a:t>Sửa chữa → chi phí trong kỳ · Nâng cấp → cộng nguyên giá · Thiếu vật tư → xuất kho hoặc tự tạo PR.</a:t>
            </a:r>
            <a:endParaRPr lang="en-US" sz="1100" dirty="0"/>
          </a:p>
        </p:txBody>
      </p:sp>
      <p:sp>
        <p:nvSpPr>
          <p:cNvPr id="18" name="Shape 15"/>
          <p:cNvSpPr/>
          <p:nvPr/>
        </p:nvSpPr>
        <p:spPr>
          <a:xfrm>
            <a:off x="8092440" y="4114800"/>
            <a:ext cx="3657600" cy="1655064"/>
          </a:xfrm>
          <a:prstGeom prst="roundRect">
            <a:avLst>
              <a:gd name="adj" fmla="val 3315"/>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19" name="Image 1" descr="C:\Users\ADMIN\AppData\Local\Temp\claude\D--DATN-TownHub\2a20fba2-0cd4-4668-a5dd-e0d1f8301abd\scratchpad\assets\img19.png"/>
          <p:cNvPicPr>
            <a:picLocks noChangeAspect="1"/>
          </p:cNvPicPr>
          <p:nvPr/>
        </p:nvPicPr>
        <p:blipFill>
          <a:blip r:embed="rId4"/>
          <a:stretch>
            <a:fillRect/>
          </a:stretch>
        </p:blipFill>
        <p:spPr>
          <a:xfrm>
            <a:off x="8743493" y="4206240"/>
            <a:ext cx="2355494" cy="1472184"/>
          </a:xfrm>
          <a:prstGeom prst="rect">
            <a:avLst/>
          </a:prstGeom>
        </p:spPr>
      </p:pic>
      <p:sp>
        <p:nvSpPr>
          <p:cNvPr id="20" name="Text 16"/>
          <p:cNvSpPr/>
          <p:nvPr/>
        </p:nvSpPr>
        <p:spPr>
          <a:xfrm>
            <a:off x="8092440" y="5788152"/>
            <a:ext cx="3657600" cy="310896"/>
          </a:xfrm>
          <a:prstGeom prst="rect">
            <a:avLst/>
          </a:prstGeom>
          <a:noFill/>
          <a:ln/>
        </p:spPr>
        <p:txBody>
          <a:bodyPr wrap="square" rtlCol="0" anchor="ctr"/>
          <a:lstStyle/>
          <a:p>
            <a:pPr marL="0" indent="0" algn="ctr">
              <a:buNone/>
            </a:pPr>
            <a:r>
              <a:rPr lang="en-US" sz="1050" i="1" dirty="0">
                <a:solidFill>
                  <a:srgbClr val="6B7A88"/>
                </a:solidFill>
                <a:latin typeface="Calibri" pitchFamily="34" charset="0"/>
                <a:ea typeface="Calibri" pitchFamily="34" charset="-122"/>
                <a:cs typeface="Calibri" pitchFamily="34" charset="-120"/>
              </a:rPr>
              <a:t>Giao diện Lệnh công việc (Work Order) — thật</a:t>
            </a:r>
            <a:endParaRPr lang="en-US" sz="1050" dirty="0"/>
          </a:p>
        </p:txBody>
      </p:sp>
    </p:spTree>
    <p:extLst>
      <p:ext uri="{BB962C8B-B14F-4D97-AF65-F5344CB8AC3E}">
        <p14:creationId xmlns:p14="http://schemas.microsoft.com/office/powerpoint/2010/main" val="3099160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10789920" cy="27432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4.2 · BẢO TRÌ &amp; SỰ CỐ</a:t>
            </a:r>
            <a:endParaRPr lang="en-US" sz="1200" dirty="0"/>
          </a:p>
        </p:txBody>
      </p:sp>
      <p:sp>
        <p:nvSpPr>
          <p:cNvPr id="3" name="Text 1"/>
          <p:cNvSpPr/>
          <p:nvPr/>
        </p:nvSpPr>
        <p:spPr>
          <a:xfrm>
            <a:off x="457200" y="530352"/>
            <a:ext cx="10972800" cy="548640"/>
          </a:xfrm>
          <a:prstGeom prst="rect">
            <a:avLst/>
          </a:prstGeom>
          <a:noFill/>
          <a:ln/>
        </p:spPr>
        <p:txBody>
          <a:bodyPr wrap="square" rtlCol="0" anchor="ctr"/>
          <a:lstStyle/>
          <a:p>
            <a:pPr marL="0" indent="0" algn="l">
              <a:buNone/>
            </a:pPr>
            <a:r>
              <a:rPr lang="en-US" sz="2500" b="1" dirty="0">
                <a:solidFill>
                  <a:srgbClr val="0E2A47"/>
                </a:solidFill>
                <a:latin typeface="Cambria" pitchFamily="34" charset="0"/>
                <a:ea typeface="Cambria" pitchFamily="34" charset="-122"/>
                <a:cs typeface="Cambria" pitchFamily="34" charset="-120"/>
              </a:rPr>
              <a:t>Xử lý sự cố khép kín — giám sát SLA &amp; leo thang</a:t>
            </a:r>
            <a:endParaRPr lang="en-US" sz="2500" dirty="0"/>
          </a:p>
        </p:txBody>
      </p:sp>
      <p:sp>
        <p:nvSpPr>
          <p:cNvPr id="4" name="Text 2"/>
          <p:cNvSpPr/>
          <p:nvPr/>
        </p:nvSpPr>
        <p:spPr>
          <a:xfrm>
            <a:off x="457200" y="6455664"/>
            <a:ext cx="7315200" cy="292608"/>
          </a:xfrm>
          <a:prstGeom prst="rect">
            <a:avLst/>
          </a:prstGeom>
          <a:noFill/>
          <a:ln/>
        </p:spPr>
        <p:txBody>
          <a:bodyPr wrap="square"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5" name="Text 3"/>
          <p:cNvSpPr/>
          <p:nvPr/>
        </p:nvSpPr>
        <p:spPr>
          <a:xfrm>
            <a:off x="5029200" y="6455664"/>
            <a:ext cx="6702552" cy="292608"/>
          </a:xfrm>
          <a:prstGeom prst="rect">
            <a:avLst/>
          </a:prstGeom>
          <a:noFill/>
          <a:ln/>
        </p:spPr>
        <p:txBody>
          <a:bodyPr wrap="square"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6" name="Text 4"/>
          <p:cNvSpPr/>
          <p:nvPr/>
        </p:nvSpPr>
        <p:spPr>
          <a:xfrm>
            <a:off x="11475720" y="256032"/>
            <a:ext cx="457200" cy="365760"/>
          </a:xfrm>
          <a:prstGeom prst="rect">
            <a:avLst/>
          </a:prstGeom>
          <a:noFill/>
          <a:ln/>
        </p:spPr>
        <p:txBody>
          <a:bodyPr wrap="square" rtlCol="0" anchor="ctr"/>
          <a:lstStyle/>
          <a:p>
            <a:pPr marL="0" indent="0" algn="r">
              <a:buNone/>
            </a:pPr>
            <a:r>
              <a:rPr lang="en-US" sz="1300" b="1" dirty="0">
                <a:solidFill>
                  <a:srgbClr val="CBDAE4"/>
                </a:solidFill>
                <a:latin typeface="Cambria" pitchFamily="34" charset="0"/>
                <a:ea typeface="Cambria" pitchFamily="34" charset="-122"/>
                <a:cs typeface="Cambria" pitchFamily="34" charset="-120"/>
              </a:rPr>
              <a:t>20</a:t>
            </a:r>
            <a:endParaRPr lang="en-US" sz="1300" dirty="0"/>
          </a:p>
        </p:txBody>
      </p:sp>
      <p:sp>
        <p:nvSpPr>
          <p:cNvPr id="7" name="Shape 5"/>
          <p:cNvSpPr/>
          <p:nvPr/>
        </p:nvSpPr>
        <p:spPr>
          <a:xfrm>
            <a:off x="457200" y="1188720"/>
            <a:ext cx="7863840" cy="4581144"/>
          </a:xfrm>
          <a:prstGeom prst="roundRect">
            <a:avLst>
              <a:gd name="adj" fmla="val 1198"/>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8" name="Image 0" descr="C:\Users\ADMIN\AppData\Local\Temp\claude\D--DATN-TownHub\2a20fba2-0cd4-4668-a5dd-e0d1f8301abd\scratchpad\assets\fig_flow_sla.png"/>
          <p:cNvPicPr>
            <a:picLocks noChangeAspect="1"/>
          </p:cNvPicPr>
          <p:nvPr/>
        </p:nvPicPr>
        <p:blipFill>
          <a:blip r:embed="rId3"/>
          <a:stretch>
            <a:fillRect/>
          </a:stretch>
        </p:blipFill>
        <p:spPr>
          <a:xfrm>
            <a:off x="548640" y="1929908"/>
            <a:ext cx="7680960" cy="3098767"/>
          </a:xfrm>
          <a:prstGeom prst="rect">
            <a:avLst/>
          </a:prstGeom>
        </p:spPr>
      </p:pic>
      <p:sp>
        <p:nvSpPr>
          <p:cNvPr id="9" name="Text 6"/>
          <p:cNvSpPr/>
          <p:nvPr/>
        </p:nvSpPr>
        <p:spPr>
          <a:xfrm>
            <a:off x="457200" y="5788152"/>
            <a:ext cx="7863840" cy="310896"/>
          </a:xfrm>
          <a:prstGeom prst="rect">
            <a:avLst/>
          </a:prstGeom>
          <a:noFill/>
          <a:ln/>
        </p:spPr>
        <p:txBody>
          <a:bodyPr wrap="square" rtlCol="0" anchor="ctr"/>
          <a:lstStyle/>
          <a:p>
            <a:pPr marL="0" indent="0" algn="ctr">
              <a:buNone/>
            </a:pPr>
            <a:r>
              <a:rPr lang="en-US" sz="1050" i="1" dirty="0">
                <a:solidFill>
                  <a:srgbClr val="6B7A88"/>
                </a:solidFill>
                <a:latin typeface="Calibri" pitchFamily="34" charset="0"/>
                <a:ea typeface="Calibri" pitchFamily="34" charset="-122"/>
                <a:cs typeface="Calibri" pitchFamily="34" charset="-120"/>
              </a:rPr>
              <a:t>Hình 4.16 — Sơ đồ luồng nghiệp vụ Xử lý sự cố</a:t>
            </a:r>
            <a:endParaRPr lang="en-US" sz="1050" dirty="0"/>
          </a:p>
        </p:txBody>
      </p:sp>
      <p:sp>
        <p:nvSpPr>
          <p:cNvPr id="10" name="Text 7"/>
          <p:cNvSpPr/>
          <p:nvPr/>
        </p:nvSpPr>
        <p:spPr>
          <a:xfrm>
            <a:off x="8503920" y="1234440"/>
            <a:ext cx="3246120" cy="3291840"/>
          </a:xfrm>
          <a:prstGeom prst="rect">
            <a:avLst/>
          </a:prstGeom>
          <a:noFill/>
          <a:ln/>
        </p:spPr>
        <p:txBody>
          <a:bodyPr wrap="square" rtlCol="0" anchor="t"/>
          <a:lstStyle/>
          <a:p>
            <a:pPr marL="177800" indent="-177800" algn="l">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Cư dân/KTV báo sự cố (điện, nước, HVAC, thang máy, PCCC…).</a:t>
            </a:r>
            <a:endParaRPr lang="en-US" sz="1200" dirty="0"/>
          </a:p>
          <a:p>
            <a:pPr marL="177800" indent="-177800" algn="l">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Kỹ sư trưởng phân công (thao tác người); NEW→ASSIGNED→IN_PROGRESS→RESOLVED→CLOSED, ghi ticket_status_history.</a:t>
            </a:r>
            <a:endParaRPr lang="en-US" sz="1200" dirty="0"/>
          </a:p>
          <a:p>
            <a:pPr marL="177800" indent="-177800" algn="l">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SLA: sla_configs thời gian phản hồi/giải quyết theo mức ưu tiên; leo thang ghi sla_escalation_log.</a:t>
            </a:r>
            <a:endParaRPr lang="en-US" sz="1200" dirty="0"/>
          </a:p>
          <a:p>
            <a:pPr marL="177800" indent="-177800" algn="l">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Cư dân chấm sao sau khi đóng (ticket_ratings).</a:t>
            </a:r>
            <a:endParaRPr lang="en-US" sz="1200" dirty="0"/>
          </a:p>
        </p:txBody>
      </p:sp>
      <p:sp>
        <p:nvSpPr>
          <p:cNvPr id="11" name="Shape 8"/>
          <p:cNvSpPr/>
          <p:nvPr/>
        </p:nvSpPr>
        <p:spPr>
          <a:xfrm>
            <a:off x="8503920" y="4617720"/>
            <a:ext cx="3246120" cy="1463040"/>
          </a:xfrm>
          <a:prstGeom prst="roundRect">
            <a:avLst>
              <a:gd name="adj" fmla="val 3125"/>
            </a:avLst>
          </a:prstGeom>
          <a:solidFill>
            <a:srgbClr val="FBF1E0"/>
          </a:solidFill>
          <a:ln w="12700">
            <a:solidFill>
              <a:srgbClr val="EFA13C"/>
            </a:solidFill>
            <a:prstDash val="solid"/>
          </a:ln>
        </p:spPr>
      </p:sp>
      <p:sp>
        <p:nvSpPr>
          <p:cNvPr id="12" name="Text 9"/>
          <p:cNvSpPr/>
          <p:nvPr/>
        </p:nvSpPr>
        <p:spPr>
          <a:xfrm>
            <a:off x="8650224" y="4654296"/>
            <a:ext cx="2953512" cy="1389888"/>
          </a:xfrm>
          <a:prstGeom prst="rect">
            <a:avLst/>
          </a:prstGeom>
          <a:noFill/>
          <a:ln/>
        </p:spPr>
        <p:txBody>
          <a:bodyPr wrap="square" rtlCol="0" anchor="ctr"/>
          <a:lstStyle/>
          <a:p>
            <a:pPr marL="0" indent="0" algn="l">
              <a:buNone/>
            </a:pPr>
            <a:r>
              <a:rPr lang="en-US" sz="1100" b="1" dirty="0">
                <a:solidFill>
                  <a:srgbClr val="B9781F"/>
                </a:solidFill>
                <a:latin typeface="Calibri" pitchFamily="34" charset="0"/>
                <a:ea typeface="Calibri" pitchFamily="34" charset="-122"/>
                <a:cs typeface="Calibri" pitchFamily="34" charset="-120"/>
              </a:rPr>
              <a:t>Trung thực:  </a:t>
            </a:r>
            <a:r>
              <a:rPr lang="en-US" sz="1100" dirty="0">
                <a:solidFill>
                  <a:srgbClr val="22303C"/>
                </a:solidFill>
                <a:latin typeface="Calibri" pitchFamily="34" charset="0"/>
                <a:ea typeface="Calibri" pitchFamily="34" charset="-122"/>
                <a:cs typeface="Calibri" pitchFamily="34" charset="-120"/>
              </a:rPr>
              <a:t>Cấu hình SLA, nhật ký leo thang &amp; màn hình tra cứu đã có; tác vụ nền tự phát hiện quá hạn &amp; gửi cảnh báo chưa hiện thực.</a:t>
            </a:r>
            <a:endParaRPr lang="en-US" sz="1100" dirty="0"/>
          </a:p>
        </p:txBody>
      </p:sp>
    </p:spTree>
    <p:extLst>
      <p:ext uri="{BB962C8B-B14F-4D97-AF65-F5344CB8AC3E}">
        <p14:creationId xmlns:p14="http://schemas.microsoft.com/office/powerpoint/2010/main" val="1154313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10789920" cy="27432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4.3 · MUA SẮM</a:t>
            </a:r>
            <a:endParaRPr lang="en-US" sz="1200" dirty="0"/>
          </a:p>
        </p:txBody>
      </p:sp>
      <p:sp>
        <p:nvSpPr>
          <p:cNvPr id="3" name="Text 1"/>
          <p:cNvSpPr/>
          <p:nvPr/>
        </p:nvSpPr>
        <p:spPr>
          <a:xfrm>
            <a:off x="457200" y="530352"/>
            <a:ext cx="10972800" cy="548640"/>
          </a:xfrm>
          <a:prstGeom prst="rect">
            <a:avLst/>
          </a:prstGeom>
          <a:noFill/>
          <a:ln/>
        </p:spPr>
        <p:txBody>
          <a:bodyPr wrap="square" rtlCol="0" anchor="ctr"/>
          <a:lstStyle/>
          <a:p>
            <a:pPr marL="0" indent="0" algn="l">
              <a:buNone/>
            </a:pPr>
            <a:r>
              <a:rPr lang="en-US" sz="2500" b="1" dirty="0">
                <a:solidFill>
                  <a:srgbClr val="0E2A47"/>
                </a:solidFill>
                <a:latin typeface="Cambria" pitchFamily="34" charset="0"/>
                <a:ea typeface="Cambria" pitchFamily="34" charset="-122"/>
                <a:cs typeface="Cambria" pitchFamily="34" charset="-120"/>
              </a:rPr>
              <a:t>Quy trình Procure-to-Pay: PR → PO → hóa đơn</a:t>
            </a:r>
            <a:endParaRPr lang="en-US" sz="2500" dirty="0"/>
          </a:p>
        </p:txBody>
      </p:sp>
      <p:sp>
        <p:nvSpPr>
          <p:cNvPr id="4" name="Text 2"/>
          <p:cNvSpPr/>
          <p:nvPr/>
        </p:nvSpPr>
        <p:spPr>
          <a:xfrm>
            <a:off x="457200" y="6455664"/>
            <a:ext cx="7315200" cy="292608"/>
          </a:xfrm>
          <a:prstGeom prst="rect">
            <a:avLst/>
          </a:prstGeom>
          <a:noFill/>
          <a:ln/>
        </p:spPr>
        <p:txBody>
          <a:bodyPr wrap="square"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5" name="Text 3"/>
          <p:cNvSpPr/>
          <p:nvPr/>
        </p:nvSpPr>
        <p:spPr>
          <a:xfrm>
            <a:off x="5029200" y="6455664"/>
            <a:ext cx="6702552" cy="292608"/>
          </a:xfrm>
          <a:prstGeom prst="rect">
            <a:avLst/>
          </a:prstGeom>
          <a:noFill/>
          <a:ln/>
        </p:spPr>
        <p:txBody>
          <a:bodyPr wrap="square"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6" name="Text 4"/>
          <p:cNvSpPr/>
          <p:nvPr/>
        </p:nvSpPr>
        <p:spPr>
          <a:xfrm>
            <a:off x="11475720" y="256032"/>
            <a:ext cx="457200" cy="365760"/>
          </a:xfrm>
          <a:prstGeom prst="rect">
            <a:avLst/>
          </a:prstGeom>
          <a:noFill/>
          <a:ln/>
        </p:spPr>
        <p:txBody>
          <a:bodyPr wrap="square" rtlCol="0" anchor="ctr"/>
          <a:lstStyle/>
          <a:p>
            <a:pPr marL="0" indent="0" algn="r">
              <a:buNone/>
            </a:pPr>
            <a:r>
              <a:rPr lang="en-US" sz="1300" b="1" dirty="0">
                <a:solidFill>
                  <a:srgbClr val="CBDAE4"/>
                </a:solidFill>
                <a:latin typeface="Cambria" pitchFamily="34" charset="0"/>
                <a:ea typeface="Cambria" pitchFamily="34" charset="-122"/>
                <a:cs typeface="Cambria" pitchFamily="34" charset="-120"/>
              </a:rPr>
              <a:t>21</a:t>
            </a:r>
            <a:endParaRPr lang="en-US" sz="1300" dirty="0"/>
          </a:p>
        </p:txBody>
      </p:sp>
      <p:sp>
        <p:nvSpPr>
          <p:cNvPr id="7" name="Shape 5"/>
          <p:cNvSpPr/>
          <p:nvPr/>
        </p:nvSpPr>
        <p:spPr>
          <a:xfrm>
            <a:off x="457200" y="1188720"/>
            <a:ext cx="7863840" cy="4581144"/>
          </a:xfrm>
          <a:prstGeom prst="roundRect">
            <a:avLst>
              <a:gd name="adj" fmla="val 1198"/>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8" name="Image 0" descr="C:\Users\ADMIN\AppData\Local\Temp\claude\D--DATN-TownHub\2a20fba2-0cd4-4668-a5dd-e0d1f8301abd\scratchpad\assets\fig_flow_p2p.png"/>
          <p:cNvPicPr>
            <a:picLocks noChangeAspect="1"/>
          </p:cNvPicPr>
          <p:nvPr/>
        </p:nvPicPr>
        <p:blipFill>
          <a:blip r:embed="rId3"/>
          <a:stretch>
            <a:fillRect/>
          </a:stretch>
        </p:blipFill>
        <p:spPr>
          <a:xfrm>
            <a:off x="548640" y="1935792"/>
            <a:ext cx="7680960" cy="3087000"/>
          </a:xfrm>
          <a:prstGeom prst="rect">
            <a:avLst/>
          </a:prstGeom>
        </p:spPr>
      </p:pic>
      <p:sp>
        <p:nvSpPr>
          <p:cNvPr id="9" name="Text 6"/>
          <p:cNvSpPr/>
          <p:nvPr/>
        </p:nvSpPr>
        <p:spPr>
          <a:xfrm>
            <a:off x="457200" y="5788152"/>
            <a:ext cx="7863840" cy="310896"/>
          </a:xfrm>
          <a:prstGeom prst="rect">
            <a:avLst/>
          </a:prstGeom>
          <a:noFill/>
          <a:ln/>
        </p:spPr>
        <p:txBody>
          <a:bodyPr wrap="square" rtlCol="0" anchor="ctr"/>
          <a:lstStyle/>
          <a:p>
            <a:pPr marL="0" indent="0" algn="ctr">
              <a:buNone/>
            </a:pPr>
            <a:r>
              <a:rPr lang="en-US" sz="1050" i="1" dirty="0">
                <a:solidFill>
                  <a:srgbClr val="6B7A88"/>
                </a:solidFill>
                <a:latin typeface="Calibri" pitchFamily="34" charset="0"/>
                <a:ea typeface="Calibri" pitchFamily="34" charset="-122"/>
                <a:cs typeface="Calibri" pitchFamily="34" charset="-120"/>
              </a:rPr>
              <a:t>Hình 4.2 — Luồng mua sắm P2P (PR→PO→nhập kho→hóa đơn→thanh toán)</a:t>
            </a:r>
            <a:endParaRPr lang="en-US" sz="1050" dirty="0"/>
          </a:p>
        </p:txBody>
      </p:sp>
      <p:sp>
        <p:nvSpPr>
          <p:cNvPr id="10" name="Text 7"/>
          <p:cNvSpPr/>
          <p:nvPr/>
        </p:nvSpPr>
        <p:spPr>
          <a:xfrm>
            <a:off x="8503920" y="1234440"/>
            <a:ext cx="3246120" cy="3291840"/>
          </a:xfrm>
          <a:prstGeom prst="rect">
            <a:avLst/>
          </a:prstGeom>
          <a:noFill/>
          <a:ln/>
        </p:spPr>
        <p:txBody>
          <a:bodyPr wrap="square" rtlCol="0" anchor="t"/>
          <a:lstStyle/>
          <a:p>
            <a:pPr marL="177800" indent="-177800" algn="l">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PR: DRAFT→SUBMITTED→APPROVED/REJECTED — căn cứ tạo PO; PO duyệt qua po_approval_workflow.</a:t>
            </a:r>
            <a:endParaRPr lang="en-US" sz="1200" dirty="0"/>
          </a:p>
          <a:p>
            <a:pPr marL="177800" indent="-177800" algn="l">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Nhận hàng → giao dịch IN, tồn tăng; nhập hóa đơn (có thể OCR) → đối chiếu PO → PAID.</a:t>
            </a:r>
            <a:endParaRPr lang="en-US" sz="1200" dirty="0"/>
          </a:p>
          <a:p>
            <a:pPr marL="177800" indent="-177800" algn="l">
              <a:spcAft>
                <a:spcPts val="600"/>
              </a:spcAft>
              <a:buSzPct val="100000"/>
              <a:buChar char="•"/>
            </a:pPr>
            <a:r>
              <a:rPr lang="en-US" sz="1200" dirty="0">
                <a:solidFill>
                  <a:srgbClr val="22303C"/>
                </a:solidFill>
                <a:latin typeface="Calibri" pitchFamily="34" charset="0"/>
                <a:ea typeface="Calibri" pitchFamily="34" charset="-122"/>
                <a:cs typeface="Calibri" pitchFamily="34" charset="-120"/>
              </a:rPr>
              <a:t>Kế thừa Procure-to-Pay của Odoo Purchase; điểm khác biệt: OCR hóa đơn tiếng Việt.</a:t>
            </a:r>
            <a:endParaRPr lang="en-US" sz="1200" dirty="0"/>
          </a:p>
        </p:txBody>
      </p:sp>
      <p:sp>
        <p:nvSpPr>
          <p:cNvPr id="11" name="Shape 8"/>
          <p:cNvSpPr/>
          <p:nvPr/>
        </p:nvSpPr>
        <p:spPr>
          <a:xfrm>
            <a:off x="8503920" y="4617720"/>
            <a:ext cx="3246120" cy="1463040"/>
          </a:xfrm>
          <a:prstGeom prst="roundRect">
            <a:avLst>
              <a:gd name="adj" fmla="val 3125"/>
            </a:avLst>
          </a:prstGeom>
          <a:solidFill>
            <a:srgbClr val="FBF1E0"/>
          </a:solidFill>
          <a:ln w="12700">
            <a:solidFill>
              <a:srgbClr val="EFA13C"/>
            </a:solidFill>
            <a:prstDash val="solid"/>
          </a:ln>
        </p:spPr>
      </p:sp>
      <p:sp>
        <p:nvSpPr>
          <p:cNvPr id="12" name="Text 9"/>
          <p:cNvSpPr/>
          <p:nvPr/>
        </p:nvSpPr>
        <p:spPr>
          <a:xfrm>
            <a:off x="8650224" y="4654296"/>
            <a:ext cx="2953512" cy="1389888"/>
          </a:xfrm>
          <a:prstGeom prst="rect">
            <a:avLst/>
          </a:prstGeom>
          <a:noFill/>
          <a:ln/>
        </p:spPr>
        <p:txBody>
          <a:bodyPr wrap="square" rtlCol="0" anchor="ctr"/>
          <a:lstStyle/>
          <a:p>
            <a:pPr marL="0" indent="0" algn="l">
              <a:buNone/>
            </a:pPr>
            <a:r>
              <a:rPr lang="en-US" sz="1100" b="1" dirty="0">
                <a:solidFill>
                  <a:srgbClr val="B9781F"/>
                </a:solidFill>
                <a:latin typeface="Calibri" pitchFamily="34" charset="0"/>
                <a:ea typeface="Calibri" pitchFamily="34" charset="-122"/>
                <a:cs typeface="Calibri" pitchFamily="34" charset="-120"/>
              </a:rPr>
              <a:t>Trung thực:  </a:t>
            </a:r>
            <a:r>
              <a:rPr lang="en-US" sz="1100" dirty="0">
                <a:solidFill>
                  <a:srgbClr val="22303C"/>
                </a:solidFill>
                <a:latin typeface="Calibri" pitchFamily="34" charset="0"/>
                <a:ea typeface="Calibri" pitchFamily="34" charset="-122"/>
                <a:cs typeface="Calibri" pitchFamily="34" charset="-120"/>
              </a:rPr>
              <a:t>Đối chiếu ba chiều (PO ↔ hóa đơn ↔ vật tư) hiện là thao tác thủ công của kế toán trước khi đánh dấu thanh toán.</a:t>
            </a:r>
            <a:endParaRPr lang="en-US" sz="1100" dirty="0"/>
          </a:p>
        </p:txBody>
      </p:sp>
    </p:spTree>
    <p:extLst>
      <p:ext uri="{BB962C8B-B14F-4D97-AF65-F5344CB8AC3E}">
        <p14:creationId xmlns:p14="http://schemas.microsoft.com/office/powerpoint/2010/main" val="23179599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10789920" cy="27432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4.3 · MUA SẮM</a:t>
            </a:r>
            <a:endParaRPr lang="en-US" sz="1200" dirty="0"/>
          </a:p>
        </p:txBody>
      </p:sp>
      <p:sp>
        <p:nvSpPr>
          <p:cNvPr id="3" name="Text 1"/>
          <p:cNvSpPr/>
          <p:nvPr/>
        </p:nvSpPr>
        <p:spPr>
          <a:xfrm>
            <a:off x="457200" y="530352"/>
            <a:ext cx="10972800" cy="548640"/>
          </a:xfrm>
          <a:prstGeom prst="rect">
            <a:avLst/>
          </a:prstGeom>
          <a:noFill/>
          <a:ln/>
        </p:spPr>
        <p:txBody>
          <a:bodyPr wrap="square" rtlCol="0" anchor="ctr"/>
          <a:lstStyle/>
          <a:p>
            <a:pPr marL="0" indent="0" algn="l">
              <a:buNone/>
            </a:pPr>
            <a:r>
              <a:rPr lang="en-US" sz="2500" b="1" dirty="0">
                <a:solidFill>
                  <a:srgbClr val="0E2A47"/>
                </a:solidFill>
                <a:latin typeface="Cambria" pitchFamily="34" charset="0"/>
                <a:ea typeface="Cambria" pitchFamily="34" charset="-122"/>
                <a:cs typeface="Cambria" pitchFamily="34" charset="-120"/>
              </a:rPr>
              <a:t>Kho · Kiểm kê định kỳ · Nhà cung cấp</a:t>
            </a:r>
            <a:endParaRPr lang="en-US" sz="2500" dirty="0"/>
          </a:p>
        </p:txBody>
      </p:sp>
      <p:sp>
        <p:nvSpPr>
          <p:cNvPr id="4" name="Text 2"/>
          <p:cNvSpPr/>
          <p:nvPr/>
        </p:nvSpPr>
        <p:spPr>
          <a:xfrm>
            <a:off x="457200" y="6455664"/>
            <a:ext cx="7315200" cy="292608"/>
          </a:xfrm>
          <a:prstGeom prst="rect">
            <a:avLst/>
          </a:prstGeom>
          <a:noFill/>
          <a:ln/>
        </p:spPr>
        <p:txBody>
          <a:bodyPr wrap="square"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5" name="Text 3"/>
          <p:cNvSpPr/>
          <p:nvPr/>
        </p:nvSpPr>
        <p:spPr>
          <a:xfrm>
            <a:off x="5029200" y="6455664"/>
            <a:ext cx="6702552" cy="292608"/>
          </a:xfrm>
          <a:prstGeom prst="rect">
            <a:avLst/>
          </a:prstGeom>
          <a:noFill/>
          <a:ln/>
        </p:spPr>
        <p:txBody>
          <a:bodyPr wrap="square"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6" name="Text 4"/>
          <p:cNvSpPr/>
          <p:nvPr/>
        </p:nvSpPr>
        <p:spPr>
          <a:xfrm>
            <a:off x="11475720" y="256032"/>
            <a:ext cx="457200" cy="365760"/>
          </a:xfrm>
          <a:prstGeom prst="rect">
            <a:avLst/>
          </a:prstGeom>
          <a:noFill/>
          <a:ln/>
        </p:spPr>
        <p:txBody>
          <a:bodyPr wrap="square" rtlCol="0" anchor="ctr"/>
          <a:lstStyle/>
          <a:p>
            <a:pPr marL="0" indent="0" algn="r">
              <a:buNone/>
            </a:pPr>
            <a:r>
              <a:rPr lang="en-US" sz="1300" b="1" dirty="0">
                <a:solidFill>
                  <a:srgbClr val="CBDAE4"/>
                </a:solidFill>
                <a:latin typeface="Cambria" pitchFamily="34" charset="0"/>
                <a:ea typeface="Cambria" pitchFamily="34" charset="-122"/>
                <a:cs typeface="Cambria" pitchFamily="34" charset="-120"/>
              </a:rPr>
              <a:t>22</a:t>
            </a:r>
            <a:endParaRPr lang="en-US" sz="1300" dirty="0"/>
          </a:p>
        </p:txBody>
      </p:sp>
      <p:sp>
        <p:nvSpPr>
          <p:cNvPr id="7" name="Shape 5"/>
          <p:cNvSpPr/>
          <p:nvPr/>
        </p:nvSpPr>
        <p:spPr>
          <a:xfrm>
            <a:off x="457200" y="1188720"/>
            <a:ext cx="3703320" cy="1600200"/>
          </a:xfrm>
          <a:prstGeom prst="roundRect">
            <a:avLst>
              <a:gd name="adj" fmla="val 3429"/>
            </a:avLst>
          </a:prstGeom>
          <a:solidFill>
            <a:srgbClr val="F1F5F8"/>
          </a:solidFill>
          <a:ln w="12700">
            <a:solidFill>
              <a:srgbClr val="CBDAE4"/>
            </a:solidFill>
            <a:prstDash val="solid"/>
          </a:ln>
        </p:spPr>
      </p:sp>
      <p:sp>
        <p:nvSpPr>
          <p:cNvPr id="8" name="Text 6"/>
          <p:cNvSpPr/>
          <p:nvPr/>
        </p:nvSpPr>
        <p:spPr>
          <a:xfrm>
            <a:off x="621792" y="1289304"/>
            <a:ext cx="3374136" cy="292608"/>
          </a:xfrm>
          <a:prstGeom prst="rect">
            <a:avLst/>
          </a:prstGeom>
          <a:noFill/>
          <a:ln/>
        </p:spPr>
        <p:txBody>
          <a:bodyPr wrap="square" rtlCol="0" anchor="ctr"/>
          <a:lstStyle/>
          <a:p>
            <a:pPr marL="0" indent="0" algn="l">
              <a:buNone/>
            </a:pPr>
            <a:r>
              <a:rPr lang="en-US" sz="1300" b="1" dirty="0">
                <a:solidFill>
                  <a:srgbClr val="0E7C86"/>
                </a:solidFill>
                <a:latin typeface="Cambria" pitchFamily="34" charset="0"/>
                <a:ea typeface="Cambria" pitchFamily="34" charset="-122"/>
                <a:cs typeface="Cambria" pitchFamily="34" charset="-120"/>
              </a:rPr>
              <a:t>Kho &amp; vật tư</a:t>
            </a:r>
            <a:endParaRPr lang="en-US" sz="1300" dirty="0"/>
          </a:p>
        </p:txBody>
      </p:sp>
      <p:sp>
        <p:nvSpPr>
          <p:cNvPr id="9" name="Text 7"/>
          <p:cNvSpPr/>
          <p:nvPr/>
        </p:nvSpPr>
        <p:spPr>
          <a:xfrm>
            <a:off x="603504" y="1609344"/>
            <a:ext cx="3410712" cy="1069848"/>
          </a:xfrm>
          <a:prstGeom prst="rect">
            <a:avLst/>
          </a:prstGeom>
          <a:noFill/>
          <a:ln/>
        </p:spPr>
        <p:txBody>
          <a:bodyPr wrap="square" rtlCol="0" anchor="t"/>
          <a:lstStyle/>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warehouses · materials (mức tồn tối thiểu/điểm đặt lại)</a:t>
            </a:r>
            <a:endParaRPr lang="en-US" sz="1200" dirty="0"/>
          </a:p>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Mọi biến động qua inventory_transactions</a:t>
            </a:r>
            <a:endParaRPr lang="en-US" sz="1200" dirty="0"/>
          </a:p>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Cảnh báo tồn dưới ngưỡng (low-stock)</a:t>
            </a:r>
            <a:endParaRPr lang="en-US" sz="1200" dirty="0"/>
          </a:p>
        </p:txBody>
      </p:sp>
      <p:sp>
        <p:nvSpPr>
          <p:cNvPr id="10" name="Shape 8"/>
          <p:cNvSpPr/>
          <p:nvPr/>
        </p:nvSpPr>
        <p:spPr>
          <a:xfrm>
            <a:off x="457200" y="2880360"/>
            <a:ext cx="3703320" cy="1600200"/>
          </a:xfrm>
          <a:prstGeom prst="roundRect">
            <a:avLst>
              <a:gd name="adj" fmla="val 3429"/>
            </a:avLst>
          </a:prstGeom>
          <a:solidFill>
            <a:srgbClr val="F1F5F8"/>
          </a:solidFill>
          <a:ln w="12700">
            <a:solidFill>
              <a:srgbClr val="CBDAE4"/>
            </a:solidFill>
            <a:prstDash val="solid"/>
          </a:ln>
        </p:spPr>
      </p:sp>
      <p:sp>
        <p:nvSpPr>
          <p:cNvPr id="11" name="Text 9"/>
          <p:cNvSpPr/>
          <p:nvPr/>
        </p:nvSpPr>
        <p:spPr>
          <a:xfrm>
            <a:off x="621792" y="2980944"/>
            <a:ext cx="3374136" cy="292608"/>
          </a:xfrm>
          <a:prstGeom prst="rect">
            <a:avLst/>
          </a:prstGeom>
          <a:noFill/>
          <a:ln/>
        </p:spPr>
        <p:txBody>
          <a:bodyPr wrap="square" rtlCol="0" anchor="ctr"/>
          <a:lstStyle/>
          <a:p>
            <a:pPr marL="0" indent="0" algn="l">
              <a:buNone/>
            </a:pPr>
            <a:r>
              <a:rPr lang="en-US" sz="1300" b="1" dirty="0">
                <a:solidFill>
                  <a:srgbClr val="0E7C86"/>
                </a:solidFill>
                <a:latin typeface="Cambria" pitchFamily="34" charset="0"/>
                <a:ea typeface="Cambria" pitchFamily="34" charset="-122"/>
                <a:cs typeface="Cambria" pitchFamily="34" charset="-120"/>
              </a:rPr>
              <a:t>Kiểm kê định kỳ (cycle count)</a:t>
            </a:r>
            <a:endParaRPr lang="en-US" sz="1300" dirty="0"/>
          </a:p>
        </p:txBody>
      </p:sp>
      <p:sp>
        <p:nvSpPr>
          <p:cNvPr id="12" name="Text 10"/>
          <p:cNvSpPr/>
          <p:nvPr/>
        </p:nvSpPr>
        <p:spPr>
          <a:xfrm>
            <a:off x="603504" y="3300984"/>
            <a:ext cx="3410712" cy="1069848"/>
          </a:xfrm>
          <a:prstGeom prst="rect">
            <a:avLst/>
          </a:prstGeom>
          <a:noFill/>
          <a:ln/>
        </p:spPr>
        <p:txBody>
          <a:bodyPr wrap="square" rtlCol="0" anchor="t"/>
          <a:lstStyle/>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Phiếu stock_takes có mã kẹ</a:t>
            </a:r>
            <a:endParaRPr lang="en-US" sz="1200" dirty="0"/>
          </a:p>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Đối chiếu tồn sổ ↔ thực đếm ↔ chênh lệch</a:t>
            </a:r>
            <a:endParaRPr lang="en-US" sz="1200" dirty="0"/>
          </a:p>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Tự sinh giao dịch điều chỉnh (ADJUST)</a:t>
            </a:r>
            <a:endParaRPr lang="en-US" sz="1200" dirty="0"/>
          </a:p>
        </p:txBody>
      </p:sp>
      <p:sp>
        <p:nvSpPr>
          <p:cNvPr id="13" name="Shape 11"/>
          <p:cNvSpPr/>
          <p:nvPr/>
        </p:nvSpPr>
        <p:spPr>
          <a:xfrm>
            <a:off x="457200" y="4572000"/>
            <a:ext cx="3703320" cy="1508760"/>
          </a:xfrm>
          <a:prstGeom prst="roundRect">
            <a:avLst>
              <a:gd name="adj" fmla="val 3636"/>
            </a:avLst>
          </a:prstGeom>
          <a:solidFill>
            <a:srgbClr val="F1F5F8"/>
          </a:solidFill>
          <a:ln w="12700">
            <a:solidFill>
              <a:srgbClr val="CBDAE4"/>
            </a:solidFill>
            <a:prstDash val="solid"/>
          </a:ln>
        </p:spPr>
      </p:sp>
      <p:sp>
        <p:nvSpPr>
          <p:cNvPr id="14" name="Text 12"/>
          <p:cNvSpPr/>
          <p:nvPr/>
        </p:nvSpPr>
        <p:spPr>
          <a:xfrm>
            <a:off x="621792" y="4672584"/>
            <a:ext cx="3374136" cy="292608"/>
          </a:xfrm>
          <a:prstGeom prst="rect">
            <a:avLst/>
          </a:prstGeom>
          <a:noFill/>
          <a:ln/>
        </p:spPr>
        <p:txBody>
          <a:bodyPr wrap="square" rtlCol="0" anchor="ctr"/>
          <a:lstStyle/>
          <a:p>
            <a:pPr marL="0" indent="0" algn="l">
              <a:buNone/>
            </a:pPr>
            <a:r>
              <a:rPr lang="en-US" sz="1300" b="1" dirty="0">
                <a:solidFill>
                  <a:srgbClr val="0E7C86"/>
                </a:solidFill>
                <a:latin typeface="Cambria" pitchFamily="34" charset="0"/>
                <a:ea typeface="Cambria" pitchFamily="34" charset="-122"/>
                <a:cs typeface="Cambria" pitchFamily="34" charset="-120"/>
              </a:rPr>
              <a:t>Nhà cung cấp</a:t>
            </a:r>
            <a:endParaRPr lang="en-US" sz="1300" dirty="0"/>
          </a:p>
        </p:txBody>
      </p:sp>
      <p:sp>
        <p:nvSpPr>
          <p:cNvPr id="15" name="Text 13"/>
          <p:cNvSpPr/>
          <p:nvPr/>
        </p:nvSpPr>
        <p:spPr>
          <a:xfrm>
            <a:off x="603504" y="4992624"/>
            <a:ext cx="3410712" cy="978408"/>
          </a:xfrm>
          <a:prstGeom prst="rect">
            <a:avLst/>
          </a:prstGeom>
          <a:noFill/>
          <a:ln/>
        </p:spPr>
        <p:txBody>
          <a:bodyPr wrap="square" rtlCol="0" anchor="t"/>
          <a:lstStyle/>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Hồ sơ NCC · hợp đồng · dịch vụ hợp đồng</a:t>
            </a:r>
            <a:endParaRPr lang="en-US" sz="1200" dirty="0"/>
          </a:p>
          <a:p>
            <a:pPr marL="152400" indent="-152400" algn="l">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Cảnh báo hợp đồng sắp hết hạn · đánh giá hiệu suất</a:t>
            </a:r>
            <a:endParaRPr lang="en-US" sz="1200" dirty="0"/>
          </a:p>
        </p:txBody>
      </p:sp>
      <p:sp>
        <p:nvSpPr>
          <p:cNvPr id="16" name="Shape 14"/>
          <p:cNvSpPr/>
          <p:nvPr/>
        </p:nvSpPr>
        <p:spPr>
          <a:xfrm>
            <a:off x="4343400" y="1188720"/>
            <a:ext cx="5074920" cy="3483864"/>
          </a:xfrm>
          <a:prstGeom prst="roundRect">
            <a:avLst>
              <a:gd name="adj" fmla="val 2299"/>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17" name="Image 0" descr="C:\Users\ADMIN\AppData\Local\Temp\claude\D--DATN-TownHub\2a20fba2-0cd4-4668-a5dd-e0d1f8301abd\scratchpad\assets\fig_uc_muasam.png"/>
          <p:cNvPicPr>
            <a:picLocks noChangeAspect="1"/>
          </p:cNvPicPr>
          <p:nvPr/>
        </p:nvPicPr>
        <p:blipFill>
          <a:blip r:embed="rId3"/>
          <a:stretch>
            <a:fillRect/>
          </a:stretch>
        </p:blipFill>
        <p:spPr>
          <a:xfrm>
            <a:off x="4434840" y="1504618"/>
            <a:ext cx="4892040" cy="2736405"/>
          </a:xfrm>
          <a:prstGeom prst="rect">
            <a:avLst/>
          </a:prstGeom>
        </p:spPr>
      </p:pic>
      <p:sp>
        <p:nvSpPr>
          <p:cNvPr id="19" name="Shape 16"/>
          <p:cNvSpPr/>
          <p:nvPr/>
        </p:nvSpPr>
        <p:spPr>
          <a:xfrm>
            <a:off x="9601200" y="1188720"/>
            <a:ext cx="2510118" cy="3483864"/>
          </a:xfrm>
          <a:prstGeom prst="roundRect">
            <a:avLst>
              <a:gd name="adj" fmla="val 2553"/>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20" name="Image 1" descr="C:\Users\ADMIN\AppData\Local\Temp\claude\D--DATN-TownHub\2a20fba2-0cd4-4668-a5dd-e0d1f8301abd\scratchpad\assets\fig_state_pr.png"/>
          <p:cNvPicPr>
            <a:picLocks noChangeAspect="1"/>
          </p:cNvPicPr>
          <p:nvPr/>
        </p:nvPicPr>
        <p:blipFill>
          <a:blip r:embed="rId4"/>
          <a:stretch>
            <a:fillRect/>
          </a:stretch>
        </p:blipFill>
        <p:spPr>
          <a:xfrm>
            <a:off x="9692640" y="1478320"/>
            <a:ext cx="2240280" cy="3002239"/>
          </a:xfrm>
          <a:prstGeom prst="rect">
            <a:avLst/>
          </a:prstGeom>
        </p:spPr>
      </p:pic>
      <p:sp>
        <p:nvSpPr>
          <p:cNvPr id="22" name="Text 18"/>
          <p:cNvSpPr/>
          <p:nvPr/>
        </p:nvSpPr>
        <p:spPr>
          <a:xfrm>
            <a:off x="4343400" y="4789663"/>
            <a:ext cx="7406640" cy="310896"/>
          </a:xfrm>
          <a:prstGeom prst="rect">
            <a:avLst/>
          </a:prstGeom>
          <a:noFill/>
          <a:ln/>
        </p:spPr>
        <p:txBody>
          <a:bodyPr wrap="square" rtlCol="0" anchor="ctr"/>
          <a:lstStyle/>
          <a:p>
            <a:pPr marL="0" indent="0" algn="l">
              <a:buNone/>
            </a:pPr>
            <a:r>
              <a:rPr lang="en-US" sz="1300" b="1" dirty="0">
                <a:solidFill>
                  <a:srgbClr val="0E2A47"/>
                </a:solidFill>
                <a:latin typeface="Cambria" pitchFamily="34" charset="0"/>
                <a:ea typeface="Cambria" pitchFamily="34" charset="-122"/>
                <a:cs typeface="Cambria" pitchFamily="34" charset="-120"/>
              </a:rPr>
              <a:t>Thiết kế CSDL nhóm Mua sắm (ERD — Hình 4.6)</a:t>
            </a:r>
            <a:endParaRPr lang="en-US" sz="1300" dirty="0"/>
          </a:p>
        </p:txBody>
      </p:sp>
      <p:sp>
        <p:nvSpPr>
          <p:cNvPr id="23" name="Text 19"/>
          <p:cNvSpPr/>
          <p:nvPr/>
        </p:nvSpPr>
        <p:spPr>
          <a:xfrm>
            <a:off x="4434840" y="5118847"/>
            <a:ext cx="7406640" cy="1280160"/>
          </a:xfrm>
          <a:prstGeom prst="rect">
            <a:avLst/>
          </a:prstGeom>
          <a:noFill/>
          <a:ln/>
        </p:spPr>
        <p:txBody>
          <a:bodyPr wrap="square" rtlCol="0" anchor="t"/>
          <a:lstStyle/>
          <a:p>
            <a:pPr marL="0" indent="0" algn="l">
              <a:spcAft>
                <a:spcPts val="200"/>
              </a:spcAft>
              <a:buNone/>
            </a:pPr>
            <a:r>
              <a:rPr lang="en-US" sz="1150" b="1" dirty="0">
                <a:solidFill>
                  <a:srgbClr val="0E7C86"/>
                </a:solidFill>
                <a:latin typeface="Calibri" pitchFamily="34" charset="0"/>
                <a:ea typeface="Calibri" pitchFamily="34" charset="-122"/>
                <a:cs typeface="Calibri" pitchFamily="34" charset="-120"/>
              </a:rPr>
              <a:t>warehouses · materials · inventory_levels · inventory_transactions</a:t>
            </a:r>
            <a:endParaRPr lang="en-US" sz="1150" dirty="0"/>
          </a:p>
          <a:p>
            <a:pPr marL="0" indent="0" algn="l">
              <a:spcAft>
                <a:spcPts val="200"/>
              </a:spcAft>
              <a:buNone/>
            </a:pPr>
            <a:r>
              <a:rPr lang="en-US" sz="1150" b="1" dirty="0">
                <a:solidFill>
                  <a:srgbClr val="0E7C86"/>
                </a:solidFill>
                <a:latin typeface="Calibri" pitchFamily="34" charset="0"/>
                <a:ea typeface="Calibri" pitchFamily="34" charset="-122"/>
                <a:cs typeface="Calibri" pitchFamily="34" charset="-120"/>
              </a:rPr>
              <a:t>purchase_requests · purchase_orders · po_approval_workflow · invoices</a:t>
            </a:r>
            <a:endParaRPr lang="en-US" sz="1150" dirty="0"/>
          </a:p>
          <a:p>
            <a:pPr marL="0" indent="0" algn="l">
              <a:spcAft>
                <a:spcPts val="200"/>
              </a:spcAft>
              <a:buNone/>
            </a:pPr>
            <a:r>
              <a:rPr lang="en-US" sz="1150" b="1" dirty="0">
                <a:solidFill>
                  <a:srgbClr val="0E7C86"/>
                </a:solidFill>
                <a:latin typeface="Calibri" pitchFamily="34" charset="0"/>
                <a:ea typeface="Calibri" pitchFamily="34" charset="-122"/>
                <a:cs typeface="Calibri" pitchFamily="34" charset="-120"/>
              </a:rPr>
              <a:t>ocr_jobs · stock_takes · vendors · vendor_contracts · vendor_evaluations</a:t>
            </a:r>
            <a:endParaRPr lang="en-US" sz="1150" dirty="0"/>
          </a:p>
        </p:txBody>
      </p:sp>
    </p:spTree>
    <p:extLst>
      <p:ext uri="{BB962C8B-B14F-4D97-AF65-F5344CB8AC3E}">
        <p14:creationId xmlns:p14="http://schemas.microsoft.com/office/powerpoint/2010/main" val="6748597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10789920" cy="27432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4.4 · OCR HÓA ĐƠN (THÀNH PHẦN AI)</a:t>
            </a:r>
            <a:endParaRPr lang="en-US" sz="1200" dirty="0"/>
          </a:p>
        </p:txBody>
      </p:sp>
      <p:sp>
        <p:nvSpPr>
          <p:cNvPr id="3" name="Text 1"/>
          <p:cNvSpPr/>
          <p:nvPr/>
        </p:nvSpPr>
        <p:spPr>
          <a:xfrm>
            <a:off x="457200" y="530352"/>
            <a:ext cx="10972800" cy="548640"/>
          </a:xfrm>
          <a:prstGeom prst="rect">
            <a:avLst/>
          </a:prstGeom>
          <a:noFill/>
          <a:ln/>
        </p:spPr>
        <p:txBody>
          <a:bodyPr wrap="square" rtlCol="0" anchor="ctr"/>
          <a:lstStyle/>
          <a:p>
            <a:pPr marL="0" indent="0" algn="l">
              <a:buNone/>
            </a:pPr>
            <a:r>
              <a:rPr lang="en-US" sz="2500" b="1" dirty="0">
                <a:solidFill>
                  <a:srgbClr val="0E2A47"/>
                </a:solidFill>
                <a:latin typeface="Cambria" pitchFamily="34" charset="0"/>
                <a:ea typeface="Cambria" pitchFamily="34" charset="-122"/>
                <a:cs typeface="Cambria" pitchFamily="34" charset="-120"/>
              </a:rPr>
              <a:t>Số hóa hóa đơn tự động — kiến trúc bất đồng bộ</a:t>
            </a:r>
            <a:endParaRPr lang="en-US" sz="2500" dirty="0"/>
          </a:p>
        </p:txBody>
      </p:sp>
      <p:sp>
        <p:nvSpPr>
          <p:cNvPr id="4" name="Text 2"/>
          <p:cNvSpPr/>
          <p:nvPr/>
        </p:nvSpPr>
        <p:spPr>
          <a:xfrm>
            <a:off x="457200" y="6455664"/>
            <a:ext cx="7315200" cy="292608"/>
          </a:xfrm>
          <a:prstGeom prst="rect">
            <a:avLst/>
          </a:prstGeom>
          <a:noFill/>
          <a:ln/>
        </p:spPr>
        <p:txBody>
          <a:bodyPr wrap="square"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5" name="Text 3"/>
          <p:cNvSpPr/>
          <p:nvPr/>
        </p:nvSpPr>
        <p:spPr>
          <a:xfrm>
            <a:off x="5029200" y="6455664"/>
            <a:ext cx="6702552" cy="292608"/>
          </a:xfrm>
          <a:prstGeom prst="rect">
            <a:avLst/>
          </a:prstGeom>
          <a:noFill/>
          <a:ln/>
        </p:spPr>
        <p:txBody>
          <a:bodyPr wrap="square"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6" name="Text 4"/>
          <p:cNvSpPr/>
          <p:nvPr/>
        </p:nvSpPr>
        <p:spPr>
          <a:xfrm>
            <a:off x="11475720" y="256032"/>
            <a:ext cx="457200" cy="365760"/>
          </a:xfrm>
          <a:prstGeom prst="rect">
            <a:avLst/>
          </a:prstGeom>
          <a:noFill/>
          <a:ln/>
        </p:spPr>
        <p:txBody>
          <a:bodyPr wrap="square" rtlCol="0" anchor="ctr"/>
          <a:lstStyle/>
          <a:p>
            <a:pPr marL="0" indent="0" algn="r">
              <a:buNone/>
            </a:pPr>
            <a:r>
              <a:rPr lang="en-US" sz="1300" b="1" dirty="0">
                <a:solidFill>
                  <a:srgbClr val="CBDAE4"/>
                </a:solidFill>
                <a:latin typeface="Cambria" pitchFamily="34" charset="0"/>
                <a:ea typeface="Cambria" pitchFamily="34" charset="-122"/>
                <a:cs typeface="Cambria" pitchFamily="34" charset="-120"/>
              </a:rPr>
              <a:t>23</a:t>
            </a:r>
            <a:endParaRPr lang="en-US" sz="1300" dirty="0"/>
          </a:p>
        </p:txBody>
      </p:sp>
      <p:sp>
        <p:nvSpPr>
          <p:cNvPr id="7" name="Shape 5"/>
          <p:cNvSpPr/>
          <p:nvPr/>
        </p:nvSpPr>
        <p:spPr>
          <a:xfrm>
            <a:off x="457200" y="1188720"/>
            <a:ext cx="6766560" cy="2889504"/>
          </a:xfrm>
          <a:prstGeom prst="roundRect">
            <a:avLst>
              <a:gd name="adj" fmla="val 1899"/>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8" name="Image 0" descr="C:\Users\ADMIN\AppData\Local\Temp\claude\D--DATN-TownHub\2a20fba2-0cd4-4668-a5dd-e0d1f8301abd\scratchpad\assets\fig_seq_ocr.png"/>
          <p:cNvPicPr>
            <a:picLocks noChangeAspect="1"/>
          </p:cNvPicPr>
          <p:nvPr/>
        </p:nvPicPr>
        <p:blipFill>
          <a:blip r:embed="rId3"/>
          <a:stretch>
            <a:fillRect/>
          </a:stretch>
        </p:blipFill>
        <p:spPr>
          <a:xfrm>
            <a:off x="1334281" y="1280160"/>
            <a:ext cx="5012398" cy="2706624"/>
          </a:xfrm>
          <a:prstGeom prst="rect">
            <a:avLst/>
          </a:prstGeom>
        </p:spPr>
      </p:pic>
      <p:sp>
        <p:nvSpPr>
          <p:cNvPr id="9" name="Text 6"/>
          <p:cNvSpPr/>
          <p:nvPr/>
        </p:nvSpPr>
        <p:spPr>
          <a:xfrm>
            <a:off x="457200" y="4096512"/>
            <a:ext cx="6766560" cy="310896"/>
          </a:xfrm>
          <a:prstGeom prst="rect">
            <a:avLst/>
          </a:prstGeom>
          <a:noFill/>
          <a:ln/>
        </p:spPr>
        <p:txBody>
          <a:bodyPr wrap="square" rtlCol="0" anchor="ctr"/>
          <a:lstStyle/>
          <a:p>
            <a:pPr marL="0" indent="0" algn="ctr">
              <a:buNone/>
            </a:pPr>
            <a:r>
              <a:rPr lang="en-US" sz="1050" i="1" dirty="0">
                <a:solidFill>
                  <a:srgbClr val="6B7A88"/>
                </a:solidFill>
                <a:latin typeface="Calibri" pitchFamily="34" charset="0"/>
                <a:ea typeface="Calibri" pitchFamily="34" charset="-122"/>
                <a:cs typeface="Calibri" pitchFamily="34" charset="-120"/>
              </a:rPr>
              <a:t>Hình 4.3 — Tuần tự OCR bất đồng bộ (worker nền)</a:t>
            </a:r>
            <a:endParaRPr lang="en-US" sz="1050" dirty="0"/>
          </a:p>
        </p:txBody>
      </p:sp>
      <p:sp>
        <p:nvSpPr>
          <p:cNvPr id="10" name="Text 7"/>
          <p:cNvSpPr/>
          <p:nvPr/>
        </p:nvSpPr>
        <p:spPr>
          <a:xfrm>
            <a:off x="457200" y="4526280"/>
            <a:ext cx="6766560" cy="1600200"/>
          </a:xfrm>
          <a:prstGeom prst="rect">
            <a:avLst/>
          </a:prstGeom>
          <a:noFill/>
          <a:ln/>
        </p:spPr>
        <p:txBody>
          <a:bodyPr wrap="square" rtlCol="0" anchor="t"/>
          <a:lstStyle/>
          <a:p>
            <a:pPr marL="177800" indent="-177800" algn="l">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Nộp ảnh → job QUEUED; worker nền thật (OcrProcessingWorker) gọi dịch vụ Python → PROCESSING → COMPLETED.</a:t>
            </a:r>
            <a:endParaRPr lang="en-US" sz="1250" dirty="0"/>
          </a:p>
          <a:p>
            <a:pPr marL="177800" indent="-177800" algn="l">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Backend trả jobId ngay (không chặn UI); giao diện polling tới khi xong.</a:t>
            </a:r>
            <a:endParaRPr lang="en-US" sz="1250" dirty="0"/>
          </a:p>
          <a:p>
            <a:pPr marL="177800" indent="-177800" algn="l">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3 engine tự chủ, chạy offline: paddleocr (mặc định) · vietocr · paddledet_viet.</a:t>
            </a:r>
            <a:endParaRPr lang="en-US" sz="1250" dirty="0"/>
          </a:p>
        </p:txBody>
      </p:sp>
      <p:sp>
        <p:nvSpPr>
          <p:cNvPr id="11" name="Shape 8"/>
          <p:cNvSpPr/>
          <p:nvPr/>
        </p:nvSpPr>
        <p:spPr>
          <a:xfrm>
            <a:off x="7452360" y="1188720"/>
            <a:ext cx="4297680" cy="2523744"/>
          </a:xfrm>
          <a:prstGeom prst="roundRect">
            <a:avLst>
              <a:gd name="adj" fmla="val 2174"/>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12" name="Image 1" descr="C:\Users\ADMIN\AppData\Local\Temp\claude\D--DATN-TownHub\2a20fba2-0cd4-4668-a5dd-e0d1f8301abd\scratchpad\assets\tc_ui_proc_ocr_new.png"/>
          <p:cNvPicPr>
            <a:picLocks noChangeAspect="1"/>
          </p:cNvPicPr>
          <p:nvPr/>
        </p:nvPicPr>
        <p:blipFill>
          <a:blip r:embed="rId4"/>
          <a:stretch>
            <a:fillRect/>
          </a:stretch>
        </p:blipFill>
        <p:spPr>
          <a:xfrm>
            <a:off x="7728509" y="1280160"/>
            <a:ext cx="3745382" cy="2340864"/>
          </a:xfrm>
          <a:prstGeom prst="rect">
            <a:avLst/>
          </a:prstGeom>
        </p:spPr>
      </p:pic>
      <p:sp>
        <p:nvSpPr>
          <p:cNvPr id="13" name="Text 9"/>
          <p:cNvSpPr/>
          <p:nvPr/>
        </p:nvSpPr>
        <p:spPr>
          <a:xfrm>
            <a:off x="7452360" y="3730752"/>
            <a:ext cx="4297680" cy="310896"/>
          </a:xfrm>
          <a:prstGeom prst="rect">
            <a:avLst/>
          </a:prstGeom>
          <a:noFill/>
          <a:ln/>
        </p:spPr>
        <p:txBody>
          <a:bodyPr wrap="square" rtlCol="0" anchor="ctr"/>
          <a:lstStyle/>
          <a:p>
            <a:pPr marL="0" indent="0" algn="ctr">
              <a:buNone/>
            </a:pPr>
            <a:r>
              <a:rPr lang="en-US" sz="1050" i="1" dirty="0">
                <a:solidFill>
                  <a:srgbClr val="6B7A88"/>
                </a:solidFill>
                <a:latin typeface="Calibri" pitchFamily="34" charset="0"/>
                <a:ea typeface="Calibri" pitchFamily="34" charset="-122"/>
                <a:cs typeface="Calibri" pitchFamily="34" charset="-120"/>
              </a:rPr>
              <a:t>Màn hình tải &amp; bóc tách hóa đơn — thật</a:t>
            </a:r>
            <a:endParaRPr lang="en-US" sz="1050" dirty="0"/>
          </a:p>
        </p:txBody>
      </p:sp>
      <p:sp>
        <p:nvSpPr>
          <p:cNvPr id="14" name="Shape 10"/>
          <p:cNvSpPr/>
          <p:nvPr/>
        </p:nvSpPr>
        <p:spPr>
          <a:xfrm>
            <a:off x="7452360" y="4160520"/>
            <a:ext cx="4297680" cy="1920240"/>
          </a:xfrm>
          <a:prstGeom prst="roundRect">
            <a:avLst>
              <a:gd name="adj" fmla="val 2857"/>
            </a:avLst>
          </a:prstGeom>
          <a:solidFill>
            <a:srgbClr val="F1F5F8"/>
          </a:solidFill>
          <a:ln w="15875">
            <a:solidFill>
              <a:srgbClr val="0E7C86"/>
            </a:solidFill>
            <a:prstDash val="solid"/>
          </a:ln>
        </p:spPr>
      </p:sp>
      <p:sp>
        <p:nvSpPr>
          <p:cNvPr id="15" name="Text 11"/>
          <p:cNvSpPr/>
          <p:nvPr/>
        </p:nvSpPr>
        <p:spPr>
          <a:xfrm>
            <a:off x="7616952" y="4261104"/>
            <a:ext cx="3977640" cy="310896"/>
          </a:xfrm>
          <a:prstGeom prst="rect">
            <a:avLst/>
          </a:prstGeom>
          <a:noFill/>
          <a:ln/>
        </p:spPr>
        <p:txBody>
          <a:bodyPr wrap="square" rtlCol="0" anchor="ctr"/>
          <a:lstStyle/>
          <a:p>
            <a:pPr marL="0" indent="0">
              <a:buNone/>
            </a:pPr>
            <a:r>
              <a:rPr lang="en-US" sz="1300" b="1" dirty="0">
                <a:solidFill>
                  <a:srgbClr val="0E7C86"/>
                </a:solidFill>
                <a:latin typeface="Cambria" pitchFamily="34" charset="0"/>
                <a:ea typeface="Cambria" pitchFamily="34" charset="-122"/>
                <a:cs typeface="Cambria" pitchFamily="34" charset="-120"/>
              </a:rPr>
              <a:t>Đối chiếu 3 chiều với PO</a:t>
            </a:r>
            <a:endParaRPr lang="en-US" sz="1300" dirty="0"/>
          </a:p>
        </p:txBody>
      </p:sp>
      <p:sp>
        <p:nvSpPr>
          <p:cNvPr id="16" name="Text 12"/>
          <p:cNvSpPr/>
          <p:nvPr/>
        </p:nvSpPr>
        <p:spPr>
          <a:xfrm>
            <a:off x="7598664" y="4626864"/>
            <a:ext cx="4023360" cy="1371600"/>
          </a:xfrm>
          <a:prstGeom prst="rect">
            <a:avLst/>
          </a:prstGeom>
          <a:noFill/>
          <a:ln/>
        </p:spPr>
        <p:txBody>
          <a:bodyPr wrap="square" rtlCol="0" anchor="t"/>
          <a:lstStyle/>
          <a:p>
            <a:pPr marL="177800" indent="-177800" algn="l">
              <a:spcAft>
                <a:spcPts val="600"/>
              </a:spcAft>
              <a:buSzPct val="100000"/>
              <a:buChar char="•"/>
            </a:pPr>
            <a:r>
              <a:rPr lang="en-US" sz="1150" dirty="0">
                <a:solidFill>
                  <a:srgbClr val="22303C"/>
                </a:solidFill>
                <a:latin typeface="Calibri" pitchFamily="34" charset="0"/>
                <a:ea typeface="Calibri" pitchFamily="34" charset="-122"/>
                <a:cs typeface="Calibri" pitchFamily="34" charset="-120"/>
              </a:rPr>
              <a:t>Nhà cung cấp — theo mã số thuế (fallback tên)</a:t>
            </a:r>
            <a:endParaRPr lang="en-US" sz="1150" dirty="0"/>
          </a:p>
          <a:p>
            <a:pPr marL="177800" indent="-177800" algn="l">
              <a:spcAft>
                <a:spcPts val="600"/>
              </a:spcAft>
              <a:buSzPct val="100000"/>
              <a:buChar char="•"/>
            </a:pPr>
            <a:r>
              <a:rPr lang="en-US" sz="1150" dirty="0">
                <a:solidFill>
                  <a:srgbClr val="22303C"/>
                </a:solidFill>
                <a:latin typeface="Calibri" pitchFamily="34" charset="0"/>
                <a:ea typeface="Calibri" pitchFamily="34" charset="-122"/>
                <a:cs typeface="Calibri" pitchFamily="34" charset="-120"/>
              </a:rPr>
              <a:t>Tổng tiền — tiền hàng + thuế so với PO</a:t>
            </a:r>
            <a:endParaRPr lang="en-US" sz="1150" dirty="0"/>
          </a:p>
          <a:p>
            <a:pPr marL="177800" indent="-177800" algn="l">
              <a:spcAft>
                <a:spcPts val="600"/>
              </a:spcAft>
              <a:buSzPct val="100000"/>
              <a:buChar char="•"/>
            </a:pPr>
            <a:r>
              <a:rPr lang="en-US" sz="1150" dirty="0">
                <a:solidFill>
                  <a:srgbClr val="22303C"/>
                </a:solidFill>
                <a:latin typeface="Calibri" pitchFamily="34" charset="0"/>
                <a:ea typeface="Calibri" pitchFamily="34" charset="-122"/>
                <a:cs typeface="Calibri" pitchFamily="34" charset="-120"/>
              </a:rPr>
              <a:t>Danh mục vật tư — phát hiện giao thiếu/sai</a:t>
            </a:r>
            <a:endParaRPr lang="en-US" sz="1150" dirty="0"/>
          </a:p>
        </p:txBody>
      </p:sp>
    </p:spTree>
    <p:extLst>
      <p:ext uri="{BB962C8B-B14F-4D97-AF65-F5344CB8AC3E}">
        <p14:creationId xmlns:p14="http://schemas.microsoft.com/office/powerpoint/2010/main" val="469798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10789920" cy="27432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4.4 · OCR HÓA ĐƠN (THÀNH PHẦN AI)</a:t>
            </a:r>
            <a:endParaRPr lang="en-US" sz="1200" dirty="0"/>
          </a:p>
        </p:txBody>
      </p:sp>
      <p:sp>
        <p:nvSpPr>
          <p:cNvPr id="3" name="Text 1"/>
          <p:cNvSpPr/>
          <p:nvPr/>
        </p:nvSpPr>
        <p:spPr>
          <a:xfrm>
            <a:off x="457200" y="530352"/>
            <a:ext cx="10972800" cy="548640"/>
          </a:xfrm>
          <a:prstGeom prst="rect">
            <a:avLst/>
          </a:prstGeom>
          <a:noFill/>
          <a:ln/>
        </p:spPr>
        <p:txBody>
          <a:bodyPr wrap="square" rtlCol="0" anchor="ctr"/>
          <a:lstStyle/>
          <a:p>
            <a:pPr marL="0" indent="0" algn="l">
              <a:buNone/>
            </a:pPr>
            <a:r>
              <a:rPr lang="en-US" sz="2500" b="1" dirty="0">
                <a:solidFill>
                  <a:srgbClr val="0E2A47"/>
                </a:solidFill>
                <a:latin typeface="Cambria" pitchFamily="34" charset="0"/>
                <a:ea typeface="Cambria" pitchFamily="34" charset="-122"/>
                <a:cs typeface="Cambria" pitchFamily="34" charset="-120"/>
              </a:rPr>
              <a:t>Khảo sát, kết quả &amp; thuật toán tự thiết kế</a:t>
            </a:r>
            <a:endParaRPr lang="en-US" sz="2500" dirty="0"/>
          </a:p>
        </p:txBody>
      </p:sp>
      <p:sp>
        <p:nvSpPr>
          <p:cNvPr id="4" name="Text 2"/>
          <p:cNvSpPr/>
          <p:nvPr/>
        </p:nvSpPr>
        <p:spPr>
          <a:xfrm>
            <a:off x="457200" y="6455664"/>
            <a:ext cx="7315200" cy="292608"/>
          </a:xfrm>
          <a:prstGeom prst="rect">
            <a:avLst/>
          </a:prstGeom>
          <a:noFill/>
          <a:ln/>
        </p:spPr>
        <p:txBody>
          <a:bodyPr wrap="square"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5" name="Text 3"/>
          <p:cNvSpPr/>
          <p:nvPr/>
        </p:nvSpPr>
        <p:spPr>
          <a:xfrm>
            <a:off x="5029200" y="6455664"/>
            <a:ext cx="6702552" cy="292608"/>
          </a:xfrm>
          <a:prstGeom prst="rect">
            <a:avLst/>
          </a:prstGeom>
          <a:noFill/>
          <a:ln/>
        </p:spPr>
        <p:txBody>
          <a:bodyPr wrap="square"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6" name="Text 4"/>
          <p:cNvSpPr/>
          <p:nvPr/>
        </p:nvSpPr>
        <p:spPr>
          <a:xfrm>
            <a:off x="11475720" y="256032"/>
            <a:ext cx="457200" cy="365760"/>
          </a:xfrm>
          <a:prstGeom prst="rect">
            <a:avLst/>
          </a:prstGeom>
          <a:noFill/>
          <a:ln/>
        </p:spPr>
        <p:txBody>
          <a:bodyPr wrap="square" rtlCol="0" anchor="ctr"/>
          <a:lstStyle/>
          <a:p>
            <a:pPr marL="0" indent="0" algn="r">
              <a:buNone/>
            </a:pPr>
            <a:r>
              <a:rPr lang="en-US" sz="1300" b="1" dirty="0">
                <a:solidFill>
                  <a:srgbClr val="CBDAE4"/>
                </a:solidFill>
                <a:latin typeface="Cambria" pitchFamily="34" charset="0"/>
                <a:ea typeface="Cambria" pitchFamily="34" charset="-122"/>
                <a:cs typeface="Cambria" pitchFamily="34" charset="-120"/>
              </a:rPr>
              <a:t>24</a:t>
            </a:r>
            <a:endParaRPr lang="en-US" sz="1300" dirty="0"/>
          </a:p>
        </p:txBody>
      </p:sp>
      <p:sp>
        <p:nvSpPr>
          <p:cNvPr id="7" name="Shape 5"/>
          <p:cNvSpPr/>
          <p:nvPr/>
        </p:nvSpPr>
        <p:spPr>
          <a:xfrm>
            <a:off x="457200" y="1188720"/>
            <a:ext cx="4754880" cy="2148840"/>
          </a:xfrm>
          <a:prstGeom prst="roundRect">
            <a:avLst>
              <a:gd name="adj" fmla="val 2553"/>
            </a:avLst>
          </a:prstGeom>
          <a:solidFill>
            <a:srgbClr val="F1F5F8"/>
          </a:solidFill>
          <a:ln w="12700">
            <a:solidFill>
              <a:srgbClr val="CBDAE4"/>
            </a:solidFill>
            <a:prstDash val="solid"/>
          </a:ln>
        </p:spPr>
      </p:sp>
      <p:sp>
        <p:nvSpPr>
          <p:cNvPr id="8" name="Text 6"/>
          <p:cNvSpPr/>
          <p:nvPr/>
        </p:nvSpPr>
        <p:spPr>
          <a:xfrm>
            <a:off x="621792" y="1289304"/>
            <a:ext cx="4425696" cy="292608"/>
          </a:xfrm>
          <a:prstGeom prst="rect">
            <a:avLst/>
          </a:prstGeom>
          <a:noFill/>
          <a:ln/>
        </p:spPr>
        <p:txBody>
          <a:bodyPr wrap="square" rtlCol="0" anchor="ctr"/>
          <a:lstStyle/>
          <a:p>
            <a:pPr marL="0" indent="0" algn="l">
              <a:buNone/>
            </a:pPr>
            <a:r>
              <a:rPr lang="en-US" sz="1300" b="1" dirty="0">
                <a:solidFill>
                  <a:srgbClr val="0E7C86"/>
                </a:solidFill>
                <a:latin typeface="Cambria" pitchFamily="34" charset="0"/>
                <a:ea typeface="Cambria" pitchFamily="34" charset="-122"/>
                <a:cs typeface="Cambria" pitchFamily="34" charset="-120"/>
              </a:rPr>
              <a:t>Vì sao tự xây thay vì đám mây?</a:t>
            </a:r>
            <a:endParaRPr lang="en-US" sz="1300" dirty="0"/>
          </a:p>
        </p:txBody>
      </p:sp>
      <p:sp>
        <p:nvSpPr>
          <p:cNvPr id="9" name="Text 7"/>
          <p:cNvSpPr/>
          <p:nvPr/>
        </p:nvSpPr>
        <p:spPr>
          <a:xfrm>
            <a:off x="603504" y="1609344"/>
            <a:ext cx="4462272" cy="1618488"/>
          </a:xfrm>
          <a:prstGeom prst="rect">
            <a:avLst/>
          </a:prstGeom>
          <a:noFill/>
          <a:ln/>
        </p:spPr>
        <p:txBody>
          <a:bodyPr wrap="square" rtlCol="0" anchor="t"/>
          <a:lstStyle/>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Đám mây (Google ~1,5 · Azure ~10 · Textract ~65 USD/1.000): phải gửi dữ liệu ra ngoài, phí tăng theo lượng, không fine-tune cho hóa đơn Việt.</a:t>
            </a:r>
            <a:endParaRPr lang="en-US" sz="1150" dirty="0"/>
          </a:p>
          <a:p>
            <a:pPr marL="152400" indent="-152400" algn="l">
              <a:spcAft>
                <a:spcPts val="300"/>
              </a:spcAft>
              <a:buSzPct val="100000"/>
              <a:buChar char="•"/>
            </a:pPr>
            <a:r>
              <a:rPr lang="en-US" sz="1150" dirty="0">
                <a:solidFill>
                  <a:srgbClr val="22303C"/>
                </a:solidFill>
                <a:latin typeface="Calibri" pitchFamily="34" charset="0"/>
                <a:ea typeface="Calibri" pitchFamily="34" charset="-122"/>
                <a:cs typeface="Calibri" pitchFamily="34" charset="-120"/>
              </a:rPr>
              <a:t>Chọn mã nguồn mở tự chủ: PaddleOCR (hợp nhất, nhanh, ~86k sao) + VietOCR (mạnh dấu tiếng Việt).</a:t>
            </a:r>
            <a:endParaRPr lang="en-US" sz="1150" dirty="0"/>
          </a:p>
        </p:txBody>
      </p:sp>
      <p:sp>
        <p:nvSpPr>
          <p:cNvPr id="10" name="Shape 8"/>
          <p:cNvSpPr/>
          <p:nvPr/>
        </p:nvSpPr>
        <p:spPr>
          <a:xfrm>
            <a:off x="457200" y="3520440"/>
            <a:ext cx="4754880" cy="2249424"/>
          </a:xfrm>
          <a:prstGeom prst="roundRect">
            <a:avLst>
              <a:gd name="adj" fmla="val 2439"/>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11" name="Image 0" descr="C:\Users\ADMIN\AppData\Local\Temp\claude\D--DATN-TownHub\2a20fba2-0cd4-4668-a5dd-e0d1f8301abd\scratchpad\assets\ocr_leaderboard_omnidocbench.png"/>
          <p:cNvPicPr>
            <a:picLocks noChangeAspect="1"/>
          </p:cNvPicPr>
          <p:nvPr/>
        </p:nvPicPr>
        <p:blipFill>
          <a:blip r:embed="rId3"/>
          <a:stretch>
            <a:fillRect/>
          </a:stretch>
        </p:blipFill>
        <p:spPr>
          <a:xfrm>
            <a:off x="1533806" y="3611880"/>
            <a:ext cx="2601667" cy="2066544"/>
          </a:xfrm>
          <a:prstGeom prst="rect">
            <a:avLst/>
          </a:prstGeom>
        </p:spPr>
      </p:pic>
      <p:sp>
        <p:nvSpPr>
          <p:cNvPr id="12" name="Text 9"/>
          <p:cNvSpPr/>
          <p:nvPr/>
        </p:nvSpPr>
        <p:spPr>
          <a:xfrm>
            <a:off x="457200" y="5788152"/>
            <a:ext cx="4754880" cy="310896"/>
          </a:xfrm>
          <a:prstGeom prst="rect">
            <a:avLst/>
          </a:prstGeom>
          <a:noFill/>
          <a:ln/>
        </p:spPr>
        <p:txBody>
          <a:bodyPr wrap="square" rtlCol="0" anchor="ctr"/>
          <a:lstStyle/>
          <a:p>
            <a:pPr marL="0" indent="0" algn="ctr">
              <a:buNone/>
            </a:pPr>
            <a:r>
              <a:rPr lang="en-US" sz="1050" i="1" dirty="0">
                <a:solidFill>
                  <a:srgbClr val="6B7A88"/>
                </a:solidFill>
                <a:latin typeface="Calibri" pitchFamily="34" charset="0"/>
                <a:ea typeface="Calibri" pitchFamily="34" charset="-122"/>
                <a:cs typeface="Calibri" pitchFamily="34" charset="-120"/>
              </a:rPr>
              <a:t>Hình 4.35 — OmniDocBench (CVPR 2025): họ PaddleOCR dẫn đầu</a:t>
            </a:r>
            <a:endParaRPr lang="en-US" sz="1050" dirty="0"/>
          </a:p>
        </p:txBody>
      </p:sp>
      <p:sp>
        <p:nvSpPr>
          <p:cNvPr id="13" name="Shape 10"/>
          <p:cNvSpPr/>
          <p:nvPr/>
        </p:nvSpPr>
        <p:spPr>
          <a:xfrm>
            <a:off x="5440680" y="1188720"/>
            <a:ext cx="3977640" cy="2020824"/>
          </a:xfrm>
          <a:prstGeom prst="roundRect">
            <a:avLst>
              <a:gd name="adj" fmla="val 2715"/>
            </a:avLst>
          </a:prstGeom>
          <a:solidFill>
            <a:srgbClr val="FFFFFF"/>
          </a:solidFill>
          <a:ln w="12700">
            <a:solidFill>
              <a:srgbClr val="CBDAE4"/>
            </a:solidFill>
            <a:prstDash val="solid"/>
          </a:ln>
          <a:effectLst>
            <a:outerShdw blurRad="76200" dist="25400" dir="5400000" algn="bl" rotWithShape="0">
              <a:srgbClr val="9FB2C0">
                <a:alpha val="45000"/>
              </a:srgbClr>
            </a:outerShdw>
          </a:effectLst>
        </p:spPr>
      </p:sp>
      <p:pic>
        <p:nvPicPr>
          <p:cNvPr id="14" name="Image 1" descr="C:\Users\ADMIN\AppData\Local\Temp\claude\D--DATN-TownHub\2a20fba2-0cd4-4668-a5dd-e0d1f8301abd\scratchpad\assets\img31.png"/>
          <p:cNvPicPr>
            <a:picLocks noChangeAspect="1"/>
          </p:cNvPicPr>
          <p:nvPr/>
        </p:nvPicPr>
        <p:blipFill>
          <a:blip r:embed="rId4"/>
          <a:stretch>
            <a:fillRect/>
          </a:stretch>
        </p:blipFill>
        <p:spPr>
          <a:xfrm>
            <a:off x="5631511" y="1280160"/>
            <a:ext cx="3595977" cy="1837944"/>
          </a:xfrm>
          <a:prstGeom prst="rect">
            <a:avLst/>
          </a:prstGeom>
        </p:spPr>
      </p:pic>
      <p:sp>
        <p:nvSpPr>
          <p:cNvPr id="15" name="Text 11"/>
          <p:cNvSpPr/>
          <p:nvPr/>
        </p:nvSpPr>
        <p:spPr>
          <a:xfrm>
            <a:off x="5440680" y="3227832"/>
            <a:ext cx="3977640" cy="310896"/>
          </a:xfrm>
          <a:prstGeom prst="rect">
            <a:avLst/>
          </a:prstGeom>
          <a:noFill/>
          <a:ln/>
        </p:spPr>
        <p:txBody>
          <a:bodyPr wrap="square" rtlCol="0" anchor="ctr"/>
          <a:lstStyle/>
          <a:p>
            <a:pPr marL="0" indent="0" algn="ctr">
              <a:buNone/>
            </a:pPr>
            <a:r>
              <a:rPr lang="en-US" sz="1050" i="1" dirty="0">
                <a:solidFill>
                  <a:srgbClr val="6B7A88"/>
                </a:solidFill>
                <a:latin typeface="Calibri" pitchFamily="34" charset="0"/>
                <a:ea typeface="Calibri" pitchFamily="34" charset="-122"/>
                <a:cs typeface="Calibri" pitchFamily="34" charset="-120"/>
              </a:rPr>
              <a:t>Hình 4.24 — So sánh 3 engine (val 300 mẫu)</a:t>
            </a:r>
            <a:endParaRPr lang="en-US" sz="1050" dirty="0"/>
          </a:p>
        </p:txBody>
      </p:sp>
      <p:sp>
        <p:nvSpPr>
          <p:cNvPr id="16" name="Text 12"/>
          <p:cNvSpPr/>
          <p:nvPr/>
        </p:nvSpPr>
        <p:spPr>
          <a:xfrm>
            <a:off x="9464040" y="1234440"/>
            <a:ext cx="2286000" cy="548640"/>
          </a:xfrm>
          <a:prstGeom prst="rect">
            <a:avLst/>
          </a:prstGeom>
          <a:noFill/>
          <a:ln/>
        </p:spPr>
        <p:txBody>
          <a:bodyPr wrap="square" rtlCol="0" anchor="b"/>
          <a:lstStyle/>
          <a:p>
            <a:pPr marL="0" indent="0" algn="ctr">
              <a:buNone/>
            </a:pPr>
            <a:r>
              <a:rPr lang="en-US" sz="3000" b="1" dirty="0">
                <a:solidFill>
                  <a:srgbClr val="0E7C86"/>
                </a:solidFill>
                <a:latin typeface="Cambria" pitchFamily="34" charset="0"/>
                <a:ea typeface="Cambria" pitchFamily="34" charset="-122"/>
                <a:cs typeface="Cambria" pitchFamily="34" charset="-120"/>
              </a:rPr>
              <a:t>99,64%</a:t>
            </a:r>
            <a:endParaRPr lang="en-US" sz="3000" dirty="0"/>
          </a:p>
        </p:txBody>
      </p:sp>
      <p:sp>
        <p:nvSpPr>
          <p:cNvPr id="17" name="Text 13"/>
          <p:cNvSpPr/>
          <p:nvPr/>
        </p:nvSpPr>
        <p:spPr>
          <a:xfrm>
            <a:off x="9464040" y="1801368"/>
            <a:ext cx="2286000" cy="502920"/>
          </a:xfrm>
          <a:prstGeom prst="rect">
            <a:avLst/>
          </a:prstGeom>
          <a:noFill/>
          <a:ln/>
        </p:spPr>
        <p:txBody>
          <a:bodyPr wrap="square" rtlCol="0" anchor="t"/>
          <a:lstStyle/>
          <a:p>
            <a:pPr marL="0" indent="0" algn="ctr">
              <a:buNone/>
            </a:pPr>
            <a:r>
              <a:rPr lang="en-US" sz="1050" dirty="0">
                <a:solidFill>
                  <a:srgbClr val="6B7A88"/>
                </a:solidFill>
                <a:latin typeface="Calibri" pitchFamily="34" charset="0"/>
                <a:ea typeface="Calibri" pitchFamily="34" charset="-122"/>
                <a:cs typeface="Calibri" pitchFamily="34" charset="-120"/>
              </a:rPr>
              <a:t>val accuracy (rec) @ epoch 41</a:t>
            </a:r>
            <a:endParaRPr lang="en-US" sz="1050" dirty="0"/>
          </a:p>
        </p:txBody>
      </p:sp>
      <p:sp>
        <p:nvSpPr>
          <p:cNvPr id="18" name="Text 14"/>
          <p:cNvSpPr/>
          <p:nvPr/>
        </p:nvSpPr>
        <p:spPr>
          <a:xfrm>
            <a:off x="9464040" y="2514600"/>
            <a:ext cx="2286000" cy="548640"/>
          </a:xfrm>
          <a:prstGeom prst="rect">
            <a:avLst/>
          </a:prstGeom>
          <a:noFill/>
          <a:ln/>
        </p:spPr>
        <p:txBody>
          <a:bodyPr wrap="square" rtlCol="0" anchor="b"/>
          <a:lstStyle/>
          <a:p>
            <a:pPr marL="0" indent="0" algn="ctr">
              <a:buNone/>
            </a:pPr>
            <a:r>
              <a:rPr lang="en-US" sz="3000" b="1" dirty="0">
                <a:solidFill>
                  <a:srgbClr val="EFA13C"/>
                </a:solidFill>
                <a:latin typeface="Cambria" pitchFamily="34" charset="0"/>
                <a:ea typeface="Cambria" pitchFamily="34" charset="-122"/>
                <a:cs typeface="Cambria" pitchFamily="34" charset="-120"/>
              </a:rPr>
              <a:t>65 ms</a:t>
            </a:r>
            <a:endParaRPr lang="en-US" sz="3000" dirty="0"/>
          </a:p>
        </p:txBody>
      </p:sp>
      <p:sp>
        <p:nvSpPr>
          <p:cNvPr id="19" name="Text 15"/>
          <p:cNvSpPr/>
          <p:nvPr/>
        </p:nvSpPr>
        <p:spPr>
          <a:xfrm>
            <a:off x="9464040" y="3081528"/>
            <a:ext cx="2286000" cy="502920"/>
          </a:xfrm>
          <a:prstGeom prst="rect">
            <a:avLst/>
          </a:prstGeom>
          <a:noFill/>
          <a:ln/>
        </p:spPr>
        <p:txBody>
          <a:bodyPr wrap="square" rtlCol="0" anchor="t"/>
          <a:lstStyle/>
          <a:p>
            <a:pPr marL="0" indent="0" algn="ctr">
              <a:buNone/>
            </a:pPr>
            <a:r>
              <a:rPr lang="en-US" sz="1050" dirty="0">
                <a:solidFill>
                  <a:srgbClr val="6B7A88"/>
                </a:solidFill>
                <a:latin typeface="Calibri" pitchFamily="34" charset="0"/>
                <a:ea typeface="Calibri" pitchFamily="34" charset="-122"/>
                <a:cs typeface="Calibri" pitchFamily="34" charset="-120"/>
              </a:rPr>
              <a:t>PaddleOCR ~4,9× nhanh hơn VietOCR</a:t>
            </a:r>
            <a:endParaRPr lang="en-US" sz="1050" dirty="0"/>
          </a:p>
        </p:txBody>
      </p:sp>
      <p:sp>
        <p:nvSpPr>
          <p:cNvPr id="20" name="Text 16"/>
          <p:cNvSpPr/>
          <p:nvPr/>
        </p:nvSpPr>
        <p:spPr>
          <a:xfrm>
            <a:off x="5440680" y="3657600"/>
            <a:ext cx="6309360" cy="685800"/>
          </a:xfrm>
          <a:prstGeom prst="rect">
            <a:avLst/>
          </a:prstGeom>
          <a:noFill/>
          <a:ln/>
        </p:spPr>
        <p:txBody>
          <a:bodyPr wrap="square" rtlCol="0" anchor="t"/>
          <a:lstStyle/>
          <a:p>
            <a:pPr marL="0" indent="0" algn="l">
              <a:buNone/>
            </a:pPr>
            <a:r>
              <a:rPr lang="en-US" sz="1200" b="1" dirty="0">
                <a:solidFill>
                  <a:srgbClr val="0E2A47"/>
                </a:solidFill>
                <a:latin typeface="Calibri" pitchFamily="34" charset="0"/>
                <a:ea typeface="Calibri" pitchFamily="34" charset="-122"/>
                <a:cs typeface="Calibri" pitchFamily="34" charset="-120"/>
              </a:rPr>
              <a:t>Seq-acc sau fine-tune  </a:t>
            </a:r>
            <a:r>
              <a:rPr lang="en-US" sz="1200" dirty="0">
                <a:solidFill>
                  <a:srgbClr val="22303C"/>
                </a:solidFill>
                <a:latin typeface="Calibri" pitchFamily="34" charset="0"/>
                <a:ea typeface="Calibri" pitchFamily="34" charset="-122"/>
                <a:cs typeface="Calibri" pitchFamily="34" charset="-120"/>
              </a:rPr>
              <a:t>VietOCR 100% · PaddleOCR 89,3% · EasyOCR 51%</a:t>
            </a:r>
            <a:endParaRPr lang="en-US" sz="1200" dirty="0"/>
          </a:p>
        </p:txBody>
      </p:sp>
      <p:sp>
        <p:nvSpPr>
          <p:cNvPr id="21" name="Text 17"/>
          <p:cNvSpPr/>
          <p:nvPr/>
        </p:nvSpPr>
        <p:spPr>
          <a:xfrm>
            <a:off x="5440680" y="4407408"/>
            <a:ext cx="6309360" cy="685800"/>
          </a:xfrm>
          <a:prstGeom prst="rect">
            <a:avLst/>
          </a:prstGeom>
          <a:noFill/>
          <a:ln/>
        </p:spPr>
        <p:txBody>
          <a:bodyPr wrap="square" rtlCol="0" anchor="t"/>
          <a:lstStyle/>
          <a:p>
            <a:pPr marL="0" indent="0" algn="l">
              <a:buNone/>
            </a:pPr>
            <a:r>
              <a:rPr lang="en-US" sz="1200" b="1" dirty="0">
                <a:solidFill>
                  <a:srgbClr val="0E2A47"/>
                </a:solidFill>
                <a:latin typeface="Calibri" pitchFamily="34" charset="0"/>
                <a:ea typeface="Calibri" pitchFamily="34" charset="-122"/>
                <a:cs typeface="Calibri" pitchFamily="34" charset="-120"/>
              </a:rPr>
              <a:t>Dữ liệu tự sinh  </a:t>
            </a:r>
            <a:r>
              <a:rPr lang="en-US" sz="1200" dirty="0">
                <a:solidFill>
                  <a:srgbClr val="22303C"/>
                </a:solidFill>
                <a:latin typeface="Calibri" pitchFamily="34" charset="0"/>
                <a:ea typeface="Calibri" pitchFamily="34" charset="-122"/>
                <a:cs typeface="Calibri" pitchFamily="34" charset="-120"/>
              </a:rPr>
              <a:t>400–500 hóa đơn GTGT VN · tự gán nhãn det+rec</a:t>
            </a:r>
            <a:endParaRPr lang="en-US" sz="1200" dirty="0"/>
          </a:p>
        </p:txBody>
      </p:sp>
      <p:sp>
        <p:nvSpPr>
          <p:cNvPr id="22" name="Text 18"/>
          <p:cNvSpPr/>
          <p:nvPr/>
        </p:nvSpPr>
        <p:spPr>
          <a:xfrm>
            <a:off x="5440680" y="5157216"/>
            <a:ext cx="6309360" cy="685800"/>
          </a:xfrm>
          <a:prstGeom prst="rect">
            <a:avLst/>
          </a:prstGeom>
          <a:noFill/>
          <a:ln/>
        </p:spPr>
        <p:txBody>
          <a:bodyPr wrap="square" rtlCol="0" anchor="t"/>
          <a:lstStyle/>
          <a:p>
            <a:pPr marL="0" indent="0" algn="l">
              <a:buNone/>
            </a:pPr>
            <a:r>
              <a:rPr lang="en-US" sz="1200" b="1" dirty="0">
                <a:solidFill>
                  <a:srgbClr val="0E2A47"/>
                </a:solidFill>
                <a:latin typeface="Calibri" pitchFamily="34" charset="0"/>
                <a:ea typeface="Calibri" pitchFamily="34" charset="-122"/>
                <a:cs typeface="Calibri" pitchFamily="34" charset="-120"/>
              </a:rPr>
              <a:t>Thuật toán deskew tự thiết kế  </a:t>
            </a:r>
            <a:r>
              <a:rPr lang="en-US" sz="1200" dirty="0">
                <a:solidFill>
                  <a:srgbClr val="22303C"/>
                </a:solidFill>
                <a:latin typeface="Calibri" pitchFamily="34" charset="0"/>
                <a:ea typeface="Calibri" pitchFamily="34" charset="-122"/>
                <a:cs typeface="Calibri" pitchFamily="34" charset="-120"/>
              </a:rPr>
              <a:t>khử nghiêng bảng, O(n log n), tách đúng 7/7 dòng (gom thô 3/7) — không cần mạng nơ-ron</a:t>
            </a:r>
            <a:endParaRPr lang="en-US" sz="1200" dirty="0"/>
          </a:p>
        </p:txBody>
      </p:sp>
      <p:sp>
        <p:nvSpPr>
          <p:cNvPr id="23" name="Text 19"/>
          <p:cNvSpPr/>
          <p:nvPr/>
        </p:nvSpPr>
        <p:spPr>
          <a:xfrm>
            <a:off x="5440680" y="5897880"/>
            <a:ext cx="6309360" cy="365760"/>
          </a:xfrm>
          <a:prstGeom prst="rect">
            <a:avLst/>
          </a:prstGeom>
          <a:noFill/>
          <a:ln/>
        </p:spPr>
        <p:txBody>
          <a:bodyPr wrap="square" rtlCol="0" anchor="ctr"/>
          <a:lstStyle/>
          <a:p>
            <a:pPr marL="0" indent="0">
              <a:buNone/>
            </a:pPr>
            <a:r>
              <a:rPr lang="en-US" sz="1200" b="1" i="1" dirty="0">
                <a:solidFill>
                  <a:srgbClr val="0E7C86"/>
                </a:solidFill>
                <a:latin typeface="Calibri" pitchFamily="34" charset="0"/>
                <a:ea typeface="Calibri" pitchFamily="34" charset="-122"/>
                <a:cs typeface="Calibri" pitchFamily="34" charset="-120"/>
              </a:rPr>
              <a:t>→ Chọn PaddleOCR mặc định (hợp nhất, nhẹ, fine-tune trọn gói); giữ VietOCR cho độ chính xác cao nhất.</a:t>
            </a:r>
            <a:endParaRPr lang="en-US" sz="1200" dirty="0"/>
          </a:p>
        </p:txBody>
      </p:sp>
    </p:spTree>
    <p:extLst>
      <p:ext uri="{BB962C8B-B14F-4D97-AF65-F5344CB8AC3E}">
        <p14:creationId xmlns:p14="http://schemas.microsoft.com/office/powerpoint/2010/main" val="2955624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3">
    <p:bg>
      <p:bgPr>
        <a:solidFill>
          <a:srgbClr val="0E2A47"/>
        </a:solidFill>
        <a:effectLst/>
      </p:bgPr>
    </p:bg>
    <p:spTree>
      <p:nvGrpSpPr>
        <p:cNvPr id="1" name=""/>
        <p:cNvGrpSpPr/>
        <p:nvPr/>
      </p:nvGrpSpPr>
      <p:grpSpPr>
        <a:xfrm>
          <a:off x="0" y="0"/>
          <a:ext cx="0" cy="0"/>
          <a:chOff x="0" y="0"/>
          <a:chExt cx="0" cy="0"/>
        </a:xfrm>
      </p:grpSpPr>
      <p:sp>
        <p:nvSpPr>
          <p:cNvPr id="2" name="Shape 0"/>
          <p:cNvSpPr/>
          <p:nvPr/>
        </p:nvSpPr>
        <p:spPr>
          <a:xfrm>
            <a:off x="8961120" y="-2194560"/>
            <a:ext cx="5486400" cy="5486400"/>
          </a:xfrm>
          <a:prstGeom prst="roundRect">
            <a:avLst>
              <a:gd name="adj" fmla="val 50000"/>
            </a:avLst>
          </a:prstGeom>
          <a:solidFill>
            <a:srgbClr val="16385C"/>
          </a:solidFill>
          <a:ln/>
        </p:spPr>
      </p:sp>
      <p:sp>
        <p:nvSpPr>
          <p:cNvPr id="3" name="Shape 1"/>
          <p:cNvSpPr/>
          <p:nvPr/>
        </p:nvSpPr>
        <p:spPr>
          <a:xfrm>
            <a:off x="-1645920" y="4206240"/>
            <a:ext cx="4206240" cy="4206240"/>
          </a:xfrm>
          <a:prstGeom prst="roundRect">
            <a:avLst>
              <a:gd name="adj" fmla="val 50000"/>
            </a:avLst>
          </a:prstGeom>
          <a:solidFill>
            <a:srgbClr val="16385C"/>
          </a:solidFill>
          <a:ln/>
        </p:spPr>
      </p:sp>
      <p:sp>
        <p:nvSpPr>
          <p:cNvPr id="4" name="Text 2"/>
          <p:cNvSpPr/>
          <p:nvPr/>
        </p:nvSpPr>
        <p:spPr>
          <a:xfrm>
            <a:off x="822960" y="1234440"/>
            <a:ext cx="9144000" cy="365760"/>
          </a:xfrm>
          <a:prstGeom prst="rect">
            <a:avLst/>
          </a:prstGeom>
          <a:noFill/>
          <a:ln/>
        </p:spPr>
        <p:txBody>
          <a:bodyPr wrap="square" lIns="0" tIns="0" rIns="0" bIns="0" rtlCol="0" anchor="ctr"/>
          <a:lstStyle/>
          <a:p>
            <a:pPr marL="0" indent="0">
              <a:buNone/>
            </a:pPr>
            <a:r>
              <a:rPr lang="en-US" sz="1400" b="1" kern="0" spc="300" dirty="0">
                <a:solidFill>
                  <a:srgbClr val="23B5A6"/>
                </a:solidFill>
                <a:latin typeface="Calibri" pitchFamily="34" charset="0"/>
                <a:ea typeface="Calibri" pitchFamily="34" charset="-122"/>
                <a:cs typeface="Calibri" pitchFamily="34" charset="-120"/>
              </a:rPr>
              <a:t>PHÂN HỆ NHÓM · CHƯƠNG 5</a:t>
            </a:r>
            <a:endParaRPr lang="en-US" sz="1400" dirty="0"/>
          </a:p>
        </p:txBody>
      </p:sp>
      <p:sp>
        <p:nvSpPr>
          <p:cNvPr id="5" name="Text 3"/>
          <p:cNvSpPr/>
          <p:nvPr/>
        </p:nvSpPr>
        <p:spPr>
          <a:xfrm>
            <a:off x="777240" y="1691640"/>
            <a:ext cx="1051560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Phân hệ Quản lý dịch vụ</a:t>
            </a:r>
            <a:endParaRPr lang="en-US" sz="4600" dirty="0"/>
          </a:p>
        </p:txBody>
      </p:sp>
      <p:sp>
        <p:nvSpPr>
          <p:cNvPr id="6" name="Text 4"/>
          <p:cNvSpPr/>
          <p:nvPr/>
        </p:nvSpPr>
        <p:spPr>
          <a:xfrm>
            <a:off x="822960" y="2697480"/>
            <a:ext cx="10058400" cy="365760"/>
          </a:xfrm>
          <a:prstGeom prst="rect">
            <a:avLst/>
          </a:prstGeom>
          <a:noFill/>
          <a:ln/>
        </p:spPr>
        <p:txBody>
          <a:bodyPr wrap="square" lIns="0" tIns="0" rIns="0" bIns="0" rtlCol="0" anchor="ctr"/>
          <a:lstStyle/>
          <a:p>
            <a:pPr marL="0" indent="0">
              <a:buNone/>
            </a:pPr>
            <a:r>
              <a:rPr lang="en-US" sz="1500" i="1" dirty="0">
                <a:solidFill>
                  <a:srgbClr val="BFD6DF"/>
                </a:solidFill>
                <a:latin typeface="Calibri" pitchFamily="34" charset="0"/>
                <a:ea typeface="Calibri" pitchFamily="34" charset="-122"/>
                <a:cs typeface="Calibri" pitchFamily="34" charset="-120"/>
              </a:rPr>
              <a:t>Thành viên phụ trách — Nguyễn Xuân Khải · nằm trong module Base, kế thừa nền tảng dùng chung</a:t>
            </a:r>
            <a:endParaRPr lang="en-US" sz="1500" dirty="0"/>
          </a:p>
        </p:txBody>
      </p:sp>
      <p:sp>
        <p:nvSpPr>
          <p:cNvPr id="7" name="Shape 5"/>
          <p:cNvSpPr/>
          <p:nvPr/>
        </p:nvSpPr>
        <p:spPr>
          <a:xfrm>
            <a:off x="566928" y="3611880"/>
            <a:ext cx="3566160" cy="2331720"/>
          </a:xfrm>
          <a:prstGeom prst="roundRect">
            <a:avLst>
              <a:gd name="adj" fmla="val 4706"/>
            </a:avLst>
          </a:prstGeom>
          <a:solidFill>
            <a:srgbClr val="16385C"/>
          </a:solidFill>
          <a:ln/>
        </p:spPr>
      </p:sp>
      <p:sp>
        <p:nvSpPr>
          <p:cNvPr id="8" name="Shape 6"/>
          <p:cNvSpPr/>
          <p:nvPr/>
        </p:nvSpPr>
        <p:spPr>
          <a:xfrm>
            <a:off x="841248" y="3886200"/>
            <a:ext cx="777240" cy="777240"/>
          </a:xfrm>
          <a:prstGeom prst="roundRect">
            <a:avLst>
              <a:gd name="adj" fmla="val 50000"/>
            </a:avLst>
          </a:prstGeom>
          <a:solidFill>
            <a:srgbClr val="0E7C86"/>
          </a:solidFill>
          <a:ln/>
        </p:spPr>
      </p:sp>
      <p:pic>
        <p:nvPicPr>
          <p:cNvPr id="9" name="Image 0" descr="preencoded.png"/>
          <p:cNvPicPr>
            <a:picLocks noChangeAspect="1"/>
          </p:cNvPicPr>
          <p:nvPr/>
        </p:nvPicPr>
        <p:blipFill>
          <a:blip r:embed="rId2"/>
          <a:stretch>
            <a:fillRect/>
          </a:stretch>
        </p:blipFill>
        <p:spPr>
          <a:xfrm>
            <a:off x="1027786" y="4072738"/>
            <a:ext cx="404165" cy="404165"/>
          </a:xfrm>
          <a:prstGeom prst="rect">
            <a:avLst/>
          </a:prstGeom>
        </p:spPr>
      </p:pic>
      <p:sp>
        <p:nvSpPr>
          <p:cNvPr id="10" name="Text 7"/>
          <p:cNvSpPr/>
          <p:nvPr/>
        </p:nvSpPr>
        <p:spPr>
          <a:xfrm>
            <a:off x="1755648" y="3922776"/>
            <a:ext cx="2194560" cy="274320"/>
          </a:xfrm>
          <a:prstGeom prst="rect">
            <a:avLst/>
          </a:prstGeom>
          <a:noFill/>
          <a:ln/>
        </p:spPr>
        <p:txBody>
          <a:bodyPr wrap="square" lIns="0" tIns="0" rIns="0" bIns="0" rtlCol="0" anchor="ctr"/>
          <a:lstStyle/>
          <a:p>
            <a:pPr marL="0" indent="0">
              <a:buNone/>
            </a:pPr>
            <a:r>
              <a:rPr lang="en-US" sz="1100" b="1" kern="0" spc="100" dirty="0">
                <a:solidFill>
                  <a:srgbClr val="23B5A6"/>
                </a:solidFill>
                <a:latin typeface="Calibri" pitchFamily="34" charset="0"/>
                <a:ea typeface="Calibri" pitchFamily="34" charset="-122"/>
                <a:cs typeface="Calibri" pitchFamily="34" charset="-120"/>
              </a:rPr>
              <a:t>Nhóm 1</a:t>
            </a:r>
            <a:endParaRPr lang="en-US" sz="1100" dirty="0"/>
          </a:p>
        </p:txBody>
      </p:sp>
      <p:sp>
        <p:nvSpPr>
          <p:cNvPr id="11" name="Text 8"/>
          <p:cNvSpPr/>
          <p:nvPr/>
        </p:nvSpPr>
        <p:spPr>
          <a:xfrm>
            <a:off x="1755648" y="4178808"/>
            <a:ext cx="21945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Dịch vụ tiện ích &amp; bảng giá</a:t>
            </a:r>
            <a:endParaRPr lang="en-US" sz="1550" dirty="0"/>
          </a:p>
        </p:txBody>
      </p:sp>
      <p:sp>
        <p:nvSpPr>
          <p:cNvPr id="12" name="Text 9"/>
          <p:cNvSpPr/>
          <p:nvPr/>
        </p:nvSpPr>
        <p:spPr>
          <a:xfrm>
            <a:off x="841248" y="4892040"/>
            <a:ext cx="3063240" cy="914400"/>
          </a:xfrm>
          <a:prstGeom prst="rect">
            <a:avLst/>
          </a:prstGeom>
          <a:noFill/>
          <a:ln/>
        </p:spPr>
        <p:txBody>
          <a:bodyPr wrap="square" lIns="0" tIns="0" rIns="0" bIns="0" rtlCol="0" anchor="t"/>
          <a:lstStyle/>
          <a:p>
            <a:pPr marL="0" indent="0">
              <a:lnSpc>
                <a:spcPct val="105000"/>
              </a:lnSpc>
              <a:buNone/>
            </a:pPr>
            <a:r>
              <a:rPr lang="en-US" sz="1200" dirty="0">
                <a:solidFill>
                  <a:srgbClr val="BFD6DF"/>
                </a:solidFill>
                <a:latin typeface="Calibri" pitchFamily="34" charset="0"/>
                <a:ea typeface="Calibri" pitchFamily="34" charset="-122"/>
                <a:cs typeface="Calibri" pitchFamily="34" charset="-120"/>
              </a:rPr>
              <a:t>Danh mục dịch vụ · giờ mở cửa, vị trí, đánh giá · thực đơn/bảng giá</a:t>
            </a:r>
            <a:endParaRPr lang="en-US" sz="1200" dirty="0"/>
          </a:p>
        </p:txBody>
      </p:sp>
      <p:sp>
        <p:nvSpPr>
          <p:cNvPr id="13" name="Shape 10"/>
          <p:cNvSpPr/>
          <p:nvPr/>
        </p:nvSpPr>
        <p:spPr>
          <a:xfrm>
            <a:off x="4315968" y="3611880"/>
            <a:ext cx="3566160" cy="2331720"/>
          </a:xfrm>
          <a:prstGeom prst="roundRect">
            <a:avLst>
              <a:gd name="adj" fmla="val 4706"/>
            </a:avLst>
          </a:prstGeom>
          <a:solidFill>
            <a:srgbClr val="16385C"/>
          </a:solidFill>
          <a:ln/>
        </p:spPr>
      </p:sp>
      <p:sp>
        <p:nvSpPr>
          <p:cNvPr id="14" name="Shape 11"/>
          <p:cNvSpPr/>
          <p:nvPr/>
        </p:nvSpPr>
        <p:spPr>
          <a:xfrm>
            <a:off x="4590288" y="3886200"/>
            <a:ext cx="777240" cy="777240"/>
          </a:xfrm>
          <a:prstGeom prst="roundRect">
            <a:avLst>
              <a:gd name="adj" fmla="val 50000"/>
            </a:avLst>
          </a:prstGeom>
          <a:solidFill>
            <a:srgbClr val="23B5A6"/>
          </a:solidFill>
          <a:ln/>
        </p:spPr>
      </p:sp>
      <p:pic>
        <p:nvPicPr>
          <p:cNvPr id="15" name="Image 1" descr="preencoded.png"/>
          <p:cNvPicPr>
            <a:picLocks noChangeAspect="1"/>
          </p:cNvPicPr>
          <p:nvPr/>
        </p:nvPicPr>
        <p:blipFill>
          <a:blip r:embed="rId3"/>
          <a:stretch>
            <a:fillRect/>
          </a:stretch>
        </p:blipFill>
        <p:spPr>
          <a:xfrm>
            <a:off x="4776826" y="4072738"/>
            <a:ext cx="404165" cy="404165"/>
          </a:xfrm>
          <a:prstGeom prst="rect">
            <a:avLst/>
          </a:prstGeom>
        </p:spPr>
      </p:pic>
      <p:sp>
        <p:nvSpPr>
          <p:cNvPr id="16" name="Text 12"/>
          <p:cNvSpPr/>
          <p:nvPr/>
        </p:nvSpPr>
        <p:spPr>
          <a:xfrm>
            <a:off x="5504688" y="3922776"/>
            <a:ext cx="2194560" cy="274320"/>
          </a:xfrm>
          <a:prstGeom prst="rect">
            <a:avLst/>
          </a:prstGeom>
          <a:noFill/>
          <a:ln/>
        </p:spPr>
        <p:txBody>
          <a:bodyPr wrap="square" lIns="0" tIns="0" rIns="0" bIns="0" rtlCol="0" anchor="ctr"/>
          <a:lstStyle/>
          <a:p>
            <a:pPr marL="0" indent="0">
              <a:buNone/>
            </a:pPr>
            <a:r>
              <a:rPr lang="en-US" sz="1100" b="1" kern="0" spc="100" dirty="0">
                <a:solidFill>
                  <a:srgbClr val="23B5A6"/>
                </a:solidFill>
                <a:latin typeface="Calibri" pitchFamily="34" charset="0"/>
                <a:ea typeface="Calibri" pitchFamily="34" charset="-122"/>
                <a:cs typeface="Calibri" pitchFamily="34" charset="-120"/>
              </a:rPr>
              <a:t>Nhóm 2</a:t>
            </a:r>
            <a:endParaRPr lang="en-US" sz="1100" dirty="0"/>
          </a:p>
        </p:txBody>
      </p:sp>
      <p:sp>
        <p:nvSpPr>
          <p:cNvPr id="17" name="Text 13"/>
          <p:cNvSpPr/>
          <p:nvPr/>
        </p:nvSpPr>
        <p:spPr>
          <a:xfrm>
            <a:off x="5504688" y="4178808"/>
            <a:ext cx="21945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Nhà cung cấp (marketplace)</a:t>
            </a:r>
            <a:endParaRPr lang="en-US" sz="1550" dirty="0"/>
          </a:p>
        </p:txBody>
      </p:sp>
      <p:sp>
        <p:nvSpPr>
          <p:cNvPr id="18" name="Text 14"/>
          <p:cNvSpPr/>
          <p:nvPr/>
        </p:nvSpPr>
        <p:spPr>
          <a:xfrm>
            <a:off x="4590288" y="4892040"/>
            <a:ext cx="3063240" cy="914400"/>
          </a:xfrm>
          <a:prstGeom prst="rect">
            <a:avLst/>
          </a:prstGeom>
          <a:noFill/>
          <a:ln/>
        </p:spPr>
        <p:txBody>
          <a:bodyPr wrap="square" lIns="0" tIns="0" rIns="0" bIns="0" rtlCol="0" anchor="t"/>
          <a:lstStyle/>
          <a:p>
            <a:pPr marL="0" indent="0">
              <a:lnSpc>
                <a:spcPct val="105000"/>
              </a:lnSpc>
              <a:buNone/>
            </a:pPr>
            <a:r>
              <a:rPr lang="en-US" sz="1200" dirty="0">
                <a:solidFill>
                  <a:srgbClr val="BFD6DF"/>
                </a:solidFill>
                <a:latin typeface="Calibri" pitchFamily="34" charset="0"/>
                <a:ea typeface="Calibri" pitchFamily="34" charset="-122"/>
                <a:cs typeface="Calibri" pitchFamily="34" charset="-120"/>
              </a:rPr>
              <a:t>Đăng ký (kể cả cư dân) · BQL duyệt/từ chối · hạng mục dịch vụ (listing)</a:t>
            </a:r>
            <a:endParaRPr lang="en-US" sz="1200" dirty="0"/>
          </a:p>
        </p:txBody>
      </p:sp>
      <p:sp>
        <p:nvSpPr>
          <p:cNvPr id="19" name="Shape 15"/>
          <p:cNvSpPr/>
          <p:nvPr/>
        </p:nvSpPr>
        <p:spPr>
          <a:xfrm>
            <a:off x="8065008" y="3611880"/>
            <a:ext cx="3566160" cy="2331720"/>
          </a:xfrm>
          <a:prstGeom prst="roundRect">
            <a:avLst>
              <a:gd name="adj" fmla="val 4706"/>
            </a:avLst>
          </a:prstGeom>
          <a:solidFill>
            <a:srgbClr val="16385C"/>
          </a:solidFill>
          <a:ln/>
        </p:spPr>
      </p:sp>
      <p:sp>
        <p:nvSpPr>
          <p:cNvPr id="20" name="Shape 16"/>
          <p:cNvSpPr/>
          <p:nvPr/>
        </p:nvSpPr>
        <p:spPr>
          <a:xfrm>
            <a:off x="8339328" y="3886200"/>
            <a:ext cx="777240" cy="777240"/>
          </a:xfrm>
          <a:prstGeom prst="roundRect">
            <a:avLst>
              <a:gd name="adj" fmla="val 50000"/>
            </a:avLst>
          </a:prstGeom>
          <a:solidFill>
            <a:srgbClr val="EFA13C"/>
          </a:solidFill>
          <a:ln/>
        </p:spPr>
      </p:sp>
      <p:pic>
        <p:nvPicPr>
          <p:cNvPr id="21" name="Image 2" descr="preencoded.png"/>
          <p:cNvPicPr>
            <a:picLocks noChangeAspect="1"/>
          </p:cNvPicPr>
          <p:nvPr/>
        </p:nvPicPr>
        <p:blipFill>
          <a:blip r:embed="rId4"/>
          <a:stretch>
            <a:fillRect/>
          </a:stretch>
        </p:blipFill>
        <p:spPr>
          <a:xfrm>
            <a:off x="8525866" y="4072738"/>
            <a:ext cx="404165" cy="404165"/>
          </a:xfrm>
          <a:prstGeom prst="rect">
            <a:avLst/>
          </a:prstGeom>
        </p:spPr>
      </p:pic>
      <p:sp>
        <p:nvSpPr>
          <p:cNvPr id="22" name="Text 17"/>
          <p:cNvSpPr/>
          <p:nvPr/>
        </p:nvSpPr>
        <p:spPr>
          <a:xfrm>
            <a:off x="9253728" y="3922776"/>
            <a:ext cx="2194560" cy="274320"/>
          </a:xfrm>
          <a:prstGeom prst="rect">
            <a:avLst/>
          </a:prstGeom>
          <a:noFill/>
          <a:ln/>
        </p:spPr>
        <p:txBody>
          <a:bodyPr wrap="square" lIns="0" tIns="0" rIns="0" bIns="0" rtlCol="0" anchor="ctr"/>
          <a:lstStyle/>
          <a:p>
            <a:pPr marL="0" indent="0">
              <a:buNone/>
            </a:pPr>
            <a:r>
              <a:rPr lang="en-US" sz="1100" b="1" kern="0" spc="100" dirty="0">
                <a:solidFill>
                  <a:srgbClr val="23B5A6"/>
                </a:solidFill>
                <a:latin typeface="Calibri" pitchFamily="34" charset="0"/>
                <a:ea typeface="Calibri" pitchFamily="34" charset="-122"/>
                <a:cs typeface="Calibri" pitchFamily="34" charset="-120"/>
              </a:rPr>
              <a:t>Nhóm 3</a:t>
            </a:r>
            <a:endParaRPr lang="en-US" sz="1100" dirty="0"/>
          </a:p>
        </p:txBody>
      </p:sp>
      <p:sp>
        <p:nvSpPr>
          <p:cNvPr id="23" name="Text 18"/>
          <p:cNvSpPr/>
          <p:nvPr/>
        </p:nvSpPr>
        <p:spPr>
          <a:xfrm>
            <a:off x="9253728" y="4178808"/>
            <a:ext cx="21945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Yêu cầu dịch vụ</a:t>
            </a:r>
            <a:endParaRPr lang="en-US" sz="1550" dirty="0"/>
          </a:p>
        </p:txBody>
      </p:sp>
      <p:sp>
        <p:nvSpPr>
          <p:cNvPr id="24" name="Text 19"/>
          <p:cNvSpPr/>
          <p:nvPr/>
        </p:nvSpPr>
        <p:spPr>
          <a:xfrm>
            <a:off x="8339328" y="4892040"/>
            <a:ext cx="3063240" cy="914400"/>
          </a:xfrm>
          <a:prstGeom prst="rect">
            <a:avLst/>
          </a:prstGeom>
          <a:noFill/>
          <a:ln/>
        </p:spPr>
        <p:txBody>
          <a:bodyPr wrap="square" lIns="0" tIns="0" rIns="0" bIns="0" rtlCol="0" anchor="t"/>
          <a:lstStyle/>
          <a:p>
            <a:pPr marL="0" indent="0">
              <a:lnSpc>
                <a:spcPct val="105000"/>
              </a:lnSpc>
              <a:buNone/>
            </a:pPr>
            <a:r>
              <a:rPr lang="en-US" sz="1200" dirty="0">
                <a:solidFill>
                  <a:srgbClr val="BFD6DF"/>
                </a:solidFill>
                <a:latin typeface="Calibri" pitchFamily="34" charset="0"/>
                <a:ea typeface="Calibri" pitchFamily="34" charset="-122"/>
                <a:cs typeface="Calibri" pitchFamily="34" charset="-120"/>
              </a:rPr>
              <a:t>Máy trạng thái nhiều bước · BQL duyệt · NCC tiếp nhận · đánh giá</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DỊCH VỤ · TỔNG QUAN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Kết nối cư dân với dịch vụ tiện ích khu đô thị</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822960" y="1947672"/>
            <a:ext cx="658368" cy="658368"/>
          </a:xfrm>
          <a:prstGeom prst="roundRect">
            <a:avLst>
              <a:gd name="adj" fmla="val 50000"/>
            </a:avLst>
          </a:prstGeom>
          <a:solidFill>
            <a:srgbClr val="0E7C86"/>
          </a:solidFill>
          <a:ln/>
        </p:spPr>
      </p:sp>
      <p:pic>
        <p:nvPicPr>
          <p:cNvPr id="10" name="Image 0" descr="preencoded.png"/>
          <p:cNvPicPr>
            <a:picLocks noChangeAspect="1"/>
          </p:cNvPicPr>
          <p:nvPr/>
        </p:nvPicPr>
        <p:blipFill>
          <a:blip r:embed="rId2"/>
          <a:stretch>
            <a:fillRect/>
          </a:stretch>
        </p:blipFill>
        <p:spPr>
          <a:xfrm>
            <a:off x="980968" y="2105680"/>
            <a:ext cx="342351" cy="342351"/>
          </a:xfrm>
          <a:prstGeom prst="rect">
            <a:avLst/>
          </a:prstGeom>
        </p:spPr>
      </p:pic>
      <p:sp>
        <p:nvSpPr>
          <p:cNvPr id="11" name="Text 8"/>
          <p:cNvSpPr/>
          <p:nvPr/>
        </p:nvSpPr>
        <p:spPr>
          <a:xfrm>
            <a:off x="164592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Dịch vụ tiện ích</a:t>
            </a:r>
            <a:endParaRPr lang="en-US" sz="1800" dirty="0"/>
          </a:p>
        </p:txBody>
      </p:sp>
      <p:sp>
        <p:nvSpPr>
          <p:cNvPr id="12" name="Text 9"/>
          <p:cNvSpPr/>
          <p:nvPr/>
        </p:nvSpPr>
        <p:spPr>
          <a:xfrm>
            <a:off x="84124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Danh mục dịch vụ</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Giờ mở cửa, vị trí, đánh giá</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Trạng thái hoạt động</a:t>
            </a:r>
            <a:endParaRPr lang="en-US" sz="1200" dirty="0"/>
          </a:p>
        </p:txBody>
      </p:sp>
      <p:sp>
        <p:nvSpPr>
          <p:cNvPr id="13" name="Shape 10"/>
          <p:cNvSpPr/>
          <p:nvPr/>
        </p:nvSpPr>
        <p:spPr>
          <a:xfrm>
            <a:off x="431596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4" name="Shape 11"/>
          <p:cNvSpPr/>
          <p:nvPr/>
        </p:nvSpPr>
        <p:spPr>
          <a:xfrm>
            <a:off x="4572000" y="1947672"/>
            <a:ext cx="658368" cy="658368"/>
          </a:xfrm>
          <a:prstGeom prst="roundRect">
            <a:avLst>
              <a:gd name="adj" fmla="val 50000"/>
            </a:avLst>
          </a:prstGeom>
          <a:solidFill>
            <a:srgbClr val="23B5A6"/>
          </a:solidFill>
          <a:ln/>
        </p:spPr>
      </p:sp>
      <p:pic>
        <p:nvPicPr>
          <p:cNvPr id="15" name="Image 1" descr="preencoded.png"/>
          <p:cNvPicPr>
            <a:picLocks noChangeAspect="1"/>
          </p:cNvPicPr>
          <p:nvPr/>
        </p:nvPicPr>
        <p:blipFill>
          <a:blip r:embed="rId3"/>
          <a:stretch>
            <a:fillRect/>
          </a:stretch>
        </p:blipFill>
        <p:spPr>
          <a:xfrm>
            <a:off x="4730008" y="2105680"/>
            <a:ext cx="342351" cy="342351"/>
          </a:xfrm>
          <a:prstGeom prst="rect">
            <a:avLst/>
          </a:prstGeom>
        </p:spPr>
      </p:pic>
      <p:sp>
        <p:nvSpPr>
          <p:cNvPr id="16" name="Text 12"/>
          <p:cNvSpPr/>
          <p:nvPr/>
        </p:nvSpPr>
        <p:spPr>
          <a:xfrm>
            <a:off x="539496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Thực đơn &amp; bảng giá</a:t>
            </a:r>
            <a:endParaRPr lang="en-US" sz="1800" dirty="0"/>
          </a:p>
        </p:txBody>
      </p:sp>
      <p:sp>
        <p:nvSpPr>
          <p:cNvPr id="17" name="Text 13"/>
          <p:cNvSpPr/>
          <p:nvPr/>
        </p:nvSpPr>
        <p:spPr>
          <a:xfrm>
            <a:off x="459028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Món / hạng mục, giá</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Đơn vị tính</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Còn phục vụ (isAvailable)</a:t>
            </a:r>
            <a:endParaRPr lang="en-US" sz="1200" dirty="0"/>
          </a:p>
        </p:txBody>
      </p:sp>
      <p:sp>
        <p:nvSpPr>
          <p:cNvPr id="18" name="Shape 14"/>
          <p:cNvSpPr/>
          <p:nvPr/>
        </p:nvSpPr>
        <p:spPr>
          <a:xfrm>
            <a:off x="806500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9" name="Shape 15"/>
          <p:cNvSpPr/>
          <p:nvPr/>
        </p:nvSpPr>
        <p:spPr>
          <a:xfrm>
            <a:off x="8321040" y="1947672"/>
            <a:ext cx="658368" cy="658368"/>
          </a:xfrm>
          <a:prstGeom prst="roundRect">
            <a:avLst>
              <a:gd name="adj" fmla="val 50000"/>
            </a:avLst>
          </a:prstGeom>
          <a:solidFill>
            <a:srgbClr val="1E3A57"/>
          </a:solidFill>
          <a:ln/>
        </p:spPr>
      </p:sp>
      <p:pic>
        <p:nvPicPr>
          <p:cNvPr id="20" name="Image 2" descr="preencoded.png"/>
          <p:cNvPicPr>
            <a:picLocks noChangeAspect="1"/>
          </p:cNvPicPr>
          <p:nvPr/>
        </p:nvPicPr>
        <p:blipFill>
          <a:blip r:embed="rId4"/>
          <a:stretch>
            <a:fillRect/>
          </a:stretch>
        </p:blipFill>
        <p:spPr>
          <a:xfrm>
            <a:off x="8479048" y="2105680"/>
            <a:ext cx="342351" cy="342351"/>
          </a:xfrm>
          <a:prstGeom prst="rect">
            <a:avLst/>
          </a:prstGeom>
        </p:spPr>
      </p:pic>
      <p:sp>
        <p:nvSpPr>
          <p:cNvPr id="21" name="Text 16"/>
          <p:cNvSpPr/>
          <p:nvPr/>
        </p:nvSpPr>
        <p:spPr>
          <a:xfrm>
            <a:off x="914400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Nhà cung cấp</a:t>
            </a:r>
            <a:endParaRPr lang="en-US" sz="1800" dirty="0"/>
          </a:p>
        </p:txBody>
      </p:sp>
      <p:sp>
        <p:nvSpPr>
          <p:cNvPr id="22" name="Text 17"/>
          <p:cNvSpPr/>
          <p:nvPr/>
        </p:nvSpPr>
        <p:spPr>
          <a:xfrm>
            <a:off x="833932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Hồ sơ NCC (marketplace)</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Cư dân tự đăng ký</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BQL duyệt / từ chối</a:t>
            </a:r>
            <a:endParaRPr lang="en-US" sz="1200" dirty="0"/>
          </a:p>
        </p:txBody>
      </p:sp>
      <p:sp>
        <p:nvSpPr>
          <p:cNvPr id="23" name="Shape 18"/>
          <p:cNvSpPr/>
          <p:nvPr/>
        </p:nvSpPr>
        <p:spPr>
          <a:xfrm>
            <a:off x="56692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4" name="Shape 19"/>
          <p:cNvSpPr/>
          <p:nvPr/>
        </p:nvSpPr>
        <p:spPr>
          <a:xfrm>
            <a:off x="822960" y="4050792"/>
            <a:ext cx="658368" cy="658368"/>
          </a:xfrm>
          <a:prstGeom prst="roundRect">
            <a:avLst>
              <a:gd name="adj" fmla="val 50000"/>
            </a:avLst>
          </a:prstGeom>
          <a:solidFill>
            <a:srgbClr val="16385C"/>
          </a:solidFill>
          <a:ln/>
        </p:spPr>
      </p:sp>
      <p:pic>
        <p:nvPicPr>
          <p:cNvPr id="25" name="Image 3" descr="preencoded.png"/>
          <p:cNvPicPr>
            <a:picLocks noChangeAspect="1"/>
          </p:cNvPicPr>
          <p:nvPr/>
        </p:nvPicPr>
        <p:blipFill>
          <a:blip r:embed="rId5"/>
          <a:stretch>
            <a:fillRect/>
          </a:stretch>
        </p:blipFill>
        <p:spPr>
          <a:xfrm>
            <a:off x="980968" y="4208800"/>
            <a:ext cx="342351" cy="342351"/>
          </a:xfrm>
          <a:prstGeom prst="rect">
            <a:avLst/>
          </a:prstGeom>
        </p:spPr>
      </p:pic>
      <p:sp>
        <p:nvSpPr>
          <p:cNvPr id="26" name="Text 20"/>
          <p:cNvSpPr/>
          <p:nvPr/>
        </p:nvSpPr>
        <p:spPr>
          <a:xfrm>
            <a:off x="164592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Yêu cầu dịch vụ</a:t>
            </a:r>
            <a:endParaRPr lang="en-US" sz="1800" dirty="0"/>
          </a:p>
        </p:txBody>
      </p:sp>
      <p:sp>
        <p:nvSpPr>
          <p:cNvPr id="27" name="Text 21"/>
          <p:cNvSpPr/>
          <p:nvPr/>
        </p:nvSpPr>
        <p:spPr>
          <a:xfrm>
            <a:off x="84124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Máy trạng thái nhiều bước</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BQL duyệt · NCC nhận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Đánh giá sau hoàn thành</a:t>
            </a:r>
            <a:endParaRPr lang="en-US" sz="1200" dirty="0"/>
          </a:p>
        </p:txBody>
      </p:sp>
      <p:sp>
        <p:nvSpPr>
          <p:cNvPr id="28" name="Shape 22"/>
          <p:cNvSpPr/>
          <p:nvPr/>
        </p:nvSpPr>
        <p:spPr>
          <a:xfrm>
            <a:off x="431596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9" name="Shape 23"/>
          <p:cNvSpPr/>
          <p:nvPr/>
        </p:nvSpPr>
        <p:spPr>
          <a:xfrm>
            <a:off x="4572000" y="4050792"/>
            <a:ext cx="658368" cy="658368"/>
          </a:xfrm>
          <a:prstGeom prst="roundRect">
            <a:avLst>
              <a:gd name="adj" fmla="val 50000"/>
            </a:avLst>
          </a:prstGeom>
          <a:solidFill>
            <a:srgbClr val="EFA13C"/>
          </a:solidFill>
          <a:ln/>
        </p:spPr>
      </p:sp>
      <p:pic>
        <p:nvPicPr>
          <p:cNvPr id="30" name="Image 4" descr="preencoded.png"/>
          <p:cNvPicPr>
            <a:picLocks noChangeAspect="1"/>
          </p:cNvPicPr>
          <p:nvPr/>
        </p:nvPicPr>
        <p:blipFill>
          <a:blip r:embed="rId6"/>
          <a:stretch>
            <a:fillRect/>
          </a:stretch>
        </p:blipFill>
        <p:spPr>
          <a:xfrm>
            <a:off x="4730008" y="4208800"/>
            <a:ext cx="342351" cy="342351"/>
          </a:xfrm>
          <a:prstGeom prst="rect">
            <a:avLst/>
          </a:prstGeom>
        </p:spPr>
      </p:pic>
      <p:sp>
        <p:nvSpPr>
          <p:cNvPr id="31" name="Text 24"/>
          <p:cNvSpPr/>
          <p:nvPr/>
        </p:nvSpPr>
        <p:spPr>
          <a:xfrm>
            <a:off x="539496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Tác nhân</a:t>
            </a:r>
            <a:endParaRPr lang="en-US" sz="1800" dirty="0"/>
          </a:p>
        </p:txBody>
      </p:sp>
      <p:sp>
        <p:nvSpPr>
          <p:cNvPr id="32" name="Text 25"/>
          <p:cNvSpPr/>
          <p:nvPr/>
        </p:nvSpPr>
        <p:spPr>
          <a:xfrm>
            <a:off x="459028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Admin / BQL</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Cư dân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Nhà cung cấp</a:t>
            </a:r>
            <a:endParaRPr lang="en-US" sz="1200" dirty="0"/>
          </a:p>
        </p:txBody>
      </p:sp>
      <p:sp>
        <p:nvSpPr>
          <p:cNvPr id="33" name="Shape 26"/>
          <p:cNvSpPr/>
          <p:nvPr/>
        </p:nvSpPr>
        <p:spPr>
          <a:xfrm>
            <a:off x="806500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4" name="Shape 27"/>
          <p:cNvSpPr/>
          <p:nvPr/>
        </p:nvSpPr>
        <p:spPr>
          <a:xfrm>
            <a:off x="8321040" y="4050792"/>
            <a:ext cx="658368" cy="658368"/>
          </a:xfrm>
          <a:prstGeom prst="roundRect">
            <a:avLst>
              <a:gd name="adj" fmla="val 50000"/>
            </a:avLst>
          </a:prstGeom>
          <a:solidFill>
            <a:srgbClr val="E4572E"/>
          </a:solidFill>
          <a:ln/>
        </p:spPr>
      </p:sp>
      <p:pic>
        <p:nvPicPr>
          <p:cNvPr id="35" name="Image 5" descr="preencoded.png"/>
          <p:cNvPicPr>
            <a:picLocks noChangeAspect="1"/>
          </p:cNvPicPr>
          <p:nvPr/>
        </p:nvPicPr>
        <p:blipFill>
          <a:blip r:embed="rId7"/>
          <a:stretch>
            <a:fillRect/>
          </a:stretch>
        </p:blipFill>
        <p:spPr>
          <a:xfrm>
            <a:off x="8479048" y="4208800"/>
            <a:ext cx="342351" cy="342351"/>
          </a:xfrm>
          <a:prstGeom prst="rect">
            <a:avLst/>
          </a:prstGeom>
        </p:spPr>
      </p:pic>
      <p:sp>
        <p:nvSpPr>
          <p:cNvPr id="36" name="Text 28"/>
          <p:cNvSpPr/>
          <p:nvPr/>
        </p:nvSpPr>
        <p:spPr>
          <a:xfrm>
            <a:off x="914400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Kế thừa Base</a:t>
            </a:r>
            <a:endParaRPr lang="en-US" sz="1800" dirty="0"/>
          </a:p>
        </p:txBody>
      </p:sp>
      <p:sp>
        <p:nvSpPr>
          <p:cNvPr id="37" name="Text 29"/>
          <p:cNvSpPr/>
          <p:nvPr/>
        </p:nvSpPr>
        <p:spPr>
          <a:xfrm>
            <a:off x="833932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Auth/RBAC</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Thông báo</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Dân cư (căn hộ, cư dân)</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DỊCH VỤ · TIỆN ÍCH</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Danh mục, dịch vụ tiện ích và bảng giá</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38</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marL="0" indent="0">
              <a:buNone/>
            </a:pPr>
            <a:r>
              <a:rPr lang="en-US" sz="1250" b="1" kern="0" spc="150" dirty="0">
                <a:solidFill>
                  <a:srgbClr val="23B5A6"/>
                </a:solidFill>
                <a:latin typeface="Calibri" pitchFamily="34" charset="0"/>
                <a:ea typeface="Calibri" pitchFamily="34" charset="-122"/>
                <a:cs typeface="Calibri" pitchFamily="34" charset="-120"/>
              </a:rPr>
              <a:t>TRA CỨU &amp; LỌC THEO DANH MỤC</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Cư dân xem dịch vụ tiện ích theo danh mục và tham khảo bảng giá trước khi gửi yêu cầu; dịch vụ tạm ngưng (inactive) không nhận yêu cầu mới</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icPr>
            <a:picLocks noChangeAspect="1"/>
          </p:cNvPicPr>
          <p:nvPr/>
        </p:nvPicPr>
        <p:blipFill>
          <a:blip r:embed="rId2"/>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Danh mục dịch vụ</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service_categories: phân loại kèm màu biểu tượng (colorKey)</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icPr>
            <a:picLocks noChangeAspect="1"/>
          </p:cNvPicPr>
          <p:nvPr/>
        </p:nvPicPr>
        <p:blipFill>
          <a:blip r:embed="rId3"/>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Dịch vụ tiện ích</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services: giờ mở cửa, vị trí, rating; active / inactive / coming_soon</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blurRad="88900" dist="25400" dir="5400000" algn="bl" rotWithShape="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icPr>
            <a:picLocks noChangeAspect="1"/>
          </p:cNvPicPr>
          <p:nvPr/>
        </p:nvPicPr>
        <p:blipFill>
          <a:blip r:embed="rId4"/>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Thực đơn &amp; bảng giá</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service_menu_items: tên, giá, đơn vị, còn phục vụ</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marL="0" indent="0" algn="ctr">
              <a:buNone/>
            </a:pPr>
            <a:r>
              <a:rPr lang="en-US" sz="1250" b="1" dirty="0">
                <a:solidFill>
                  <a:srgbClr val="0E2A47"/>
                </a:solidFill>
                <a:latin typeface="Calibri" pitchFamily="34" charset="0"/>
                <a:ea typeface="Calibri" pitchFamily="34" charset="-122"/>
                <a:cs typeface="Calibri" pitchFamily="34" charset="-120"/>
              </a:rPr>
              <a:t>Controller  </a:t>
            </a:r>
            <a:r>
              <a:rPr lang="en-US" sz="1250" b="1" dirty="0">
                <a:solidFill>
                  <a:srgbClr val="0E7C86"/>
                </a:solidFill>
                <a:latin typeface="Calibri" pitchFamily="34" charset="0"/>
                <a:ea typeface="Calibri" pitchFamily="34" charset="-122"/>
                <a:cs typeface="Calibri" pitchFamily="34" charset="-120"/>
              </a:rPr>
              <a:t>ServiceCategory · Service</a:t>
            </a:r>
            <a:r>
              <a:rPr lang="en-US" sz="1250" b="1" dirty="0">
                <a:solidFill>
                  <a:srgbClr val="0E2A47"/>
                </a:solidFill>
                <a:latin typeface="Calibri" pitchFamily="34" charset="0"/>
                <a:ea typeface="Calibri" pitchFamily="34" charset="-122"/>
                <a:cs typeface="Calibri" pitchFamily="34" charset="-120"/>
              </a:rPr>
              <a:t>   ~   Bảng giá  </a:t>
            </a:r>
            <a:r>
              <a:rPr lang="en-US" sz="1250" b="1" dirty="0">
                <a:solidFill>
                  <a:srgbClr val="0E7C86"/>
                </a:solidFill>
                <a:latin typeface="Calibri" pitchFamily="34" charset="0"/>
                <a:ea typeface="Calibri" pitchFamily="34" charset="-122"/>
                <a:cs typeface="Calibri" pitchFamily="34" charset="-120"/>
              </a:rPr>
              <a:t>ServiceMenuItem</a:t>
            </a:r>
            <a:r>
              <a:rPr lang="en-US" sz="1250" dirty="0">
                <a:solidFill>
                  <a:srgbClr val="22303C"/>
                </a:solidFill>
                <a:latin typeface="Calibri" pitchFamily="34" charset="0"/>
                <a:ea typeface="Calibri" pitchFamily="34" charset="-122"/>
                <a:cs typeface="Calibri" pitchFamily="34" charset="-120"/>
              </a:rPr>
              <a:t>   ·   cho phép lọc dịch vụ theo danh mục, hiển thị công khai ở trang Portal.</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DỊCH VỤ · NHÀ CUNG CẤP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Marketplace nhà cung cấp — đăng ký &amp; kiểm duyệt</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39</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11064240" cy="1097280"/>
          </a:xfrm>
          <a:prstGeom prst="roundRect">
            <a:avLst>
              <a:gd name="adj" fmla="val 10000"/>
            </a:avLst>
          </a:prstGeom>
          <a:solidFill>
            <a:srgbClr val="0E2A47"/>
          </a:solidFill>
          <a:ln/>
        </p:spPr>
      </p:sp>
      <p:sp>
        <p:nvSpPr>
          <p:cNvPr id="9" name="Text 7"/>
          <p:cNvSpPr/>
          <p:nvPr/>
        </p:nvSpPr>
        <p:spPr>
          <a:xfrm>
            <a:off x="822960" y="1810512"/>
            <a:ext cx="5486400" cy="320040"/>
          </a:xfrm>
          <a:prstGeom prst="rect">
            <a:avLst/>
          </a:prstGeom>
          <a:noFill/>
          <a:ln/>
        </p:spPr>
        <p:txBody>
          <a:bodyPr wrap="square" lIns="0" tIns="0" rIns="0" bIns="0" rtlCol="0" anchor="ctr"/>
          <a:lstStyle/>
          <a:p>
            <a:pPr marL="0" indent="0">
              <a:buNone/>
            </a:pPr>
            <a:r>
              <a:rPr lang="en-US" sz="1250" b="1" dirty="0">
                <a:solidFill>
                  <a:srgbClr val="23B5A6"/>
                </a:solidFill>
                <a:latin typeface="Calibri" pitchFamily="34" charset="0"/>
                <a:ea typeface="Calibri" pitchFamily="34" charset="-122"/>
                <a:cs typeface="Calibri" pitchFamily="34" charset="-120"/>
              </a:rPr>
              <a:t>Luồng đăng ký &amp; duyệt nhà cung cấp</a:t>
            </a:r>
            <a:endParaRPr lang="en-US" sz="1250" dirty="0"/>
          </a:p>
        </p:txBody>
      </p:sp>
      <p:sp>
        <p:nvSpPr>
          <p:cNvPr id="10" name="Shape 8"/>
          <p:cNvSpPr/>
          <p:nvPr/>
        </p:nvSpPr>
        <p:spPr>
          <a:xfrm>
            <a:off x="822960" y="2194560"/>
            <a:ext cx="2487168" cy="457200"/>
          </a:xfrm>
          <a:prstGeom prst="roundRect">
            <a:avLst>
              <a:gd name="adj" fmla="val 16000"/>
            </a:avLst>
          </a:prstGeom>
          <a:solidFill>
            <a:srgbClr val="16385C"/>
          </a:solidFill>
          <a:ln/>
        </p:spPr>
      </p:sp>
      <p:sp>
        <p:nvSpPr>
          <p:cNvPr id="11" name="Text 9"/>
          <p:cNvSpPr/>
          <p:nvPr/>
        </p:nvSpPr>
        <p:spPr>
          <a:xfrm>
            <a:off x="877824" y="2194560"/>
            <a:ext cx="237744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Đăng ký hồ sơ NCC</a:t>
            </a:r>
            <a:endParaRPr lang="en-US" sz="1150" dirty="0"/>
          </a:p>
        </p:txBody>
      </p:sp>
      <p:sp>
        <p:nvSpPr>
          <p:cNvPr id="12" name="Shape 10"/>
          <p:cNvSpPr/>
          <p:nvPr/>
        </p:nvSpPr>
        <p:spPr>
          <a:xfrm>
            <a:off x="3328416" y="2322576"/>
            <a:ext cx="146304" cy="201168"/>
          </a:xfrm>
          <a:prstGeom prst="rightArrow">
            <a:avLst/>
          </a:prstGeom>
          <a:solidFill>
            <a:srgbClr val="23B5A6"/>
          </a:solidFill>
          <a:ln/>
        </p:spPr>
      </p:sp>
      <p:sp>
        <p:nvSpPr>
          <p:cNvPr id="13" name="Shape 11"/>
          <p:cNvSpPr/>
          <p:nvPr/>
        </p:nvSpPr>
        <p:spPr>
          <a:xfrm>
            <a:off x="3493008" y="2194560"/>
            <a:ext cx="2487168" cy="457200"/>
          </a:xfrm>
          <a:prstGeom prst="roundRect">
            <a:avLst>
              <a:gd name="adj" fmla="val 16000"/>
            </a:avLst>
          </a:prstGeom>
          <a:solidFill>
            <a:srgbClr val="16385C"/>
          </a:solidFill>
          <a:ln/>
        </p:spPr>
      </p:sp>
      <p:sp>
        <p:nvSpPr>
          <p:cNvPr id="14" name="Text 12"/>
          <p:cNvSpPr/>
          <p:nvPr/>
        </p:nvSpPr>
        <p:spPr>
          <a:xfrm>
            <a:off x="3547872" y="2194560"/>
            <a:ext cx="237744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Khởi tạo pending</a:t>
            </a:r>
            <a:endParaRPr lang="en-US" sz="1150" dirty="0"/>
          </a:p>
        </p:txBody>
      </p:sp>
      <p:sp>
        <p:nvSpPr>
          <p:cNvPr id="15" name="Shape 13"/>
          <p:cNvSpPr/>
          <p:nvPr/>
        </p:nvSpPr>
        <p:spPr>
          <a:xfrm>
            <a:off x="5998464" y="2322576"/>
            <a:ext cx="146304" cy="201168"/>
          </a:xfrm>
          <a:prstGeom prst="rightArrow">
            <a:avLst/>
          </a:prstGeom>
          <a:solidFill>
            <a:srgbClr val="23B5A6"/>
          </a:solidFill>
          <a:ln/>
        </p:spPr>
      </p:sp>
      <p:sp>
        <p:nvSpPr>
          <p:cNvPr id="16" name="Shape 14"/>
          <p:cNvSpPr/>
          <p:nvPr/>
        </p:nvSpPr>
        <p:spPr>
          <a:xfrm>
            <a:off x="6163056" y="2194560"/>
            <a:ext cx="2487168" cy="457200"/>
          </a:xfrm>
          <a:prstGeom prst="roundRect">
            <a:avLst>
              <a:gd name="adj" fmla="val 16000"/>
            </a:avLst>
          </a:prstGeom>
          <a:solidFill>
            <a:srgbClr val="16385C"/>
          </a:solidFill>
          <a:ln/>
        </p:spPr>
      </p:sp>
      <p:sp>
        <p:nvSpPr>
          <p:cNvPr id="17" name="Text 15"/>
          <p:cNvSpPr/>
          <p:nvPr/>
        </p:nvSpPr>
        <p:spPr>
          <a:xfrm>
            <a:off x="6217920" y="2194560"/>
            <a:ext cx="237744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BQL duyệt / từ chối</a:t>
            </a:r>
            <a:endParaRPr lang="en-US" sz="1150" dirty="0"/>
          </a:p>
        </p:txBody>
      </p:sp>
      <p:sp>
        <p:nvSpPr>
          <p:cNvPr id="18" name="Shape 16"/>
          <p:cNvSpPr/>
          <p:nvPr/>
        </p:nvSpPr>
        <p:spPr>
          <a:xfrm>
            <a:off x="8668512" y="2322576"/>
            <a:ext cx="146304" cy="201168"/>
          </a:xfrm>
          <a:prstGeom prst="rightArrow">
            <a:avLst/>
          </a:prstGeom>
          <a:solidFill>
            <a:srgbClr val="23B5A6"/>
          </a:solidFill>
          <a:ln/>
        </p:spPr>
      </p:sp>
      <p:sp>
        <p:nvSpPr>
          <p:cNvPr id="19" name="Shape 17"/>
          <p:cNvSpPr/>
          <p:nvPr/>
        </p:nvSpPr>
        <p:spPr>
          <a:xfrm>
            <a:off x="8833104" y="2194560"/>
            <a:ext cx="2487168" cy="457200"/>
          </a:xfrm>
          <a:prstGeom prst="roundRect">
            <a:avLst>
              <a:gd name="adj" fmla="val 16000"/>
            </a:avLst>
          </a:prstGeom>
          <a:solidFill>
            <a:srgbClr val="EFA13C"/>
          </a:solidFill>
          <a:ln/>
        </p:spPr>
      </p:sp>
      <p:sp>
        <p:nvSpPr>
          <p:cNvPr id="20" name="Text 18"/>
          <p:cNvSpPr/>
          <p:nvPr/>
        </p:nvSpPr>
        <p:spPr>
          <a:xfrm>
            <a:off x="8887968" y="2194560"/>
            <a:ext cx="237744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approved → hạng mục</a:t>
            </a:r>
            <a:endParaRPr lang="en-US" sz="1150" dirty="0"/>
          </a:p>
        </p:txBody>
      </p:sp>
      <p:sp>
        <p:nvSpPr>
          <p:cNvPr id="21" name="Shape 19"/>
          <p:cNvSpPr/>
          <p:nvPr/>
        </p:nvSpPr>
        <p:spPr>
          <a:xfrm>
            <a:off x="566928" y="3017520"/>
            <a:ext cx="3566160" cy="3063240"/>
          </a:xfrm>
          <a:prstGeom prst="roundRect">
            <a:avLst>
              <a:gd name="adj" fmla="val 3582"/>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2" name="Shape 20"/>
          <p:cNvSpPr/>
          <p:nvPr/>
        </p:nvSpPr>
        <p:spPr>
          <a:xfrm>
            <a:off x="841248" y="3291840"/>
            <a:ext cx="713232" cy="713232"/>
          </a:xfrm>
          <a:prstGeom prst="roundRect">
            <a:avLst>
              <a:gd name="adj" fmla="val 50000"/>
            </a:avLst>
          </a:prstGeom>
          <a:solidFill>
            <a:srgbClr val="0E7C86"/>
          </a:solidFill>
          <a:ln/>
        </p:spPr>
      </p:sp>
      <p:pic>
        <p:nvPicPr>
          <p:cNvPr id="23" name="Image 0" descr="preencoded.png"/>
          <p:cNvPicPr>
            <a:picLocks noChangeAspect="1"/>
          </p:cNvPicPr>
          <p:nvPr/>
        </p:nvPicPr>
        <p:blipFill>
          <a:blip r:embed="rId2"/>
          <a:stretch>
            <a:fillRect/>
          </a:stretch>
        </p:blipFill>
        <p:spPr>
          <a:xfrm>
            <a:off x="1012424" y="3463016"/>
            <a:ext cx="370881" cy="370881"/>
          </a:xfrm>
          <a:prstGeom prst="rect">
            <a:avLst/>
          </a:prstGeom>
        </p:spPr>
      </p:pic>
      <p:sp>
        <p:nvSpPr>
          <p:cNvPr id="24" name="Text 21"/>
          <p:cNvSpPr/>
          <p:nvPr/>
        </p:nvSpPr>
        <p:spPr>
          <a:xfrm>
            <a:off x="1682496" y="3401568"/>
            <a:ext cx="2286000" cy="502920"/>
          </a:xfrm>
          <a:prstGeom prst="rect">
            <a:avLst/>
          </a:prstGeom>
          <a:noFill/>
          <a:ln/>
        </p:spPr>
        <p:txBody>
          <a:bodyPr wrap="square" lIns="0" tIns="0" rIns="0" bIns="0" rtlCol="0" anchor="ctr"/>
          <a:lstStyle/>
          <a:p>
            <a:pPr marL="0" indent="0">
              <a:buNone/>
            </a:pPr>
            <a:r>
              <a:rPr lang="en-US" sz="1650" b="1" dirty="0">
                <a:solidFill>
                  <a:srgbClr val="0E2A47"/>
                </a:solidFill>
                <a:latin typeface="Cambria" pitchFamily="34" charset="0"/>
                <a:ea typeface="Cambria" pitchFamily="34" charset="-122"/>
                <a:cs typeface="Cambria" pitchFamily="34" charset="-120"/>
              </a:rPr>
              <a:t>Tạo hồ sơ</a:t>
            </a:r>
            <a:endParaRPr lang="en-US" sz="1650" dirty="0"/>
          </a:p>
        </p:txBody>
      </p:sp>
      <p:sp>
        <p:nvSpPr>
          <p:cNvPr id="25" name="Text 22"/>
          <p:cNvSpPr/>
          <p:nvPr/>
        </p:nvSpPr>
        <p:spPr>
          <a:xfrm>
            <a:off x="84124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BQL tạo hộ (RegisterAsync)</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Cư dân tự đăng ký (SelfRegisterAsync)</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Kiểm tra trùng SĐT; IsBusinessOwner = true</a:t>
            </a:r>
            <a:endParaRPr lang="en-US" sz="1250" dirty="0"/>
          </a:p>
        </p:txBody>
      </p:sp>
      <p:sp>
        <p:nvSpPr>
          <p:cNvPr id="26" name="Shape 23"/>
          <p:cNvSpPr/>
          <p:nvPr/>
        </p:nvSpPr>
        <p:spPr>
          <a:xfrm>
            <a:off x="4315968" y="3017520"/>
            <a:ext cx="3566160" cy="3063240"/>
          </a:xfrm>
          <a:prstGeom prst="roundRect">
            <a:avLst>
              <a:gd name="adj" fmla="val 3582"/>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7" name="Shape 24"/>
          <p:cNvSpPr/>
          <p:nvPr/>
        </p:nvSpPr>
        <p:spPr>
          <a:xfrm>
            <a:off x="4590288" y="3291840"/>
            <a:ext cx="713232" cy="713232"/>
          </a:xfrm>
          <a:prstGeom prst="roundRect">
            <a:avLst>
              <a:gd name="adj" fmla="val 50000"/>
            </a:avLst>
          </a:prstGeom>
          <a:solidFill>
            <a:srgbClr val="1E3A57"/>
          </a:solidFill>
          <a:ln/>
        </p:spPr>
      </p:sp>
      <p:pic>
        <p:nvPicPr>
          <p:cNvPr id="28" name="Image 1" descr="preencoded.png"/>
          <p:cNvPicPr>
            <a:picLocks noChangeAspect="1"/>
          </p:cNvPicPr>
          <p:nvPr/>
        </p:nvPicPr>
        <p:blipFill>
          <a:blip r:embed="rId3"/>
          <a:stretch>
            <a:fillRect/>
          </a:stretch>
        </p:blipFill>
        <p:spPr>
          <a:xfrm>
            <a:off x="4761464" y="3463016"/>
            <a:ext cx="370881" cy="370881"/>
          </a:xfrm>
          <a:prstGeom prst="rect">
            <a:avLst/>
          </a:prstGeom>
        </p:spPr>
      </p:pic>
      <p:sp>
        <p:nvSpPr>
          <p:cNvPr id="29" name="Text 25"/>
          <p:cNvSpPr/>
          <p:nvPr/>
        </p:nvSpPr>
        <p:spPr>
          <a:xfrm>
            <a:off x="5431536" y="3401568"/>
            <a:ext cx="2286000" cy="502920"/>
          </a:xfrm>
          <a:prstGeom prst="rect">
            <a:avLst/>
          </a:prstGeom>
          <a:noFill/>
          <a:ln/>
        </p:spPr>
        <p:txBody>
          <a:bodyPr wrap="square" lIns="0" tIns="0" rIns="0" bIns="0" rtlCol="0" anchor="ctr"/>
          <a:lstStyle/>
          <a:p>
            <a:pPr marL="0" indent="0">
              <a:buNone/>
            </a:pPr>
            <a:r>
              <a:rPr lang="en-US" sz="1650" b="1" dirty="0">
                <a:solidFill>
                  <a:srgbClr val="0E2A47"/>
                </a:solidFill>
                <a:latin typeface="Cambria" pitchFamily="34" charset="0"/>
                <a:ea typeface="Cambria" pitchFamily="34" charset="-122"/>
                <a:cs typeface="Cambria" pitchFamily="34" charset="-120"/>
              </a:rPr>
              <a:t>Kiểm duyệt (BQL)</a:t>
            </a:r>
            <a:endParaRPr lang="en-US" sz="1650" dirty="0"/>
          </a:p>
        </p:txBody>
      </p:sp>
      <p:sp>
        <p:nvSpPr>
          <p:cNvPr id="30" name="Text 26"/>
          <p:cNvSpPr/>
          <p:nvPr/>
        </p:nvSpPr>
        <p:spPr>
          <a:xfrm>
            <a:off x="459028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ApproveAsync → approved (approvedBy, approvedAt)</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RejectAsync → rejected + lý do bắt buộc</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Chỉ NCC approved mới đăng ký dịch vụ</a:t>
            </a:r>
            <a:endParaRPr lang="en-US" sz="1250" dirty="0"/>
          </a:p>
        </p:txBody>
      </p:sp>
      <p:sp>
        <p:nvSpPr>
          <p:cNvPr id="31" name="Shape 27"/>
          <p:cNvSpPr/>
          <p:nvPr/>
        </p:nvSpPr>
        <p:spPr>
          <a:xfrm>
            <a:off x="8065008" y="3017520"/>
            <a:ext cx="3566160" cy="3063240"/>
          </a:xfrm>
          <a:prstGeom prst="roundRect">
            <a:avLst>
              <a:gd name="adj" fmla="val 3582"/>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2" name="Shape 28"/>
          <p:cNvSpPr/>
          <p:nvPr/>
        </p:nvSpPr>
        <p:spPr>
          <a:xfrm>
            <a:off x="8339328" y="3291840"/>
            <a:ext cx="713232" cy="713232"/>
          </a:xfrm>
          <a:prstGeom prst="roundRect">
            <a:avLst>
              <a:gd name="adj" fmla="val 50000"/>
            </a:avLst>
          </a:prstGeom>
          <a:solidFill>
            <a:srgbClr val="EFA13C"/>
          </a:solidFill>
          <a:ln/>
        </p:spPr>
      </p:sp>
      <p:pic>
        <p:nvPicPr>
          <p:cNvPr id="33" name="Image 2" descr="preencoded.png"/>
          <p:cNvPicPr>
            <a:picLocks noChangeAspect="1"/>
          </p:cNvPicPr>
          <p:nvPr/>
        </p:nvPicPr>
        <p:blipFill>
          <a:blip r:embed="rId4"/>
          <a:stretch>
            <a:fillRect/>
          </a:stretch>
        </p:blipFill>
        <p:spPr>
          <a:xfrm>
            <a:off x="8510504" y="3463016"/>
            <a:ext cx="370881" cy="370881"/>
          </a:xfrm>
          <a:prstGeom prst="rect">
            <a:avLst/>
          </a:prstGeom>
        </p:spPr>
      </p:pic>
      <p:sp>
        <p:nvSpPr>
          <p:cNvPr id="34" name="Text 29"/>
          <p:cNvSpPr/>
          <p:nvPr/>
        </p:nvSpPr>
        <p:spPr>
          <a:xfrm>
            <a:off x="9180576" y="3401568"/>
            <a:ext cx="2286000" cy="502920"/>
          </a:xfrm>
          <a:prstGeom prst="rect">
            <a:avLst/>
          </a:prstGeom>
          <a:noFill/>
          <a:ln/>
        </p:spPr>
        <p:txBody>
          <a:bodyPr wrap="square" lIns="0" tIns="0" rIns="0" bIns="0" rtlCol="0" anchor="ctr"/>
          <a:lstStyle/>
          <a:p>
            <a:pPr marL="0" indent="0">
              <a:buNone/>
            </a:pPr>
            <a:r>
              <a:rPr lang="en-US" sz="1650" b="1" dirty="0">
                <a:solidFill>
                  <a:srgbClr val="0E2A47"/>
                </a:solidFill>
                <a:latin typeface="Cambria" pitchFamily="34" charset="0"/>
                <a:ea typeface="Cambria" pitchFamily="34" charset="-122"/>
                <a:cs typeface="Cambria" pitchFamily="34" charset="-120"/>
              </a:rPr>
              <a:t>Hạng mục dịch vụ</a:t>
            </a:r>
            <a:endParaRPr lang="en-US" sz="1650" dirty="0"/>
          </a:p>
        </p:txBody>
      </p:sp>
      <p:sp>
        <p:nvSpPr>
          <p:cNvPr id="35" name="Text 30"/>
          <p:cNvSpPr/>
          <p:nvPr/>
        </p:nvSpPr>
        <p:spPr>
          <a:xfrm>
            <a:off x="833932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provider_service_listings khởi tạo pending</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BQL duyệt/từ chối từng hạng mục</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Bị từ chối → sửa lại → tự động về pending</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DỊCH VỤ · QUY TRÌNH</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Yêu cầu dịch vụ nhiều bước — máy trạng thái</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40</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828800"/>
            <a:ext cx="1764792" cy="548640"/>
          </a:xfrm>
          <a:prstGeom prst="roundRect">
            <a:avLst>
              <a:gd name="adj" fmla="val 13333"/>
            </a:avLst>
          </a:prstGeom>
          <a:solidFill>
            <a:srgbClr val="0E2A47"/>
          </a:solidFill>
          <a:ln/>
        </p:spPr>
      </p:sp>
      <p:sp>
        <p:nvSpPr>
          <p:cNvPr id="9" name="Text 7"/>
          <p:cNvSpPr/>
          <p:nvPr/>
        </p:nvSpPr>
        <p:spPr>
          <a:xfrm>
            <a:off x="603504"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Chờ BQL duyệt</a:t>
            </a:r>
            <a:endParaRPr lang="en-US" sz="1050" dirty="0"/>
          </a:p>
        </p:txBody>
      </p:sp>
      <p:sp>
        <p:nvSpPr>
          <p:cNvPr id="10" name="Shape 8"/>
          <p:cNvSpPr/>
          <p:nvPr/>
        </p:nvSpPr>
        <p:spPr>
          <a:xfrm>
            <a:off x="2331720" y="2002536"/>
            <a:ext cx="100584" cy="201168"/>
          </a:xfrm>
          <a:prstGeom prst="rightArrow">
            <a:avLst/>
          </a:prstGeom>
          <a:solidFill>
            <a:srgbClr val="23B5A6"/>
          </a:solidFill>
          <a:ln/>
        </p:spPr>
      </p:sp>
      <p:sp>
        <p:nvSpPr>
          <p:cNvPr id="11" name="Shape 9"/>
          <p:cNvSpPr/>
          <p:nvPr/>
        </p:nvSpPr>
        <p:spPr>
          <a:xfrm>
            <a:off x="2432304" y="1828800"/>
            <a:ext cx="1764792" cy="548640"/>
          </a:xfrm>
          <a:prstGeom prst="roundRect">
            <a:avLst>
              <a:gd name="adj" fmla="val 13333"/>
            </a:avLst>
          </a:prstGeom>
          <a:solidFill>
            <a:srgbClr val="0E2A47"/>
          </a:solidFill>
          <a:ln/>
        </p:spPr>
      </p:sp>
      <p:sp>
        <p:nvSpPr>
          <p:cNvPr id="12" name="Text 10"/>
          <p:cNvSpPr/>
          <p:nvPr/>
        </p:nvSpPr>
        <p:spPr>
          <a:xfrm>
            <a:off x="2468880"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Chờ NCC nhận</a:t>
            </a:r>
            <a:endParaRPr lang="en-US" sz="1050" dirty="0"/>
          </a:p>
        </p:txBody>
      </p:sp>
      <p:sp>
        <p:nvSpPr>
          <p:cNvPr id="13" name="Shape 11"/>
          <p:cNvSpPr/>
          <p:nvPr/>
        </p:nvSpPr>
        <p:spPr>
          <a:xfrm>
            <a:off x="4197096" y="2002536"/>
            <a:ext cx="100584" cy="201168"/>
          </a:xfrm>
          <a:prstGeom prst="rightArrow">
            <a:avLst/>
          </a:prstGeom>
          <a:solidFill>
            <a:srgbClr val="23B5A6"/>
          </a:solidFill>
          <a:ln/>
        </p:spPr>
      </p:sp>
      <p:sp>
        <p:nvSpPr>
          <p:cNvPr id="14" name="Shape 12"/>
          <p:cNvSpPr/>
          <p:nvPr/>
        </p:nvSpPr>
        <p:spPr>
          <a:xfrm>
            <a:off x="4297680" y="1828800"/>
            <a:ext cx="1764792" cy="548640"/>
          </a:xfrm>
          <a:prstGeom prst="roundRect">
            <a:avLst>
              <a:gd name="adj" fmla="val 13333"/>
            </a:avLst>
          </a:prstGeom>
          <a:solidFill>
            <a:srgbClr val="0E2A47"/>
          </a:solidFill>
          <a:ln/>
        </p:spPr>
      </p:sp>
      <p:sp>
        <p:nvSpPr>
          <p:cNvPr id="15" name="Text 13"/>
          <p:cNvSpPr/>
          <p:nvPr/>
        </p:nvSpPr>
        <p:spPr>
          <a:xfrm>
            <a:off x="4334256"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NCC đã nhận</a:t>
            </a:r>
            <a:endParaRPr lang="en-US" sz="1050" dirty="0"/>
          </a:p>
        </p:txBody>
      </p:sp>
      <p:sp>
        <p:nvSpPr>
          <p:cNvPr id="16" name="Shape 14"/>
          <p:cNvSpPr/>
          <p:nvPr/>
        </p:nvSpPr>
        <p:spPr>
          <a:xfrm>
            <a:off x="6062472" y="2002536"/>
            <a:ext cx="100584" cy="201168"/>
          </a:xfrm>
          <a:prstGeom prst="rightArrow">
            <a:avLst/>
          </a:prstGeom>
          <a:solidFill>
            <a:srgbClr val="23B5A6"/>
          </a:solidFill>
          <a:ln/>
        </p:spPr>
      </p:sp>
      <p:sp>
        <p:nvSpPr>
          <p:cNvPr id="17" name="Shape 15"/>
          <p:cNvSpPr/>
          <p:nvPr/>
        </p:nvSpPr>
        <p:spPr>
          <a:xfrm>
            <a:off x="6163056" y="1828800"/>
            <a:ext cx="1764792" cy="548640"/>
          </a:xfrm>
          <a:prstGeom prst="roundRect">
            <a:avLst>
              <a:gd name="adj" fmla="val 13333"/>
            </a:avLst>
          </a:prstGeom>
          <a:solidFill>
            <a:srgbClr val="EFA13C"/>
          </a:solidFill>
          <a:ln/>
        </p:spPr>
      </p:sp>
      <p:sp>
        <p:nvSpPr>
          <p:cNvPr id="18" name="Text 16"/>
          <p:cNvSpPr/>
          <p:nvPr/>
        </p:nvSpPr>
        <p:spPr>
          <a:xfrm>
            <a:off x="6199632"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Đang thực hiện</a:t>
            </a:r>
            <a:endParaRPr lang="en-US" sz="1050" dirty="0"/>
          </a:p>
        </p:txBody>
      </p:sp>
      <p:sp>
        <p:nvSpPr>
          <p:cNvPr id="19" name="Shape 17"/>
          <p:cNvSpPr/>
          <p:nvPr/>
        </p:nvSpPr>
        <p:spPr>
          <a:xfrm>
            <a:off x="7927848" y="2002536"/>
            <a:ext cx="100584" cy="201168"/>
          </a:xfrm>
          <a:prstGeom prst="rightArrow">
            <a:avLst/>
          </a:prstGeom>
          <a:solidFill>
            <a:srgbClr val="23B5A6"/>
          </a:solidFill>
          <a:ln/>
        </p:spPr>
      </p:sp>
      <p:sp>
        <p:nvSpPr>
          <p:cNvPr id="20" name="Shape 18"/>
          <p:cNvSpPr/>
          <p:nvPr/>
        </p:nvSpPr>
        <p:spPr>
          <a:xfrm>
            <a:off x="8028432" y="1828800"/>
            <a:ext cx="1764792" cy="548640"/>
          </a:xfrm>
          <a:prstGeom prst="roundRect">
            <a:avLst>
              <a:gd name="adj" fmla="val 13333"/>
            </a:avLst>
          </a:prstGeom>
          <a:solidFill>
            <a:srgbClr val="0E2A47"/>
          </a:solidFill>
          <a:ln/>
        </p:spPr>
      </p:sp>
      <p:sp>
        <p:nvSpPr>
          <p:cNvPr id="21" name="Text 19"/>
          <p:cNvSpPr/>
          <p:nvPr/>
        </p:nvSpPr>
        <p:spPr>
          <a:xfrm>
            <a:off x="8065008"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Hoàn thành</a:t>
            </a:r>
            <a:endParaRPr lang="en-US" sz="1050" dirty="0"/>
          </a:p>
        </p:txBody>
      </p:sp>
      <p:sp>
        <p:nvSpPr>
          <p:cNvPr id="22" name="Shape 20"/>
          <p:cNvSpPr/>
          <p:nvPr/>
        </p:nvSpPr>
        <p:spPr>
          <a:xfrm>
            <a:off x="9793224" y="2002536"/>
            <a:ext cx="100584" cy="201168"/>
          </a:xfrm>
          <a:prstGeom prst="rightArrow">
            <a:avLst/>
          </a:prstGeom>
          <a:solidFill>
            <a:srgbClr val="23B5A6"/>
          </a:solidFill>
          <a:ln/>
        </p:spPr>
      </p:sp>
      <p:sp>
        <p:nvSpPr>
          <p:cNvPr id="23" name="Shape 21"/>
          <p:cNvSpPr/>
          <p:nvPr/>
        </p:nvSpPr>
        <p:spPr>
          <a:xfrm>
            <a:off x="9893808" y="1828800"/>
            <a:ext cx="1764792" cy="548640"/>
          </a:xfrm>
          <a:prstGeom prst="roundRect">
            <a:avLst>
              <a:gd name="adj" fmla="val 13333"/>
            </a:avLst>
          </a:prstGeom>
          <a:solidFill>
            <a:srgbClr val="0E2A47"/>
          </a:solidFill>
          <a:ln/>
        </p:spPr>
      </p:sp>
      <p:sp>
        <p:nvSpPr>
          <p:cNvPr id="24" name="Text 22"/>
          <p:cNvSpPr/>
          <p:nvPr/>
        </p:nvSpPr>
        <p:spPr>
          <a:xfrm>
            <a:off x="9930384"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Đánh giá</a:t>
            </a:r>
            <a:endParaRPr lang="en-US" sz="1050" dirty="0"/>
          </a:p>
        </p:txBody>
      </p:sp>
      <p:sp>
        <p:nvSpPr>
          <p:cNvPr id="25" name="Text 23"/>
          <p:cNvSpPr/>
          <p:nvPr/>
        </p:nvSpPr>
        <p:spPr>
          <a:xfrm>
            <a:off x="566928" y="2450592"/>
            <a:ext cx="11064240" cy="27432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Tùy cấu hình requiresMgtApproval · mọi bước từ chối đều kèm lý do bắt buộc · chỉ NCC ở trạng thái đã duyệt mới được gán/tiếp nhận yêu cầu</a:t>
            </a:r>
            <a:endParaRPr lang="en-US" sz="1100" dirty="0"/>
          </a:p>
        </p:txBody>
      </p:sp>
      <p:sp>
        <p:nvSpPr>
          <p:cNvPr id="26" name="Shape 24"/>
          <p:cNvSpPr/>
          <p:nvPr/>
        </p:nvSpPr>
        <p:spPr>
          <a:xfrm>
            <a:off x="566928" y="2926080"/>
            <a:ext cx="3566160" cy="2331720"/>
          </a:xfrm>
          <a:prstGeom prst="roundRect">
            <a:avLst>
              <a:gd name="adj" fmla="val 47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7" name="Shape 25"/>
          <p:cNvSpPr/>
          <p:nvPr/>
        </p:nvSpPr>
        <p:spPr>
          <a:xfrm>
            <a:off x="822960" y="3200400"/>
            <a:ext cx="621792" cy="621792"/>
          </a:xfrm>
          <a:prstGeom prst="roundRect">
            <a:avLst>
              <a:gd name="adj" fmla="val 50000"/>
            </a:avLst>
          </a:prstGeom>
          <a:solidFill>
            <a:srgbClr val="0E7C86"/>
          </a:solidFill>
          <a:ln/>
        </p:spPr>
      </p:sp>
      <p:pic>
        <p:nvPicPr>
          <p:cNvPr id="28" name="Image 0" descr="preencoded.png"/>
          <p:cNvPicPr>
            <a:picLocks noChangeAspect="1"/>
          </p:cNvPicPr>
          <p:nvPr/>
        </p:nvPicPr>
        <p:blipFill>
          <a:blip r:embed="rId2"/>
          <a:stretch>
            <a:fillRect/>
          </a:stretch>
        </p:blipFill>
        <p:spPr>
          <a:xfrm>
            <a:off x="972190" y="3349630"/>
            <a:ext cx="323332" cy="323332"/>
          </a:xfrm>
          <a:prstGeom prst="rect">
            <a:avLst/>
          </a:prstGeom>
        </p:spPr>
      </p:pic>
      <p:sp>
        <p:nvSpPr>
          <p:cNvPr id="29" name="Text 26"/>
          <p:cNvSpPr/>
          <p:nvPr/>
        </p:nvSpPr>
        <p:spPr>
          <a:xfrm>
            <a:off x="1572768" y="3273552"/>
            <a:ext cx="2377440" cy="457200"/>
          </a:xfrm>
          <a:prstGeom prst="rect">
            <a:avLst/>
          </a:prstGeom>
          <a:noFill/>
          <a:ln/>
        </p:spPr>
        <p:txBody>
          <a:bodyPr wrap="square" lIns="0" tIns="0" rIns="0" bIns="0" rtlCol="0" anchor="ctr"/>
          <a:lstStyle/>
          <a:p>
            <a:pPr marL="0" indent="0">
              <a:buNone/>
            </a:pPr>
            <a:r>
              <a:rPr lang="en-US" sz="1450" b="1" dirty="0">
                <a:solidFill>
                  <a:srgbClr val="0E2A47"/>
                </a:solidFill>
                <a:latin typeface="Cambria" pitchFamily="34" charset="0"/>
                <a:ea typeface="Cambria" pitchFamily="34" charset="-122"/>
                <a:cs typeface="Cambria" pitchFamily="34" charset="-120"/>
              </a:rPr>
              <a:t>Dịch vụ &amp; bảng giá</a:t>
            </a:r>
            <a:endParaRPr lang="en-US" sz="1450" dirty="0"/>
          </a:p>
        </p:txBody>
      </p:sp>
      <p:sp>
        <p:nvSpPr>
          <p:cNvPr id="30" name="Text 27"/>
          <p:cNvSpPr/>
          <p:nvPr/>
        </p:nvSpPr>
        <p:spPr>
          <a:xfrm>
            <a:off x="82296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Danh mục dịch vụ; trạng thái active / inactive / coming_soon</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Thực đơn/bảng giá (giá, đơn vị, còn phục vụ) cho cư dân tham khảo</a:t>
            </a:r>
            <a:endParaRPr lang="en-US" sz="1200" dirty="0"/>
          </a:p>
        </p:txBody>
      </p:sp>
      <p:sp>
        <p:nvSpPr>
          <p:cNvPr id="31" name="Shape 28"/>
          <p:cNvSpPr/>
          <p:nvPr/>
        </p:nvSpPr>
        <p:spPr>
          <a:xfrm>
            <a:off x="4315968" y="2926080"/>
            <a:ext cx="3566160" cy="2331720"/>
          </a:xfrm>
          <a:prstGeom prst="roundRect">
            <a:avLst>
              <a:gd name="adj" fmla="val 47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2" name="Shape 29"/>
          <p:cNvSpPr/>
          <p:nvPr/>
        </p:nvSpPr>
        <p:spPr>
          <a:xfrm>
            <a:off x="4572000" y="3200400"/>
            <a:ext cx="621792" cy="621792"/>
          </a:xfrm>
          <a:prstGeom prst="roundRect">
            <a:avLst>
              <a:gd name="adj" fmla="val 50000"/>
            </a:avLst>
          </a:prstGeom>
          <a:solidFill>
            <a:srgbClr val="E4572E"/>
          </a:solidFill>
          <a:ln/>
        </p:spPr>
      </p:sp>
      <p:pic>
        <p:nvPicPr>
          <p:cNvPr id="33" name="Image 1" descr="preencoded.png"/>
          <p:cNvPicPr>
            <a:picLocks noChangeAspect="1"/>
          </p:cNvPicPr>
          <p:nvPr/>
        </p:nvPicPr>
        <p:blipFill>
          <a:blip r:embed="rId3"/>
          <a:stretch>
            <a:fillRect/>
          </a:stretch>
        </p:blipFill>
        <p:spPr>
          <a:xfrm>
            <a:off x="4721230" y="3349630"/>
            <a:ext cx="323332" cy="323332"/>
          </a:xfrm>
          <a:prstGeom prst="rect">
            <a:avLst/>
          </a:prstGeom>
        </p:spPr>
      </p:pic>
      <p:sp>
        <p:nvSpPr>
          <p:cNvPr id="34" name="Text 30"/>
          <p:cNvSpPr/>
          <p:nvPr/>
        </p:nvSpPr>
        <p:spPr>
          <a:xfrm>
            <a:off x="5321808" y="3273552"/>
            <a:ext cx="2377440" cy="457200"/>
          </a:xfrm>
          <a:prstGeom prst="rect">
            <a:avLst/>
          </a:prstGeom>
          <a:noFill/>
          <a:ln/>
        </p:spPr>
        <p:txBody>
          <a:bodyPr wrap="square" lIns="0" tIns="0" rIns="0" bIns="0" rtlCol="0" anchor="ctr"/>
          <a:lstStyle/>
          <a:p>
            <a:pPr marL="0" indent="0">
              <a:buNone/>
            </a:pPr>
            <a:r>
              <a:rPr lang="en-US" sz="1450" b="1" dirty="0">
                <a:solidFill>
                  <a:srgbClr val="0E2A47"/>
                </a:solidFill>
                <a:latin typeface="Cambria" pitchFamily="34" charset="0"/>
                <a:ea typeface="Cambria" pitchFamily="34" charset="-122"/>
                <a:cs typeface="Cambria" pitchFamily="34" charset="-120"/>
              </a:rPr>
              <a:t>Đăng ký &amp; duyệt NCC</a:t>
            </a:r>
            <a:endParaRPr lang="en-US" sz="1450" dirty="0"/>
          </a:p>
        </p:txBody>
      </p:sp>
      <p:sp>
        <p:nvSpPr>
          <p:cNvPr id="35" name="Text 31"/>
          <p:cNvSpPr/>
          <p:nvPr/>
        </p:nvSpPr>
        <p:spPr>
          <a:xfrm>
            <a:off x="457200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BQL tạo hộ hoặc cư dân tự đăng ký (self-register, residentId)</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pending → approved/rejected; hạng mục (listing) cũng duyệt riêng</a:t>
            </a:r>
            <a:endParaRPr lang="en-US" sz="1200" dirty="0"/>
          </a:p>
        </p:txBody>
      </p:sp>
      <p:sp>
        <p:nvSpPr>
          <p:cNvPr id="36" name="Shape 32"/>
          <p:cNvSpPr/>
          <p:nvPr/>
        </p:nvSpPr>
        <p:spPr>
          <a:xfrm>
            <a:off x="8065008" y="2926080"/>
            <a:ext cx="3566160" cy="2331720"/>
          </a:xfrm>
          <a:prstGeom prst="roundRect">
            <a:avLst>
              <a:gd name="adj" fmla="val 47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7" name="Shape 33"/>
          <p:cNvSpPr/>
          <p:nvPr/>
        </p:nvSpPr>
        <p:spPr>
          <a:xfrm>
            <a:off x="8321040" y="3200400"/>
            <a:ext cx="621792" cy="621792"/>
          </a:xfrm>
          <a:prstGeom prst="roundRect">
            <a:avLst>
              <a:gd name="adj" fmla="val 50000"/>
            </a:avLst>
          </a:prstGeom>
          <a:solidFill>
            <a:srgbClr val="EFA13C"/>
          </a:solidFill>
          <a:ln/>
        </p:spPr>
      </p:sp>
      <p:pic>
        <p:nvPicPr>
          <p:cNvPr id="38" name="Image 2" descr="preencoded.png"/>
          <p:cNvPicPr>
            <a:picLocks noChangeAspect="1"/>
          </p:cNvPicPr>
          <p:nvPr/>
        </p:nvPicPr>
        <p:blipFill>
          <a:blip r:embed="rId4"/>
          <a:stretch>
            <a:fillRect/>
          </a:stretch>
        </p:blipFill>
        <p:spPr>
          <a:xfrm>
            <a:off x="8470270" y="3349630"/>
            <a:ext cx="323332" cy="323332"/>
          </a:xfrm>
          <a:prstGeom prst="rect">
            <a:avLst/>
          </a:prstGeom>
        </p:spPr>
      </p:pic>
      <p:sp>
        <p:nvSpPr>
          <p:cNvPr id="39" name="Text 34"/>
          <p:cNvSpPr/>
          <p:nvPr/>
        </p:nvSpPr>
        <p:spPr>
          <a:xfrm>
            <a:off x="9070848" y="3273552"/>
            <a:ext cx="2377440" cy="457200"/>
          </a:xfrm>
          <a:prstGeom prst="rect">
            <a:avLst/>
          </a:prstGeom>
          <a:noFill/>
          <a:ln/>
        </p:spPr>
        <p:txBody>
          <a:bodyPr wrap="square" lIns="0" tIns="0" rIns="0" bIns="0" rtlCol="0" anchor="ctr"/>
          <a:lstStyle/>
          <a:p>
            <a:pPr marL="0" indent="0">
              <a:buNone/>
            </a:pPr>
            <a:r>
              <a:rPr lang="en-US" sz="1450" b="1" dirty="0">
                <a:solidFill>
                  <a:srgbClr val="0E2A47"/>
                </a:solidFill>
                <a:latin typeface="Cambria" pitchFamily="34" charset="0"/>
                <a:ea typeface="Cambria" pitchFamily="34" charset="-122"/>
                <a:cs typeface="Cambria" pitchFamily="34" charset="-120"/>
              </a:rPr>
              <a:t>Tạo &amp; điều phối yêu cầu</a:t>
            </a:r>
            <a:endParaRPr lang="en-US" sz="1450" dirty="0"/>
          </a:p>
        </p:txBody>
      </p:sp>
      <p:sp>
        <p:nvSpPr>
          <p:cNvPr id="40" name="Text 35"/>
          <p:cNvSpPr/>
          <p:nvPr/>
        </p:nvSpPr>
        <p:spPr>
          <a:xfrm>
            <a:off x="832104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Cư dân/BQL tạo yêu cầu, gắn căn hộ (apartmentId), hẹn lịch</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Cư dân chỉ được đánh giá sau khi yêu cầu hoàn thành</a:t>
            </a:r>
            <a:endParaRPr lang="en-US" sz="1200" dirty="0"/>
          </a:p>
        </p:txBody>
      </p:sp>
      <p:sp>
        <p:nvSpPr>
          <p:cNvPr id="41" name="Shape 36"/>
          <p:cNvSpPr/>
          <p:nvPr/>
        </p:nvSpPr>
        <p:spPr>
          <a:xfrm>
            <a:off x="566928" y="5440680"/>
            <a:ext cx="11064240" cy="749808"/>
          </a:xfrm>
          <a:prstGeom prst="roundRect">
            <a:avLst>
              <a:gd name="adj" fmla="val 14634"/>
            </a:avLst>
          </a:prstGeom>
          <a:solidFill>
            <a:srgbClr val="0E2A47"/>
          </a:solidFill>
          <a:ln/>
        </p:spPr>
      </p:sp>
      <p:sp>
        <p:nvSpPr>
          <p:cNvPr id="42" name="Shape 37"/>
          <p:cNvSpPr/>
          <p:nvPr/>
        </p:nvSpPr>
        <p:spPr>
          <a:xfrm>
            <a:off x="804672" y="5605272"/>
            <a:ext cx="420624" cy="420624"/>
          </a:xfrm>
          <a:prstGeom prst="roundRect">
            <a:avLst>
              <a:gd name="adj" fmla="val 50000"/>
            </a:avLst>
          </a:prstGeom>
          <a:solidFill>
            <a:srgbClr val="23B5A6"/>
          </a:solidFill>
          <a:ln/>
        </p:spPr>
      </p:sp>
      <p:pic>
        <p:nvPicPr>
          <p:cNvPr id="43" name="Image 3" descr="preencoded.png"/>
          <p:cNvPicPr>
            <a:picLocks noChangeAspect="1"/>
          </p:cNvPicPr>
          <p:nvPr/>
        </p:nvPicPr>
        <p:blipFill>
          <a:blip r:embed="rId5"/>
          <a:stretch>
            <a:fillRect/>
          </a:stretch>
        </p:blipFill>
        <p:spPr>
          <a:xfrm>
            <a:off x="905622" y="5706222"/>
            <a:ext cx="218724" cy="218724"/>
          </a:xfrm>
          <a:prstGeom prst="rect">
            <a:avLst/>
          </a:prstGeom>
        </p:spPr>
      </p:pic>
      <p:sp>
        <p:nvSpPr>
          <p:cNvPr id="44" name="Text 38"/>
          <p:cNvSpPr/>
          <p:nvPr/>
        </p:nvSpPr>
        <p:spPr>
          <a:xfrm>
            <a:off x="1371600" y="5440680"/>
            <a:ext cx="10058400" cy="749808"/>
          </a:xfrm>
          <a:prstGeom prst="rect">
            <a:avLst/>
          </a:prstGeom>
          <a:noFill/>
          <a:ln/>
        </p:spPr>
        <p:txBody>
          <a:bodyPr wrap="square" lIns="0" tIns="0" rIns="0" bIns="0" rtlCol="0" anchor="ctr"/>
          <a:lstStyle/>
          <a:p>
            <a:pPr marL="0" indent="0">
              <a:buNone/>
            </a:pPr>
            <a:r>
              <a:rPr lang="en-US" sz="1250" b="1" dirty="0">
                <a:solidFill>
                  <a:srgbClr val="23B5A6"/>
                </a:solidFill>
                <a:latin typeface="Calibri" pitchFamily="34" charset="0"/>
                <a:ea typeface="Calibri" pitchFamily="34" charset="-122"/>
                <a:cs typeface="Calibri" pitchFamily="34" charset="-120"/>
              </a:rPr>
              <a:t>Liên thông trực tiếp:  </a:t>
            </a:r>
            <a:r>
              <a:rPr lang="en-US" sz="1250" dirty="0">
                <a:solidFill>
                  <a:srgbClr val="FFFFFF"/>
                </a:solidFill>
                <a:latin typeface="Calibri" pitchFamily="34" charset="0"/>
                <a:ea typeface="Calibri" pitchFamily="34" charset="-122"/>
                <a:cs typeface="Calibri" pitchFamily="34" charset="-120"/>
              </a:rPr>
              <a:t>kế thừa Auth/RBAC &amp; Thông báo từ Base · yêu cầu gắn căn hộ/cư dân từ phân hệ Dân cư · thông báo tới các bên khi đổi trạng thái.</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DỊCH VỤ · DỮ LIỆU &amp; API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Sáu bảng dữ liệu và thiết kế API</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41</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932688"/>
          </a:xfrm>
          <a:prstGeom prst="roundRect">
            <a:avLst>
              <a:gd name="adj" fmla="val 11765"/>
            </a:avLst>
          </a:prstGeom>
          <a:solidFill>
            <a:srgbClr val="0E2A47"/>
          </a:solidFill>
          <a:ln/>
        </p:spPr>
      </p:sp>
      <p:sp>
        <p:nvSpPr>
          <p:cNvPr id="9" name="Shape 7"/>
          <p:cNvSpPr/>
          <p:nvPr/>
        </p:nvSpPr>
        <p:spPr>
          <a:xfrm>
            <a:off x="822960" y="1847088"/>
            <a:ext cx="548640" cy="548640"/>
          </a:xfrm>
          <a:prstGeom prst="roundRect">
            <a:avLst>
              <a:gd name="adj" fmla="val 50000"/>
            </a:avLst>
          </a:prstGeom>
          <a:solidFill>
            <a:srgbClr val="23B5A6"/>
          </a:solidFill>
          <a:ln/>
        </p:spPr>
      </p:sp>
      <p:pic>
        <p:nvPicPr>
          <p:cNvPr id="10" name="Image 0" descr="preencoded.png"/>
          <p:cNvPicPr>
            <a:picLocks noChangeAspect="1"/>
          </p:cNvPicPr>
          <p:nvPr/>
        </p:nvPicPr>
        <p:blipFill>
          <a:blip r:embed="rId2"/>
          <a:stretch>
            <a:fillRect/>
          </a:stretch>
        </p:blipFill>
        <p:spPr>
          <a:xfrm>
            <a:off x="954634" y="1978762"/>
            <a:ext cx="285293" cy="285293"/>
          </a:xfrm>
          <a:prstGeom prst="rect">
            <a:avLst/>
          </a:prstGeom>
        </p:spPr>
      </p:pic>
      <p:sp>
        <p:nvSpPr>
          <p:cNvPr id="11" name="Text 8"/>
          <p:cNvSpPr/>
          <p:nvPr/>
        </p:nvSpPr>
        <p:spPr>
          <a:xfrm>
            <a:off x="1508760" y="1737360"/>
            <a:ext cx="9966960" cy="77724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6 bảng trung tâm — danh mục ⇄ dịch vụ ⇄ NCC ⇄ yêu cầu
</a:t>
            </a:r>
            <a:r>
              <a:rPr lang="en-US" sz="1250" dirty="0">
                <a:solidFill>
                  <a:srgbClr val="BFD6DF"/>
                </a:solidFill>
                <a:latin typeface="Calibri" pitchFamily="34" charset="0"/>
                <a:ea typeface="Calibri" pitchFamily="34" charset="-122"/>
                <a:cs typeface="Calibri" pitchFamily="34" charset="-120"/>
              </a:rPr>
              <a:t>service_categories · services · service_menu_items · providers · provider_service_listings · service_requests</a:t>
            </a:r>
            <a:endParaRPr lang="en-US" sz="1500" dirty="0"/>
          </a:p>
        </p:txBody>
      </p:sp>
      <p:sp>
        <p:nvSpPr>
          <p:cNvPr id="12" name="Shape 9"/>
          <p:cNvSpPr/>
          <p:nvPr/>
        </p:nvSpPr>
        <p:spPr>
          <a:xfrm>
            <a:off x="566928" y="2788920"/>
            <a:ext cx="3675888" cy="2148840"/>
          </a:xfrm>
          <a:prstGeom prst="roundRect">
            <a:avLst>
              <a:gd name="adj" fmla="val 5106"/>
            </a:avLst>
          </a:prstGeom>
          <a:solidFill>
            <a:srgbClr val="E4EEF3"/>
          </a:solidFill>
          <a:ln w="25400">
            <a:solidFill>
              <a:srgbClr val="0E7C86"/>
            </a:solidFill>
            <a:prstDash val="solid"/>
          </a:ln>
          <a:effectLst>
            <a:outerShdw blurRad="88900" dist="25400" dir="5400000" algn="bl" rotWithShape="0">
              <a:srgbClr val="B9C7D1">
                <a:alpha val="40000"/>
              </a:srgbClr>
            </a:outerShdw>
          </a:effectLst>
        </p:spPr>
      </p:sp>
      <p:sp>
        <p:nvSpPr>
          <p:cNvPr id="13" name="Shape 10"/>
          <p:cNvSpPr/>
          <p:nvPr/>
        </p:nvSpPr>
        <p:spPr>
          <a:xfrm>
            <a:off x="841248" y="3063240"/>
            <a:ext cx="731520" cy="731520"/>
          </a:xfrm>
          <a:prstGeom prst="roundRect">
            <a:avLst>
              <a:gd name="adj" fmla="val 50000"/>
            </a:avLst>
          </a:prstGeom>
          <a:solidFill>
            <a:srgbClr val="0E7C86"/>
          </a:solidFill>
          <a:ln/>
        </p:spPr>
      </p:sp>
      <p:pic>
        <p:nvPicPr>
          <p:cNvPr id="14" name="Image 1" descr="preencoded.png"/>
          <p:cNvPicPr>
            <a:picLocks noChangeAspect="1"/>
          </p:cNvPicPr>
          <p:nvPr/>
        </p:nvPicPr>
        <p:blipFill>
          <a:blip r:embed="rId3"/>
          <a:stretch>
            <a:fillRect/>
          </a:stretch>
        </p:blipFill>
        <p:spPr>
          <a:xfrm>
            <a:off x="1016813" y="3238805"/>
            <a:ext cx="380390" cy="380390"/>
          </a:xfrm>
          <a:prstGeom prst="rect">
            <a:avLst/>
          </a:prstGeom>
        </p:spPr>
      </p:pic>
      <p:sp>
        <p:nvSpPr>
          <p:cNvPr id="15" name="Text 11"/>
          <p:cNvSpPr/>
          <p:nvPr/>
        </p:nvSpPr>
        <p:spPr>
          <a:xfrm>
            <a:off x="170992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Dịch vụ tiện ích</a:t>
            </a:r>
            <a:endParaRPr lang="en-US" sz="1700" dirty="0"/>
          </a:p>
        </p:txBody>
      </p:sp>
      <p:sp>
        <p:nvSpPr>
          <p:cNvPr id="16" name="Text 12"/>
          <p:cNvSpPr/>
          <p:nvPr/>
        </p:nvSpPr>
        <p:spPr>
          <a:xfrm>
            <a:off x="1709928" y="3502152"/>
            <a:ext cx="2395728" cy="32004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categories · services · menu_items</a:t>
            </a:r>
            <a:endParaRPr lang="en-US" sz="1200" dirty="0"/>
          </a:p>
        </p:txBody>
      </p:sp>
      <p:sp>
        <p:nvSpPr>
          <p:cNvPr id="17" name="Text 13"/>
          <p:cNvSpPr/>
          <p:nvPr/>
        </p:nvSpPr>
        <p:spPr>
          <a:xfrm>
            <a:off x="84124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Danh mục 1–N dịch vụ; mỗi dịch vụ 1–N mục thực đơn/bảng giá.</a:t>
            </a:r>
            <a:endParaRPr lang="en-US" sz="1200" dirty="0"/>
          </a:p>
        </p:txBody>
      </p:sp>
      <p:sp>
        <p:nvSpPr>
          <p:cNvPr id="18" name="Text 14"/>
          <p:cNvSpPr/>
          <p:nvPr/>
        </p:nvSpPr>
        <p:spPr>
          <a:xfrm>
            <a:off x="841248" y="4617720"/>
            <a:ext cx="3172968" cy="274320"/>
          </a:xfrm>
          <a:prstGeom prst="rect">
            <a:avLst/>
          </a:prstGeom>
          <a:noFill/>
          <a:ln/>
        </p:spPr>
        <p:txBody>
          <a:bodyPr wrap="square" lIns="0" tIns="0" rIns="0" bIns="0" rtlCol="0" anchor="ctr"/>
          <a:lstStyle/>
          <a:p>
            <a:pPr marL="0" indent="0">
              <a:buNone/>
            </a:pPr>
            <a:r>
              <a:rPr lang="en-US" sz="1000" b="1" kern="0" spc="100" dirty="0">
                <a:solidFill>
                  <a:srgbClr val="0E7C86"/>
                </a:solidFill>
                <a:latin typeface="Calibri" pitchFamily="34" charset="0"/>
                <a:ea typeface="Calibri" pitchFamily="34" charset="-122"/>
                <a:cs typeface="Calibri" pitchFamily="34" charset="-120"/>
              </a:rPr>
              <a:t>THỰC THỂ</a:t>
            </a:r>
            <a:endParaRPr lang="en-US" sz="1000" dirty="0"/>
          </a:p>
        </p:txBody>
      </p:sp>
      <p:sp>
        <p:nvSpPr>
          <p:cNvPr id="19" name="Shape 15"/>
          <p:cNvSpPr/>
          <p:nvPr/>
        </p:nvSpPr>
        <p:spPr>
          <a:xfrm>
            <a:off x="4498848" y="2788920"/>
            <a:ext cx="3675888"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0" name="Shape 16"/>
          <p:cNvSpPr/>
          <p:nvPr/>
        </p:nvSpPr>
        <p:spPr>
          <a:xfrm>
            <a:off x="4773168" y="3063240"/>
            <a:ext cx="731520" cy="731520"/>
          </a:xfrm>
          <a:prstGeom prst="roundRect">
            <a:avLst>
              <a:gd name="adj" fmla="val 50000"/>
            </a:avLst>
          </a:prstGeom>
          <a:solidFill>
            <a:srgbClr val="6B7A88"/>
          </a:solidFill>
          <a:ln/>
        </p:spPr>
      </p:sp>
      <p:pic>
        <p:nvPicPr>
          <p:cNvPr id="21" name="Image 2" descr="preencoded.png"/>
          <p:cNvPicPr>
            <a:picLocks noChangeAspect="1"/>
          </p:cNvPicPr>
          <p:nvPr/>
        </p:nvPicPr>
        <p:blipFill>
          <a:blip r:embed="rId4"/>
          <a:stretch>
            <a:fillRect/>
          </a:stretch>
        </p:blipFill>
        <p:spPr>
          <a:xfrm>
            <a:off x="4948733" y="3238805"/>
            <a:ext cx="380390" cy="380390"/>
          </a:xfrm>
          <a:prstGeom prst="rect">
            <a:avLst/>
          </a:prstGeom>
        </p:spPr>
      </p:pic>
      <p:sp>
        <p:nvSpPr>
          <p:cNvPr id="22" name="Text 17"/>
          <p:cNvSpPr/>
          <p:nvPr/>
        </p:nvSpPr>
        <p:spPr>
          <a:xfrm>
            <a:off x="564184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Nhà cung cấp</a:t>
            </a:r>
            <a:endParaRPr lang="en-US" sz="1700" dirty="0"/>
          </a:p>
        </p:txBody>
      </p:sp>
      <p:sp>
        <p:nvSpPr>
          <p:cNvPr id="23" name="Text 18"/>
          <p:cNvSpPr/>
          <p:nvPr/>
        </p:nvSpPr>
        <p:spPr>
          <a:xfrm>
            <a:off x="5641848" y="3502152"/>
            <a:ext cx="2395728" cy="320040"/>
          </a:xfrm>
          <a:prstGeom prst="rect">
            <a:avLst/>
          </a:prstGeom>
          <a:noFill/>
          <a:ln/>
        </p:spPr>
        <p:txBody>
          <a:bodyPr wrap="square" lIns="0" tIns="0" rIns="0" bIns="0" rtlCol="0" anchor="ctr"/>
          <a:lstStyle/>
          <a:p>
            <a:pPr marL="0" indent="0">
              <a:buNone/>
            </a:pPr>
            <a:r>
              <a:rPr lang="en-US" sz="1200" b="1" dirty="0">
                <a:solidFill>
                  <a:srgbClr val="6B7A88"/>
                </a:solidFill>
                <a:latin typeface="Calibri" pitchFamily="34" charset="0"/>
                <a:ea typeface="Calibri" pitchFamily="34" charset="-122"/>
                <a:cs typeface="Calibri" pitchFamily="34" charset="-120"/>
              </a:rPr>
              <a:t>providers · listings</a:t>
            </a:r>
            <a:endParaRPr lang="en-US" sz="1200" dirty="0"/>
          </a:p>
        </p:txBody>
      </p:sp>
      <p:sp>
        <p:nvSpPr>
          <p:cNvPr id="24" name="Text 19"/>
          <p:cNvSpPr/>
          <p:nvPr/>
        </p:nvSpPr>
        <p:spPr>
          <a:xfrm>
            <a:off x="477316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NCC 1–N hạng mục dịch vụ; residentId khi cư dân tự đăng ký.</a:t>
            </a:r>
            <a:endParaRPr lang="en-US" sz="1200" dirty="0"/>
          </a:p>
        </p:txBody>
      </p:sp>
      <p:sp>
        <p:nvSpPr>
          <p:cNvPr id="25" name="Shape 20"/>
          <p:cNvSpPr/>
          <p:nvPr/>
        </p:nvSpPr>
        <p:spPr>
          <a:xfrm>
            <a:off x="8430768" y="2788920"/>
            <a:ext cx="3675888"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6" name="Shape 21"/>
          <p:cNvSpPr/>
          <p:nvPr/>
        </p:nvSpPr>
        <p:spPr>
          <a:xfrm>
            <a:off x="8705088" y="3063240"/>
            <a:ext cx="731520" cy="731520"/>
          </a:xfrm>
          <a:prstGeom prst="roundRect">
            <a:avLst>
              <a:gd name="adj" fmla="val 50000"/>
            </a:avLst>
          </a:prstGeom>
          <a:solidFill>
            <a:srgbClr val="6B7A88"/>
          </a:solidFill>
          <a:ln/>
        </p:spPr>
      </p:sp>
      <p:pic>
        <p:nvPicPr>
          <p:cNvPr id="27" name="Image 3" descr="preencoded.png"/>
          <p:cNvPicPr>
            <a:picLocks noChangeAspect="1"/>
          </p:cNvPicPr>
          <p:nvPr/>
        </p:nvPicPr>
        <p:blipFill>
          <a:blip r:embed="rId5"/>
          <a:stretch>
            <a:fillRect/>
          </a:stretch>
        </p:blipFill>
        <p:spPr>
          <a:xfrm>
            <a:off x="8880653" y="3238805"/>
            <a:ext cx="380390" cy="380390"/>
          </a:xfrm>
          <a:prstGeom prst="rect">
            <a:avLst/>
          </a:prstGeom>
        </p:spPr>
      </p:pic>
      <p:sp>
        <p:nvSpPr>
          <p:cNvPr id="28" name="Text 22"/>
          <p:cNvSpPr/>
          <p:nvPr/>
        </p:nvSpPr>
        <p:spPr>
          <a:xfrm>
            <a:off x="957376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Yêu cầu</a:t>
            </a:r>
            <a:endParaRPr lang="en-US" sz="1700" dirty="0"/>
          </a:p>
        </p:txBody>
      </p:sp>
      <p:sp>
        <p:nvSpPr>
          <p:cNvPr id="29" name="Text 23"/>
          <p:cNvSpPr/>
          <p:nvPr/>
        </p:nvSpPr>
        <p:spPr>
          <a:xfrm>
            <a:off x="9573768" y="3502152"/>
            <a:ext cx="2395728" cy="320040"/>
          </a:xfrm>
          <a:prstGeom prst="rect">
            <a:avLst/>
          </a:prstGeom>
          <a:noFill/>
          <a:ln/>
        </p:spPr>
        <p:txBody>
          <a:bodyPr wrap="square" lIns="0" tIns="0" rIns="0" bIns="0" rtlCol="0" anchor="ctr"/>
          <a:lstStyle/>
          <a:p>
            <a:pPr marL="0" indent="0">
              <a:buNone/>
            </a:pPr>
            <a:r>
              <a:rPr lang="en-US" sz="1200" b="1" dirty="0">
                <a:solidFill>
                  <a:srgbClr val="6B7A88"/>
                </a:solidFill>
                <a:latin typeface="Calibri" pitchFamily="34" charset="0"/>
                <a:ea typeface="Calibri" pitchFamily="34" charset="-122"/>
                <a:cs typeface="Calibri" pitchFamily="34" charset="-120"/>
              </a:rPr>
              <a:t>service_requests</a:t>
            </a:r>
            <a:endParaRPr lang="en-US" sz="1200" dirty="0"/>
          </a:p>
        </p:txBody>
      </p:sp>
      <p:sp>
        <p:nvSpPr>
          <p:cNvPr id="30" name="Text 24"/>
          <p:cNvSpPr/>
          <p:nvPr/>
        </p:nvSpPr>
        <p:spPr>
          <a:xfrm>
            <a:off x="870508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Gắn providerId &amp; apartmentId; requestedBy, status, scheduledDate.</a:t>
            </a:r>
            <a:endParaRPr lang="en-US" sz="1200" dirty="0"/>
          </a:p>
        </p:txBody>
      </p:sp>
      <p:sp>
        <p:nvSpPr>
          <p:cNvPr id="31" name="Text 25"/>
          <p:cNvSpPr/>
          <p:nvPr/>
        </p:nvSpPr>
        <p:spPr>
          <a:xfrm>
            <a:off x="566928" y="5138928"/>
            <a:ext cx="11064240" cy="640080"/>
          </a:xfrm>
          <a:prstGeom prst="rect">
            <a:avLst/>
          </a:prstGeom>
          <a:noFill/>
          <a:ln/>
        </p:spPr>
        <p:txBody>
          <a:bodyPr wrap="square" lIns="0" tIns="0" rIns="0" bIns="0" rtlCol="0" anchor="ctr"/>
          <a:lstStyle/>
          <a:p>
            <a:pPr marL="0" indent="0">
              <a:buNone/>
            </a:pPr>
            <a:r>
              <a:rPr lang="en-US" sz="1250" i="1" dirty="0">
                <a:solidFill>
                  <a:srgbClr val="6B7A88"/>
                </a:solidFill>
                <a:latin typeface="Calibri" pitchFamily="34" charset="0"/>
                <a:ea typeface="Calibri" pitchFamily="34" charset="-122"/>
                <a:cs typeface="Calibri" pitchFamily="34" charset="-120"/>
              </a:rPr>
              <a:t>API theo quyền: service.view/manage · provider.view/approve · servicerequest.approve. Mỗi endpoint yêu cầu JWT + policy RBAC; tham chiếu apartmentId/residentId qua Guid cross-service.</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DỊCH VỤ · PHẦN 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Nhận diện hư hỏng: bài toán và dữ liệu</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marL="0" indent="0">
              <a:buNone/>
            </a:pPr>
            <a:r>
              <a:rPr lang="en-US" sz="1250" b="1" kern="0" spc="150" dirty="0">
                <a:solidFill>
                  <a:srgbClr val="23B5A6"/>
                </a:solidFill>
                <a:latin typeface="Calibri" pitchFamily="34" charset="0"/>
                <a:ea typeface="Calibri" pitchFamily="34" charset="-122"/>
                <a:cs typeface="Calibri" pitchFamily="34" charset="-120"/>
              </a:rPr>
              <a:t>BÀI TOÁN OBJECT DETECTION</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Với mỗi vùng hư hỏng: tọa độ khung bao (bounding box), nhãn phân loại và độ tin cậy — phục vụ gợi ý danh mục nhà cung cấp cho cư dân</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icPr>
            <a:picLocks noChangeAspect="1"/>
          </p:cNvPicPr>
          <p:nvPr/>
        </p:nvPicPr>
        <p:blipFill>
          <a:blip r:embed="rId2"/>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5 lớp đối tượng</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wall_crack · floor_crack · tile_defect · electrical_damage · building_damage</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icPr>
            <a:picLocks noChangeAspect="1"/>
          </p:cNvPicPr>
          <p:nvPr/>
        </p:nvPicPr>
        <p:blipFill>
          <a:blip r:embed="rId3"/>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Nguồn dữ liệu</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6 nguồn công khai · 143.244 ảnh gốc (giới hạn 3.000/nguồn)</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blurRad="88900" dist="25400" dir="5400000" algn="bl" rotWithShape="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icPr>
            <a:picLocks noChangeAspect="1"/>
          </p:cNvPicPr>
          <p:nvPr/>
        </p:nvPicPr>
        <p:blipFill>
          <a:blip r:embed="rId4"/>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Chuẩn hóa &amp; chia tách</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Nhãn YOLO (bbox) · 75% train / 15% val / 10% test → 16.788 ảnh</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marL="0" indent="0" algn="ctr">
              <a:buNone/>
            </a:pPr>
            <a:r>
              <a:rPr lang="en-US" sz="1250" b="1" dirty="0">
                <a:solidFill>
                  <a:srgbClr val="0E2A47"/>
                </a:solidFill>
                <a:latin typeface="Calibri" pitchFamily="34" charset="0"/>
                <a:ea typeface="Calibri" pitchFamily="34" charset="-122"/>
                <a:cs typeface="Calibri" pitchFamily="34" charset="-120"/>
              </a:rPr>
              <a:t>Mô hình nền  </a:t>
            </a:r>
            <a:r>
              <a:rPr lang="en-US" sz="1250" b="1" dirty="0">
                <a:solidFill>
                  <a:srgbClr val="0E7C86"/>
                </a:solidFill>
                <a:latin typeface="Calibri" pitchFamily="34" charset="0"/>
                <a:ea typeface="Calibri" pitchFamily="34" charset="-122"/>
                <a:cs typeface="Calibri" pitchFamily="34" charset="-120"/>
              </a:rPr>
              <a:t>YOLOv8m (Ultralytics)</a:t>
            </a:r>
            <a:r>
              <a:rPr lang="en-US" sz="1250" b="1" dirty="0">
                <a:solidFill>
                  <a:srgbClr val="0E2A47"/>
                </a:solidFill>
                <a:latin typeface="Calibri" pitchFamily="34" charset="0"/>
                <a:ea typeface="Calibri" pitchFamily="34" charset="-122"/>
                <a:cs typeface="Calibri" pitchFamily="34" charset="-120"/>
              </a:rPr>
              <a:t>   ~   Tham số  </a:t>
            </a:r>
            <a:r>
              <a:rPr lang="en-US" sz="1250" b="1" dirty="0">
                <a:solidFill>
                  <a:srgbClr val="0E7C86"/>
                </a:solidFill>
                <a:latin typeface="Calibri" pitchFamily="34" charset="0"/>
                <a:ea typeface="Calibri" pitchFamily="34" charset="-122"/>
                <a:cs typeface="Calibri" pitchFamily="34" charset="-120"/>
              </a:rPr>
              <a:t>25,9 triệu</a:t>
            </a:r>
            <a:r>
              <a:rPr lang="en-US" sz="1250" dirty="0">
                <a:solidFill>
                  <a:srgbClr val="22303C"/>
                </a:solidFill>
                <a:latin typeface="Calibri" pitchFamily="34" charset="0"/>
                <a:ea typeface="Calibri" pitchFamily="34" charset="-122"/>
                <a:cs typeface="Calibri" pitchFamily="34" charset="-120"/>
              </a:rPr>
              <a:t>   ·   ảnh chỉ có nhãn phân loại được gán bbox phủ toàn ảnh khi chuẩn hóa.</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DỊCH VỤ · HUẤN LUYỆN &amp; KẾT QUẢ</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Cấu hình huấn luyện và kết quả trên tập test</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394960" cy="1417320"/>
          </a:xfrm>
          <a:prstGeom prst="roundRect">
            <a:avLst>
              <a:gd name="adj" fmla="val 7742"/>
            </a:avLst>
          </a:prstGeom>
          <a:solidFill>
            <a:srgbClr val="F1F5F8"/>
          </a:solidFill>
          <a:ln/>
          <a:effectLst>
            <a:outerShdw blurRad="88900" dist="25400" dir="5400000" algn="bl" rotWithShape="0">
              <a:srgbClr val="B9C7D1">
                <a:alpha val="40000"/>
              </a:srgbClr>
            </a:outerShdw>
          </a:effectLst>
        </p:spPr>
      </p:sp>
      <p:sp>
        <p:nvSpPr>
          <p:cNvPr id="9" name="Shape 7"/>
          <p:cNvSpPr/>
          <p:nvPr/>
        </p:nvSpPr>
        <p:spPr>
          <a:xfrm>
            <a:off x="822960" y="1938528"/>
            <a:ext cx="548640" cy="548640"/>
          </a:xfrm>
          <a:prstGeom prst="roundRect">
            <a:avLst>
              <a:gd name="adj" fmla="val 50000"/>
            </a:avLst>
          </a:prstGeom>
          <a:solidFill>
            <a:srgbClr val="E4572E"/>
          </a:solidFill>
          <a:ln/>
        </p:spPr>
      </p:sp>
      <p:pic>
        <p:nvPicPr>
          <p:cNvPr id="10" name="Image 0" descr="preencoded.png"/>
          <p:cNvPicPr>
            <a:picLocks noChangeAspect="1"/>
          </p:cNvPicPr>
          <p:nvPr/>
        </p:nvPicPr>
        <p:blipFill>
          <a:blip r:embed="rId2"/>
          <a:stretch>
            <a:fillRect/>
          </a:stretch>
        </p:blipFill>
        <p:spPr>
          <a:xfrm>
            <a:off x="954634" y="2070202"/>
            <a:ext cx="285293" cy="285293"/>
          </a:xfrm>
          <a:prstGeom prst="rect">
            <a:avLst/>
          </a:prstGeom>
        </p:spPr>
      </p:pic>
      <p:sp>
        <p:nvSpPr>
          <p:cNvPr id="11" name="Text 8"/>
          <p:cNvSpPr/>
          <p:nvPr/>
        </p:nvSpPr>
        <p:spPr>
          <a:xfrm>
            <a:off x="1508760" y="1965960"/>
            <a:ext cx="3657600" cy="36576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Huấn luyện</a:t>
            </a:r>
            <a:endParaRPr lang="en-US" sz="1500" dirty="0"/>
          </a:p>
        </p:txBody>
      </p:sp>
      <p:sp>
        <p:nvSpPr>
          <p:cNvPr id="12" name="Text 9"/>
          <p:cNvSpPr/>
          <p:nvPr/>
        </p:nvSpPr>
        <p:spPr>
          <a:xfrm>
            <a:off x="822960" y="2423160"/>
            <a:ext cx="4937760" cy="640080"/>
          </a:xfrm>
          <a:prstGeom prst="rect">
            <a:avLst/>
          </a:prstGeom>
          <a:noFill/>
          <a:ln/>
        </p:spPr>
        <p:txBody>
          <a:bodyPr wrap="square" lIns="0" tIns="0" rIns="0" bIns="0" rtlCol="0" anchor="t"/>
          <a:lstStyle/>
          <a:p>
            <a:pPr marL="0" indent="0">
              <a:buNone/>
            </a:pPr>
            <a:r>
              <a:rPr lang="en-US" sz="1200" dirty="0">
                <a:solidFill>
                  <a:srgbClr val="22303C"/>
                </a:solidFill>
                <a:latin typeface="Calibri" pitchFamily="34" charset="0"/>
                <a:ea typeface="Calibri" pitchFamily="34" charset="-122"/>
                <a:cs typeface="Calibri" pitchFamily="34" charset="-120"/>
              </a:rPr>
              <a:t>YOLOv8m từ trọng số pretrained (RTX 3060); ảnh 640×640, batch 8, 100 epoch (early stopping 30); AdamW, lr 0,001, cosine, warmup 3.</a:t>
            </a:r>
            <a:endParaRPr lang="en-US" sz="1200" dirty="0"/>
          </a:p>
        </p:txBody>
      </p:sp>
      <p:sp>
        <p:nvSpPr>
          <p:cNvPr id="13" name="Shape 10"/>
          <p:cNvSpPr/>
          <p:nvPr/>
        </p:nvSpPr>
        <p:spPr>
          <a:xfrm>
            <a:off x="566928" y="3246120"/>
            <a:ext cx="5394960" cy="1874520"/>
          </a:xfrm>
          <a:prstGeom prst="roundRect">
            <a:avLst>
              <a:gd name="adj" fmla="val 5854"/>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4" name="Shape 11"/>
          <p:cNvSpPr/>
          <p:nvPr/>
        </p:nvSpPr>
        <p:spPr>
          <a:xfrm>
            <a:off x="822960" y="3483864"/>
            <a:ext cx="640080" cy="640080"/>
          </a:xfrm>
          <a:prstGeom prst="roundRect">
            <a:avLst>
              <a:gd name="adj" fmla="val 50000"/>
            </a:avLst>
          </a:prstGeom>
          <a:solidFill>
            <a:srgbClr val="0E7C86"/>
          </a:solidFill>
          <a:ln/>
        </p:spPr>
      </p:sp>
      <p:pic>
        <p:nvPicPr>
          <p:cNvPr id="15" name="Image 1" descr="preencoded.png"/>
          <p:cNvPicPr>
            <a:picLocks noChangeAspect="1"/>
          </p:cNvPicPr>
          <p:nvPr/>
        </p:nvPicPr>
        <p:blipFill>
          <a:blip r:embed="rId3"/>
          <a:stretch>
            <a:fillRect/>
          </a:stretch>
        </p:blipFill>
        <p:spPr>
          <a:xfrm>
            <a:off x="976579" y="3637483"/>
            <a:ext cx="332842" cy="332842"/>
          </a:xfrm>
          <a:prstGeom prst="rect">
            <a:avLst/>
          </a:prstGeom>
        </p:spPr>
      </p:pic>
      <p:sp>
        <p:nvSpPr>
          <p:cNvPr id="16" name="Text 12"/>
          <p:cNvSpPr/>
          <p:nvPr/>
        </p:nvSpPr>
        <p:spPr>
          <a:xfrm>
            <a:off x="1618488" y="3557016"/>
            <a:ext cx="4206240" cy="457200"/>
          </a:xfrm>
          <a:prstGeom prst="rect">
            <a:avLst/>
          </a:prstGeom>
          <a:noFill/>
          <a:ln/>
        </p:spPr>
        <p:txBody>
          <a:bodyPr wrap="square" lIns="0" tIns="0" rIns="0" bIns="0" rtlCol="0" anchor="ctr"/>
          <a:lstStyle/>
          <a:p>
            <a:pPr marL="0" indent="0">
              <a:buNone/>
            </a:pPr>
            <a:r>
              <a:rPr lang="en-US" sz="1550" b="1" dirty="0">
                <a:solidFill>
                  <a:srgbClr val="0E2A47"/>
                </a:solidFill>
                <a:latin typeface="Cambria" pitchFamily="34" charset="0"/>
                <a:ea typeface="Cambria" pitchFamily="34" charset="-122"/>
                <a:cs typeface="Cambria" pitchFamily="34" charset="-120"/>
              </a:rPr>
              <a:t>Tăng cường dữ liệu</a:t>
            </a:r>
            <a:endParaRPr lang="en-US" sz="1550" dirty="0"/>
          </a:p>
        </p:txBody>
      </p:sp>
      <p:sp>
        <p:nvSpPr>
          <p:cNvPr id="17" name="Text 13"/>
          <p:cNvSpPr/>
          <p:nvPr/>
        </p:nvSpPr>
        <p:spPr>
          <a:xfrm>
            <a:off x="822960" y="4343400"/>
            <a:ext cx="4937760" cy="68580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Xoay, dịch, co giãn, phối cảnh, mosaic, mixup, HSV; tắt lật dọc (không đối xứng). Trọng số loss: box 7,5 · cls 0,5 · dfl 1,5; xuất ONNX.</a:t>
            </a:r>
            <a:endParaRPr lang="en-US" sz="1200" dirty="0"/>
          </a:p>
        </p:txBody>
      </p:sp>
      <p:sp>
        <p:nvSpPr>
          <p:cNvPr id="18" name="Shape 14"/>
          <p:cNvSpPr/>
          <p:nvPr/>
        </p:nvSpPr>
        <p:spPr>
          <a:xfrm>
            <a:off x="6163056" y="3246120"/>
            <a:ext cx="5394960" cy="1874520"/>
          </a:xfrm>
          <a:prstGeom prst="roundRect">
            <a:avLst>
              <a:gd name="adj" fmla="val 5854"/>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9" name="Shape 15"/>
          <p:cNvSpPr/>
          <p:nvPr/>
        </p:nvSpPr>
        <p:spPr>
          <a:xfrm>
            <a:off x="6419088" y="3483864"/>
            <a:ext cx="640080" cy="640080"/>
          </a:xfrm>
          <a:prstGeom prst="roundRect">
            <a:avLst>
              <a:gd name="adj" fmla="val 50000"/>
            </a:avLst>
          </a:prstGeom>
          <a:solidFill>
            <a:srgbClr val="23B5A6"/>
          </a:solidFill>
          <a:ln/>
        </p:spPr>
      </p:sp>
      <p:pic>
        <p:nvPicPr>
          <p:cNvPr id="20" name="Image 2" descr="preencoded.png"/>
          <p:cNvPicPr>
            <a:picLocks noChangeAspect="1"/>
          </p:cNvPicPr>
          <p:nvPr/>
        </p:nvPicPr>
        <p:blipFill>
          <a:blip r:embed="rId4"/>
          <a:stretch>
            <a:fillRect/>
          </a:stretch>
        </p:blipFill>
        <p:spPr>
          <a:xfrm>
            <a:off x="6572707" y="3637483"/>
            <a:ext cx="332842" cy="332842"/>
          </a:xfrm>
          <a:prstGeom prst="rect">
            <a:avLst/>
          </a:prstGeom>
        </p:spPr>
      </p:pic>
      <p:sp>
        <p:nvSpPr>
          <p:cNvPr id="21" name="Text 16"/>
          <p:cNvSpPr/>
          <p:nvPr/>
        </p:nvSpPr>
        <p:spPr>
          <a:xfrm>
            <a:off x="7214616" y="3557016"/>
            <a:ext cx="4206240" cy="457200"/>
          </a:xfrm>
          <a:prstGeom prst="rect">
            <a:avLst/>
          </a:prstGeom>
          <a:noFill/>
          <a:ln/>
        </p:spPr>
        <p:txBody>
          <a:bodyPr wrap="square" lIns="0" tIns="0" rIns="0" bIns="0" rtlCol="0" anchor="ctr"/>
          <a:lstStyle/>
          <a:p>
            <a:pPr marL="0" indent="0">
              <a:buNone/>
            </a:pPr>
            <a:r>
              <a:rPr lang="en-US" sz="1550" b="1" dirty="0">
                <a:solidFill>
                  <a:srgbClr val="0E2A47"/>
                </a:solidFill>
                <a:latin typeface="Cambria" pitchFamily="34" charset="0"/>
                <a:ea typeface="Cambria" pitchFamily="34" charset="-122"/>
                <a:cs typeface="Cambria" pitchFamily="34" charset="-120"/>
              </a:rPr>
              <a:t>Kết quả (test)</a:t>
            </a:r>
            <a:endParaRPr lang="en-US" sz="1550" dirty="0"/>
          </a:p>
        </p:txBody>
      </p:sp>
      <p:sp>
        <p:nvSpPr>
          <p:cNvPr id="22" name="Text 17"/>
          <p:cNvSpPr/>
          <p:nvPr/>
        </p:nvSpPr>
        <p:spPr>
          <a:xfrm>
            <a:off x="6419088" y="4343400"/>
            <a:ext cx="4937760" cy="68580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1.678 ảnh (conf 0,25; IoU 0,6): 4/5 lớp mAP@50 ≥ 0,99; riêng electrical_damage thấp (recall 0,403) do dữ liệu nhỏ nhất.</a:t>
            </a:r>
            <a:endParaRPr lang="en-US" sz="1200" dirty="0"/>
          </a:p>
        </p:txBody>
      </p:sp>
      <p:sp>
        <p:nvSpPr>
          <p:cNvPr id="23" name="Shape 18"/>
          <p:cNvSpPr/>
          <p:nvPr/>
        </p:nvSpPr>
        <p:spPr>
          <a:xfrm>
            <a:off x="566928" y="5257800"/>
            <a:ext cx="3566160" cy="822960"/>
          </a:xfrm>
          <a:prstGeom prst="roundRect">
            <a:avLst>
              <a:gd name="adj" fmla="val 12222"/>
            </a:avLst>
          </a:prstGeom>
          <a:solidFill>
            <a:srgbClr val="0E2A47"/>
          </a:solidFill>
          <a:ln/>
        </p:spPr>
      </p:sp>
      <p:sp>
        <p:nvSpPr>
          <p:cNvPr id="24" name="Text 19"/>
          <p:cNvSpPr/>
          <p:nvPr/>
        </p:nvSpPr>
        <p:spPr>
          <a:xfrm>
            <a:off x="74980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0,917</a:t>
            </a:r>
            <a:endParaRPr lang="en-US" sz="1800" dirty="0"/>
          </a:p>
        </p:txBody>
      </p:sp>
      <p:sp>
        <p:nvSpPr>
          <p:cNvPr id="25" name="Text 20"/>
          <p:cNvSpPr/>
          <p:nvPr/>
        </p:nvSpPr>
        <p:spPr>
          <a:xfrm>
            <a:off x="74980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mAP@50 toàn tập (all)</a:t>
            </a:r>
            <a:endParaRPr lang="en-US" sz="1100" dirty="0"/>
          </a:p>
        </p:txBody>
      </p:sp>
      <p:sp>
        <p:nvSpPr>
          <p:cNvPr id="26" name="Shape 21"/>
          <p:cNvSpPr/>
          <p:nvPr/>
        </p:nvSpPr>
        <p:spPr>
          <a:xfrm>
            <a:off x="4315968" y="5257800"/>
            <a:ext cx="3566160" cy="822960"/>
          </a:xfrm>
          <a:prstGeom prst="roundRect">
            <a:avLst>
              <a:gd name="adj" fmla="val 12222"/>
            </a:avLst>
          </a:prstGeom>
          <a:solidFill>
            <a:srgbClr val="0E2A47"/>
          </a:solidFill>
          <a:ln/>
        </p:spPr>
      </p:sp>
      <p:sp>
        <p:nvSpPr>
          <p:cNvPr id="27" name="Text 22"/>
          <p:cNvSpPr/>
          <p:nvPr/>
        </p:nvSpPr>
        <p:spPr>
          <a:xfrm>
            <a:off x="449884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4 / 5 lớp</a:t>
            </a:r>
            <a:endParaRPr lang="en-US" sz="1800" dirty="0"/>
          </a:p>
        </p:txBody>
      </p:sp>
      <p:sp>
        <p:nvSpPr>
          <p:cNvPr id="28" name="Text 23"/>
          <p:cNvSpPr/>
          <p:nvPr/>
        </p:nvSpPr>
        <p:spPr>
          <a:xfrm>
            <a:off x="449884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mAP@50 ≥ 0,99</a:t>
            </a:r>
            <a:endParaRPr lang="en-US" sz="1100" dirty="0"/>
          </a:p>
        </p:txBody>
      </p:sp>
      <p:sp>
        <p:nvSpPr>
          <p:cNvPr id="29" name="Shape 24"/>
          <p:cNvSpPr/>
          <p:nvPr/>
        </p:nvSpPr>
        <p:spPr>
          <a:xfrm>
            <a:off x="8065008" y="5257800"/>
            <a:ext cx="3566160" cy="822960"/>
          </a:xfrm>
          <a:prstGeom prst="roundRect">
            <a:avLst>
              <a:gd name="adj" fmla="val 12222"/>
            </a:avLst>
          </a:prstGeom>
          <a:solidFill>
            <a:srgbClr val="0E2A47"/>
          </a:solidFill>
          <a:ln/>
        </p:spPr>
      </p:sp>
      <p:sp>
        <p:nvSpPr>
          <p:cNvPr id="30" name="Text 25"/>
          <p:cNvSpPr/>
          <p:nvPr/>
        </p:nvSpPr>
        <p:spPr>
          <a:xfrm>
            <a:off x="824788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0,859</a:t>
            </a:r>
            <a:endParaRPr lang="en-US" sz="1800" dirty="0"/>
          </a:p>
        </p:txBody>
      </p:sp>
      <p:sp>
        <p:nvSpPr>
          <p:cNvPr id="31" name="Text 26"/>
          <p:cNvSpPr/>
          <p:nvPr/>
        </p:nvSpPr>
        <p:spPr>
          <a:xfrm>
            <a:off x="824788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mAP@50-95 toàn tập</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DỊCH VỤ · TÍCH HỢP 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Nhận diện hư hỏng công trình qua ảnh (YOLOv8)</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marL="0" indent="0">
              <a:buNone/>
            </a:pPr>
            <a:r>
              <a:rPr lang="en-US" sz="1250" b="1" kern="0" spc="150" dirty="0">
                <a:solidFill>
                  <a:srgbClr val="23B5A6"/>
                </a:solidFill>
                <a:latin typeface="Calibri" pitchFamily="34" charset="0"/>
                <a:ea typeface="Calibri" pitchFamily="34" charset="-122"/>
                <a:cs typeface="Calibri" pitchFamily="34" charset="-120"/>
              </a:rPr>
              <a:t>TÍCH HỢP TẠI PORTAL (KHÔNG BẮT BUỘC)</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Cư dân tải ảnh hư hỏng → backend gọi damage-service → gợi ý danh mục nhà cung cấp phù hợp kèm độ tin cậy</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icPr>
            <a:picLocks noChangeAspect="1"/>
          </p:cNvPicPr>
          <p:nvPr/>
        </p:nvPicPr>
        <p:blipFill>
          <a:blip r:embed="rId2"/>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Bài toán — 5 lớp</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5 loại hư hỏng · object detection</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icPr>
            <a:picLocks noChangeAspect="1"/>
          </p:cNvPicPr>
          <p:nvPr/>
        </p:nvPicPr>
        <p:blipFill>
          <a:blip r:embed="rId3"/>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Dữ liệu &amp; huấn luyện</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16.788 ảnh · YOLOv8m · 100 epoch</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blurRad="88900" dist="25400" dir="5400000" algn="bl" rotWithShape="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icPr>
            <a:picLocks noChangeAspect="1"/>
          </p:cNvPicPr>
          <p:nvPr/>
        </p:nvPicPr>
        <p:blipFill>
          <a:blip r:embed="rId4"/>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Kết quả trên test</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mAP@50 = 0,917 · 4/5 lớp ≥ 0,99</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marL="0" indent="0" algn="ctr">
              <a:buNone/>
            </a:pPr>
            <a:r>
              <a:rPr lang="en-US" sz="1250" b="1" dirty="0">
                <a:solidFill>
                  <a:srgbClr val="0E2A47"/>
                </a:solidFill>
                <a:latin typeface="Calibri" pitchFamily="34" charset="0"/>
                <a:ea typeface="Calibri" pitchFamily="34" charset="-122"/>
                <a:cs typeface="Calibri" pitchFamily="34" charset="-120"/>
              </a:rPr>
              <a:t>Dịch vụ suy luận  </a:t>
            </a:r>
            <a:r>
              <a:rPr lang="en-US" sz="1250" b="1" dirty="0">
                <a:solidFill>
                  <a:srgbClr val="0E7C86"/>
                </a:solidFill>
                <a:latin typeface="Calibri" pitchFamily="34" charset="0"/>
                <a:ea typeface="Calibri" pitchFamily="34" charset="-122"/>
                <a:cs typeface="Calibri" pitchFamily="34" charset="-120"/>
              </a:rPr>
              <a:t>FastAPI · YOLOv8m · ONNX</a:t>
            </a:r>
            <a:r>
              <a:rPr lang="en-US" sz="1250" b="1" dirty="0">
                <a:solidFill>
                  <a:srgbClr val="0E2A47"/>
                </a:solidFill>
                <a:latin typeface="Calibri" pitchFamily="34" charset="0"/>
                <a:ea typeface="Calibri" pitchFamily="34" charset="-122"/>
                <a:cs typeface="Calibri" pitchFamily="34" charset="-120"/>
              </a:rPr>
              <a:t>   ~   Backend  </a:t>
            </a:r>
            <a:r>
              <a:rPr lang="en-US" sz="1250" b="1" dirty="0">
                <a:solidFill>
                  <a:srgbClr val="0E7C86"/>
                </a:solidFill>
                <a:latin typeface="Calibri" pitchFamily="34" charset="0"/>
                <a:ea typeface="Calibri" pitchFamily="34" charset="-122"/>
                <a:cs typeface="Calibri" pitchFamily="34" charset="-120"/>
              </a:rPr>
              <a:t>DamageDetectionService</a:t>
            </a:r>
            <a:r>
              <a:rPr lang="en-US" sz="1250" dirty="0">
                <a:solidFill>
                  <a:srgbClr val="22303C"/>
                </a:solidFill>
                <a:latin typeface="Calibri" pitchFamily="34" charset="0"/>
                <a:ea typeface="Calibri" pitchFamily="34" charset="-122"/>
                <a:cs typeface="Calibri" pitchFamily="34" charset="-120"/>
              </a:rPr>
              <a:t>   ·   AI lỗi/chưa bật → trả available=false, không chặn chức năng tìm NCC (fallback).</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3">
    <p:bg>
      <p:bgPr>
        <a:solidFill>
          <a:srgbClr val="0E2A47"/>
        </a:solidFill>
        <a:effectLst/>
      </p:bgPr>
    </p:bg>
    <p:spTree>
      <p:nvGrpSpPr>
        <p:cNvPr id="1" name=""/>
        <p:cNvGrpSpPr/>
        <p:nvPr/>
      </p:nvGrpSpPr>
      <p:grpSpPr>
        <a:xfrm>
          <a:off x="0" y="0"/>
          <a:ext cx="0" cy="0"/>
          <a:chOff x="0" y="0"/>
          <a:chExt cx="0" cy="0"/>
        </a:xfrm>
      </p:grpSpPr>
      <p:sp>
        <p:nvSpPr>
          <p:cNvPr id="2" name="Shape 0"/>
          <p:cNvSpPr/>
          <p:nvPr/>
        </p:nvSpPr>
        <p:spPr>
          <a:xfrm>
            <a:off x="8961120" y="-2194560"/>
            <a:ext cx="5486400" cy="5486400"/>
          </a:xfrm>
          <a:prstGeom prst="roundRect">
            <a:avLst>
              <a:gd name="adj" fmla="val 50000"/>
            </a:avLst>
          </a:prstGeom>
          <a:solidFill>
            <a:srgbClr val="16385C"/>
          </a:solidFill>
          <a:ln/>
        </p:spPr>
      </p:sp>
      <p:sp>
        <p:nvSpPr>
          <p:cNvPr id="3" name="Shape 1"/>
          <p:cNvSpPr/>
          <p:nvPr/>
        </p:nvSpPr>
        <p:spPr>
          <a:xfrm>
            <a:off x="-1645920" y="4206240"/>
            <a:ext cx="4206240" cy="4206240"/>
          </a:xfrm>
          <a:prstGeom prst="roundRect">
            <a:avLst>
              <a:gd name="adj" fmla="val 50000"/>
            </a:avLst>
          </a:prstGeom>
          <a:solidFill>
            <a:srgbClr val="16385C"/>
          </a:solidFill>
          <a:ln/>
        </p:spPr>
      </p:sp>
      <p:sp>
        <p:nvSpPr>
          <p:cNvPr id="4" name="Text 2"/>
          <p:cNvSpPr/>
          <p:nvPr/>
        </p:nvSpPr>
        <p:spPr>
          <a:xfrm>
            <a:off x="822960" y="1234440"/>
            <a:ext cx="9144000" cy="365760"/>
          </a:xfrm>
          <a:prstGeom prst="rect">
            <a:avLst/>
          </a:prstGeom>
          <a:noFill/>
          <a:ln/>
        </p:spPr>
        <p:txBody>
          <a:bodyPr wrap="square" lIns="0" tIns="0" rIns="0" bIns="0" rtlCol="0" anchor="ctr"/>
          <a:lstStyle/>
          <a:p>
            <a:pPr marL="0" indent="0">
              <a:buNone/>
            </a:pPr>
            <a:r>
              <a:rPr lang="en-US" sz="1400" b="1" kern="0" spc="300" dirty="0">
                <a:solidFill>
                  <a:srgbClr val="23B5A6"/>
                </a:solidFill>
                <a:latin typeface="Calibri" pitchFamily="34" charset="0"/>
                <a:ea typeface="Calibri" pitchFamily="34" charset="-122"/>
                <a:cs typeface="Calibri" pitchFamily="34" charset="-120"/>
              </a:rPr>
              <a:t>PHÂN HỆ NHÓM · CHƯƠNG 5</a:t>
            </a:r>
            <a:endParaRPr lang="en-US" sz="1400" dirty="0"/>
          </a:p>
        </p:txBody>
      </p:sp>
      <p:sp>
        <p:nvSpPr>
          <p:cNvPr id="5" name="Text 3"/>
          <p:cNvSpPr/>
          <p:nvPr/>
        </p:nvSpPr>
        <p:spPr>
          <a:xfrm>
            <a:off x="777240" y="1691640"/>
            <a:ext cx="1051560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Phân hệ Quản lý dân cư</a:t>
            </a:r>
            <a:endParaRPr lang="en-US" sz="4600" dirty="0"/>
          </a:p>
        </p:txBody>
      </p:sp>
      <p:sp>
        <p:nvSpPr>
          <p:cNvPr id="6" name="Text 4"/>
          <p:cNvSpPr/>
          <p:nvPr/>
        </p:nvSpPr>
        <p:spPr>
          <a:xfrm>
            <a:off x="822960" y="2697480"/>
            <a:ext cx="10058400" cy="365760"/>
          </a:xfrm>
          <a:prstGeom prst="rect">
            <a:avLst/>
          </a:prstGeom>
          <a:noFill/>
          <a:ln/>
        </p:spPr>
        <p:txBody>
          <a:bodyPr wrap="square" lIns="0" tIns="0" rIns="0" bIns="0" rtlCol="0" anchor="ctr"/>
          <a:lstStyle/>
          <a:p>
            <a:pPr marL="0" indent="0">
              <a:buNone/>
            </a:pPr>
            <a:r>
              <a:rPr lang="en-US" sz="1500" i="1" dirty="0">
                <a:solidFill>
                  <a:srgbClr val="BFD6DF"/>
                </a:solidFill>
                <a:latin typeface="Calibri" pitchFamily="34" charset="0"/>
                <a:ea typeface="Calibri" pitchFamily="34" charset="-122"/>
                <a:cs typeface="Calibri" pitchFamily="34" charset="-120"/>
              </a:rPr>
              <a:t>Thành viên phụ trách — Lương Thanh Tài · nằm trong module Base, kế thừa nền tảng dùng chung</a:t>
            </a:r>
            <a:endParaRPr lang="en-US" sz="1500" dirty="0"/>
          </a:p>
        </p:txBody>
      </p:sp>
      <p:sp>
        <p:nvSpPr>
          <p:cNvPr id="7" name="Shape 5"/>
          <p:cNvSpPr/>
          <p:nvPr/>
        </p:nvSpPr>
        <p:spPr>
          <a:xfrm>
            <a:off x="566928" y="3611880"/>
            <a:ext cx="3566160" cy="2331720"/>
          </a:xfrm>
          <a:prstGeom prst="roundRect">
            <a:avLst>
              <a:gd name="adj" fmla="val 4706"/>
            </a:avLst>
          </a:prstGeom>
          <a:solidFill>
            <a:srgbClr val="16385C"/>
          </a:solidFill>
          <a:ln/>
        </p:spPr>
      </p:sp>
      <p:sp>
        <p:nvSpPr>
          <p:cNvPr id="8" name="Shape 6"/>
          <p:cNvSpPr/>
          <p:nvPr/>
        </p:nvSpPr>
        <p:spPr>
          <a:xfrm>
            <a:off x="841248" y="3886200"/>
            <a:ext cx="777240" cy="777240"/>
          </a:xfrm>
          <a:prstGeom prst="roundRect">
            <a:avLst>
              <a:gd name="adj" fmla="val 50000"/>
            </a:avLst>
          </a:prstGeom>
          <a:solidFill>
            <a:srgbClr val="0E7C86"/>
          </a:solidFill>
          <a:ln/>
        </p:spPr>
      </p:sp>
      <p:pic>
        <p:nvPicPr>
          <p:cNvPr id="9" name="Image 0" descr="preencoded.png"/>
          <p:cNvPicPr>
            <a:picLocks noChangeAspect="1"/>
          </p:cNvPicPr>
          <p:nvPr/>
        </p:nvPicPr>
        <p:blipFill>
          <a:blip r:embed="rId2"/>
          <a:stretch>
            <a:fillRect/>
          </a:stretch>
        </p:blipFill>
        <p:spPr>
          <a:xfrm>
            <a:off x="1027786" y="4072738"/>
            <a:ext cx="404165" cy="404165"/>
          </a:xfrm>
          <a:prstGeom prst="rect">
            <a:avLst/>
          </a:prstGeom>
        </p:spPr>
      </p:pic>
      <p:sp>
        <p:nvSpPr>
          <p:cNvPr id="10" name="Text 7"/>
          <p:cNvSpPr/>
          <p:nvPr/>
        </p:nvSpPr>
        <p:spPr>
          <a:xfrm>
            <a:off x="1755648" y="3922776"/>
            <a:ext cx="2194560" cy="274320"/>
          </a:xfrm>
          <a:prstGeom prst="rect">
            <a:avLst/>
          </a:prstGeom>
          <a:noFill/>
          <a:ln/>
        </p:spPr>
        <p:txBody>
          <a:bodyPr wrap="square" lIns="0" tIns="0" rIns="0" bIns="0" rtlCol="0" anchor="ctr"/>
          <a:lstStyle/>
          <a:p>
            <a:pPr marL="0" indent="0">
              <a:buNone/>
            </a:pPr>
            <a:r>
              <a:rPr lang="en-US" sz="1100" b="1" kern="0" spc="100" dirty="0">
                <a:solidFill>
                  <a:srgbClr val="23B5A6"/>
                </a:solidFill>
                <a:latin typeface="Calibri" pitchFamily="34" charset="0"/>
                <a:ea typeface="Calibri" pitchFamily="34" charset="-122"/>
                <a:cs typeface="Calibri" pitchFamily="34" charset="-120"/>
              </a:rPr>
              <a:t>Nhóm 1</a:t>
            </a:r>
            <a:endParaRPr lang="en-US" sz="1100" dirty="0"/>
          </a:p>
        </p:txBody>
      </p:sp>
      <p:sp>
        <p:nvSpPr>
          <p:cNvPr id="11" name="Text 8"/>
          <p:cNvSpPr/>
          <p:nvPr/>
        </p:nvSpPr>
        <p:spPr>
          <a:xfrm>
            <a:off x="1755648" y="4178808"/>
            <a:ext cx="21945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Tòa nhà &amp; Căn hộ</a:t>
            </a:r>
            <a:endParaRPr lang="en-US" sz="1550" dirty="0"/>
          </a:p>
        </p:txBody>
      </p:sp>
      <p:sp>
        <p:nvSpPr>
          <p:cNvPr id="12" name="Text 9"/>
          <p:cNvSpPr/>
          <p:nvPr/>
        </p:nvSpPr>
        <p:spPr>
          <a:xfrm>
            <a:off x="841248" y="4892040"/>
            <a:ext cx="3063240" cy="914400"/>
          </a:xfrm>
          <a:prstGeom prst="rect">
            <a:avLst/>
          </a:prstGeom>
          <a:noFill/>
          <a:ln/>
        </p:spPr>
        <p:txBody>
          <a:bodyPr wrap="square" lIns="0" tIns="0" rIns="0" bIns="0" rtlCol="0" anchor="t"/>
          <a:lstStyle/>
          <a:p>
            <a:pPr marL="0" indent="0">
              <a:lnSpc>
                <a:spcPct val="105000"/>
              </a:lnSpc>
              <a:buNone/>
            </a:pPr>
            <a:r>
              <a:rPr lang="en-US" sz="1200" dirty="0">
                <a:solidFill>
                  <a:srgbClr val="BFD6DF"/>
                </a:solidFill>
                <a:latin typeface="Calibri" pitchFamily="34" charset="0"/>
                <a:ea typeface="Calibri" pitchFamily="34" charset="-122"/>
                <a:cs typeface="Calibri" pitchFamily="34" charset="-120"/>
              </a:rPr>
              <a:t>Tòa nhà – tầng – căn hộ · trạng thái sử dụng · hồ sơ cư dân &amp; chủ hộ</a:t>
            </a:r>
            <a:endParaRPr lang="en-US" sz="1200" dirty="0"/>
          </a:p>
        </p:txBody>
      </p:sp>
      <p:sp>
        <p:nvSpPr>
          <p:cNvPr id="13" name="Shape 10"/>
          <p:cNvSpPr/>
          <p:nvPr/>
        </p:nvSpPr>
        <p:spPr>
          <a:xfrm>
            <a:off x="4315968" y="3611880"/>
            <a:ext cx="3566160" cy="2331720"/>
          </a:xfrm>
          <a:prstGeom prst="roundRect">
            <a:avLst>
              <a:gd name="adj" fmla="val 4706"/>
            </a:avLst>
          </a:prstGeom>
          <a:solidFill>
            <a:srgbClr val="16385C"/>
          </a:solidFill>
          <a:ln/>
        </p:spPr>
      </p:sp>
      <p:sp>
        <p:nvSpPr>
          <p:cNvPr id="14" name="Shape 11"/>
          <p:cNvSpPr/>
          <p:nvPr/>
        </p:nvSpPr>
        <p:spPr>
          <a:xfrm>
            <a:off x="4590288" y="3886200"/>
            <a:ext cx="777240" cy="777240"/>
          </a:xfrm>
          <a:prstGeom prst="roundRect">
            <a:avLst>
              <a:gd name="adj" fmla="val 50000"/>
            </a:avLst>
          </a:prstGeom>
          <a:solidFill>
            <a:srgbClr val="23B5A6"/>
          </a:solidFill>
          <a:ln/>
        </p:spPr>
      </p:sp>
      <p:pic>
        <p:nvPicPr>
          <p:cNvPr id="15" name="Image 1" descr="preencoded.png"/>
          <p:cNvPicPr>
            <a:picLocks noChangeAspect="1"/>
          </p:cNvPicPr>
          <p:nvPr/>
        </p:nvPicPr>
        <p:blipFill>
          <a:blip r:embed="rId3"/>
          <a:stretch>
            <a:fillRect/>
          </a:stretch>
        </p:blipFill>
        <p:spPr>
          <a:xfrm>
            <a:off x="4776826" y="4072738"/>
            <a:ext cx="404165" cy="404165"/>
          </a:xfrm>
          <a:prstGeom prst="rect">
            <a:avLst/>
          </a:prstGeom>
        </p:spPr>
      </p:pic>
      <p:sp>
        <p:nvSpPr>
          <p:cNvPr id="16" name="Text 12"/>
          <p:cNvSpPr/>
          <p:nvPr/>
        </p:nvSpPr>
        <p:spPr>
          <a:xfrm>
            <a:off x="5504688" y="3922776"/>
            <a:ext cx="2194560" cy="274320"/>
          </a:xfrm>
          <a:prstGeom prst="rect">
            <a:avLst/>
          </a:prstGeom>
          <a:noFill/>
          <a:ln/>
        </p:spPr>
        <p:txBody>
          <a:bodyPr wrap="square" lIns="0" tIns="0" rIns="0" bIns="0" rtlCol="0" anchor="ctr"/>
          <a:lstStyle/>
          <a:p>
            <a:pPr marL="0" indent="0">
              <a:buNone/>
            </a:pPr>
            <a:r>
              <a:rPr lang="en-US" sz="1100" b="1" kern="0" spc="100" dirty="0">
                <a:solidFill>
                  <a:srgbClr val="23B5A6"/>
                </a:solidFill>
                <a:latin typeface="Calibri" pitchFamily="34" charset="0"/>
                <a:ea typeface="Calibri" pitchFamily="34" charset="-122"/>
                <a:cs typeface="Calibri" pitchFamily="34" charset="-120"/>
              </a:rPr>
              <a:t>Nhóm 2</a:t>
            </a:r>
            <a:endParaRPr lang="en-US" sz="1100" dirty="0"/>
          </a:p>
        </p:txBody>
      </p:sp>
      <p:sp>
        <p:nvSpPr>
          <p:cNvPr id="17" name="Text 13"/>
          <p:cNvSpPr/>
          <p:nvPr/>
        </p:nvSpPr>
        <p:spPr>
          <a:xfrm>
            <a:off x="5504688" y="4178808"/>
            <a:ext cx="21945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Phí &amp; Thu phí</a:t>
            </a:r>
            <a:endParaRPr lang="en-US" sz="1550" dirty="0"/>
          </a:p>
        </p:txBody>
      </p:sp>
      <p:sp>
        <p:nvSpPr>
          <p:cNvPr id="18" name="Text 14"/>
          <p:cNvSpPr/>
          <p:nvPr/>
        </p:nvSpPr>
        <p:spPr>
          <a:xfrm>
            <a:off x="4590288" y="4892040"/>
            <a:ext cx="3063240" cy="914400"/>
          </a:xfrm>
          <a:prstGeom prst="rect">
            <a:avLst/>
          </a:prstGeom>
          <a:noFill/>
          <a:ln/>
        </p:spPr>
        <p:txBody>
          <a:bodyPr wrap="square" lIns="0" tIns="0" rIns="0" bIns="0" rtlCol="0" anchor="t"/>
          <a:lstStyle/>
          <a:p>
            <a:pPr marL="0" indent="0">
              <a:lnSpc>
                <a:spcPct val="105000"/>
              </a:lnSpc>
              <a:buNone/>
            </a:pPr>
            <a:r>
              <a:rPr lang="en-US" sz="1200" dirty="0">
                <a:solidFill>
                  <a:srgbClr val="BFD6DF"/>
                </a:solidFill>
                <a:latin typeface="Calibri" pitchFamily="34" charset="0"/>
                <a:ea typeface="Calibri" pitchFamily="34" charset="-122"/>
                <a:cs typeface="Calibri" pitchFamily="34" charset="-120"/>
              </a:rPr>
              <a:t>Loại phí · phát sinh theo kỳ · theo dõi công nợ · nhắc hạn qua thông báo</a:t>
            </a:r>
            <a:endParaRPr lang="en-US" sz="1200" dirty="0"/>
          </a:p>
        </p:txBody>
      </p:sp>
      <p:sp>
        <p:nvSpPr>
          <p:cNvPr id="19" name="Shape 15"/>
          <p:cNvSpPr/>
          <p:nvPr/>
        </p:nvSpPr>
        <p:spPr>
          <a:xfrm>
            <a:off x="8065008" y="3611880"/>
            <a:ext cx="3566160" cy="2331720"/>
          </a:xfrm>
          <a:prstGeom prst="roundRect">
            <a:avLst>
              <a:gd name="adj" fmla="val 4706"/>
            </a:avLst>
          </a:prstGeom>
          <a:solidFill>
            <a:srgbClr val="16385C"/>
          </a:solidFill>
          <a:ln/>
        </p:spPr>
      </p:sp>
      <p:sp>
        <p:nvSpPr>
          <p:cNvPr id="20" name="Shape 16"/>
          <p:cNvSpPr/>
          <p:nvPr/>
        </p:nvSpPr>
        <p:spPr>
          <a:xfrm>
            <a:off x="8339328" y="3886200"/>
            <a:ext cx="777240" cy="777240"/>
          </a:xfrm>
          <a:prstGeom prst="roundRect">
            <a:avLst>
              <a:gd name="adj" fmla="val 50000"/>
            </a:avLst>
          </a:prstGeom>
          <a:solidFill>
            <a:srgbClr val="EFA13C"/>
          </a:solidFill>
          <a:ln/>
        </p:spPr>
      </p:sp>
      <p:pic>
        <p:nvPicPr>
          <p:cNvPr id="21" name="Image 2" descr="preencoded.png"/>
          <p:cNvPicPr>
            <a:picLocks noChangeAspect="1"/>
          </p:cNvPicPr>
          <p:nvPr/>
        </p:nvPicPr>
        <p:blipFill>
          <a:blip r:embed="rId4"/>
          <a:stretch>
            <a:fillRect/>
          </a:stretch>
        </p:blipFill>
        <p:spPr>
          <a:xfrm>
            <a:off x="8525866" y="4072738"/>
            <a:ext cx="404165" cy="404165"/>
          </a:xfrm>
          <a:prstGeom prst="rect">
            <a:avLst/>
          </a:prstGeom>
        </p:spPr>
      </p:pic>
      <p:sp>
        <p:nvSpPr>
          <p:cNvPr id="22" name="Text 17"/>
          <p:cNvSpPr/>
          <p:nvPr/>
        </p:nvSpPr>
        <p:spPr>
          <a:xfrm>
            <a:off x="9253728" y="3922776"/>
            <a:ext cx="2194560" cy="274320"/>
          </a:xfrm>
          <a:prstGeom prst="rect">
            <a:avLst/>
          </a:prstGeom>
          <a:noFill/>
          <a:ln/>
        </p:spPr>
        <p:txBody>
          <a:bodyPr wrap="square" lIns="0" tIns="0" rIns="0" bIns="0" rtlCol="0" anchor="ctr"/>
          <a:lstStyle/>
          <a:p>
            <a:pPr marL="0" indent="0">
              <a:buNone/>
            </a:pPr>
            <a:r>
              <a:rPr lang="en-US" sz="1100" b="1" kern="0" spc="100" dirty="0">
                <a:solidFill>
                  <a:srgbClr val="23B5A6"/>
                </a:solidFill>
                <a:latin typeface="Calibri" pitchFamily="34" charset="0"/>
                <a:ea typeface="Calibri" pitchFamily="34" charset="-122"/>
                <a:cs typeface="Calibri" pitchFamily="34" charset="-120"/>
              </a:rPr>
              <a:t>Nhóm 3</a:t>
            </a:r>
            <a:endParaRPr lang="en-US" sz="1100" dirty="0"/>
          </a:p>
        </p:txBody>
      </p:sp>
      <p:sp>
        <p:nvSpPr>
          <p:cNvPr id="23" name="Text 18"/>
          <p:cNvSpPr/>
          <p:nvPr/>
        </p:nvSpPr>
        <p:spPr>
          <a:xfrm>
            <a:off x="9253728" y="4178808"/>
            <a:ext cx="21945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An ninh AI khuôn mặt</a:t>
            </a:r>
            <a:endParaRPr lang="en-US" sz="1550" dirty="0"/>
          </a:p>
        </p:txBody>
      </p:sp>
      <p:sp>
        <p:nvSpPr>
          <p:cNvPr id="24" name="Text 19"/>
          <p:cNvSpPr/>
          <p:nvPr/>
        </p:nvSpPr>
        <p:spPr>
          <a:xfrm>
            <a:off x="8339328" y="4892040"/>
            <a:ext cx="3063240" cy="914400"/>
          </a:xfrm>
          <a:prstGeom prst="rect">
            <a:avLst/>
          </a:prstGeom>
          <a:noFill/>
          <a:ln/>
        </p:spPr>
        <p:txBody>
          <a:bodyPr wrap="square" lIns="0" tIns="0" rIns="0" bIns="0" rtlCol="0" anchor="t"/>
          <a:lstStyle/>
          <a:p>
            <a:pPr marL="0" indent="0">
              <a:lnSpc>
                <a:spcPct val="105000"/>
              </a:lnSpc>
              <a:buNone/>
            </a:pPr>
            <a:r>
              <a:rPr lang="en-US" sz="1200" dirty="0">
                <a:solidFill>
                  <a:srgbClr val="BFD6DF"/>
                </a:solidFill>
                <a:latin typeface="Calibri" pitchFamily="34" charset="0"/>
                <a:ea typeface="Calibri" pitchFamily="34" charset="-122"/>
                <a:cs typeface="Calibri" pitchFamily="34" charset="-120"/>
              </a:rPr>
              <a:t>Đăng ký khuôn mặt · nhận diện qua camera · cảnh báo người lạ ra/vào</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DÂN CƯ · TỔNG QUAN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Số hóa cư dân, căn hộ, phí và an ninh</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29</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822960" y="1947672"/>
            <a:ext cx="658368" cy="658368"/>
          </a:xfrm>
          <a:prstGeom prst="roundRect">
            <a:avLst>
              <a:gd name="adj" fmla="val 50000"/>
            </a:avLst>
          </a:prstGeom>
          <a:solidFill>
            <a:srgbClr val="0E7C86"/>
          </a:solidFill>
          <a:ln/>
        </p:spPr>
      </p:sp>
      <p:pic>
        <p:nvPicPr>
          <p:cNvPr id="10" name="Image 0" descr="preencoded.png"/>
          <p:cNvPicPr>
            <a:picLocks noChangeAspect="1"/>
          </p:cNvPicPr>
          <p:nvPr/>
        </p:nvPicPr>
        <p:blipFill>
          <a:blip r:embed="rId2"/>
          <a:stretch>
            <a:fillRect/>
          </a:stretch>
        </p:blipFill>
        <p:spPr>
          <a:xfrm>
            <a:off x="980968" y="2105680"/>
            <a:ext cx="342351" cy="342351"/>
          </a:xfrm>
          <a:prstGeom prst="rect">
            <a:avLst/>
          </a:prstGeom>
        </p:spPr>
      </p:pic>
      <p:sp>
        <p:nvSpPr>
          <p:cNvPr id="11" name="Text 8"/>
          <p:cNvSpPr/>
          <p:nvPr/>
        </p:nvSpPr>
        <p:spPr>
          <a:xfrm>
            <a:off x="164592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Tòa nhà &amp; Căn hộ</a:t>
            </a:r>
            <a:endParaRPr lang="en-US" sz="1800" dirty="0"/>
          </a:p>
        </p:txBody>
      </p:sp>
      <p:sp>
        <p:nvSpPr>
          <p:cNvPr id="12" name="Text 9"/>
          <p:cNvSpPr/>
          <p:nvPr/>
        </p:nvSpPr>
        <p:spPr>
          <a:xfrm>
            <a:off x="84124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Tòa nhà – tầng – căn hộ</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Trạng thái: ở / trống / thuê</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CRUD phân cấp không gian</a:t>
            </a:r>
            <a:endParaRPr lang="en-US" sz="1200" dirty="0"/>
          </a:p>
        </p:txBody>
      </p:sp>
      <p:sp>
        <p:nvSpPr>
          <p:cNvPr id="13" name="Shape 10"/>
          <p:cNvSpPr/>
          <p:nvPr/>
        </p:nvSpPr>
        <p:spPr>
          <a:xfrm>
            <a:off x="431596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4" name="Shape 11"/>
          <p:cNvSpPr/>
          <p:nvPr/>
        </p:nvSpPr>
        <p:spPr>
          <a:xfrm>
            <a:off x="4572000" y="1947672"/>
            <a:ext cx="658368" cy="658368"/>
          </a:xfrm>
          <a:prstGeom prst="roundRect">
            <a:avLst>
              <a:gd name="adj" fmla="val 50000"/>
            </a:avLst>
          </a:prstGeom>
          <a:solidFill>
            <a:srgbClr val="23B5A6"/>
          </a:solidFill>
          <a:ln/>
        </p:spPr>
      </p:sp>
      <p:pic>
        <p:nvPicPr>
          <p:cNvPr id="15" name="Image 1" descr="preencoded.png"/>
          <p:cNvPicPr>
            <a:picLocks noChangeAspect="1"/>
          </p:cNvPicPr>
          <p:nvPr/>
        </p:nvPicPr>
        <p:blipFill>
          <a:blip r:embed="rId3"/>
          <a:stretch>
            <a:fillRect/>
          </a:stretch>
        </p:blipFill>
        <p:spPr>
          <a:xfrm>
            <a:off x="4730008" y="2105680"/>
            <a:ext cx="342351" cy="342351"/>
          </a:xfrm>
          <a:prstGeom prst="rect">
            <a:avLst/>
          </a:prstGeom>
        </p:spPr>
      </p:pic>
      <p:sp>
        <p:nvSpPr>
          <p:cNvPr id="16" name="Text 12"/>
          <p:cNvSpPr/>
          <p:nvPr/>
        </p:nvSpPr>
        <p:spPr>
          <a:xfrm>
            <a:off x="539496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Hồ sơ cư dân</a:t>
            </a:r>
            <a:endParaRPr lang="en-US" sz="1800" dirty="0"/>
          </a:p>
        </p:txBody>
      </p:sp>
      <p:sp>
        <p:nvSpPr>
          <p:cNvPr id="17" name="Text 13"/>
          <p:cNvSpPr/>
          <p:nvPr/>
        </p:nvSpPr>
        <p:spPr>
          <a:xfrm>
            <a:off x="459028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Chủ hộ &amp; thành viên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Ngày vào/ra ở (MoveIn/Out)</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Liên kết tài khoản đăng nhập</a:t>
            </a:r>
            <a:endParaRPr lang="en-US" sz="1200" dirty="0"/>
          </a:p>
        </p:txBody>
      </p:sp>
      <p:sp>
        <p:nvSpPr>
          <p:cNvPr id="18" name="Shape 14"/>
          <p:cNvSpPr/>
          <p:nvPr/>
        </p:nvSpPr>
        <p:spPr>
          <a:xfrm>
            <a:off x="806500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9" name="Shape 15"/>
          <p:cNvSpPr/>
          <p:nvPr/>
        </p:nvSpPr>
        <p:spPr>
          <a:xfrm>
            <a:off x="8321040" y="1947672"/>
            <a:ext cx="658368" cy="658368"/>
          </a:xfrm>
          <a:prstGeom prst="roundRect">
            <a:avLst>
              <a:gd name="adj" fmla="val 50000"/>
            </a:avLst>
          </a:prstGeom>
          <a:solidFill>
            <a:srgbClr val="1E3A57"/>
          </a:solidFill>
          <a:ln/>
        </p:spPr>
      </p:sp>
      <p:pic>
        <p:nvPicPr>
          <p:cNvPr id="20" name="Image 2" descr="preencoded.png"/>
          <p:cNvPicPr>
            <a:picLocks noChangeAspect="1"/>
          </p:cNvPicPr>
          <p:nvPr/>
        </p:nvPicPr>
        <p:blipFill>
          <a:blip r:embed="rId4"/>
          <a:stretch>
            <a:fillRect/>
          </a:stretch>
        </p:blipFill>
        <p:spPr>
          <a:xfrm>
            <a:off x="8479048" y="2105680"/>
            <a:ext cx="342351" cy="342351"/>
          </a:xfrm>
          <a:prstGeom prst="rect">
            <a:avLst/>
          </a:prstGeom>
        </p:spPr>
      </p:pic>
      <p:sp>
        <p:nvSpPr>
          <p:cNvPr id="21" name="Text 16"/>
          <p:cNvSpPr/>
          <p:nvPr/>
        </p:nvSpPr>
        <p:spPr>
          <a:xfrm>
            <a:off x="914400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Phí &amp; Thu phí</a:t>
            </a:r>
            <a:endParaRPr lang="en-US" sz="1800" dirty="0"/>
          </a:p>
        </p:txBody>
      </p:sp>
      <p:sp>
        <p:nvSpPr>
          <p:cNvPr id="22" name="Text 17"/>
          <p:cNvSpPr/>
          <p:nvPr/>
        </p:nvSpPr>
        <p:spPr>
          <a:xfrm>
            <a:off x="833932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Loại phí, đơn giá / m²</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Phát sinh theo kỳ</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Theo dõi công nợ</a:t>
            </a:r>
            <a:endParaRPr lang="en-US" sz="1200" dirty="0"/>
          </a:p>
        </p:txBody>
      </p:sp>
      <p:sp>
        <p:nvSpPr>
          <p:cNvPr id="23" name="Shape 18"/>
          <p:cNvSpPr/>
          <p:nvPr/>
        </p:nvSpPr>
        <p:spPr>
          <a:xfrm>
            <a:off x="56692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4" name="Shape 19"/>
          <p:cNvSpPr/>
          <p:nvPr/>
        </p:nvSpPr>
        <p:spPr>
          <a:xfrm>
            <a:off x="822960" y="4050792"/>
            <a:ext cx="658368" cy="658368"/>
          </a:xfrm>
          <a:prstGeom prst="roundRect">
            <a:avLst>
              <a:gd name="adj" fmla="val 50000"/>
            </a:avLst>
          </a:prstGeom>
          <a:solidFill>
            <a:srgbClr val="16385C"/>
          </a:solidFill>
          <a:ln/>
        </p:spPr>
      </p:sp>
      <p:pic>
        <p:nvPicPr>
          <p:cNvPr id="25" name="Image 3" descr="preencoded.png"/>
          <p:cNvPicPr>
            <a:picLocks noChangeAspect="1"/>
          </p:cNvPicPr>
          <p:nvPr/>
        </p:nvPicPr>
        <p:blipFill>
          <a:blip r:embed="rId5"/>
          <a:stretch>
            <a:fillRect/>
          </a:stretch>
        </p:blipFill>
        <p:spPr>
          <a:xfrm>
            <a:off x="980968" y="4208800"/>
            <a:ext cx="342351" cy="342351"/>
          </a:xfrm>
          <a:prstGeom prst="rect">
            <a:avLst/>
          </a:prstGeom>
        </p:spPr>
      </p:pic>
      <p:sp>
        <p:nvSpPr>
          <p:cNvPr id="26" name="Text 20"/>
          <p:cNvSpPr/>
          <p:nvPr/>
        </p:nvSpPr>
        <p:spPr>
          <a:xfrm>
            <a:off x="164592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An ninh AI</a:t>
            </a:r>
            <a:endParaRPr lang="en-US" sz="1800" dirty="0"/>
          </a:p>
        </p:txBody>
      </p:sp>
      <p:sp>
        <p:nvSpPr>
          <p:cNvPr id="27" name="Text 21"/>
          <p:cNvSpPr/>
          <p:nvPr/>
        </p:nvSpPr>
        <p:spPr>
          <a:xfrm>
            <a:off x="84124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Đăng ký khuôn mặt cư dân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Nhận diện qua camera</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Cảnh báo người lạ ra/vào</a:t>
            </a:r>
            <a:endParaRPr lang="en-US" sz="1200" dirty="0"/>
          </a:p>
        </p:txBody>
      </p:sp>
      <p:sp>
        <p:nvSpPr>
          <p:cNvPr id="28" name="Shape 22"/>
          <p:cNvSpPr/>
          <p:nvPr/>
        </p:nvSpPr>
        <p:spPr>
          <a:xfrm>
            <a:off x="431596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9" name="Shape 23"/>
          <p:cNvSpPr/>
          <p:nvPr/>
        </p:nvSpPr>
        <p:spPr>
          <a:xfrm>
            <a:off x="4572000" y="4050792"/>
            <a:ext cx="658368" cy="658368"/>
          </a:xfrm>
          <a:prstGeom prst="roundRect">
            <a:avLst>
              <a:gd name="adj" fmla="val 50000"/>
            </a:avLst>
          </a:prstGeom>
          <a:solidFill>
            <a:srgbClr val="EFA13C"/>
          </a:solidFill>
          <a:ln/>
        </p:spPr>
      </p:sp>
      <p:pic>
        <p:nvPicPr>
          <p:cNvPr id="30" name="Image 4" descr="preencoded.png"/>
          <p:cNvPicPr>
            <a:picLocks noChangeAspect="1"/>
          </p:cNvPicPr>
          <p:nvPr/>
        </p:nvPicPr>
        <p:blipFill>
          <a:blip r:embed="rId6"/>
          <a:stretch>
            <a:fillRect/>
          </a:stretch>
        </p:blipFill>
        <p:spPr>
          <a:xfrm>
            <a:off x="4730008" y="4208800"/>
            <a:ext cx="342351" cy="342351"/>
          </a:xfrm>
          <a:prstGeom prst="rect">
            <a:avLst/>
          </a:prstGeom>
        </p:spPr>
      </p:pic>
      <p:sp>
        <p:nvSpPr>
          <p:cNvPr id="31" name="Text 24"/>
          <p:cNvSpPr/>
          <p:nvPr/>
        </p:nvSpPr>
        <p:spPr>
          <a:xfrm>
            <a:off x="539496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Tác nhân</a:t>
            </a:r>
            <a:endParaRPr lang="en-US" sz="1800" dirty="0"/>
          </a:p>
        </p:txBody>
      </p:sp>
      <p:sp>
        <p:nvSpPr>
          <p:cNvPr id="32" name="Text 25"/>
          <p:cNvSpPr/>
          <p:nvPr/>
        </p:nvSpPr>
        <p:spPr>
          <a:xfrm>
            <a:off x="459028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Admin / BQL · Kế toán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NV an ninh</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Cư dân</a:t>
            </a:r>
            <a:endParaRPr lang="en-US" sz="1200" dirty="0"/>
          </a:p>
        </p:txBody>
      </p:sp>
      <p:sp>
        <p:nvSpPr>
          <p:cNvPr id="33" name="Shape 26"/>
          <p:cNvSpPr/>
          <p:nvPr/>
        </p:nvSpPr>
        <p:spPr>
          <a:xfrm>
            <a:off x="806500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4" name="Shape 27"/>
          <p:cNvSpPr/>
          <p:nvPr/>
        </p:nvSpPr>
        <p:spPr>
          <a:xfrm>
            <a:off x="8321040" y="4050792"/>
            <a:ext cx="658368" cy="658368"/>
          </a:xfrm>
          <a:prstGeom prst="roundRect">
            <a:avLst>
              <a:gd name="adj" fmla="val 50000"/>
            </a:avLst>
          </a:prstGeom>
          <a:solidFill>
            <a:srgbClr val="E4572E"/>
          </a:solidFill>
          <a:ln/>
        </p:spPr>
      </p:sp>
      <p:pic>
        <p:nvPicPr>
          <p:cNvPr id="35" name="Image 5" descr="preencoded.png"/>
          <p:cNvPicPr>
            <a:picLocks noChangeAspect="1"/>
          </p:cNvPicPr>
          <p:nvPr/>
        </p:nvPicPr>
        <p:blipFill>
          <a:blip r:embed="rId7"/>
          <a:stretch>
            <a:fillRect/>
          </a:stretch>
        </p:blipFill>
        <p:spPr>
          <a:xfrm>
            <a:off x="8479048" y="4208800"/>
            <a:ext cx="342351" cy="342351"/>
          </a:xfrm>
          <a:prstGeom prst="rect">
            <a:avLst/>
          </a:prstGeom>
        </p:spPr>
      </p:pic>
      <p:sp>
        <p:nvSpPr>
          <p:cNvPr id="36" name="Text 28"/>
          <p:cNvSpPr/>
          <p:nvPr/>
        </p:nvSpPr>
        <p:spPr>
          <a:xfrm>
            <a:off x="914400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Kế thừa Base</a:t>
            </a:r>
            <a:endParaRPr lang="en-US" sz="1800" dirty="0"/>
          </a:p>
        </p:txBody>
      </p:sp>
      <p:sp>
        <p:nvSpPr>
          <p:cNvPr id="37" name="Text 29"/>
          <p:cNvSpPr/>
          <p:nvPr/>
        </p:nvSpPr>
        <p:spPr>
          <a:xfrm>
            <a:off x="833932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Auth/RBAC · Cấu hình</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Thông báo · Audit Log</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Định danh dùng chung</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DÂN CƯ · NGHIỆP VỤ</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Không gian, cư dân và phí — số hóa tập trung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30</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486400" cy="1234440"/>
          </a:xfrm>
          <a:prstGeom prst="roundRect">
            <a:avLst>
              <a:gd name="adj" fmla="val 888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822960" y="1984248"/>
            <a:ext cx="658368" cy="658368"/>
          </a:xfrm>
          <a:prstGeom prst="roundRect">
            <a:avLst>
              <a:gd name="adj" fmla="val 50000"/>
            </a:avLst>
          </a:prstGeom>
          <a:solidFill>
            <a:srgbClr val="0E7C86"/>
          </a:solidFill>
          <a:ln/>
        </p:spPr>
      </p:sp>
      <p:pic>
        <p:nvPicPr>
          <p:cNvPr id="10" name="Image 0" descr="preencoded.png"/>
          <p:cNvPicPr>
            <a:picLocks noChangeAspect="1"/>
          </p:cNvPicPr>
          <p:nvPr/>
        </p:nvPicPr>
        <p:blipFill>
          <a:blip r:embed="rId2"/>
          <a:stretch>
            <a:fillRect/>
          </a:stretch>
        </p:blipFill>
        <p:spPr>
          <a:xfrm>
            <a:off x="980968" y="2142256"/>
            <a:ext cx="342351" cy="342351"/>
          </a:xfrm>
          <a:prstGeom prst="rect">
            <a:avLst/>
          </a:prstGeom>
        </p:spPr>
      </p:pic>
      <p:sp>
        <p:nvSpPr>
          <p:cNvPr id="11" name="Text 8"/>
          <p:cNvSpPr/>
          <p:nvPr/>
        </p:nvSpPr>
        <p:spPr>
          <a:xfrm>
            <a:off x="1664208" y="1911096"/>
            <a:ext cx="4206240" cy="365760"/>
          </a:xfrm>
          <a:prstGeom prst="rect">
            <a:avLst/>
          </a:prstGeom>
          <a:noFill/>
          <a:ln/>
        </p:spPr>
        <p:txBody>
          <a:bodyPr wrap="square" lIns="0" tIns="0" rIns="0" bIns="0" rtlCol="0" anchor="ctr"/>
          <a:lstStyle/>
          <a:p>
            <a:pPr marL="0" indent="0">
              <a:buNone/>
            </a:pPr>
            <a:r>
              <a:rPr lang="en-US" sz="1450" b="1" dirty="0">
                <a:solidFill>
                  <a:srgbClr val="0E2A47"/>
                </a:solidFill>
                <a:latin typeface="Calibri" pitchFamily="34" charset="0"/>
                <a:ea typeface="Calibri" pitchFamily="34" charset="-122"/>
                <a:cs typeface="Calibri" pitchFamily="34" charset="-120"/>
              </a:rPr>
              <a:t>Tòa nhà – tầng – căn hộ</a:t>
            </a:r>
            <a:endParaRPr lang="en-US" sz="1450" dirty="0"/>
          </a:p>
        </p:txBody>
      </p:sp>
      <p:sp>
        <p:nvSpPr>
          <p:cNvPr id="12" name="Text 9"/>
          <p:cNvSpPr/>
          <p:nvPr/>
        </p:nvSpPr>
        <p:spPr>
          <a:xfrm>
            <a:off x="1664208" y="2313432"/>
            <a:ext cx="420624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Cấu trúc phân cấp; trạng thái căn hộ: đang ở / trống / cho thuê</a:t>
            </a:r>
            <a:endParaRPr lang="en-US" sz="1150" dirty="0"/>
          </a:p>
        </p:txBody>
      </p:sp>
      <p:sp>
        <p:nvSpPr>
          <p:cNvPr id="13" name="Shape 10"/>
          <p:cNvSpPr/>
          <p:nvPr/>
        </p:nvSpPr>
        <p:spPr>
          <a:xfrm>
            <a:off x="6254496" y="1691640"/>
            <a:ext cx="5486400" cy="1234440"/>
          </a:xfrm>
          <a:prstGeom prst="roundRect">
            <a:avLst>
              <a:gd name="adj" fmla="val 888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4" name="Shape 11"/>
          <p:cNvSpPr/>
          <p:nvPr/>
        </p:nvSpPr>
        <p:spPr>
          <a:xfrm>
            <a:off x="6510528" y="1984248"/>
            <a:ext cx="658368" cy="658368"/>
          </a:xfrm>
          <a:prstGeom prst="roundRect">
            <a:avLst>
              <a:gd name="adj" fmla="val 50000"/>
            </a:avLst>
          </a:prstGeom>
          <a:solidFill>
            <a:srgbClr val="23B5A6"/>
          </a:solidFill>
          <a:ln/>
        </p:spPr>
      </p:sp>
      <p:pic>
        <p:nvPicPr>
          <p:cNvPr id="15" name="Image 1" descr="preencoded.png"/>
          <p:cNvPicPr>
            <a:picLocks noChangeAspect="1"/>
          </p:cNvPicPr>
          <p:nvPr/>
        </p:nvPicPr>
        <p:blipFill>
          <a:blip r:embed="rId3"/>
          <a:stretch>
            <a:fillRect/>
          </a:stretch>
        </p:blipFill>
        <p:spPr>
          <a:xfrm>
            <a:off x="6668536" y="2142256"/>
            <a:ext cx="342351" cy="342351"/>
          </a:xfrm>
          <a:prstGeom prst="rect">
            <a:avLst/>
          </a:prstGeom>
        </p:spPr>
      </p:pic>
      <p:sp>
        <p:nvSpPr>
          <p:cNvPr id="16" name="Text 12"/>
          <p:cNvSpPr/>
          <p:nvPr/>
        </p:nvSpPr>
        <p:spPr>
          <a:xfrm>
            <a:off x="7351776" y="1911096"/>
            <a:ext cx="4206240" cy="365760"/>
          </a:xfrm>
          <a:prstGeom prst="rect">
            <a:avLst/>
          </a:prstGeom>
          <a:noFill/>
          <a:ln/>
        </p:spPr>
        <p:txBody>
          <a:bodyPr wrap="square" lIns="0" tIns="0" rIns="0" bIns="0" rtlCol="0" anchor="ctr"/>
          <a:lstStyle/>
          <a:p>
            <a:pPr marL="0" indent="0">
              <a:buNone/>
            </a:pPr>
            <a:r>
              <a:rPr lang="en-US" sz="1450" b="1" dirty="0">
                <a:solidFill>
                  <a:srgbClr val="0E2A47"/>
                </a:solidFill>
                <a:latin typeface="Calibri" pitchFamily="34" charset="0"/>
                <a:ea typeface="Calibri" pitchFamily="34" charset="-122"/>
                <a:cs typeface="Calibri" pitchFamily="34" charset="-120"/>
              </a:rPr>
              <a:t>Hồ sơ cư dân &amp; chủ hộ</a:t>
            </a:r>
            <a:endParaRPr lang="en-US" sz="1450" dirty="0"/>
          </a:p>
        </p:txBody>
      </p:sp>
      <p:sp>
        <p:nvSpPr>
          <p:cNvPr id="17" name="Text 13"/>
          <p:cNvSpPr/>
          <p:nvPr/>
        </p:nvSpPr>
        <p:spPr>
          <a:xfrm>
            <a:off x="7351776" y="2313432"/>
            <a:ext cx="420624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Họ tên, CCCD, ngày vào/ra ở; chuyển đi ghi MoveOutDate, không xóa</a:t>
            </a:r>
            <a:endParaRPr lang="en-US" sz="1150" dirty="0"/>
          </a:p>
        </p:txBody>
      </p:sp>
      <p:sp>
        <p:nvSpPr>
          <p:cNvPr id="18" name="Shape 14"/>
          <p:cNvSpPr/>
          <p:nvPr/>
        </p:nvSpPr>
        <p:spPr>
          <a:xfrm>
            <a:off x="566928" y="3127248"/>
            <a:ext cx="5486400" cy="1234440"/>
          </a:xfrm>
          <a:prstGeom prst="roundRect">
            <a:avLst>
              <a:gd name="adj" fmla="val 888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9" name="Shape 15"/>
          <p:cNvSpPr/>
          <p:nvPr/>
        </p:nvSpPr>
        <p:spPr>
          <a:xfrm>
            <a:off x="822960" y="3419856"/>
            <a:ext cx="658368" cy="658368"/>
          </a:xfrm>
          <a:prstGeom prst="roundRect">
            <a:avLst>
              <a:gd name="adj" fmla="val 50000"/>
            </a:avLst>
          </a:prstGeom>
          <a:solidFill>
            <a:srgbClr val="1E3A57"/>
          </a:solidFill>
          <a:ln/>
        </p:spPr>
      </p:sp>
      <p:pic>
        <p:nvPicPr>
          <p:cNvPr id="20" name="Image 2" descr="preencoded.png"/>
          <p:cNvPicPr>
            <a:picLocks noChangeAspect="1"/>
          </p:cNvPicPr>
          <p:nvPr/>
        </p:nvPicPr>
        <p:blipFill>
          <a:blip r:embed="rId4"/>
          <a:stretch>
            <a:fillRect/>
          </a:stretch>
        </p:blipFill>
        <p:spPr>
          <a:xfrm>
            <a:off x="980968" y="3577864"/>
            <a:ext cx="342351" cy="342351"/>
          </a:xfrm>
          <a:prstGeom prst="rect">
            <a:avLst/>
          </a:prstGeom>
        </p:spPr>
      </p:pic>
      <p:sp>
        <p:nvSpPr>
          <p:cNvPr id="21" name="Text 16"/>
          <p:cNvSpPr/>
          <p:nvPr/>
        </p:nvSpPr>
        <p:spPr>
          <a:xfrm>
            <a:off x="1664208" y="3346704"/>
            <a:ext cx="4206240" cy="365760"/>
          </a:xfrm>
          <a:prstGeom prst="rect">
            <a:avLst/>
          </a:prstGeom>
          <a:noFill/>
          <a:ln/>
        </p:spPr>
        <p:txBody>
          <a:bodyPr wrap="square" lIns="0" tIns="0" rIns="0" bIns="0" rtlCol="0" anchor="ctr"/>
          <a:lstStyle/>
          <a:p>
            <a:pPr marL="0" indent="0">
              <a:buNone/>
            </a:pPr>
            <a:r>
              <a:rPr lang="en-US" sz="1450" b="1" dirty="0">
                <a:solidFill>
                  <a:srgbClr val="0E2A47"/>
                </a:solidFill>
                <a:latin typeface="Calibri" pitchFamily="34" charset="0"/>
                <a:ea typeface="Calibri" pitchFamily="34" charset="-122"/>
                <a:cs typeface="Calibri" pitchFamily="34" charset="-120"/>
              </a:rPr>
              <a:t>Phí &amp; thu phí theo kỳ</a:t>
            </a:r>
            <a:endParaRPr lang="en-US" sz="1450" dirty="0"/>
          </a:p>
        </p:txBody>
      </p:sp>
      <p:sp>
        <p:nvSpPr>
          <p:cNvPr id="22" name="Text 17"/>
          <p:cNvSpPr/>
          <p:nvPr/>
        </p:nvSpPr>
        <p:spPr>
          <a:xfrm>
            <a:off x="1664208" y="3749040"/>
            <a:ext cx="420624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Loại phí (đơn giá / theo m²); phát sinh theo kỳ, theo dõi công nợ</a:t>
            </a:r>
            <a:endParaRPr lang="en-US" sz="1150" dirty="0"/>
          </a:p>
        </p:txBody>
      </p:sp>
      <p:sp>
        <p:nvSpPr>
          <p:cNvPr id="23" name="Shape 18"/>
          <p:cNvSpPr/>
          <p:nvPr/>
        </p:nvSpPr>
        <p:spPr>
          <a:xfrm>
            <a:off x="6254496" y="3127248"/>
            <a:ext cx="5486400" cy="1234440"/>
          </a:xfrm>
          <a:prstGeom prst="roundRect">
            <a:avLst>
              <a:gd name="adj" fmla="val 888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4" name="Shape 19"/>
          <p:cNvSpPr/>
          <p:nvPr/>
        </p:nvSpPr>
        <p:spPr>
          <a:xfrm>
            <a:off x="6510528" y="3419856"/>
            <a:ext cx="658368" cy="658368"/>
          </a:xfrm>
          <a:prstGeom prst="roundRect">
            <a:avLst>
              <a:gd name="adj" fmla="val 50000"/>
            </a:avLst>
          </a:prstGeom>
          <a:solidFill>
            <a:srgbClr val="EFA13C"/>
          </a:solidFill>
          <a:ln/>
        </p:spPr>
      </p:sp>
      <p:pic>
        <p:nvPicPr>
          <p:cNvPr id="25" name="Image 3" descr="preencoded.png"/>
          <p:cNvPicPr>
            <a:picLocks noChangeAspect="1"/>
          </p:cNvPicPr>
          <p:nvPr/>
        </p:nvPicPr>
        <p:blipFill>
          <a:blip r:embed="rId5"/>
          <a:stretch>
            <a:fillRect/>
          </a:stretch>
        </p:blipFill>
        <p:spPr>
          <a:xfrm>
            <a:off x="6668536" y="3577864"/>
            <a:ext cx="342351" cy="342351"/>
          </a:xfrm>
          <a:prstGeom prst="rect">
            <a:avLst/>
          </a:prstGeom>
        </p:spPr>
      </p:pic>
      <p:sp>
        <p:nvSpPr>
          <p:cNvPr id="26" name="Text 20"/>
          <p:cNvSpPr/>
          <p:nvPr/>
        </p:nvSpPr>
        <p:spPr>
          <a:xfrm>
            <a:off x="7351776" y="3346704"/>
            <a:ext cx="4206240" cy="365760"/>
          </a:xfrm>
          <a:prstGeom prst="rect">
            <a:avLst/>
          </a:prstGeom>
          <a:noFill/>
          <a:ln/>
        </p:spPr>
        <p:txBody>
          <a:bodyPr wrap="square" lIns="0" tIns="0" rIns="0" bIns="0" rtlCol="0" anchor="ctr"/>
          <a:lstStyle/>
          <a:p>
            <a:pPr marL="0" indent="0">
              <a:buNone/>
            </a:pPr>
            <a:r>
              <a:rPr lang="en-US" sz="1450" b="1" dirty="0">
                <a:solidFill>
                  <a:srgbClr val="0E2A47"/>
                </a:solidFill>
                <a:latin typeface="Calibri" pitchFamily="34" charset="0"/>
                <a:ea typeface="Calibri" pitchFamily="34" charset="-122"/>
                <a:cs typeface="Calibri" pitchFamily="34" charset="-120"/>
              </a:rPr>
              <a:t>Cộng đồng &amp; thông báo</a:t>
            </a:r>
            <a:endParaRPr lang="en-US" sz="1450" dirty="0"/>
          </a:p>
        </p:txBody>
      </p:sp>
      <p:sp>
        <p:nvSpPr>
          <p:cNvPr id="27" name="Text 21"/>
          <p:cNvSpPr/>
          <p:nvPr/>
        </p:nvSpPr>
        <p:spPr>
          <a:xfrm>
            <a:off x="7351776" y="3749040"/>
            <a:ext cx="420624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Khảo sát/bình chọn, thẻ ra vào, tiện ích; gửi thông báo cư dân</a:t>
            </a:r>
            <a:endParaRPr lang="en-US" sz="1150" dirty="0"/>
          </a:p>
        </p:txBody>
      </p:sp>
      <p:sp>
        <p:nvSpPr>
          <p:cNvPr id="28" name="Shape 22"/>
          <p:cNvSpPr/>
          <p:nvPr/>
        </p:nvSpPr>
        <p:spPr>
          <a:xfrm>
            <a:off x="566928" y="4434840"/>
            <a:ext cx="5486400" cy="1874520"/>
          </a:xfrm>
          <a:prstGeom prst="roundRect">
            <a:avLst>
              <a:gd name="adj" fmla="val 4878"/>
            </a:avLst>
          </a:prstGeom>
          <a:solidFill>
            <a:srgbClr val="FFFFFF"/>
          </a:solidFill>
          <a:ln/>
          <a:effectLst>
            <a:outerShdw blurRad="88900" dist="25400" dir="5400000" algn="bl" rotWithShape="0">
              <a:srgbClr val="B9C7D1">
                <a:alpha val="40000"/>
              </a:srgbClr>
            </a:outerShdw>
          </a:effectLst>
        </p:spPr>
      </p:sp>
      <p:sp>
        <p:nvSpPr>
          <p:cNvPr id="29" name="Text 29"/>
          <p:cNvSpPr/>
          <p:nvPr/>
        </p:nvSpPr>
        <p:spPr>
          <a:xfrm>
            <a:off x="822960" y="4617136"/>
            <a:ext cx="4974336" cy="1600200"/>
          </a:xfrm>
          <a:prstGeom prst="rect">
            <a:avLst/>
          </a:prstGeom>
          <a:noFill/>
          <a:ln/>
        </p:spPr>
        <p:txBody>
          <a:bodyPr wrap="square" lIns="0" tIns="0" rIns="0" bIns="0" rtlCol="0" anchor="t"/>
          <a:lstStyle/>
          <a:p>
            <a:pPr marL="0" indent="0">
              <a:buNone/>
            </a:pPr>
            <a:r>
              <a:rPr lang="en-US" sz="1350" b="1" dirty="0">
                <a:solidFill>
                  <a:srgbClr val="0E2A47"/>
                </a:solidFill>
                <a:latin typeface="Cambria" pitchFamily="34" charset="0"/>
                <a:cs typeface="Cambria" pitchFamily="34" charset="-120"/>
              </a:rPr>
              <a:t>Công thức tính phí</a:t>
            </a:r>
          </a:p>
          <a:p>
            <a:pPr marL="0" indent="0">
              <a:spcBef>
                <a:spcPts val="500"/>
              </a:spcBef>
              <a:buNone/>
            </a:pPr>
            <a:r>
              <a:rPr lang="en-US" sz="1250" b="1" dirty="0">
                <a:solidFill>
                  <a:srgbClr val="0E7C86"/>
                </a:solidFill>
                <a:latin typeface="Calibri" pitchFamily="34" charset="0"/>
                <a:cs typeface="Calibri" pitchFamily="34" charset="-120"/>
              </a:rPr>
              <a:t>Amount = IsPerM2 ? UnitPrice × AreaM2 : UnitPrice</a:t>
            </a:r>
          </a:p>
          <a:p>
            <a:pPr marL="0" indent="0">
              <a:spcBef>
                <a:spcPts val="500"/>
              </a:spcBef>
              <a:buNone/>
            </a:pPr>
            <a:r>
              <a:rPr lang="en-US" sz="1100" dirty="0">
                <a:solidFill>
                  <a:srgbClr val="22303C"/>
                </a:solidFill>
                <a:latin typeface="Calibri" pitchFamily="34" charset="0"/>
                <a:cs typeface="Calibri" pitchFamily="34" charset="-120"/>
              </a:rPr>
              <a:t>Sinh phí theo kỳ cho từng căn hộ; loại phí khai báo dùng chung ở Cấu hình (Base). Trạng thái: chưa thu → đã thu (PaidAt, PaymentRef).</a:t>
            </a:r>
          </a:p>
        </p:txBody>
      </p:sp>
      <p:sp>
        <p:nvSpPr>
          <p:cNvPr id="30" name="Shape 23"/>
          <p:cNvSpPr/>
          <p:nvPr/>
        </p:nvSpPr>
        <p:spPr>
          <a:xfrm>
            <a:off x="6254496" y="4434840"/>
            <a:ext cx="5376672" cy="1874520"/>
          </a:xfrm>
          <a:prstGeom prst="roundRect">
            <a:avLst>
              <a:gd name="adj" fmla="val 4878"/>
            </a:avLst>
          </a:prstGeom>
          <a:solidFill>
            <a:srgbClr val="FFFFFF"/>
          </a:solidFill>
          <a:ln/>
          <a:effectLst>
            <a:outerShdw blurRad="88900" dist="25400" dir="5400000" algn="bl" rotWithShape="0">
              <a:srgbClr val="B9C7D1">
                <a:alpha val="40000"/>
              </a:srgbClr>
            </a:outerShdw>
          </a:effectLst>
        </p:spPr>
      </p:sp>
      <p:sp>
        <p:nvSpPr>
          <p:cNvPr id="31" name="Text 31"/>
          <p:cNvSpPr/>
          <p:nvPr/>
        </p:nvSpPr>
        <p:spPr>
          <a:xfrm>
            <a:off x="6510528" y="4617136"/>
            <a:ext cx="4864608" cy="1600200"/>
          </a:xfrm>
          <a:prstGeom prst="rect">
            <a:avLst/>
          </a:prstGeom>
          <a:noFill/>
          <a:ln/>
        </p:spPr>
        <p:txBody>
          <a:bodyPr wrap="square" lIns="0" tIns="0" rIns="0" bIns="0" rtlCol="0" anchor="t"/>
          <a:lstStyle/>
          <a:p>
            <a:pPr marL="0" indent="0">
              <a:buNone/>
            </a:pPr>
            <a:r>
              <a:rPr lang="en-US" sz="1350" b="1" dirty="0">
                <a:solidFill>
                  <a:srgbClr val="0E2A47"/>
                </a:solidFill>
                <a:latin typeface="Cambria" pitchFamily="34" charset="0"/>
                <a:cs typeface="Cambria" pitchFamily="34" charset="-120"/>
              </a:rPr>
              <a:t>Ràng buộc &amp; liên thông</a:t>
            </a:r>
          </a:p>
          <a:p>
            <a:pPr marL="180000" indent="-180000">
              <a:spcBef>
                <a:spcPts val="400"/>
              </a:spcBef>
              <a:buChar char="•"/>
            </a:pPr>
            <a:r>
              <a:rPr lang="en-US" sz="1080" dirty="0">
                <a:solidFill>
                  <a:srgbClr val="22303C"/>
                </a:solidFill>
                <a:latin typeface="Calibri" pitchFamily="34" charset="0"/>
                <a:cs typeface="Calibri" pitchFamily="34" charset="-120"/>
              </a:rPr>
              <a:t>Mã căn hộ duy nhất; còn cư dân hoặc công nợ → không cho xóa</a:t>
            </a:r>
          </a:p>
          <a:p>
            <a:pPr marL="180000" indent="-180000">
              <a:buChar char="•"/>
            </a:pPr>
            <a:r>
              <a:rPr lang="en-US" sz="1080" dirty="0">
                <a:solidFill>
                  <a:srgbClr val="22303C"/>
                </a:solidFill>
                <a:latin typeface="Calibri" pitchFamily="34" charset="0"/>
                <a:cs typeface="Calibri" pitchFamily="34" charset="-120"/>
              </a:rPr>
              <a:t>Chuyển hộ ghi MoveOutDate để giữ lịch sử, không xóa cứng</a:t>
            </a:r>
          </a:p>
          <a:p>
            <a:pPr marL="180000" indent="-180000">
              <a:buChar char="•"/>
            </a:pPr>
            <a:r>
              <a:rPr lang="en-US" sz="1080" dirty="0">
                <a:solidFill>
                  <a:srgbClr val="22303C"/>
                </a:solidFill>
                <a:latin typeface="Calibri" pitchFamily="34" charset="0"/>
                <a:cs typeface="Calibri" pitchFamily="34" charset="-120"/>
              </a:rPr>
              <a:t>Cung cấp định danh cư dân/căn hộ cho các phân hệ khác</a:t>
            </a:r>
          </a:p>
        </p:txBody>
      </p:sp>
      <p:sp>
        <p:nvSpPr>
          <p:cNvPr id="32" name="Text 24"/>
          <p:cNvSpPr/>
          <p:nvPr/>
        </p:nvSpPr>
        <p:spPr>
          <a:xfrm>
            <a:off x="566928" y="6327648"/>
            <a:ext cx="5486400" cy="228600"/>
          </a:xfrm>
          <a:prstGeom prst="rect">
            <a:avLst/>
          </a:prstGeom>
          <a:noFill/>
          <a:ln/>
        </p:spPr>
        <p:txBody>
          <a:bodyPr wrap="square" lIns="0" tIns="0" rIns="0" bIns="0" rtlCol="0" anchor="ctr"/>
          <a:lstStyle/>
          <a:p>
            <a:pPr marL="0" indent="0" algn="ctr">
              <a:buNone/>
            </a:pPr>
            <a:r>
              <a:rPr lang="en-US" sz="950" i="1" dirty="0">
                <a:solidFill>
                  <a:srgbClr val="6B7A88"/>
                </a:solidFill>
                <a:latin typeface="Calibri" pitchFamily="34" charset="0"/>
                <a:ea typeface="Calibri" pitchFamily="34" charset="-122"/>
                <a:cs typeface="Calibri" pitchFamily="34" charset="-120"/>
              </a:rPr>
              <a:t>Phí theo m² lấy diện tích từ chính căn hộ</a:t>
            </a:r>
            <a:endParaRPr lang="en-US" sz="950" dirty="0"/>
          </a:p>
        </p:txBody>
      </p:sp>
      <p:sp>
        <p:nvSpPr>
          <p:cNvPr id="33" name="Text 25"/>
          <p:cNvSpPr/>
          <p:nvPr/>
        </p:nvSpPr>
        <p:spPr>
          <a:xfrm>
            <a:off x="6254496" y="6327648"/>
            <a:ext cx="5376672" cy="228600"/>
          </a:xfrm>
          <a:prstGeom prst="rect">
            <a:avLst/>
          </a:prstGeom>
          <a:noFill/>
          <a:ln/>
        </p:spPr>
        <p:txBody>
          <a:bodyPr wrap="square" lIns="0" tIns="0" rIns="0" bIns="0" rtlCol="0" anchor="ctr"/>
          <a:lstStyle/>
          <a:p>
            <a:pPr marL="0" indent="0" algn="ctr">
              <a:buNone/>
            </a:pPr>
            <a:r>
              <a:rPr lang="en-US" sz="950" i="1" dirty="0">
                <a:solidFill>
                  <a:srgbClr val="6B7A88"/>
                </a:solidFill>
                <a:latin typeface="Calibri" pitchFamily="34" charset="0"/>
                <a:ea typeface="Calibri" pitchFamily="34" charset="-122"/>
                <a:cs typeface="Calibri" pitchFamily="34" charset="-120"/>
              </a:rPr>
              <a:t>Nguồn định danh cư dân/căn hộ cho Tài sản · Sự cố · Dịch vụ</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DÂN CƯ · PHÍ DỊCH VỤ</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Quản lý loại phí, phát sinh và thu phí theo kỳ</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31</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marL="0" indent="0">
              <a:buNone/>
            </a:pPr>
            <a:r>
              <a:rPr lang="en-US" sz="1250" b="1" kern="0" spc="150" dirty="0">
                <a:solidFill>
                  <a:srgbClr val="23B5A6"/>
                </a:solidFill>
                <a:latin typeface="Calibri" pitchFamily="34" charset="0"/>
                <a:ea typeface="Calibri" pitchFamily="34" charset="-122"/>
                <a:cs typeface="Calibri" pitchFamily="34" charset="-120"/>
              </a:rPr>
              <a:t>VÒNG ĐỜI KHOẢN PHÍ</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Chọn loại phí + căn hộ  →  tính Amount theo đơn giá/diện tích  →  tạo khoản phí (chưa thu)  →  cập nhật đã thu khi cư dân thanh toán</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icPr>
            <a:picLocks noChangeAspect="1"/>
          </p:cNvPicPr>
          <p:nvPr/>
        </p:nvPicPr>
        <p:blipFill>
          <a:blip r:embed="rId2"/>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Loại phí</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fee_types: đơn giá, theo m² (IsPerM2), trạng thái áp dụng</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icPr>
            <a:picLocks noChangeAspect="1"/>
          </p:cNvPicPr>
          <p:nvPr/>
        </p:nvPicPr>
        <p:blipFill>
          <a:blip r:embed="rId3"/>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Phát sinh theo kỳ</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Amount = IsPerM2 ? UnitPrice × AreaM2 : UnitPrice</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blurRad="88900" dist="25400" dir="5400000" algn="bl" rotWithShape="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icPr>
            <a:picLocks noChangeAspect="1"/>
          </p:cNvPicPr>
          <p:nvPr/>
        </p:nvPicPr>
        <p:blipFill>
          <a:blip r:embed="rId4"/>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Thu &amp; công nợ</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PaidAt · PaymentMethod · PaymentRef; nhắc hạn qua thông báo</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marL="0" indent="0" algn="ctr">
              <a:buNone/>
            </a:pPr>
            <a:r>
              <a:rPr lang="en-US" sz="1250" b="1" dirty="0">
                <a:solidFill>
                  <a:srgbClr val="0E2A47"/>
                </a:solidFill>
                <a:latin typeface="Calibri" pitchFamily="34" charset="0"/>
                <a:ea typeface="Calibri" pitchFamily="34" charset="-122"/>
                <a:cs typeface="Calibri" pitchFamily="34" charset="-120"/>
              </a:rPr>
              <a:t>Loại phí dùng chung  </a:t>
            </a:r>
            <a:r>
              <a:rPr lang="en-US" sz="1250" b="1" dirty="0">
                <a:solidFill>
                  <a:srgbClr val="0E7C86"/>
                </a:solidFill>
                <a:latin typeface="Calibri" pitchFamily="34" charset="0"/>
                <a:ea typeface="Calibri" pitchFamily="34" charset="-122"/>
                <a:cs typeface="Calibri" pitchFamily="34" charset="-120"/>
              </a:rPr>
              <a:t>khai báo ở Cấu hình (Base)</a:t>
            </a:r>
            <a:r>
              <a:rPr lang="en-US" sz="1250" b="1" dirty="0">
                <a:solidFill>
                  <a:srgbClr val="0E2A47"/>
                </a:solidFill>
                <a:latin typeface="Calibri" pitchFamily="34" charset="0"/>
                <a:ea typeface="Calibri" pitchFamily="34" charset="-122"/>
                <a:cs typeface="Calibri" pitchFamily="34" charset="-120"/>
              </a:rPr>
              <a:t>   ~   Ràng buộc  </a:t>
            </a:r>
            <a:r>
              <a:rPr lang="en-US" sz="1250" b="1" dirty="0">
                <a:solidFill>
                  <a:srgbClr val="0E7C86"/>
                </a:solidFill>
                <a:latin typeface="Calibri" pitchFamily="34" charset="0"/>
                <a:ea typeface="Calibri" pitchFamily="34" charset="-122"/>
                <a:cs typeface="Calibri" pitchFamily="34" charset="-120"/>
              </a:rPr>
              <a:t>phí theo m² lấy diện tích từ căn hộ</a:t>
            </a:r>
            <a:r>
              <a:rPr lang="en-US" sz="1250" dirty="0">
                <a:solidFill>
                  <a:srgbClr val="22303C"/>
                </a:solidFill>
                <a:latin typeface="Calibri" pitchFamily="34" charset="0"/>
                <a:ea typeface="Calibri" pitchFamily="34" charset="-122"/>
                <a:cs typeface="Calibri" pitchFamily="34" charset="-120"/>
              </a:rPr>
              <a:t>   ·   tổng hợp công nợ và nhắc hạn tự động qua engine Thông báo.</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DÂN CƯ · DỮ LIỆU</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Mô hình dữ liệu phân hệ dân cư</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932688"/>
          </a:xfrm>
          <a:prstGeom prst="roundRect">
            <a:avLst>
              <a:gd name="adj" fmla="val 11765"/>
            </a:avLst>
          </a:prstGeom>
          <a:solidFill>
            <a:srgbClr val="0E2A47"/>
          </a:solidFill>
          <a:ln/>
        </p:spPr>
      </p:sp>
      <p:sp>
        <p:nvSpPr>
          <p:cNvPr id="9" name="Shape 7"/>
          <p:cNvSpPr/>
          <p:nvPr/>
        </p:nvSpPr>
        <p:spPr>
          <a:xfrm>
            <a:off x="822960" y="1847088"/>
            <a:ext cx="548640" cy="548640"/>
          </a:xfrm>
          <a:prstGeom prst="roundRect">
            <a:avLst>
              <a:gd name="adj" fmla="val 50000"/>
            </a:avLst>
          </a:prstGeom>
          <a:solidFill>
            <a:srgbClr val="23B5A6"/>
          </a:solidFill>
          <a:ln/>
        </p:spPr>
      </p:sp>
      <p:pic>
        <p:nvPicPr>
          <p:cNvPr id="10" name="Image 0" descr="preencoded.png"/>
          <p:cNvPicPr>
            <a:picLocks noChangeAspect="1"/>
          </p:cNvPicPr>
          <p:nvPr/>
        </p:nvPicPr>
        <p:blipFill>
          <a:blip r:embed="rId2"/>
          <a:stretch>
            <a:fillRect/>
          </a:stretch>
        </p:blipFill>
        <p:spPr>
          <a:xfrm>
            <a:off x="954634" y="1978762"/>
            <a:ext cx="285293" cy="285293"/>
          </a:xfrm>
          <a:prstGeom prst="rect">
            <a:avLst/>
          </a:prstGeom>
        </p:spPr>
      </p:pic>
      <p:sp>
        <p:nvSpPr>
          <p:cNvPr id="11" name="Text 8"/>
          <p:cNvSpPr/>
          <p:nvPr/>
        </p:nvSpPr>
        <p:spPr>
          <a:xfrm>
            <a:off x="1508760" y="1737360"/>
            <a:ext cx="9966960" cy="77724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Dữ liệu nền cư dân — tham chiếu bởi mọi phân hệ
</a:t>
            </a:r>
            <a:r>
              <a:rPr lang="en-US" sz="1250" dirty="0">
                <a:solidFill>
                  <a:srgbClr val="BFD6DF"/>
                </a:solidFill>
                <a:latin typeface="Calibri" pitchFamily="34" charset="0"/>
                <a:ea typeface="Calibri" pitchFamily="34" charset="-122"/>
                <a:cs typeface="Calibri" pitchFamily="34" charset="-120"/>
              </a:rPr>
              <a:t>buildings · floors · apartments · residents · fee_types · fees · face_profiles · access_events</a:t>
            </a:r>
            <a:endParaRPr lang="en-US" sz="1500" dirty="0"/>
          </a:p>
        </p:txBody>
      </p:sp>
      <p:sp>
        <p:nvSpPr>
          <p:cNvPr id="12" name="Shape 9"/>
          <p:cNvSpPr/>
          <p:nvPr/>
        </p:nvSpPr>
        <p:spPr>
          <a:xfrm>
            <a:off x="566928" y="2788920"/>
            <a:ext cx="3675888" cy="2148840"/>
          </a:xfrm>
          <a:prstGeom prst="roundRect">
            <a:avLst>
              <a:gd name="adj" fmla="val 5106"/>
            </a:avLst>
          </a:prstGeom>
          <a:solidFill>
            <a:srgbClr val="E4EEF3"/>
          </a:solidFill>
          <a:ln w="25400">
            <a:solidFill>
              <a:srgbClr val="0E7C86"/>
            </a:solidFill>
            <a:prstDash val="solid"/>
          </a:ln>
          <a:effectLst>
            <a:outerShdw blurRad="88900" dist="25400" dir="5400000" algn="bl" rotWithShape="0">
              <a:srgbClr val="B9C7D1">
                <a:alpha val="40000"/>
              </a:srgbClr>
            </a:outerShdw>
          </a:effectLst>
        </p:spPr>
      </p:sp>
      <p:sp>
        <p:nvSpPr>
          <p:cNvPr id="13" name="Shape 10"/>
          <p:cNvSpPr/>
          <p:nvPr/>
        </p:nvSpPr>
        <p:spPr>
          <a:xfrm>
            <a:off x="841248" y="3063240"/>
            <a:ext cx="731520" cy="731520"/>
          </a:xfrm>
          <a:prstGeom prst="roundRect">
            <a:avLst>
              <a:gd name="adj" fmla="val 50000"/>
            </a:avLst>
          </a:prstGeom>
          <a:solidFill>
            <a:srgbClr val="0E7C86"/>
          </a:solidFill>
          <a:ln/>
        </p:spPr>
      </p:sp>
      <p:pic>
        <p:nvPicPr>
          <p:cNvPr id="14" name="Image 1" descr="preencoded.png"/>
          <p:cNvPicPr>
            <a:picLocks noChangeAspect="1"/>
          </p:cNvPicPr>
          <p:nvPr/>
        </p:nvPicPr>
        <p:blipFill>
          <a:blip r:embed="rId3"/>
          <a:stretch>
            <a:fillRect/>
          </a:stretch>
        </p:blipFill>
        <p:spPr>
          <a:xfrm>
            <a:off x="1016813" y="3238805"/>
            <a:ext cx="380390" cy="380390"/>
          </a:xfrm>
          <a:prstGeom prst="rect">
            <a:avLst/>
          </a:prstGeom>
        </p:spPr>
      </p:pic>
      <p:sp>
        <p:nvSpPr>
          <p:cNvPr id="15" name="Text 11"/>
          <p:cNvSpPr/>
          <p:nvPr/>
        </p:nvSpPr>
        <p:spPr>
          <a:xfrm>
            <a:off x="170992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Không gian</a:t>
            </a:r>
            <a:endParaRPr lang="en-US" sz="1700" dirty="0"/>
          </a:p>
        </p:txBody>
      </p:sp>
      <p:sp>
        <p:nvSpPr>
          <p:cNvPr id="16" name="Text 12"/>
          <p:cNvSpPr/>
          <p:nvPr/>
        </p:nvSpPr>
        <p:spPr>
          <a:xfrm>
            <a:off x="1709928" y="3502152"/>
            <a:ext cx="2395728" cy="32004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buildings · floors · apartments</a:t>
            </a:r>
            <a:endParaRPr lang="en-US" sz="1200" dirty="0"/>
          </a:p>
        </p:txBody>
      </p:sp>
      <p:sp>
        <p:nvSpPr>
          <p:cNvPr id="17" name="Text 13"/>
          <p:cNvSpPr/>
          <p:nvPr/>
        </p:nvSpPr>
        <p:spPr>
          <a:xfrm>
            <a:off x="84124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Toà nhà (số tầng) – tầng – căn hộ (mã, AreaM2, trạng thái); mã căn hộ duy nhất.</a:t>
            </a:r>
            <a:endParaRPr lang="en-US" sz="1200" dirty="0"/>
          </a:p>
        </p:txBody>
      </p:sp>
      <p:sp>
        <p:nvSpPr>
          <p:cNvPr id="18" name="Text 14"/>
          <p:cNvSpPr/>
          <p:nvPr/>
        </p:nvSpPr>
        <p:spPr>
          <a:xfrm>
            <a:off x="841248" y="4617720"/>
            <a:ext cx="3172968" cy="274320"/>
          </a:xfrm>
          <a:prstGeom prst="rect">
            <a:avLst/>
          </a:prstGeom>
          <a:noFill/>
          <a:ln/>
        </p:spPr>
        <p:txBody>
          <a:bodyPr wrap="square" lIns="0" tIns="0" rIns="0" bIns="0" rtlCol="0" anchor="ctr"/>
          <a:lstStyle/>
          <a:p>
            <a:pPr marL="0" indent="0">
              <a:buNone/>
            </a:pPr>
            <a:r>
              <a:rPr lang="en-US" sz="1000" b="1" kern="0" spc="100" dirty="0">
                <a:solidFill>
                  <a:srgbClr val="0E7C86"/>
                </a:solidFill>
                <a:latin typeface="Calibri" pitchFamily="34" charset="0"/>
                <a:ea typeface="Calibri" pitchFamily="34" charset="-122"/>
                <a:cs typeface="Calibri" pitchFamily="34" charset="-120"/>
              </a:rPr>
              <a:t>THỰC THỂ</a:t>
            </a:r>
            <a:endParaRPr lang="en-US" sz="1000" dirty="0"/>
          </a:p>
        </p:txBody>
      </p:sp>
      <p:sp>
        <p:nvSpPr>
          <p:cNvPr id="19" name="Shape 15"/>
          <p:cNvSpPr/>
          <p:nvPr/>
        </p:nvSpPr>
        <p:spPr>
          <a:xfrm>
            <a:off x="4498848" y="2788920"/>
            <a:ext cx="3675888"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0" name="Shape 16"/>
          <p:cNvSpPr/>
          <p:nvPr/>
        </p:nvSpPr>
        <p:spPr>
          <a:xfrm>
            <a:off x="4773168" y="3063240"/>
            <a:ext cx="731520" cy="731520"/>
          </a:xfrm>
          <a:prstGeom prst="roundRect">
            <a:avLst>
              <a:gd name="adj" fmla="val 50000"/>
            </a:avLst>
          </a:prstGeom>
          <a:solidFill>
            <a:srgbClr val="6B7A88"/>
          </a:solidFill>
          <a:ln/>
        </p:spPr>
      </p:sp>
      <p:pic>
        <p:nvPicPr>
          <p:cNvPr id="21" name="Image 2" descr="preencoded.png"/>
          <p:cNvPicPr>
            <a:picLocks noChangeAspect="1"/>
          </p:cNvPicPr>
          <p:nvPr/>
        </p:nvPicPr>
        <p:blipFill>
          <a:blip r:embed="rId4"/>
          <a:stretch>
            <a:fillRect/>
          </a:stretch>
        </p:blipFill>
        <p:spPr>
          <a:xfrm>
            <a:off x="4948733" y="3238805"/>
            <a:ext cx="380390" cy="380390"/>
          </a:xfrm>
          <a:prstGeom prst="rect">
            <a:avLst/>
          </a:prstGeom>
        </p:spPr>
      </p:pic>
      <p:sp>
        <p:nvSpPr>
          <p:cNvPr id="22" name="Text 17"/>
          <p:cNvSpPr/>
          <p:nvPr/>
        </p:nvSpPr>
        <p:spPr>
          <a:xfrm>
            <a:off x="564184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Cư dân &amp; phí</a:t>
            </a:r>
            <a:endParaRPr lang="en-US" sz="1700" dirty="0"/>
          </a:p>
        </p:txBody>
      </p:sp>
      <p:sp>
        <p:nvSpPr>
          <p:cNvPr id="23" name="Text 18"/>
          <p:cNvSpPr/>
          <p:nvPr/>
        </p:nvSpPr>
        <p:spPr>
          <a:xfrm>
            <a:off x="5641848" y="3502152"/>
            <a:ext cx="2395728" cy="320040"/>
          </a:xfrm>
          <a:prstGeom prst="rect">
            <a:avLst/>
          </a:prstGeom>
          <a:noFill/>
          <a:ln/>
        </p:spPr>
        <p:txBody>
          <a:bodyPr wrap="square" lIns="0" tIns="0" rIns="0" bIns="0" rtlCol="0" anchor="ctr"/>
          <a:lstStyle/>
          <a:p>
            <a:pPr marL="0" indent="0">
              <a:buNone/>
            </a:pPr>
            <a:r>
              <a:rPr lang="en-US" sz="1200" b="1" dirty="0">
                <a:solidFill>
                  <a:srgbClr val="6B7A88"/>
                </a:solidFill>
                <a:latin typeface="Calibri" pitchFamily="34" charset="0"/>
                <a:ea typeface="Calibri" pitchFamily="34" charset="-122"/>
                <a:cs typeface="Calibri" pitchFamily="34" charset="-120"/>
              </a:rPr>
              <a:t>residents · fee_types · fees</a:t>
            </a:r>
            <a:endParaRPr lang="en-US" sz="1200" dirty="0"/>
          </a:p>
        </p:txBody>
      </p:sp>
      <p:sp>
        <p:nvSpPr>
          <p:cNvPr id="24" name="Text 19"/>
          <p:cNvSpPr/>
          <p:nvPr/>
        </p:nvSpPr>
        <p:spPr>
          <a:xfrm>
            <a:off x="477316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Cư dân theo căn hộ (IsOwner, MoveIn/Out); khoản phí gắn căn hộ &amp; loại phí.</a:t>
            </a:r>
            <a:endParaRPr lang="en-US" sz="1200" dirty="0"/>
          </a:p>
        </p:txBody>
      </p:sp>
      <p:sp>
        <p:nvSpPr>
          <p:cNvPr id="25" name="Shape 20"/>
          <p:cNvSpPr/>
          <p:nvPr/>
        </p:nvSpPr>
        <p:spPr>
          <a:xfrm>
            <a:off x="8430768" y="2788920"/>
            <a:ext cx="3675888"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6" name="Shape 21"/>
          <p:cNvSpPr/>
          <p:nvPr/>
        </p:nvSpPr>
        <p:spPr>
          <a:xfrm>
            <a:off x="8705088" y="3063240"/>
            <a:ext cx="731520" cy="731520"/>
          </a:xfrm>
          <a:prstGeom prst="roundRect">
            <a:avLst>
              <a:gd name="adj" fmla="val 50000"/>
            </a:avLst>
          </a:prstGeom>
          <a:solidFill>
            <a:srgbClr val="6B7A88"/>
          </a:solidFill>
          <a:ln/>
        </p:spPr>
      </p:sp>
      <p:pic>
        <p:nvPicPr>
          <p:cNvPr id="27" name="Image 3" descr="preencoded.png"/>
          <p:cNvPicPr>
            <a:picLocks noChangeAspect="1"/>
          </p:cNvPicPr>
          <p:nvPr/>
        </p:nvPicPr>
        <p:blipFill>
          <a:blip r:embed="rId5"/>
          <a:stretch>
            <a:fillRect/>
          </a:stretch>
        </p:blipFill>
        <p:spPr>
          <a:xfrm>
            <a:off x="8880653" y="3238805"/>
            <a:ext cx="380390" cy="380390"/>
          </a:xfrm>
          <a:prstGeom prst="rect">
            <a:avLst/>
          </a:prstGeom>
        </p:spPr>
      </p:pic>
      <p:sp>
        <p:nvSpPr>
          <p:cNvPr id="28" name="Text 22"/>
          <p:cNvSpPr/>
          <p:nvPr/>
        </p:nvSpPr>
        <p:spPr>
          <a:xfrm>
            <a:off x="957376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An ninh</a:t>
            </a:r>
            <a:endParaRPr lang="en-US" sz="1700" dirty="0"/>
          </a:p>
        </p:txBody>
      </p:sp>
      <p:sp>
        <p:nvSpPr>
          <p:cNvPr id="29" name="Text 23"/>
          <p:cNvSpPr/>
          <p:nvPr/>
        </p:nvSpPr>
        <p:spPr>
          <a:xfrm>
            <a:off x="9573768" y="3502152"/>
            <a:ext cx="2395728" cy="320040"/>
          </a:xfrm>
          <a:prstGeom prst="rect">
            <a:avLst/>
          </a:prstGeom>
          <a:noFill/>
          <a:ln/>
        </p:spPr>
        <p:txBody>
          <a:bodyPr wrap="square" lIns="0" tIns="0" rIns="0" bIns="0" rtlCol="0" anchor="ctr"/>
          <a:lstStyle/>
          <a:p>
            <a:pPr marL="0" indent="0">
              <a:buNone/>
            </a:pPr>
            <a:r>
              <a:rPr lang="en-US" sz="1200" b="1" dirty="0">
                <a:solidFill>
                  <a:srgbClr val="6B7A88"/>
                </a:solidFill>
                <a:latin typeface="Calibri" pitchFamily="34" charset="0"/>
                <a:ea typeface="Calibri" pitchFamily="34" charset="-122"/>
                <a:cs typeface="Calibri" pitchFamily="34" charset="-120"/>
              </a:rPr>
              <a:t>face_profiles · access_events</a:t>
            </a:r>
            <a:endParaRPr lang="en-US" sz="1200" dirty="0"/>
          </a:p>
        </p:txBody>
      </p:sp>
      <p:sp>
        <p:nvSpPr>
          <p:cNvPr id="30" name="Text 24"/>
          <p:cNvSpPr/>
          <p:nvPr/>
        </p:nvSpPr>
        <p:spPr>
          <a:xfrm>
            <a:off x="870508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Hồ sơ khuôn mặt (EmbeddingRef, AiStatus); sự kiện ra/vào (ảnh, độ tin cậy).</a:t>
            </a:r>
            <a:endParaRPr lang="en-US" sz="1200" dirty="0"/>
          </a:p>
        </p:txBody>
      </p:sp>
      <p:sp>
        <p:nvSpPr>
          <p:cNvPr id="31" name="Text 25"/>
          <p:cNvSpPr/>
          <p:nvPr/>
        </p:nvSpPr>
        <p:spPr>
          <a:xfrm>
            <a:off x="566928" y="5138928"/>
            <a:ext cx="11064240" cy="640080"/>
          </a:xfrm>
          <a:prstGeom prst="rect">
            <a:avLst/>
          </a:prstGeom>
          <a:noFill/>
          <a:ln/>
        </p:spPr>
        <p:txBody>
          <a:bodyPr wrap="square" lIns="0" tIns="0" rIns="0" bIns="0" rtlCol="0" anchor="ctr"/>
          <a:lstStyle/>
          <a:p>
            <a:pPr marL="0" indent="0">
              <a:buNone/>
            </a:pPr>
            <a:r>
              <a:rPr lang="en-US" sz="1250" i="1" dirty="0">
                <a:solidFill>
                  <a:srgbClr val="6B7A88"/>
                </a:solidFill>
                <a:latin typeface="Calibri" pitchFamily="34" charset="0"/>
                <a:ea typeface="Calibri" pitchFamily="34" charset="-122"/>
                <a:cs typeface="Calibri" pitchFamily="34" charset="-120"/>
              </a:rPr>
              <a:t>Ràng buộc: căn hộ còn cư dân/công nợ → không xóa; cư dân chuyển đi ghi MoveOutDate để giữ lịch sử. Là nguồn định danh cư dân/căn hộ cho Tài sản · Sự cố · Dịch vụ.</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DÂN CƯ · AN NINH 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Nhận diện khuôn mặt — kiểm soát ra/vào</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394960" cy="1417320"/>
          </a:xfrm>
          <a:prstGeom prst="roundRect">
            <a:avLst>
              <a:gd name="adj" fmla="val 7742"/>
            </a:avLst>
          </a:prstGeom>
          <a:solidFill>
            <a:srgbClr val="F1F5F8"/>
          </a:solidFill>
          <a:ln/>
          <a:effectLst>
            <a:outerShdw blurRad="88900" dist="25400" dir="5400000" algn="bl" rotWithShape="0">
              <a:srgbClr val="B9C7D1">
                <a:alpha val="40000"/>
              </a:srgbClr>
            </a:outerShdw>
          </a:effectLst>
        </p:spPr>
      </p:sp>
      <p:sp>
        <p:nvSpPr>
          <p:cNvPr id="9" name="Shape 7"/>
          <p:cNvSpPr/>
          <p:nvPr/>
        </p:nvSpPr>
        <p:spPr>
          <a:xfrm>
            <a:off x="822960" y="1938528"/>
            <a:ext cx="548640" cy="548640"/>
          </a:xfrm>
          <a:prstGeom prst="roundRect">
            <a:avLst>
              <a:gd name="adj" fmla="val 50000"/>
            </a:avLst>
          </a:prstGeom>
          <a:solidFill>
            <a:srgbClr val="E4572E"/>
          </a:solidFill>
          <a:ln/>
        </p:spPr>
      </p:sp>
      <p:pic>
        <p:nvPicPr>
          <p:cNvPr id="10" name="Image 0" descr="preencoded.png"/>
          <p:cNvPicPr>
            <a:picLocks noChangeAspect="1"/>
          </p:cNvPicPr>
          <p:nvPr/>
        </p:nvPicPr>
        <p:blipFill>
          <a:blip r:embed="rId2"/>
          <a:stretch>
            <a:fillRect/>
          </a:stretch>
        </p:blipFill>
        <p:spPr>
          <a:xfrm>
            <a:off x="954634" y="2070202"/>
            <a:ext cx="285293" cy="285293"/>
          </a:xfrm>
          <a:prstGeom prst="rect">
            <a:avLst/>
          </a:prstGeom>
        </p:spPr>
      </p:pic>
      <p:sp>
        <p:nvSpPr>
          <p:cNvPr id="11" name="Text 8"/>
          <p:cNvSpPr/>
          <p:nvPr/>
        </p:nvSpPr>
        <p:spPr>
          <a:xfrm>
            <a:off x="1508760" y="1965960"/>
            <a:ext cx="3657600" cy="36576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Bài toán</a:t>
            </a:r>
            <a:endParaRPr lang="en-US" sz="1500" dirty="0"/>
          </a:p>
        </p:txBody>
      </p:sp>
      <p:sp>
        <p:nvSpPr>
          <p:cNvPr id="12" name="Text 9"/>
          <p:cNvSpPr/>
          <p:nvPr/>
        </p:nvSpPr>
        <p:spPr>
          <a:xfrm>
            <a:off x="822960" y="2423160"/>
            <a:ext cx="4937760" cy="640080"/>
          </a:xfrm>
          <a:prstGeom prst="rect">
            <a:avLst/>
          </a:prstGeom>
          <a:noFill/>
          <a:ln/>
        </p:spPr>
        <p:txBody>
          <a:bodyPr wrap="square" lIns="0" tIns="0" rIns="0" bIns="0" rtlCol="0" anchor="t"/>
          <a:lstStyle/>
          <a:p>
            <a:pPr marL="0" indent="0">
              <a:buNone/>
            </a:pPr>
            <a:r>
              <a:rPr lang="en-US" sz="1200" dirty="0">
                <a:solidFill>
                  <a:srgbClr val="22303C"/>
                </a:solidFill>
                <a:latin typeface="Calibri" pitchFamily="34" charset="0"/>
                <a:ea typeface="Calibri" pitchFamily="34" charset="-122"/>
                <a:cs typeface="Calibri" pitchFamily="34" charset="-120"/>
              </a:rPr>
              <a:t>Hai giai đoạn nối tiếp: (1) phát hiện khuôn mặt trong khung hình camera; (2) trích đặc trưng và so khớp với hồ sơ cư dân đã đăng ký (face_profiles).</a:t>
            </a:r>
            <a:endParaRPr lang="en-US" sz="1200" dirty="0"/>
          </a:p>
        </p:txBody>
      </p:sp>
      <p:sp>
        <p:nvSpPr>
          <p:cNvPr id="13" name="Shape 10"/>
          <p:cNvSpPr/>
          <p:nvPr/>
        </p:nvSpPr>
        <p:spPr>
          <a:xfrm>
            <a:off x="566928" y="3246120"/>
            <a:ext cx="5394960" cy="1874520"/>
          </a:xfrm>
          <a:prstGeom prst="roundRect">
            <a:avLst>
              <a:gd name="adj" fmla="val 5854"/>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4" name="Shape 11"/>
          <p:cNvSpPr/>
          <p:nvPr/>
        </p:nvSpPr>
        <p:spPr>
          <a:xfrm>
            <a:off x="822960" y="3483864"/>
            <a:ext cx="640080" cy="640080"/>
          </a:xfrm>
          <a:prstGeom prst="roundRect">
            <a:avLst>
              <a:gd name="adj" fmla="val 50000"/>
            </a:avLst>
          </a:prstGeom>
          <a:solidFill>
            <a:srgbClr val="0E7C86"/>
          </a:solidFill>
          <a:ln/>
        </p:spPr>
      </p:sp>
      <p:pic>
        <p:nvPicPr>
          <p:cNvPr id="15" name="Image 1" descr="preencoded.png"/>
          <p:cNvPicPr>
            <a:picLocks noChangeAspect="1"/>
          </p:cNvPicPr>
          <p:nvPr/>
        </p:nvPicPr>
        <p:blipFill>
          <a:blip r:embed="rId3"/>
          <a:stretch>
            <a:fillRect/>
          </a:stretch>
        </p:blipFill>
        <p:spPr>
          <a:xfrm>
            <a:off x="976579" y="3637483"/>
            <a:ext cx="332842" cy="332842"/>
          </a:xfrm>
          <a:prstGeom prst="rect">
            <a:avLst/>
          </a:prstGeom>
        </p:spPr>
      </p:pic>
      <p:sp>
        <p:nvSpPr>
          <p:cNvPr id="16" name="Text 12"/>
          <p:cNvSpPr/>
          <p:nvPr/>
        </p:nvSpPr>
        <p:spPr>
          <a:xfrm>
            <a:off x="1618488" y="3557016"/>
            <a:ext cx="4206240" cy="457200"/>
          </a:xfrm>
          <a:prstGeom prst="rect">
            <a:avLst/>
          </a:prstGeom>
          <a:noFill/>
          <a:ln/>
        </p:spPr>
        <p:txBody>
          <a:bodyPr wrap="square" lIns="0" tIns="0" rIns="0" bIns="0" rtlCol="0" anchor="ctr"/>
          <a:lstStyle/>
          <a:p>
            <a:pPr marL="0" indent="0">
              <a:buNone/>
            </a:pPr>
            <a:r>
              <a:rPr lang="en-US" sz="1550" b="1" dirty="0">
                <a:solidFill>
                  <a:srgbClr val="0E2A47"/>
                </a:solidFill>
                <a:latin typeface="Cambria" pitchFamily="34" charset="0"/>
                <a:ea typeface="Cambria" pitchFamily="34" charset="-122"/>
                <a:cs typeface="Cambria" pitchFamily="34" charset="-120"/>
              </a:rPr>
              <a:t>Phát hiện — YuNet</a:t>
            </a:r>
            <a:endParaRPr lang="en-US" sz="1550" dirty="0"/>
          </a:p>
        </p:txBody>
      </p:sp>
      <p:sp>
        <p:nvSpPr>
          <p:cNvPr id="17" name="Text 13"/>
          <p:cNvSpPr/>
          <p:nvPr/>
        </p:nvSpPr>
        <p:spPr>
          <a:xfrm>
            <a:off x="822960" y="4343400"/>
            <a:ext cx="4937760" cy="68580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YuNet (OpenCV FaceDetectorYN, ONNX) xác định vị trí và điểm mốc khuôn mặt; alignCrop căn chỉnh khuôn mặt trước khi trích đặc trưng.</a:t>
            </a:r>
            <a:endParaRPr lang="en-US" sz="1200" dirty="0"/>
          </a:p>
        </p:txBody>
      </p:sp>
      <p:sp>
        <p:nvSpPr>
          <p:cNvPr id="18" name="Shape 14"/>
          <p:cNvSpPr/>
          <p:nvPr/>
        </p:nvSpPr>
        <p:spPr>
          <a:xfrm>
            <a:off x="6163056" y="3246120"/>
            <a:ext cx="5394960" cy="1874520"/>
          </a:xfrm>
          <a:prstGeom prst="roundRect">
            <a:avLst>
              <a:gd name="adj" fmla="val 5854"/>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9" name="Shape 15"/>
          <p:cNvSpPr/>
          <p:nvPr/>
        </p:nvSpPr>
        <p:spPr>
          <a:xfrm>
            <a:off x="6419088" y="3483864"/>
            <a:ext cx="640080" cy="640080"/>
          </a:xfrm>
          <a:prstGeom prst="roundRect">
            <a:avLst>
              <a:gd name="adj" fmla="val 50000"/>
            </a:avLst>
          </a:prstGeom>
          <a:solidFill>
            <a:srgbClr val="23B5A6"/>
          </a:solidFill>
          <a:ln/>
        </p:spPr>
      </p:sp>
      <p:pic>
        <p:nvPicPr>
          <p:cNvPr id="20" name="Image 2" descr="preencoded.png"/>
          <p:cNvPicPr>
            <a:picLocks noChangeAspect="1"/>
          </p:cNvPicPr>
          <p:nvPr/>
        </p:nvPicPr>
        <p:blipFill>
          <a:blip r:embed="rId4"/>
          <a:stretch>
            <a:fillRect/>
          </a:stretch>
        </p:blipFill>
        <p:spPr>
          <a:xfrm>
            <a:off x="6572707" y="3637483"/>
            <a:ext cx="332842" cy="332842"/>
          </a:xfrm>
          <a:prstGeom prst="rect">
            <a:avLst/>
          </a:prstGeom>
        </p:spPr>
      </p:pic>
      <p:sp>
        <p:nvSpPr>
          <p:cNvPr id="21" name="Text 16"/>
          <p:cNvSpPr/>
          <p:nvPr/>
        </p:nvSpPr>
        <p:spPr>
          <a:xfrm>
            <a:off x="7214616" y="3557016"/>
            <a:ext cx="4206240" cy="457200"/>
          </a:xfrm>
          <a:prstGeom prst="rect">
            <a:avLst/>
          </a:prstGeom>
          <a:noFill/>
          <a:ln/>
        </p:spPr>
        <p:txBody>
          <a:bodyPr wrap="square" lIns="0" tIns="0" rIns="0" bIns="0" rtlCol="0" anchor="ctr"/>
          <a:lstStyle/>
          <a:p>
            <a:pPr marL="0" indent="0">
              <a:buNone/>
            </a:pPr>
            <a:r>
              <a:rPr lang="en-US" sz="1550" b="1" dirty="0">
                <a:solidFill>
                  <a:srgbClr val="0E2A47"/>
                </a:solidFill>
                <a:latin typeface="Cambria" pitchFamily="34" charset="0"/>
                <a:ea typeface="Cambria" pitchFamily="34" charset="-122"/>
                <a:cs typeface="Cambria" pitchFamily="34" charset="-120"/>
              </a:rPr>
              <a:t>Nhận diện — SFace</a:t>
            </a:r>
            <a:endParaRPr lang="en-US" sz="1550" dirty="0"/>
          </a:p>
        </p:txBody>
      </p:sp>
      <p:sp>
        <p:nvSpPr>
          <p:cNvPr id="22" name="Text 17"/>
          <p:cNvSpPr/>
          <p:nvPr/>
        </p:nvSpPr>
        <p:spPr>
          <a:xfrm>
            <a:off x="6419088" y="4343400"/>
            <a:ext cx="4937760" cy="68580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SFace (OpenCV FaceRecognizerSF, ONNX) trích vector đặc trưng (embedding); so khớp cosine với embedding cư dân, chọn best_score và so với ngưỡng.</a:t>
            </a:r>
            <a:endParaRPr lang="en-US" sz="1200" dirty="0"/>
          </a:p>
        </p:txBody>
      </p:sp>
      <p:sp>
        <p:nvSpPr>
          <p:cNvPr id="23" name="Shape 18"/>
          <p:cNvSpPr/>
          <p:nvPr/>
        </p:nvSpPr>
        <p:spPr>
          <a:xfrm>
            <a:off x="566928" y="5257800"/>
            <a:ext cx="3566160" cy="822960"/>
          </a:xfrm>
          <a:prstGeom prst="roundRect">
            <a:avLst>
              <a:gd name="adj" fmla="val 12222"/>
            </a:avLst>
          </a:prstGeom>
          <a:solidFill>
            <a:srgbClr val="0E2A47"/>
          </a:solidFill>
          <a:ln/>
        </p:spPr>
      </p:sp>
      <p:sp>
        <p:nvSpPr>
          <p:cNvPr id="24" name="Text 19"/>
          <p:cNvSpPr/>
          <p:nvPr/>
        </p:nvSpPr>
        <p:spPr>
          <a:xfrm>
            <a:off x="74980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0,948</a:t>
            </a:r>
            <a:endParaRPr lang="en-US" sz="1800" dirty="0"/>
          </a:p>
        </p:txBody>
      </p:sp>
      <p:sp>
        <p:nvSpPr>
          <p:cNvPr id="25" name="Text 20"/>
          <p:cNvSpPr/>
          <p:nvPr/>
        </p:nvSpPr>
        <p:spPr>
          <a:xfrm>
            <a:off x="74980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Accuracy tại ngưỡng cosine 0,363</a:t>
            </a:r>
            <a:endParaRPr lang="en-US" sz="1100" dirty="0"/>
          </a:p>
        </p:txBody>
      </p:sp>
      <p:sp>
        <p:nvSpPr>
          <p:cNvPr id="26" name="Shape 21"/>
          <p:cNvSpPr/>
          <p:nvPr/>
        </p:nvSpPr>
        <p:spPr>
          <a:xfrm>
            <a:off x="4315968" y="5257800"/>
            <a:ext cx="3566160" cy="822960"/>
          </a:xfrm>
          <a:prstGeom prst="roundRect">
            <a:avLst>
              <a:gd name="adj" fmla="val 12222"/>
            </a:avLst>
          </a:prstGeom>
          <a:solidFill>
            <a:srgbClr val="0E2A47"/>
          </a:solidFill>
          <a:ln/>
        </p:spPr>
      </p:sp>
      <p:sp>
        <p:nvSpPr>
          <p:cNvPr id="27" name="Text 22"/>
          <p:cNvSpPr/>
          <p:nvPr/>
        </p:nvSpPr>
        <p:spPr>
          <a:xfrm>
            <a:off x="449884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Offline</a:t>
            </a:r>
            <a:endParaRPr lang="en-US" sz="1800" dirty="0"/>
          </a:p>
        </p:txBody>
      </p:sp>
      <p:sp>
        <p:nvSpPr>
          <p:cNvPr id="28" name="Text 23"/>
          <p:cNvSpPr/>
          <p:nvPr/>
        </p:nvSpPr>
        <p:spPr>
          <a:xfrm>
            <a:off x="449884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YuNet + SFace (ONNX) qua FastAPI cục bộ</a:t>
            </a:r>
            <a:endParaRPr lang="en-US" sz="1100" dirty="0"/>
          </a:p>
        </p:txBody>
      </p:sp>
      <p:sp>
        <p:nvSpPr>
          <p:cNvPr id="29" name="Shape 24"/>
          <p:cNvSpPr/>
          <p:nvPr/>
        </p:nvSpPr>
        <p:spPr>
          <a:xfrm>
            <a:off x="8065008" y="5257800"/>
            <a:ext cx="3566160" cy="822960"/>
          </a:xfrm>
          <a:prstGeom prst="roundRect">
            <a:avLst>
              <a:gd name="adj" fmla="val 12222"/>
            </a:avLst>
          </a:prstGeom>
          <a:solidFill>
            <a:srgbClr val="0E2A47"/>
          </a:solidFill>
          <a:ln/>
        </p:spPr>
      </p:sp>
      <p:sp>
        <p:nvSpPr>
          <p:cNvPr id="30" name="Text 25"/>
          <p:cNvSpPr/>
          <p:nvPr/>
        </p:nvSpPr>
        <p:spPr>
          <a:xfrm>
            <a:off x="824788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Người trực</a:t>
            </a:r>
            <a:endParaRPr lang="en-US" sz="1800" dirty="0"/>
          </a:p>
        </p:txBody>
      </p:sp>
      <p:sp>
        <p:nvSpPr>
          <p:cNvPr id="31" name="Text 26"/>
          <p:cNvSpPr/>
          <p:nvPr/>
        </p:nvSpPr>
        <p:spPr>
          <a:xfrm>
            <a:off x="824788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kết quả dưới ngưỡng phải xác nhận lại</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DÂN CƯ · ĐÁNH GIÁ 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Dữ liệu, phương pháp và kết quả đánh giá</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394960" cy="1417320"/>
          </a:xfrm>
          <a:prstGeom prst="roundRect">
            <a:avLst>
              <a:gd name="adj" fmla="val 7742"/>
            </a:avLst>
          </a:prstGeom>
          <a:solidFill>
            <a:srgbClr val="F1F5F8"/>
          </a:solidFill>
          <a:ln/>
          <a:effectLst>
            <a:outerShdw blurRad="88900" dist="25400" dir="5400000" algn="bl" rotWithShape="0">
              <a:srgbClr val="B9C7D1">
                <a:alpha val="40000"/>
              </a:srgbClr>
            </a:outerShdw>
          </a:effectLst>
        </p:spPr>
      </p:sp>
      <p:sp>
        <p:nvSpPr>
          <p:cNvPr id="9" name="Shape 7"/>
          <p:cNvSpPr/>
          <p:nvPr/>
        </p:nvSpPr>
        <p:spPr>
          <a:xfrm>
            <a:off x="822960" y="1938528"/>
            <a:ext cx="548640" cy="548640"/>
          </a:xfrm>
          <a:prstGeom prst="roundRect">
            <a:avLst>
              <a:gd name="adj" fmla="val 50000"/>
            </a:avLst>
          </a:prstGeom>
          <a:solidFill>
            <a:srgbClr val="E4572E"/>
          </a:solidFill>
          <a:ln/>
        </p:spPr>
      </p:sp>
      <p:pic>
        <p:nvPicPr>
          <p:cNvPr id="10" name="Image 0" descr="preencoded.png"/>
          <p:cNvPicPr>
            <a:picLocks noChangeAspect="1"/>
          </p:cNvPicPr>
          <p:nvPr/>
        </p:nvPicPr>
        <p:blipFill>
          <a:blip r:embed="rId2"/>
          <a:stretch>
            <a:fillRect/>
          </a:stretch>
        </p:blipFill>
        <p:spPr>
          <a:xfrm>
            <a:off x="954634" y="2070202"/>
            <a:ext cx="285293" cy="285293"/>
          </a:xfrm>
          <a:prstGeom prst="rect">
            <a:avLst/>
          </a:prstGeom>
        </p:spPr>
      </p:pic>
      <p:sp>
        <p:nvSpPr>
          <p:cNvPr id="11" name="Text 8"/>
          <p:cNvSpPr/>
          <p:nvPr/>
        </p:nvSpPr>
        <p:spPr>
          <a:xfrm>
            <a:off x="1508760" y="1965960"/>
            <a:ext cx="3657600" cy="36576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Dữ liệu thử nghiệm</a:t>
            </a:r>
            <a:endParaRPr lang="en-US" sz="1500" dirty="0"/>
          </a:p>
        </p:txBody>
      </p:sp>
      <p:sp>
        <p:nvSpPr>
          <p:cNvPr id="12" name="Text 9"/>
          <p:cNvSpPr/>
          <p:nvPr/>
        </p:nvSpPr>
        <p:spPr>
          <a:xfrm>
            <a:off x="822960" y="2423160"/>
            <a:ext cx="4937760" cy="640080"/>
          </a:xfrm>
          <a:prstGeom prst="rect">
            <a:avLst/>
          </a:prstGeom>
          <a:noFill/>
          <a:ln/>
        </p:spPr>
        <p:txBody>
          <a:bodyPr wrap="square" lIns="0" tIns="0" rIns="0" bIns="0" rtlCol="0" anchor="t"/>
          <a:lstStyle/>
          <a:p>
            <a:pPr marL="0" indent="0">
              <a:buNone/>
            </a:pPr>
            <a:r>
              <a:rPr lang="en-US" sz="1200" dirty="0">
                <a:solidFill>
                  <a:srgbClr val="22303C"/>
                </a:solidFill>
                <a:latin typeface="Calibri" pitchFamily="34" charset="0"/>
                <a:ea typeface="Calibri" pitchFamily="34" charset="-122"/>
                <a:cs typeface="Calibri" pitchFamily="34" charset="-120"/>
              </a:rPr>
              <a:t>≈ 500 lượt nhận diện: ảnh cư dân đã đăng ký (positive) và người lạ (negative), trong nhiều điều kiện ánh sáng và góc chụp khác nhau.</a:t>
            </a:r>
            <a:endParaRPr lang="en-US" sz="1200" dirty="0"/>
          </a:p>
        </p:txBody>
      </p:sp>
      <p:sp>
        <p:nvSpPr>
          <p:cNvPr id="13" name="Shape 10"/>
          <p:cNvSpPr/>
          <p:nvPr/>
        </p:nvSpPr>
        <p:spPr>
          <a:xfrm>
            <a:off x="566928" y="3246120"/>
            <a:ext cx="5394960" cy="1874520"/>
          </a:xfrm>
          <a:prstGeom prst="roundRect">
            <a:avLst>
              <a:gd name="adj" fmla="val 5854"/>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4" name="Shape 11"/>
          <p:cNvSpPr/>
          <p:nvPr/>
        </p:nvSpPr>
        <p:spPr>
          <a:xfrm>
            <a:off x="822960" y="3483864"/>
            <a:ext cx="640080" cy="640080"/>
          </a:xfrm>
          <a:prstGeom prst="roundRect">
            <a:avLst>
              <a:gd name="adj" fmla="val 50000"/>
            </a:avLst>
          </a:prstGeom>
          <a:solidFill>
            <a:srgbClr val="0E7C86"/>
          </a:solidFill>
          <a:ln/>
        </p:spPr>
      </p:sp>
      <p:pic>
        <p:nvPicPr>
          <p:cNvPr id="15" name="Image 1" descr="preencoded.png"/>
          <p:cNvPicPr>
            <a:picLocks noChangeAspect="1"/>
          </p:cNvPicPr>
          <p:nvPr/>
        </p:nvPicPr>
        <p:blipFill>
          <a:blip r:embed="rId3"/>
          <a:stretch>
            <a:fillRect/>
          </a:stretch>
        </p:blipFill>
        <p:spPr>
          <a:xfrm>
            <a:off x="976579" y="3637483"/>
            <a:ext cx="332842" cy="332842"/>
          </a:xfrm>
          <a:prstGeom prst="rect">
            <a:avLst/>
          </a:prstGeom>
        </p:spPr>
      </p:pic>
      <p:sp>
        <p:nvSpPr>
          <p:cNvPr id="16" name="Text 12"/>
          <p:cNvSpPr/>
          <p:nvPr/>
        </p:nvSpPr>
        <p:spPr>
          <a:xfrm>
            <a:off x="1618488" y="3557016"/>
            <a:ext cx="4206240" cy="457200"/>
          </a:xfrm>
          <a:prstGeom prst="rect">
            <a:avLst/>
          </a:prstGeom>
          <a:noFill/>
          <a:ln/>
        </p:spPr>
        <p:txBody>
          <a:bodyPr wrap="square" lIns="0" tIns="0" rIns="0" bIns="0" rtlCol="0" anchor="ctr"/>
          <a:lstStyle/>
          <a:p>
            <a:pPr marL="0" indent="0">
              <a:buNone/>
            </a:pPr>
            <a:r>
              <a:rPr lang="en-US" sz="1550" b="1" dirty="0">
                <a:solidFill>
                  <a:srgbClr val="0E2A47"/>
                </a:solidFill>
                <a:latin typeface="Cambria" pitchFamily="34" charset="0"/>
                <a:ea typeface="Cambria" pitchFamily="34" charset="-122"/>
                <a:cs typeface="Cambria" pitchFamily="34" charset="-120"/>
              </a:rPr>
              <a:t>Độ đo</a:t>
            </a:r>
            <a:endParaRPr lang="en-US" sz="1550" dirty="0"/>
          </a:p>
        </p:txBody>
      </p:sp>
      <p:sp>
        <p:nvSpPr>
          <p:cNvPr id="17" name="Text 13"/>
          <p:cNvSpPr/>
          <p:nvPr/>
        </p:nvSpPr>
        <p:spPr>
          <a:xfrm>
            <a:off x="822960" y="4343400"/>
            <a:ext cx="4937760" cy="68580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Accuracy · Precision · Recall (TPR) · F1-score · FAR (tỉ lệ báo nhầm người lạ thành cư dân); quét ngưỡng cosine 0,30 → 0,45.</a:t>
            </a:r>
            <a:endParaRPr lang="en-US" sz="1200" dirty="0"/>
          </a:p>
        </p:txBody>
      </p:sp>
      <p:sp>
        <p:nvSpPr>
          <p:cNvPr id="18" name="Shape 14"/>
          <p:cNvSpPr/>
          <p:nvPr/>
        </p:nvSpPr>
        <p:spPr>
          <a:xfrm>
            <a:off x="6163056" y="3246120"/>
            <a:ext cx="5394960" cy="1874520"/>
          </a:xfrm>
          <a:prstGeom prst="roundRect">
            <a:avLst>
              <a:gd name="adj" fmla="val 5854"/>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9" name="Shape 15"/>
          <p:cNvSpPr/>
          <p:nvPr/>
        </p:nvSpPr>
        <p:spPr>
          <a:xfrm>
            <a:off x="6419088" y="3483864"/>
            <a:ext cx="640080" cy="640080"/>
          </a:xfrm>
          <a:prstGeom prst="roundRect">
            <a:avLst>
              <a:gd name="adj" fmla="val 50000"/>
            </a:avLst>
          </a:prstGeom>
          <a:solidFill>
            <a:srgbClr val="23B5A6"/>
          </a:solidFill>
          <a:ln/>
        </p:spPr>
      </p:sp>
      <p:pic>
        <p:nvPicPr>
          <p:cNvPr id="20" name="Image 2" descr="preencoded.png"/>
          <p:cNvPicPr>
            <a:picLocks noChangeAspect="1"/>
          </p:cNvPicPr>
          <p:nvPr/>
        </p:nvPicPr>
        <p:blipFill>
          <a:blip r:embed="rId4"/>
          <a:stretch>
            <a:fillRect/>
          </a:stretch>
        </p:blipFill>
        <p:spPr>
          <a:xfrm>
            <a:off x="6572707" y="3637483"/>
            <a:ext cx="332842" cy="332842"/>
          </a:xfrm>
          <a:prstGeom prst="rect">
            <a:avLst/>
          </a:prstGeom>
        </p:spPr>
      </p:pic>
      <p:sp>
        <p:nvSpPr>
          <p:cNvPr id="21" name="Text 16"/>
          <p:cNvSpPr/>
          <p:nvPr/>
        </p:nvSpPr>
        <p:spPr>
          <a:xfrm>
            <a:off x="7214616" y="3557016"/>
            <a:ext cx="4206240" cy="457200"/>
          </a:xfrm>
          <a:prstGeom prst="rect">
            <a:avLst/>
          </a:prstGeom>
          <a:noFill/>
          <a:ln/>
        </p:spPr>
        <p:txBody>
          <a:bodyPr wrap="square" lIns="0" tIns="0" rIns="0" bIns="0" rtlCol="0" anchor="ctr"/>
          <a:lstStyle/>
          <a:p>
            <a:pPr marL="0" indent="0">
              <a:buNone/>
            </a:pPr>
            <a:r>
              <a:rPr lang="en-US" sz="1550" b="1" dirty="0">
                <a:solidFill>
                  <a:srgbClr val="0E2A47"/>
                </a:solidFill>
                <a:latin typeface="Cambria" pitchFamily="34" charset="0"/>
                <a:ea typeface="Cambria" pitchFamily="34" charset="-122"/>
                <a:cs typeface="Cambria" pitchFamily="34" charset="-120"/>
              </a:rPr>
              <a:t>Chọn ngưỡng</a:t>
            </a:r>
            <a:endParaRPr lang="en-US" sz="1550" dirty="0"/>
          </a:p>
        </p:txBody>
      </p:sp>
      <p:sp>
        <p:nvSpPr>
          <p:cNvPr id="22" name="Text 17"/>
          <p:cNvSpPr/>
          <p:nvPr/>
        </p:nvSpPr>
        <p:spPr>
          <a:xfrm>
            <a:off x="6419088" y="4343400"/>
            <a:ext cx="4937760" cy="68580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Tăng ngưỡng: Precision tăng, Recall giảm (đánh đổi bỏ sót ↔ báo nhầm); chọn 0,363 làm điểm cân bằng cho bài toán an ninh.</a:t>
            </a:r>
            <a:endParaRPr lang="en-US" sz="1200" dirty="0"/>
          </a:p>
        </p:txBody>
      </p:sp>
      <p:sp>
        <p:nvSpPr>
          <p:cNvPr id="23" name="Shape 18"/>
          <p:cNvSpPr/>
          <p:nvPr/>
        </p:nvSpPr>
        <p:spPr>
          <a:xfrm>
            <a:off x="566928" y="5257800"/>
            <a:ext cx="3566160" cy="822960"/>
          </a:xfrm>
          <a:prstGeom prst="roundRect">
            <a:avLst>
              <a:gd name="adj" fmla="val 12222"/>
            </a:avLst>
          </a:prstGeom>
          <a:solidFill>
            <a:srgbClr val="0E2A47"/>
          </a:solidFill>
          <a:ln/>
        </p:spPr>
      </p:sp>
      <p:sp>
        <p:nvSpPr>
          <p:cNvPr id="24" name="Text 19"/>
          <p:cNvSpPr/>
          <p:nvPr/>
        </p:nvSpPr>
        <p:spPr>
          <a:xfrm>
            <a:off x="74980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0,948</a:t>
            </a:r>
            <a:endParaRPr lang="en-US" sz="1800" dirty="0"/>
          </a:p>
        </p:txBody>
      </p:sp>
      <p:sp>
        <p:nvSpPr>
          <p:cNvPr id="25" name="Text 20"/>
          <p:cNvSpPr/>
          <p:nvPr/>
        </p:nvSpPr>
        <p:spPr>
          <a:xfrm>
            <a:off x="74980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Accuracy @ ngưỡng 0,363</a:t>
            </a:r>
            <a:endParaRPr lang="en-US" sz="1100" dirty="0"/>
          </a:p>
        </p:txBody>
      </p:sp>
      <p:sp>
        <p:nvSpPr>
          <p:cNvPr id="26" name="Shape 21"/>
          <p:cNvSpPr/>
          <p:nvPr/>
        </p:nvSpPr>
        <p:spPr>
          <a:xfrm>
            <a:off x="4315968" y="5257800"/>
            <a:ext cx="3566160" cy="822960"/>
          </a:xfrm>
          <a:prstGeom prst="roundRect">
            <a:avLst>
              <a:gd name="adj" fmla="val 12222"/>
            </a:avLst>
          </a:prstGeom>
          <a:solidFill>
            <a:srgbClr val="0E2A47"/>
          </a:solidFill>
          <a:ln/>
        </p:spPr>
      </p:sp>
      <p:sp>
        <p:nvSpPr>
          <p:cNvPr id="27" name="Text 22"/>
          <p:cNvSpPr/>
          <p:nvPr/>
        </p:nvSpPr>
        <p:spPr>
          <a:xfrm>
            <a:off x="449884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Realtime</a:t>
            </a:r>
            <a:endParaRPr lang="en-US" sz="1800" dirty="0"/>
          </a:p>
        </p:txBody>
      </p:sp>
      <p:sp>
        <p:nvSpPr>
          <p:cNvPr id="28" name="Text 23"/>
          <p:cNvSpPr/>
          <p:nvPr/>
        </p:nvSpPr>
        <p:spPr>
          <a:xfrm>
            <a:off x="449884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xử lý khung hình gần thời gian thực</a:t>
            </a:r>
            <a:endParaRPr lang="en-US" sz="1100" dirty="0"/>
          </a:p>
        </p:txBody>
      </p:sp>
      <p:sp>
        <p:nvSpPr>
          <p:cNvPr id="29" name="Shape 24"/>
          <p:cNvSpPr/>
          <p:nvPr/>
        </p:nvSpPr>
        <p:spPr>
          <a:xfrm>
            <a:off x="8065008" y="5257800"/>
            <a:ext cx="3566160" cy="822960"/>
          </a:xfrm>
          <a:prstGeom prst="roundRect">
            <a:avLst>
              <a:gd name="adj" fmla="val 12222"/>
            </a:avLst>
          </a:prstGeom>
          <a:solidFill>
            <a:srgbClr val="0E2A47"/>
          </a:solidFill>
          <a:ln/>
        </p:spPr>
      </p:sp>
      <p:sp>
        <p:nvSpPr>
          <p:cNvPr id="30" name="Text 25"/>
          <p:cNvSpPr/>
          <p:nvPr/>
        </p:nvSpPr>
        <p:spPr>
          <a:xfrm>
            <a:off x="824788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Người trực</a:t>
            </a:r>
            <a:endParaRPr lang="en-US" sz="1800" dirty="0"/>
          </a:p>
        </p:txBody>
      </p:sp>
      <p:sp>
        <p:nvSpPr>
          <p:cNvPr id="31" name="Text 26"/>
          <p:cNvSpPr/>
          <p:nvPr/>
        </p:nvSpPr>
        <p:spPr>
          <a:xfrm>
            <a:off x="824788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kết quả dưới ngưỡng phải xác nhận</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DÂN CƯ · NHẬN XÉT</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Hạn chế, hướng cải tiến và liên thông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35</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marL="0" indent="0">
              <a:buNone/>
            </a:pPr>
            <a:r>
              <a:rPr lang="en-US" sz="1250" b="1" kern="0" spc="150" dirty="0">
                <a:solidFill>
                  <a:srgbClr val="23B5A6"/>
                </a:solidFill>
                <a:latin typeface="Calibri" pitchFamily="34" charset="0"/>
                <a:ea typeface="Calibri" pitchFamily="34" charset="-122"/>
                <a:cs typeface="Calibri" pitchFamily="34" charset="-120"/>
              </a:rPr>
              <a:t>LIÊN THÔNG &amp; QUYỀN RIÊNG TƯ</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Cư dân/căn hộ là nguồn định danh cho Tài sản · Sự cố · Dịch vụ  ·  dữ liệu sinh trắc được phân quyền tối thiểu và lưu vết qua Audit Log</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icPr>
            <a:picLocks noChangeAspect="1"/>
          </p:cNvPicPr>
          <p:nvPr/>
        </p:nvPicPr>
        <p:blipFill>
          <a:blip r:embed="rId2"/>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Hạn chế</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Độ chính xác giảm khi ánh sáng yếu, che mặt, góc nghiêng lớn</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icPr>
            <a:picLocks noChangeAspect="1"/>
          </p:cNvPicPr>
          <p:nvPr/>
        </p:nvPicPr>
        <p:blipFill>
          <a:blip r:embed="rId3"/>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Chưa có liveness</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Chưa chống giả mạo bằng ảnh in / màn hình</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blurRad="88900" dist="25400" dir="5400000" algn="bl" rotWithShape="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icPr>
            <a:picLocks noChangeAspect="1"/>
          </p:cNvPicPr>
          <p:nvPr/>
        </p:nvPicPr>
        <p:blipFill>
          <a:blip r:embed="rId4"/>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Hướng cải tiến</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Ảnh đăng ký đa góc; thêm liveness; cân nhắc ArcFace</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marL="0" indent="0" algn="ctr">
              <a:buNone/>
            </a:pPr>
            <a:r>
              <a:rPr lang="en-US" sz="1250" b="1" dirty="0">
                <a:solidFill>
                  <a:srgbClr val="0E2A47"/>
                </a:solidFill>
                <a:latin typeface="Calibri" pitchFamily="34" charset="0"/>
                <a:ea typeface="Calibri" pitchFamily="34" charset="-122"/>
                <a:cs typeface="Calibri" pitchFamily="34" charset="-120"/>
              </a:rPr>
              <a:t>Dữ liệu khuôn mặt  </a:t>
            </a:r>
            <a:r>
              <a:rPr lang="en-US" sz="1250" b="1" dirty="0">
                <a:solidFill>
                  <a:srgbClr val="0E7C86"/>
                </a:solidFill>
                <a:latin typeface="Calibri" pitchFamily="34" charset="0"/>
                <a:ea typeface="Calibri" pitchFamily="34" charset="-122"/>
                <a:cs typeface="Calibri" pitchFamily="34" charset="-120"/>
              </a:rPr>
              <a:t>bảo vệ &amp; phân quyền tối thiểu</a:t>
            </a:r>
            <a:r>
              <a:rPr lang="en-US" sz="1250" b="1" dirty="0">
                <a:solidFill>
                  <a:srgbClr val="0E2A47"/>
                </a:solidFill>
                <a:latin typeface="Calibri" pitchFamily="34" charset="0"/>
                <a:ea typeface="Calibri" pitchFamily="34" charset="-122"/>
                <a:cs typeface="Calibri" pitchFamily="34" charset="-120"/>
              </a:rPr>
              <a:t>   ~   Cảnh báo  </a:t>
            </a:r>
            <a:r>
              <a:rPr lang="en-US" sz="1250" b="1" dirty="0">
                <a:solidFill>
                  <a:srgbClr val="0E7C86"/>
                </a:solidFill>
                <a:latin typeface="Calibri" pitchFamily="34" charset="0"/>
                <a:ea typeface="Calibri" pitchFamily="34" charset="-122"/>
                <a:cs typeface="Calibri" pitchFamily="34" charset="-120"/>
              </a:rPr>
              <a:t>gửi qua engine Thông báo (Base)</a:t>
            </a:r>
            <a:r>
              <a:rPr lang="en-US" sz="1250" dirty="0">
                <a:solidFill>
                  <a:srgbClr val="22303C"/>
                </a:solidFill>
                <a:latin typeface="Calibri" pitchFamily="34" charset="0"/>
                <a:ea typeface="Calibri" pitchFamily="34" charset="-122"/>
                <a:cs typeface="Calibri" pitchFamily="34" charset="-120"/>
              </a:rPr>
              <a:t>   ·   sự kiện ra/vào ghi access_events; người lạ phát cảnh báo tới NV an ninh.</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05 · TRIỂN KHAI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Đóng gói &amp; triển khai bằng Docker / Fly.io</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45</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83080"/>
            <a:ext cx="11064240" cy="1005840"/>
          </a:xfrm>
          <a:prstGeom prst="roundRect">
            <a:avLst>
              <a:gd name="adj" fmla="val 1090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841248" y="2002536"/>
            <a:ext cx="566928" cy="566928"/>
          </a:xfrm>
          <a:prstGeom prst="roundRect">
            <a:avLst>
              <a:gd name="adj" fmla="val 50000"/>
            </a:avLst>
          </a:prstGeom>
          <a:solidFill>
            <a:srgbClr val="0E7C86"/>
          </a:solidFill>
          <a:ln/>
        </p:spPr>
      </p:sp>
      <p:pic>
        <p:nvPicPr>
          <p:cNvPr id="10" name="Image 0" descr="preencoded.png"/>
          <p:cNvPicPr>
            <a:picLocks noChangeAspect="1"/>
          </p:cNvPicPr>
          <p:nvPr/>
        </p:nvPicPr>
        <p:blipFill>
          <a:blip r:embed="rId3"/>
          <a:stretch>
            <a:fillRect/>
          </a:stretch>
        </p:blipFill>
        <p:spPr>
          <a:xfrm>
            <a:off x="977311" y="2138599"/>
            <a:ext cx="294803" cy="294803"/>
          </a:xfrm>
          <a:prstGeom prst="rect">
            <a:avLst/>
          </a:prstGeom>
        </p:spPr>
      </p:pic>
      <p:sp>
        <p:nvSpPr>
          <p:cNvPr id="11" name="Text 8"/>
          <p:cNvSpPr/>
          <p:nvPr/>
        </p:nvSpPr>
        <p:spPr>
          <a:xfrm>
            <a:off x="1664208" y="1920240"/>
            <a:ext cx="3291840" cy="731520"/>
          </a:xfrm>
          <a:prstGeom prst="rect">
            <a:avLst/>
          </a:prstGeom>
          <a:noFill/>
          <a:ln/>
        </p:spPr>
        <p:txBody>
          <a:bodyPr wrap="square" lIns="0" tIns="0" rIns="0" bIns="0" rtlCol="0" anchor="ctr"/>
          <a:lstStyle/>
          <a:p>
            <a:pPr marL="0" indent="0">
              <a:buNone/>
            </a:pPr>
            <a:r>
              <a:rPr lang="en-US" sz="1600" b="1" dirty="0">
                <a:solidFill>
                  <a:srgbClr val="0E2A47"/>
                </a:solidFill>
                <a:latin typeface="Cambria" pitchFamily="34" charset="0"/>
                <a:ea typeface="Cambria" pitchFamily="34" charset="-122"/>
                <a:cs typeface="Cambria" pitchFamily="34" charset="-120"/>
              </a:rPr>
              <a:t>Backend (.NET 8)</a:t>
            </a:r>
            <a:endParaRPr lang="en-US" sz="1600" dirty="0"/>
          </a:p>
        </p:txBody>
      </p:sp>
      <p:sp>
        <p:nvSpPr>
          <p:cNvPr id="12" name="Text 9"/>
          <p:cNvSpPr/>
          <p:nvPr/>
        </p:nvSpPr>
        <p:spPr>
          <a:xfrm>
            <a:off x="5047488" y="1920240"/>
            <a:ext cx="6309360" cy="731520"/>
          </a:xfrm>
          <a:prstGeom prst="rect">
            <a:avLst/>
          </a:prstGeom>
          <a:noFill/>
          <a:ln/>
        </p:spPr>
        <p:txBody>
          <a:bodyPr wrap="square" lIns="0" tIns="0" rIns="0" bIns="0" rtlCol="0" anchor="ctr"/>
          <a:lstStyle/>
          <a:p>
            <a:pPr marL="0" indent="0">
              <a:lnSpc>
                <a:spcPct val="103000"/>
              </a:lnSpc>
              <a:buNone/>
            </a:pPr>
            <a:r>
              <a:rPr lang="en-US" sz="1250" dirty="0">
                <a:solidFill>
                  <a:srgbClr val="22303C"/>
                </a:solidFill>
                <a:latin typeface="Calibri" pitchFamily="34" charset="0"/>
                <a:ea typeface="Calibri" pitchFamily="34" charset="-122"/>
                <a:cs typeface="Calibri" pitchFamily="34" charset="-120"/>
              </a:rPr>
              <a:t>Docker multi-stage build (dotnet/aspnet:8.0) · Fly.io (buộc HTTPS, tự start/stop) · cổng 8080 · Swagger</a:t>
            </a:r>
            <a:endParaRPr lang="en-US" sz="1250" dirty="0"/>
          </a:p>
        </p:txBody>
      </p:sp>
      <p:sp>
        <p:nvSpPr>
          <p:cNvPr id="13" name="Shape 10"/>
          <p:cNvSpPr/>
          <p:nvPr/>
        </p:nvSpPr>
        <p:spPr>
          <a:xfrm>
            <a:off x="566928" y="2971800"/>
            <a:ext cx="11064240" cy="1005840"/>
          </a:xfrm>
          <a:prstGeom prst="roundRect">
            <a:avLst>
              <a:gd name="adj" fmla="val 1090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4" name="Shape 11"/>
          <p:cNvSpPr/>
          <p:nvPr/>
        </p:nvSpPr>
        <p:spPr>
          <a:xfrm>
            <a:off x="841248" y="3191256"/>
            <a:ext cx="566928" cy="566928"/>
          </a:xfrm>
          <a:prstGeom prst="roundRect">
            <a:avLst>
              <a:gd name="adj" fmla="val 50000"/>
            </a:avLst>
          </a:prstGeom>
          <a:solidFill>
            <a:srgbClr val="23B5A6"/>
          </a:solidFill>
          <a:ln/>
        </p:spPr>
      </p:sp>
      <p:pic>
        <p:nvPicPr>
          <p:cNvPr id="15" name="Image 1" descr="preencoded.png"/>
          <p:cNvPicPr>
            <a:picLocks noChangeAspect="1"/>
          </p:cNvPicPr>
          <p:nvPr/>
        </p:nvPicPr>
        <p:blipFill>
          <a:blip r:embed="rId4"/>
          <a:stretch>
            <a:fillRect/>
          </a:stretch>
        </p:blipFill>
        <p:spPr>
          <a:xfrm>
            <a:off x="977311" y="3327319"/>
            <a:ext cx="294803" cy="294803"/>
          </a:xfrm>
          <a:prstGeom prst="rect">
            <a:avLst/>
          </a:prstGeom>
        </p:spPr>
      </p:pic>
      <p:sp>
        <p:nvSpPr>
          <p:cNvPr id="16" name="Text 12"/>
          <p:cNvSpPr/>
          <p:nvPr/>
        </p:nvSpPr>
        <p:spPr>
          <a:xfrm>
            <a:off x="1664208" y="3108960"/>
            <a:ext cx="3291840" cy="731520"/>
          </a:xfrm>
          <a:prstGeom prst="rect">
            <a:avLst/>
          </a:prstGeom>
          <a:noFill/>
          <a:ln/>
        </p:spPr>
        <p:txBody>
          <a:bodyPr wrap="square" lIns="0" tIns="0" rIns="0" bIns="0" rtlCol="0" anchor="ctr"/>
          <a:lstStyle/>
          <a:p>
            <a:pPr marL="0" indent="0">
              <a:buNone/>
            </a:pPr>
            <a:r>
              <a:rPr lang="en-US" sz="1600" b="1" dirty="0">
                <a:solidFill>
                  <a:srgbClr val="0E2A47"/>
                </a:solidFill>
                <a:latin typeface="Cambria" pitchFamily="34" charset="0"/>
                <a:ea typeface="Cambria" pitchFamily="34" charset="-122"/>
                <a:cs typeface="Cambria" pitchFamily="34" charset="-120"/>
              </a:rPr>
              <a:t>Frontend (Next.js 16)</a:t>
            </a:r>
            <a:endParaRPr lang="en-US" sz="1600" dirty="0"/>
          </a:p>
        </p:txBody>
      </p:sp>
      <p:sp>
        <p:nvSpPr>
          <p:cNvPr id="17" name="Text 13"/>
          <p:cNvSpPr/>
          <p:nvPr/>
        </p:nvSpPr>
        <p:spPr>
          <a:xfrm>
            <a:off x="5047488" y="3108960"/>
            <a:ext cx="6309360" cy="731520"/>
          </a:xfrm>
          <a:prstGeom prst="rect">
            <a:avLst/>
          </a:prstGeom>
          <a:noFill/>
          <a:ln/>
        </p:spPr>
        <p:txBody>
          <a:bodyPr wrap="square" lIns="0" tIns="0" rIns="0" bIns="0" rtlCol="0" anchor="ctr"/>
          <a:lstStyle/>
          <a:p>
            <a:pPr marL="0" indent="0">
              <a:lnSpc>
                <a:spcPct val="103000"/>
              </a:lnSpc>
              <a:buNone/>
            </a:pPr>
            <a:r>
              <a:rPr lang="en-US" sz="1250" dirty="0">
                <a:solidFill>
                  <a:srgbClr val="22303C"/>
                </a:solidFill>
                <a:latin typeface="Calibri" pitchFamily="34" charset="0"/>
                <a:ea typeface="Calibri" pitchFamily="34" charset="-122"/>
                <a:cs typeface="Calibri" pitchFamily="34" charset="-120"/>
              </a:rPr>
              <a:t>npm build / start · cấu hình backend qua biến môi trường NEXT_PUBLIC_API_URL</a:t>
            </a:r>
            <a:endParaRPr lang="en-US" sz="1250" dirty="0"/>
          </a:p>
        </p:txBody>
      </p:sp>
      <p:sp>
        <p:nvSpPr>
          <p:cNvPr id="18" name="Shape 14"/>
          <p:cNvSpPr/>
          <p:nvPr/>
        </p:nvSpPr>
        <p:spPr>
          <a:xfrm>
            <a:off x="566928" y="4160520"/>
            <a:ext cx="11064240" cy="1005840"/>
          </a:xfrm>
          <a:prstGeom prst="roundRect">
            <a:avLst>
              <a:gd name="adj" fmla="val 1090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9" name="Shape 15"/>
          <p:cNvSpPr/>
          <p:nvPr/>
        </p:nvSpPr>
        <p:spPr>
          <a:xfrm>
            <a:off x="841248" y="4379976"/>
            <a:ext cx="566928" cy="566928"/>
          </a:xfrm>
          <a:prstGeom prst="roundRect">
            <a:avLst>
              <a:gd name="adj" fmla="val 50000"/>
            </a:avLst>
          </a:prstGeom>
          <a:solidFill>
            <a:srgbClr val="1E3A57"/>
          </a:solidFill>
          <a:ln/>
        </p:spPr>
      </p:sp>
      <p:pic>
        <p:nvPicPr>
          <p:cNvPr id="20" name="Image 2" descr="preencoded.png"/>
          <p:cNvPicPr>
            <a:picLocks noChangeAspect="1"/>
          </p:cNvPicPr>
          <p:nvPr/>
        </p:nvPicPr>
        <p:blipFill>
          <a:blip r:embed="rId5"/>
          <a:stretch>
            <a:fillRect/>
          </a:stretch>
        </p:blipFill>
        <p:spPr>
          <a:xfrm>
            <a:off x="977311" y="4516039"/>
            <a:ext cx="294803" cy="294803"/>
          </a:xfrm>
          <a:prstGeom prst="rect">
            <a:avLst/>
          </a:prstGeom>
        </p:spPr>
      </p:pic>
      <p:sp>
        <p:nvSpPr>
          <p:cNvPr id="21" name="Text 16"/>
          <p:cNvSpPr/>
          <p:nvPr/>
        </p:nvSpPr>
        <p:spPr>
          <a:xfrm>
            <a:off x="1664208" y="4297680"/>
            <a:ext cx="3291840" cy="731520"/>
          </a:xfrm>
          <a:prstGeom prst="rect">
            <a:avLst/>
          </a:prstGeom>
          <a:noFill/>
          <a:ln/>
        </p:spPr>
        <p:txBody>
          <a:bodyPr wrap="square" lIns="0" tIns="0" rIns="0" bIns="0" rtlCol="0" anchor="ctr"/>
          <a:lstStyle/>
          <a:p>
            <a:pPr marL="0" indent="0">
              <a:buNone/>
            </a:pPr>
            <a:r>
              <a:rPr lang="en-US" sz="1600" b="1" dirty="0">
                <a:solidFill>
                  <a:srgbClr val="0E2A47"/>
                </a:solidFill>
                <a:latin typeface="Cambria" pitchFamily="34" charset="0"/>
                <a:ea typeface="Cambria" pitchFamily="34" charset="-122"/>
                <a:cs typeface="Cambria" pitchFamily="34" charset="-120"/>
              </a:rPr>
              <a:t>CSDL PostgreSQL</a:t>
            </a:r>
            <a:endParaRPr lang="en-US" sz="1600" dirty="0"/>
          </a:p>
        </p:txBody>
      </p:sp>
      <p:sp>
        <p:nvSpPr>
          <p:cNvPr id="22" name="Text 17"/>
          <p:cNvSpPr/>
          <p:nvPr/>
        </p:nvSpPr>
        <p:spPr>
          <a:xfrm>
            <a:off x="5047488" y="4297680"/>
            <a:ext cx="6309360" cy="731520"/>
          </a:xfrm>
          <a:prstGeom prst="rect">
            <a:avLst/>
          </a:prstGeom>
          <a:noFill/>
          <a:ln/>
        </p:spPr>
        <p:txBody>
          <a:bodyPr wrap="square" lIns="0" tIns="0" rIns="0" bIns="0" rtlCol="0" anchor="ctr"/>
          <a:lstStyle/>
          <a:p>
            <a:pPr marL="0" indent="0">
              <a:lnSpc>
                <a:spcPct val="103000"/>
              </a:lnSpc>
              <a:buNone/>
            </a:pPr>
            <a:r>
              <a:rPr lang="en-US" sz="1250" dirty="0">
                <a:solidFill>
                  <a:srgbClr val="22303C"/>
                </a:solidFill>
                <a:latin typeface="Calibri" pitchFamily="34" charset="0"/>
                <a:ea typeface="Calibri" pitchFamily="34" charset="-122"/>
                <a:cs typeface="Calibri" pitchFamily="34" charset="-120"/>
              </a:rPr>
              <a:t>EF Core migrations đồng bộ 3 schema auth / base / asset</a:t>
            </a:r>
            <a:endParaRPr lang="en-US" sz="1250" dirty="0"/>
          </a:p>
        </p:txBody>
      </p:sp>
      <p:sp>
        <p:nvSpPr>
          <p:cNvPr id="23" name="Shape 18"/>
          <p:cNvSpPr/>
          <p:nvPr/>
        </p:nvSpPr>
        <p:spPr>
          <a:xfrm>
            <a:off x="566928" y="5349240"/>
            <a:ext cx="11064240" cy="1005840"/>
          </a:xfrm>
          <a:prstGeom prst="roundRect">
            <a:avLst>
              <a:gd name="adj" fmla="val 1090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4" name="Shape 19"/>
          <p:cNvSpPr/>
          <p:nvPr/>
        </p:nvSpPr>
        <p:spPr>
          <a:xfrm>
            <a:off x="841248" y="5568696"/>
            <a:ext cx="566928" cy="566928"/>
          </a:xfrm>
          <a:prstGeom prst="roundRect">
            <a:avLst>
              <a:gd name="adj" fmla="val 50000"/>
            </a:avLst>
          </a:prstGeom>
          <a:solidFill>
            <a:srgbClr val="EFA13C"/>
          </a:solidFill>
          <a:ln/>
        </p:spPr>
      </p:sp>
      <p:pic>
        <p:nvPicPr>
          <p:cNvPr id="25" name="Image 3" descr="preencoded.png"/>
          <p:cNvPicPr>
            <a:picLocks noChangeAspect="1"/>
          </p:cNvPicPr>
          <p:nvPr/>
        </p:nvPicPr>
        <p:blipFill>
          <a:blip r:embed="rId6"/>
          <a:stretch>
            <a:fillRect/>
          </a:stretch>
        </p:blipFill>
        <p:spPr>
          <a:xfrm>
            <a:off x="977311" y="5704759"/>
            <a:ext cx="294803" cy="294803"/>
          </a:xfrm>
          <a:prstGeom prst="rect">
            <a:avLst/>
          </a:prstGeom>
        </p:spPr>
      </p:pic>
      <p:sp>
        <p:nvSpPr>
          <p:cNvPr id="26" name="Text 20"/>
          <p:cNvSpPr/>
          <p:nvPr/>
        </p:nvSpPr>
        <p:spPr>
          <a:xfrm>
            <a:off x="1664208" y="5486400"/>
            <a:ext cx="3291840" cy="731520"/>
          </a:xfrm>
          <a:prstGeom prst="rect">
            <a:avLst/>
          </a:prstGeom>
          <a:noFill/>
          <a:ln/>
        </p:spPr>
        <p:txBody>
          <a:bodyPr wrap="square" lIns="0" tIns="0" rIns="0" bIns="0" rtlCol="0" anchor="ctr"/>
          <a:lstStyle/>
          <a:p>
            <a:pPr marL="0" indent="0">
              <a:buNone/>
            </a:pPr>
            <a:r>
              <a:rPr lang="en-US" sz="1600" b="1" dirty="0">
                <a:solidFill>
                  <a:srgbClr val="0E2A47"/>
                </a:solidFill>
                <a:latin typeface="Cambria" pitchFamily="34" charset="0"/>
                <a:ea typeface="Cambria" pitchFamily="34" charset="-122"/>
                <a:cs typeface="Cambria" pitchFamily="34" charset="-120"/>
              </a:rPr>
              <a:t>Dịch vụ ngoài</a:t>
            </a:r>
            <a:endParaRPr lang="en-US" sz="1600" dirty="0"/>
          </a:p>
        </p:txBody>
      </p:sp>
      <p:sp>
        <p:nvSpPr>
          <p:cNvPr id="27" name="Text 21"/>
          <p:cNvSpPr/>
          <p:nvPr/>
        </p:nvSpPr>
        <p:spPr>
          <a:xfrm>
            <a:off x="5047488" y="5486400"/>
            <a:ext cx="6309360" cy="731520"/>
          </a:xfrm>
          <a:prstGeom prst="rect">
            <a:avLst/>
          </a:prstGeom>
          <a:noFill/>
          <a:ln/>
        </p:spPr>
        <p:txBody>
          <a:bodyPr wrap="square" lIns="0" tIns="0" rIns="0" bIns="0" rtlCol="0" anchor="ctr"/>
          <a:lstStyle/>
          <a:p>
            <a:pPr marL="0" indent="0">
              <a:lnSpc>
                <a:spcPct val="103000"/>
              </a:lnSpc>
              <a:buNone/>
            </a:pPr>
            <a:r>
              <a:rPr lang="en-US" sz="1250" dirty="0">
                <a:solidFill>
                  <a:srgbClr val="22303C"/>
                </a:solidFill>
                <a:latin typeface="Calibri" pitchFamily="34" charset="0"/>
                <a:ea typeface="Calibri" pitchFamily="34" charset="-122"/>
                <a:cs typeface="Calibri" pitchFamily="34" charset="-120"/>
              </a:rPr>
              <a:t>Redis · Cloudinary · Email — kết nối qua cấu hình</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05 · KIỂM THỬ</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Kiểm thử chức năng theo ca — kiểm thử chéo 3 vòng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46</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37360"/>
            <a:ext cx="1005840" cy="457200"/>
          </a:xfrm>
          <a:prstGeom prst="rect">
            <a:avLst/>
          </a:prstGeom>
          <a:solidFill>
            <a:srgbClr val="0E2A47"/>
          </a:solidFill>
          <a:ln w="15240">
            <a:solidFill>
              <a:srgbClr val="FFFFFF"/>
            </a:solidFill>
            <a:prstDash val="solid"/>
          </a:ln>
        </p:spPr>
      </p:sp>
      <p:sp>
        <p:nvSpPr>
          <p:cNvPr id="9" name="Text 7"/>
          <p:cNvSpPr/>
          <p:nvPr/>
        </p:nvSpPr>
        <p:spPr>
          <a:xfrm>
            <a:off x="676656" y="1737360"/>
            <a:ext cx="822960" cy="457200"/>
          </a:xfrm>
          <a:prstGeom prst="rect">
            <a:avLst/>
          </a:prstGeom>
          <a:noFill/>
          <a:ln/>
        </p:spPr>
        <p:txBody>
          <a:bodyPr wrap="square" lIns="0" tIns="0" rIns="0" bIns="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Mã</a:t>
            </a:r>
            <a:endParaRPr lang="en-US" sz="1250" dirty="0"/>
          </a:p>
        </p:txBody>
      </p:sp>
      <p:sp>
        <p:nvSpPr>
          <p:cNvPr id="10" name="Shape 8"/>
          <p:cNvSpPr/>
          <p:nvPr/>
        </p:nvSpPr>
        <p:spPr>
          <a:xfrm>
            <a:off x="1572768" y="1737360"/>
            <a:ext cx="2834640" cy="457200"/>
          </a:xfrm>
          <a:prstGeom prst="rect">
            <a:avLst/>
          </a:prstGeom>
          <a:solidFill>
            <a:srgbClr val="0E2A47"/>
          </a:solidFill>
          <a:ln w="15240">
            <a:solidFill>
              <a:srgbClr val="FFFFFF"/>
            </a:solidFill>
            <a:prstDash val="solid"/>
          </a:ln>
        </p:spPr>
      </p:sp>
      <p:sp>
        <p:nvSpPr>
          <p:cNvPr id="11" name="Text 9"/>
          <p:cNvSpPr/>
          <p:nvPr/>
        </p:nvSpPr>
        <p:spPr>
          <a:xfrm>
            <a:off x="1682496" y="1737360"/>
            <a:ext cx="2651760" cy="457200"/>
          </a:xfrm>
          <a:prstGeom prst="rect">
            <a:avLst/>
          </a:prstGeom>
          <a:noFill/>
          <a:ln/>
        </p:spPr>
        <p:txBody>
          <a:bodyPr wrap="square" lIns="0" tIns="0" rIns="0" bIns="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Chức năng</a:t>
            </a:r>
            <a:endParaRPr lang="en-US" sz="1250" dirty="0"/>
          </a:p>
        </p:txBody>
      </p:sp>
      <p:sp>
        <p:nvSpPr>
          <p:cNvPr id="12" name="Shape 10"/>
          <p:cNvSpPr/>
          <p:nvPr/>
        </p:nvSpPr>
        <p:spPr>
          <a:xfrm>
            <a:off x="4407408" y="1737360"/>
            <a:ext cx="3291840" cy="457200"/>
          </a:xfrm>
          <a:prstGeom prst="rect">
            <a:avLst/>
          </a:prstGeom>
          <a:solidFill>
            <a:srgbClr val="0E2A47"/>
          </a:solidFill>
          <a:ln w="15240">
            <a:solidFill>
              <a:srgbClr val="FFFFFF"/>
            </a:solidFill>
            <a:prstDash val="solid"/>
          </a:ln>
        </p:spPr>
      </p:sp>
      <p:sp>
        <p:nvSpPr>
          <p:cNvPr id="13" name="Text 11"/>
          <p:cNvSpPr/>
          <p:nvPr/>
        </p:nvSpPr>
        <p:spPr>
          <a:xfrm>
            <a:off x="4517136" y="1737360"/>
            <a:ext cx="3108960" cy="457200"/>
          </a:xfrm>
          <a:prstGeom prst="rect">
            <a:avLst/>
          </a:prstGeom>
          <a:noFill/>
          <a:ln/>
        </p:spPr>
        <p:txBody>
          <a:bodyPr wrap="square" lIns="0" tIns="0" rIns="0" bIns="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Kết quả mong đợi</a:t>
            </a:r>
            <a:endParaRPr lang="en-US" sz="1250" dirty="0"/>
          </a:p>
        </p:txBody>
      </p:sp>
      <p:sp>
        <p:nvSpPr>
          <p:cNvPr id="14" name="Shape 12"/>
          <p:cNvSpPr/>
          <p:nvPr/>
        </p:nvSpPr>
        <p:spPr>
          <a:xfrm>
            <a:off x="7699248" y="1737360"/>
            <a:ext cx="914400" cy="457200"/>
          </a:xfrm>
          <a:prstGeom prst="rect">
            <a:avLst/>
          </a:prstGeom>
          <a:solidFill>
            <a:srgbClr val="0E2A47"/>
          </a:solidFill>
          <a:ln w="15240">
            <a:solidFill>
              <a:srgbClr val="FFFFFF"/>
            </a:solidFill>
            <a:prstDash val="solid"/>
          </a:ln>
        </p:spPr>
      </p:sp>
      <p:sp>
        <p:nvSpPr>
          <p:cNvPr id="15" name="Text 13"/>
          <p:cNvSpPr/>
          <p:nvPr/>
        </p:nvSpPr>
        <p:spPr>
          <a:xfrm>
            <a:off x="7808976" y="1737360"/>
            <a:ext cx="73152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KQ</a:t>
            </a:r>
            <a:endParaRPr lang="en-US" sz="1250" dirty="0"/>
          </a:p>
        </p:txBody>
      </p:sp>
      <p:sp>
        <p:nvSpPr>
          <p:cNvPr id="16" name="Shape 14"/>
          <p:cNvSpPr/>
          <p:nvPr/>
        </p:nvSpPr>
        <p:spPr>
          <a:xfrm>
            <a:off x="566928" y="2194560"/>
            <a:ext cx="1005840" cy="457200"/>
          </a:xfrm>
          <a:prstGeom prst="rect">
            <a:avLst/>
          </a:prstGeom>
          <a:solidFill>
            <a:srgbClr val="FFFFFF"/>
          </a:solidFill>
          <a:ln w="15240">
            <a:solidFill>
              <a:srgbClr val="FFFFFF"/>
            </a:solidFill>
            <a:prstDash val="solid"/>
          </a:ln>
        </p:spPr>
      </p:sp>
      <p:sp>
        <p:nvSpPr>
          <p:cNvPr id="17" name="Text 15"/>
          <p:cNvSpPr/>
          <p:nvPr/>
        </p:nvSpPr>
        <p:spPr>
          <a:xfrm>
            <a:off x="676656" y="2194560"/>
            <a:ext cx="822960" cy="457200"/>
          </a:xfrm>
          <a:prstGeom prst="rect">
            <a:avLst/>
          </a:prstGeom>
          <a:noFill/>
          <a:ln/>
        </p:spPr>
        <p:txBody>
          <a:bodyPr wrap="square" lIns="0" tIns="0" rIns="0" bIns="0" rtlCol="0" anchor="ctr"/>
          <a:lstStyle/>
          <a:p>
            <a:pPr marL="0" indent="0" algn="l">
              <a:buNone/>
            </a:pPr>
            <a:r>
              <a:rPr lang="en-US" sz="1250" b="1" dirty="0">
                <a:solidFill>
                  <a:srgbClr val="0E2A47"/>
                </a:solidFill>
                <a:latin typeface="Calibri" pitchFamily="34" charset="0"/>
                <a:ea typeface="Calibri" pitchFamily="34" charset="-122"/>
                <a:cs typeface="Calibri" pitchFamily="34" charset="-120"/>
              </a:rPr>
              <a:t>TC01</a:t>
            </a:r>
            <a:endParaRPr lang="en-US" sz="1250" dirty="0"/>
          </a:p>
        </p:txBody>
      </p:sp>
      <p:sp>
        <p:nvSpPr>
          <p:cNvPr id="18" name="Shape 16"/>
          <p:cNvSpPr/>
          <p:nvPr/>
        </p:nvSpPr>
        <p:spPr>
          <a:xfrm>
            <a:off x="1572768" y="2194560"/>
            <a:ext cx="2834640" cy="457200"/>
          </a:xfrm>
          <a:prstGeom prst="rect">
            <a:avLst/>
          </a:prstGeom>
          <a:solidFill>
            <a:srgbClr val="FFFFFF"/>
          </a:solidFill>
          <a:ln w="15240">
            <a:solidFill>
              <a:srgbClr val="FFFFFF"/>
            </a:solidFill>
            <a:prstDash val="solid"/>
          </a:ln>
        </p:spPr>
      </p:sp>
      <p:sp>
        <p:nvSpPr>
          <p:cNvPr id="19" name="Text 17"/>
          <p:cNvSpPr/>
          <p:nvPr/>
        </p:nvSpPr>
        <p:spPr>
          <a:xfrm>
            <a:off x="1682496" y="2194560"/>
            <a:ext cx="26517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Đăng nhập + MFA</a:t>
            </a:r>
            <a:endParaRPr lang="en-US" sz="1250" dirty="0"/>
          </a:p>
        </p:txBody>
      </p:sp>
      <p:sp>
        <p:nvSpPr>
          <p:cNvPr id="20" name="Shape 18"/>
          <p:cNvSpPr/>
          <p:nvPr/>
        </p:nvSpPr>
        <p:spPr>
          <a:xfrm>
            <a:off x="4407408" y="2194560"/>
            <a:ext cx="3291840" cy="457200"/>
          </a:xfrm>
          <a:prstGeom prst="rect">
            <a:avLst/>
          </a:prstGeom>
          <a:solidFill>
            <a:srgbClr val="FFFFFF"/>
          </a:solidFill>
          <a:ln w="15240">
            <a:solidFill>
              <a:srgbClr val="FFFFFF"/>
            </a:solidFill>
            <a:prstDash val="solid"/>
          </a:ln>
        </p:spPr>
      </p:sp>
      <p:sp>
        <p:nvSpPr>
          <p:cNvPr id="21" name="Text 19"/>
          <p:cNvSpPr/>
          <p:nvPr/>
        </p:nvSpPr>
        <p:spPr>
          <a:xfrm>
            <a:off x="4517136" y="2194560"/>
            <a:ext cx="31089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Nhận JWT, vào dashboard</a:t>
            </a:r>
            <a:endParaRPr lang="en-US" sz="1250" dirty="0"/>
          </a:p>
        </p:txBody>
      </p:sp>
      <p:sp>
        <p:nvSpPr>
          <p:cNvPr id="22" name="Shape 20"/>
          <p:cNvSpPr/>
          <p:nvPr/>
        </p:nvSpPr>
        <p:spPr>
          <a:xfrm>
            <a:off x="7699248" y="2194560"/>
            <a:ext cx="914400" cy="457200"/>
          </a:xfrm>
          <a:prstGeom prst="rect">
            <a:avLst/>
          </a:prstGeom>
          <a:solidFill>
            <a:srgbClr val="E4EEF3"/>
          </a:solidFill>
          <a:ln w="15240">
            <a:solidFill>
              <a:srgbClr val="FFFFFF"/>
            </a:solidFill>
            <a:prstDash val="solid"/>
          </a:ln>
        </p:spPr>
      </p:sp>
      <p:sp>
        <p:nvSpPr>
          <p:cNvPr id="23" name="Text 21"/>
          <p:cNvSpPr/>
          <p:nvPr/>
        </p:nvSpPr>
        <p:spPr>
          <a:xfrm>
            <a:off x="7808976" y="2194560"/>
            <a:ext cx="731520" cy="457200"/>
          </a:xfrm>
          <a:prstGeom prst="rect">
            <a:avLst/>
          </a:prstGeom>
          <a:noFill/>
          <a:ln/>
        </p:spPr>
        <p:txBody>
          <a:bodyPr wrap="square" lIns="0" tIns="0" rIns="0" bIns="0" rtlCol="0" anchor="ctr"/>
          <a:lstStyle/>
          <a:p>
            <a:pPr marL="0" indent="0" algn="ctr">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24" name="Shape 22"/>
          <p:cNvSpPr/>
          <p:nvPr/>
        </p:nvSpPr>
        <p:spPr>
          <a:xfrm>
            <a:off x="566928" y="2651760"/>
            <a:ext cx="1005840" cy="457200"/>
          </a:xfrm>
          <a:prstGeom prst="rect">
            <a:avLst/>
          </a:prstGeom>
          <a:solidFill>
            <a:srgbClr val="F1F5F8"/>
          </a:solidFill>
          <a:ln w="15240">
            <a:solidFill>
              <a:srgbClr val="FFFFFF"/>
            </a:solidFill>
            <a:prstDash val="solid"/>
          </a:ln>
        </p:spPr>
      </p:sp>
      <p:sp>
        <p:nvSpPr>
          <p:cNvPr id="25" name="Text 23"/>
          <p:cNvSpPr/>
          <p:nvPr/>
        </p:nvSpPr>
        <p:spPr>
          <a:xfrm>
            <a:off x="676656" y="2651760"/>
            <a:ext cx="822960" cy="457200"/>
          </a:xfrm>
          <a:prstGeom prst="rect">
            <a:avLst/>
          </a:prstGeom>
          <a:noFill/>
          <a:ln/>
        </p:spPr>
        <p:txBody>
          <a:bodyPr wrap="square" lIns="0" tIns="0" rIns="0" bIns="0" rtlCol="0" anchor="ctr"/>
          <a:lstStyle/>
          <a:p>
            <a:pPr marL="0" indent="0" algn="l">
              <a:buNone/>
            </a:pPr>
            <a:r>
              <a:rPr lang="en-US" sz="1250" b="1" dirty="0">
                <a:solidFill>
                  <a:srgbClr val="0E2A47"/>
                </a:solidFill>
                <a:latin typeface="Calibri" pitchFamily="34" charset="0"/>
                <a:ea typeface="Calibri" pitchFamily="34" charset="-122"/>
                <a:cs typeface="Calibri" pitchFamily="34" charset="-120"/>
              </a:rPr>
              <a:t>TC02</a:t>
            </a:r>
            <a:endParaRPr lang="en-US" sz="1250" dirty="0"/>
          </a:p>
        </p:txBody>
      </p:sp>
      <p:sp>
        <p:nvSpPr>
          <p:cNvPr id="26" name="Shape 24"/>
          <p:cNvSpPr/>
          <p:nvPr/>
        </p:nvSpPr>
        <p:spPr>
          <a:xfrm>
            <a:off x="1572768" y="2651760"/>
            <a:ext cx="2834640" cy="457200"/>
          </a:xfrm>
          <a:prstGeom prst="rect">
            <a:avLst/>
          </a:prstGeom>
          <a:solidFill>
            <a:srgbClr val="F1F5F8"/>
          </a:solidFill>
          <a:ln w="15240">
            <a:solidFill>
              <a:srgbClr val="FFFFFF"/>
            </a:solidFill>
            <a:prstDash val="solid"/>
          </a:ln>
        </p:spPr>
      </p:sp>
      <p:sp>
        <p:nvSpPr>
          <p:cNvPr id="27" name="Text 25"/>
          <p:cNvSpPr/>
          <p:nvPr/>
        </p:nvSpPr>
        <p:spPr>
          <a:xfrm>
            <a:off x="1682496" y="2651760"/>
            <a:ext cx="26517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Ghi tăng tài sản</a:t>
            </a:r>
            <a:endParaRPr lang="en-US" sz="1250" dirty="0"/>
          </a:p>
        </p:txBody>
      </p:sp>
      <p:sp>
        <p:nvSpPr>
          <p:cNvPr id="28" name="Shape 26"/>
          <p:cNvSpPr/>
          <p:nvPr/>
        </p:nvSpPr>
        <p:spPr>
          <a:xfrm>
            <a:off x="4407408" y="2651760"/>
            <a:ext cx="3291840" cy="457200"/>
          </a:xfrm>
          <a:prstGeom prst="rect">
            <a:avLst/>
          </a:prstGeom>
          <a:solidFill>
            <a:srgbClr val="F1F5F8"/>
          </a:solidFill>
          <a:ln w="15240">
            <a:solidFill>
              <a:srgbClr val="FFFFFF"/>
            </a:solidFill>
            <a:prstDash val="solid"/>
          </a:ln>
        </p:spPr>
      </p:sp>
      <p:sp>
        <p:nvSpPr>
          <p:cNvPr id="29" name="Text 27"/>
          <p:cNvSpPr/>
          <p:nvPr/>
        </p:nvSpPr>
        <p:spPr>
          <a:xfrm>
            <a:off x="4517136" y="2651760"/>
            <a:ext cx="31089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Tạo tài sản + QR + chứng từ</a:t>
            </a:r>
            <a:endParaRPr lang="en-US" sz="1250" dirty="0"/>
          </a:p>
        </p:txBody>
      </p:sp>
      <p:sp>
        <p:nvSpPr>
          <p:cNvPr id="30" name="Shape 28"/>
          <p:cNvSpPr/>
          <p:nvPr/>
        </p:nvSpPr>
        <p:spPr>
          <a:xfrm>
            <a:off x="7699248" y="2651760"/>
            <a:ext cx="914400" cy="457200"/>
          </a:xfrm>
          <a:prstGeom prst="rect">
            <a:avLst/>
          </a:prstGeom>
          <a:solidFill>
            <a:srgbClr val="E4EEF3"/>
          </a:solidFill>
          <a:ln w="15240">
            <a:solidFill>
              <a:srgbClr val="FFFFFF"/>
            </a:solidFill>
            <a:prstDash val="solid"/>
          </a:ln>
        </p:spPr>
      </p:sp>
      <p:sp>
        <p:nvSpPr>
          <p:cNvPr id="31" name="Text 29"/>
          <p:cNvSpPr/>
          <p:nvPr/>
        </p:nvSpPr>
        <p:spPr>
          <a:xfrm>
            <a:off x="7808976" y="2651760"/>
            <a:ext cx="731520" cy="457200"/>
          </a:xfrm>
          <a:prstGeom prst="rect">
            <a:avLst/>
          </a:prstGeom>
          <a:noFill/>
          <a:ln/>
        </p:spPr>
        <p:txBody>
          <a:bodyPr wrap="square" lIns="0" tIns="0" rIns="0" bIns="0" rtlCol="0" anchor="ctr"/>
          <a:lstStyle/>
          <a:p>
            <a:pPr marL="0" indent="0" algn="ctr">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32" name="Shape 30"/>
          <p:cNvSpPr/>
          <p:nvPr/>
        </p:nvSpPr>
        <p:spPr>
          <a:xfrm>
            <a:off x="566928" y="3108960"/>
            <a:ext cx="1005840" cy="457200"/>
          </a:xfrm>
          <a:prstGeom prst="rect">
            <a:avLst/>
          </a:prstGeom>
          <a:solidFill>
            <a:srgbClr val="FFFFFF"/>
          </a:solidFill>
          <a:ln w="15240">
            <a:solidFill>
              <a:srgbClr val="FFFFFF"/>
            </a:solidFill>
            <a:prstDash val="solid"/>
          </a:ln>
        </p:spPr>
      </p:sp>
      <p:sp>
        <p:nvSpPr>
          <p:cNvPr id="33" name="Text 31"/>
          <p:cNvSpPr/>
          <p:nvPr/>
        </p:nvSpPr>
        <p:spPr>
          <a:xfrm>
            <a:off x="676656" y="3108960"/>
            <a:ext cx="822960" cy="457200"/>
          </a:xfrm>
          <a:prstGeom prst="rect">
            <a:avLst/>
          </a:prstGeom>
          <a:noFill/>
          <a:ln/>
        </p:spPr>
        <p:txBody>
          <a:bodyPr wrap="square" lIns="0" tIns="0" rIns="0" bIns="0" rtlCol="0" anchor="ctr"/>
          <a:lstStyle/>
          <a:p>
            <a:pPr marL="0" indent="0" algn="l">
              <a:buNone/>
            </a:pPr>
            <a:r>
              <a:rPr lang="en-US" sz="1250" b="1" dirty="0">
                <a:solidFill>
                  <a:srgbClr val="0E2A47"/>
                </a:solidFill>
                <a:latin typeface="Calibri" pitchFamily="34" charset="0"/>
                <a:ea typeface="Calibri" pitchFamily="34" charset="-122"/>
                <a:cs typeface="Calibri" pitchFamily="34" charset="-120"/>
              </a:rPr>
              <a:t>TC03</a:t>
            </a:r>
            <a:endParaRPr lang="en-US" sz="1250" dirty="0"/>
          </a:p>
        </p:txBody>
      </p:sp>
      <p:sp>
        <p:nvSpPr>
          <p:cNvPr id="34" name="Shape 32"/>
          <p:cNvSpPr/>
          <p:nvPr/>
        </p:nvSpPr>
        <p:spPr>
          <a:xfrm>
            <a:off x="1572768" y="3108960"/>
            <a:ext cx="2834640" cy="457200"/>
          </a:xfrm>
          <a:prstGeom prst="rect">
            <a:avLst/>
          </a:prstGeom>
          <a:solidFill>
            <a:srgbClr val="FFFFFF"/>
          </a:solidFill>
          <a:ln w="15240">
            <a:solidFill>
              <a:srgbClr val="FFFFFF"/>
            </a:solidFill>
            <a:prstDash val="solid"/>
          </a:ln>
        </p:spPr>
      </p:sp>
      <p:sp>
        <p:nvSpPr>
          <p:cNvPr id="35" name="Text 33"/>
          <p:cNvSpPr/>
          <p:nvPr/>
        </p:nvSpPr>
        <p:spPr>
          <a:xfrm>
            <a:off x="1682496" y="3108960"/>
            <a:ext cx="26517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Tính khấu hao kỳ</a:t>
            </a:r>
            <a:endParaRPr lang="en-US" sz="1250" dirty="0"/>
          </a:p>
        </p:txBody>
      </p:sp>
      <p:sp>
        <p:nvSpPr>
          <p:cNvPr id="36" name="Shape 34"/>
          <p:cNvSpPr/>
          <p:nvPr/>
        </p:nvSpPr>
        <p:spPr>
          <a:xfrm>
            <a:off x="4407408" y="3108960"/>
            <a:ext cx="3291840" cy="457200"/>
          </a:xfrm>
          <a:prstGeom prst="rect">
            <a:avLst/>
          </a:prstGeom>
          <a:solidFill>
            <a:srgbClr val="FFFFFF"/>
          </a:solidFill>
          <a:ln w="15240">
            <a:solidFill>
              <a:srgbClr val="FFFFFF"/>
            </a:solidFill>
            <a:prstDash val="solid"/>
          </a:ln>
        </p:spPr>
      </p:sp>
      <p:sp>
        <p:nvSpPr>
          <p:cNvPr id="37" name="Text 35"/>
          <p:cNvSpPr/>
          <p:nvPr/>
        </p:nvSpPr>
        <p:spPr>
          <a:xfrm>
            <a:off x="4517136" y="3108960"/>
            <a:ext cx="31089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Ghi lịch sử khấu hao</a:t>
            </a:r>
            <a:endParaRPr lang="en-US" sz="1250" dirty="0"/>
          </a:p>
        </p:txBody>
      </p:sp>
      <p:sp>
        <p:nvSpPr>
          <p:cNvPr id="38" name="Shape 36"/>
          <p:cNvSpPr/>
          <p:nvPr/>
        </p:nvSpPr>
        <p:spPr>
          <a:xfrm>
            <a:off x="7699248" y="3108960"/>
            <a:ext cx="914400" cy="457200"/>
          </a:xfrm>
          <a:prstGeom prst="rect">
            <a:avLst/>
          </a:prstGeom>
          <a:solidFill>
            <a:srgbClr val="E4EEF3"/>
          </a:solidFill>
          <a:ln w="15240">
            <a:solidFill>
              <a:srgbClr val="FFFFFF"/>
            </a:solidFill>
            <a:prstDash val="solid"/>
          </a:ln>
        </p:spPr>
      </p:sp>
      <p:sp>
        <p:nvSpPr>
          <p:cNvPr id="39" name="Text 37"/>
          <p:cNvSpPr/>
          <p:nvPr/>
        </p:nvSpPr>
        <p:spPr>
          <a:xfrm>
            <a:off x="7808976" y="3108960"/>
            <a:ext cx="731520" cy="457200"/>
          </a:xfrm>
          <a:prstGeom prst="rect">
            <a:avLst/>
          </a:prstGeom>
          <a:noFill/>
          <a:ln/>
        </p:spPr>
        <p:txBody>
          <a:bodyPr wrap="square" lIns="0" tIns="0" rIns="0" bIns="0" rtlCol="0" anchor="ctr"/>
          <a:lstStyle/>
          <a:p>
            <a:pPr marL="0" indent="0" algn="ctr">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40" name="Shape 38"/>
          <p:cNvSpPr/>
          <p:nvPr/>
        </p:nvSpPr>
        <p:spPr>
          <a:xfrm>
            <a:off x="566928" y="3566160"/>
            <a:ext cx="1005840" cy="457200"/>
          </a:xfrm>
          <a:prstGeom prst="rect">
            <a:avLst/>
          </a:prstGeom>
          <a:solidFill>
            <a:srgbClr val="F1F5F8"/>
          </a:solidFill>
          <a:ln w="15240">
            <a:solidFill>
              <a:srgbClr val="FFFFFF"/>
            </a:solidFill>
            <a:prstDash val="solid"/>
          </a:ln>
        </p:spPr>
      </p:sp>
      <p:sp>
        <p:nvSpPr>
          <p:cNvPr id="41" name="Text 39"/>
          <p:cNvSpPr/>
          <p:nvPr/>
        </p:nvSpPr>
        <p:spPr>
          <a:xfrm>
            <a:off x="676656" y="3566160"/>
            <a:ext cx="822960" cy="457200"/>
          </a:xfrm>
          <a:prstGeom prst="rect">
            <a:avLst/>
          </a:prstGeom>
          <a:noFill/>
          <a:ln/>
        </p:spPr>
        <p:txBody>
          <a:bodyPr wrap="square" lIns="0" tIns="0" rIns="0" bIns="0" rtlCol="0" anchor="ctr"/>
          <a:lstStyle/>
          <a:p>
            <a:pPr marL="0" indent="0" algn="l">
              <a:buNone/>
            </a:pPr>
            <a:r>
              <a:rPr lang="en-US" sz="1250" b="1" dirty="0">
                <a:solidFill>
                  <a:srgbClr val="0E2A47"/>
                </a:solidFill>
                <a:latin typeface="Calibri" pitchFamily="34" charset="0"/>
                <a:ea typeface="Calibri" pitchFamily="34" charset="-122"/>
                <a:cs typeface="Calibri" pitchFamily="34" charset="-120"/>
              </a:rPr>
              <a:t>TC04</a:t>
            </a:r>
            <a:endParaRPr lang="en-US" sz="1250" dirty="0"/>
          </a:p>
        </p:txBody>
      </p:sp>
      <p:sp>
        <p:nvSpPr>
          <p:cNvPr id="42" name="Shape 40"/>
          <p:cNvSpPr/>
          <p:nvPr/>
        </p:nvSpPr>
        <p:spPr>
          <a:xfrm>
            <a:off x="1572768" y="3566160"/>
            <a:ext cx="2834640" cy="457200"/>
          </a:xfrm>
          <a:prstGeom prst="rect">
            <a:avLst/>
          </a:prstGeom>
          <a:solidFill>
            <a:srgbClr val="F1F5F8"/>
          </a:solidFill>
          <a:ln w="15240">
            <a:solidFill>
              <a:srgbClr val="FFFFFF"/>
            </a:solidFill>
            <a:prstDash val="solid"/>
          </a:ln>
        </p:spPr>
      </p:sp>
      <p:sp>
        <p:nvSpPr>
          <p:cNvPr id="43" name="Text 41"/>
          <p:cNvSpPr/>
          <p:nvPr/>
        </p:nvSpPr>
        <p:spPr>
          <a:xfrm>
            <a:off x="1682496" y="3566160"/>
            <a:ext cx="26517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Cảnh báo tồn thấp</a:t>
            </a:r>
            <a:endParaRPr lang="en-US" sz="1250" dirty="0"/>
          </a:p>
        </p:txBody>
      </p:sp>
      <p:sp>
        <p:nvSpPr>
          <p:cNvPr id="44" name="Shape 42"/>
          <p:cNvSpPr/>
          <p:nvPr/>
        </p:nvSpPr>
        <p:spPr>
          <a:xfrm>
            <a:off x="4407408" y="3566160"/>
            <a:ext cx="3291840" cy="457200"/>
          </a:xfrm>
          <a:prstGeom prst="rect">
            <a:avLst/>
          </a:prstGeom>
          <a:solidFill>
            <a:srgbClr val="F1F5F8"/>
          </a:solidFill>
          <a:ln w="15240">
            <a:solidFill>
              <a:srgbClr val="FFFFFF"/>
            </a:solidFill>
            <a:prstDash val="solid"/>
          </a:ln>
        </p:spPr>
      </p:sp>
      <p:sp>
        <p:nvSpPr>
          <p:cNvPr id="45" name="Text 43"/>
          <p:cNvSpPr/>
          <p:nvPr/>
        </p:nvSpPr>
        <p:spPr>
          <a:xfrm>
            <a:off x="4517136" y="3566160"/>
            <a:ext cx="31089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Xuất hiện ở get-low-stock</a:t>
            </a:r>
            <a:endParaRPr lang="en-US" sz="1250" dirty="0"/>
          </a:p>
        </p:txBody>
      </p:sp>
      <p:sp>
        <p:nvSpPr>
          <p:cNvPr id="46" name="Shape 44"/>
          <p:cNvSpPr/>
          <p:nvPr/>
        </p:nvSpPr>
        <p:spPr>
          <a:xfrm>
            <a:off x="7699248" y="3566160"/>
            <a:ext cx="914400" cy="457200"/>
          </a:xfrm>
          <a:prstGeom prst="rect">
            <a:avLst/>
          </a:prstGeom>
          <a:solidFill>
            <a:srgbClr val="E4EEF3"/>
          </a:solidFill>
          <a:ln w="15240">
            <a:solidFill>
              <a:srgbClr val="FFFFFF"/>
            </a:solidFill>
            <a:prstDash val="solid"/>
          </a:ln>
        </p:spPr>
      </p:sp>
      <p:sp>
        <p:nvSpPr>
          <p:cNvPr id="47" name="Text 45"/>
          <p:cNvSpPr/>
          <p:nvPr/>
        </p:nvSpPr>
        <p:spPr>
          <a:xfrm>
            <a:off x="7808976" y="3566160"/>
            <a:ext cx="731520" cy="457200"/>
          </a:xfrm>
          <a:prstGeom prst="rect">
            <a:avLst/>
          </a:prstGeom>
          <a:noFill/>
          <a:ln/>
        </p:spPr>
        <p:txBody>
          <a:bodyPr wrap="square" lIns="0" tIns="0" rIns="0" bIns="0" rtlCol="0" anchor="ctr"/>
          <a:lstStyle/>
          <a:p>
            <a:pPr marL="0" indent="0" algn="ctr">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48" name="Shape 46"/>
          <p:cNvSpPr/>
          <p:nvPr/>
        </p:nvSpPr>
        <p:spPr>
          <a:xfrm>
            <a:off x="566928" y="4023360"/>
            <a:ext cx="1005840" cy="457200"/>
          </a:xfrm>
          <a:prstGeom prst="rect">
            <a:avLst/>
          </a:prstGeom>
          <a:solidFill>
            <a:srgbClr val="FFFFFF"/>
          </a:solidFill>
          <a:ln w="15240">
            <a:solidFill>
              <a:srgbClr val="FFFFFF"/>
            </a:solidFill>
            <a:prstDash val="solid"/>
          </a:ln>
        </p:spPr>
      </p:sp>
      <p:sp>
        <p:nvSpPr>
          <p:cNvPr id="49" name="Text 47"/>
          <p:cNvSpPr/>
          <p:nvPr/>
        </p:nvSpPr>
        <p:spPr>
          <a:xfrm>
            <a:off x="676656" y="4023360"/>
            <a:ext cx="822960" cy="457200"/>
          </a:xfrm>
          <a:prstGeom prst="rect">
            <a:avLst/>
          </a:prstGeom>
          <a:noFill/>
          <a:ln/>
        </p:spPr>
        <p:txBody>
          <a:bodyPr wrap="square" lIns="0" tIns="0" rIns="0" bIns="0" rtlCol="0" anchor="ctr"/>
          <a:lstStyle/>
          <a:p>
            <a:pPr marL="0" indent="0" algn="l">
              <a:buNone/>
            </a:pPr>
            <a:r>
              <a:rPr lang="en-US" sz="1250" b="1" dirty="0">
                <a:solidFill>
                  <a:srgbClr val="0E2A47"/>
                </a:solidFill>
                <a:latin typeface="Calibri" pitchFamily="34" charset="0"/>
                <a:ea typeface="Calibri" pitchFamily="34" charset="-122"/>
                <a:cs typeface="Calibri" pitchFamily="34" charset="-120"/>
              </a:rPr>
              <a:t>TC05</a:t>
            </a:r>
            <a:endParaRPr lang="en-US" sz="1250" dirty="0"/>
          </a:p>
        </p:txBody>
      </p:sp>
      <p:sp>
        <p:nvSpPr>
          <p:cNvPr id="50" name="Shape 48"/>
          <p:cNvSpPr/>
          <p:nvPr/>
        </p:nvSpPr>
        <p:spPr>
          <a:xfrm>
            <a:off x="1572768" y="4023360"/>
            <a:ext cx="2834640" cy="457200"/>
          </a:xfrm>
          <a:prstGeom prst="rect">
            <a:avLst/>
          </a:prstGeom>
          <a:solidFill>
            <a:srgbClr val="FFFFFF"/>
          </a:solidFill>
          <a:ln w="15240">
            <a:solidFill>
              <a:srgbClr val="FFFFFF"/>
            </a:solidFill>
            <a:prstDash val="solid"/>
          </a:ln>
        </p:spPr>
      </p:sp>
      <p:sp>
        <p:nvSpPr>
          <p:cNvPr id="51" name="Text 49"/>
          <p:cNvSpPr/>
          <p:nvPr/>
        </p:nvSpPr>
        <p:spPr>
          <a:xfrm>
            <a:off x="1682496" y="4023360"/>
            <a:ext cx="26517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Duyệt PR → PO</a:t>
            </a:r>
            <a:endParaRPr lang="en-US" sz="1250" dirty="0"/>
          </a:p>
        </p:txBody>
      </p:sp>
      <p:sp>
        <p:nvSpPr>
          <p:cNvPr id="52" name="Shape 50"/>
          <p:cNvSpPr/>
          <p:nvPr/>
        </p:nvSpPr>
        <p:spPr>
          <a:xfrm>
            <a:off x="4407408" y="4023360"/>
            <a:ext cx="3291840" cy="457200"/>
          </a:xfrm>
          <a:prstGeom prst="rect">
            <a:avLst/>
          </a:prstGeom>
          <a:solidFill>
            <a:srgbClr val="FFFFFF"/>
          </a:solidFill>
          <a:ln w="15240">
            <a:solidFill>
              <a:srgbClr val="FFFFFF"/>
            </a:solidFill>
            <a:prstDash val="solid"/>
          </a:ln>
        </p:spPr>
      </p:sp>
      <p:sp>
        <p:nvSpPr>
          <p:cNvPr id="53" name="Text 51"/>
          <p:cNvSpPr/>
          <p:nvPr/>
        </p:nvSpPr>
        <p:spPr>
          <a:xfrm>
            <a:off x="4517136" y="4023360"/>
            <a:ext cx="31089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PR approved, tạo PO</a:t>
            </a:r>
            <a:endParaRPr lang="en-US" sz="1250" dirty="0"/>
          </a:p>
        </p:txBody>
      </p:sp>
      <p:sp>
        <p:nvSpPr>
          <p:cNvPr id="54" name="Shape 52"/>
          <p:cNvSpPr/>
          <p:nvPr/>
        </p:nvSpPr>
        <p:spPr>
          <a:xfrm>
            <a:off x="7699248" y="4023360"/>
            <a:ext cx="914400" cy="457200"/>
          </a:xfrm>
          <a:prstGeom prst="rect">
            <a:avLst/>
          </a:prstGeom>
          <a:solidFill>
            <a:srgbClr val="E4EEF3"/>
          </a:solidFill>
          <a:ln w="15240">
            <a:solidFill>
              <a:srgbClr val="FFFFFF"/>
            </a:solidFill>
            <a:prstDash val="solid"/>
          </a:ln>
        </p:spPr>
      </p:sp>
      <p:sp>
        <p:nvSpPr>
          <p:cNvPr id="55" name="Text 53"/>
          <p:cNvSpPr/>
          <p:nvPr/>
        </p:nvSpPr>
        <p:spPr>
          <a:xfrm>
            <a:off x="7808976" y="4023360"/>
            <a:ext cx="731520" cy="457200"/>
          </a:xfrm>
          <a:prstGeom prst="rect">
            <a:avLst/>
          </a:prstGeom>
          <a:noFill/>
          <a:ln/>
        </p:spPr>
        <p:txBody>
          <a:bodyPr wrap="square" lIns="0" tIns="0" rIns="0" bIns="0" rtlCol="0" anchor="ctr"/>
          <a:lstStyle/>
          <a:p>
            <a:pPr marL="0" indent="0" algn="ctr">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56" name="Shape 54"/>
          <p:cNvSpPr/>
          <p:nvPr/>
        </p:nvSpPr>
        <p:spPr>
          <a:xfrm>
            <a:off x="566928" y="4480560"/>
            <a:ext cx="1005840" cy="457200"/>
          </a:xfrm>
          <a:prstGeom prst="rect">
            <a:avLst/>
          </a:prstGeom>
          <a:solidFill>
            <a:srgbClr val="F1F5F8"/>
          </a:solidFill>
          <a:ln w="15240">
            <a:solidFill>
              <a:srgbClr val="FFFFFF"/>
            </a:solidFill>
            <a:prstDash val="solid"/>
          </a:ln>
        </p:spPr>
      </p:sp>
      <p:sp>
        <p:nvSpPr>
          <p:cNvPr id="57" name="Text 55"/>
          <p:cNvSpPr/>
          <p:nvPr/>
        </p:nvSpPr>
        <p:spPr>
          <a:xfrm>
            <a:off x="676656" y="4480560"/>
            <a:ext cx="822960" cy="457200"/>
          </a:xfrm>
          <a:prstGeom prst="rect">
            <a:avLst/>
          </a:prstGeom>
          <a:noFill/>
          <a:ln/>
        </p:spPr>
        <p:txBody>
          <a:bodyPr wrap="square" lIns="0" tIns="0" rIns="0" bIns="0" rtlCol="0" anchor="ctr"/>
          <a:lstStyle/>
          <a:p>
            <a:pPr marL="0" indent="0" algn="l">
              <a:buNone/>
            </a:pPr>
            <a:r>
              <a:rPr lang="en-US" sz="1250" b="1" dirty="0">
                <a:solidFill>
                  <a:srgbClr val="0E2A47"/>
                </a:solidFill>
                <a:latin typeface="Calibri" pitchFamily="34" charset="0"/>
                <a:ea typeface="Calibri" pitchFamily="34" charset="-122"/>
                <a:cs typeface="Calibri" pitchFamily="34" charset="-120"/>
              </a:rPr>
              <a:t>TC06</a:t>
            </a:r>
            <a:endParaRPr lang="en-US" sz="1250" dirty="0"/>
          </a:p>
        </p:txBody>
      </p:sp>
      <p:sp>
        <p:nvSpPr>
          <p:cNvPr id="58" name="Shape 56"/>
          <p:cNvSpPr/>
          <p:nvPr/>
        </p:nvSpPr>
        <p:spPr>
          <a:xfrm>
            <a:off x="1572768" y="4480560"/>
            <a:ext cx="2834640" cy="457200"/>
          </a:xfrm>
          <a:prstGeom prst="rect">
            <a:avLst/>
          </a:prstGeom>
          <a:solidFill>
            <a:srgbClr val="F1F5F8"/>
          </a:solidFill>
          <a:ln w="15240">
            <a:solidFill>
              <a:srgbClr val="FFFFFF"/>
            </a:solidFill>
            <a:prstDash val="solid"/>
          </a:ln>
        </p:spPr>
      </p:sp>
      <p:sp>
        <p:nvSpPr>
          <p:cNvPr id="59" name="Text 57"/>
          <p:cNvSpPr/>
          <p:nvPr/>
        </p:nvSpPr>
        <p:spPr>
          <a:xfrm>
            <a:off x="1682496" y="4480560"/>
            <a:ext cx="26517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OCR hóa đơn</a:t>
            </a:r>
            <a:endParaRPr lang="en-US" sz="1250" dirty="0"/>
          </a:p>
        </p:txBody>
      </p:sp>
      <p:sp>
        <p:nvSpPr>
          <p:cNvPr id="60" name="Shape 58"/>
          <p:cNvSpPr/>
          <p:nvPr/>
        </p:nvSpPr>
        <p:spPr>
          <a:xfrm>
            <a:off x="4407408" y="4480560"/>
            <a:ext cx="3291840" cy="457200"/>
          </a:xfrm>
          <a:prstGeom prst="rect">
            <a:avLst/>
          </a:prstGeom>
          <a:solidFill>
            <a:srgbClr val="F1F5F8"/>
          </a:solidFill>
          <a:ln w="15240">
            <a:solidFill>
              <a:srgbClr val="FFFFFF"/>
            </a:solidFill>
            <a:prstDash val="solid"/>
          </a:ln>
        </p:spPr>
      </p:sp>
      <p:sp>
        <p:nvSpPr>
          <p:cNvPr id="61" name="Text 59"/>
          <p:cNvSpPr/>
          <p:nvPr/>
        </p:nvSpPr>
        <p:spPr>
          <a:xfrm>
            <a:off x="4517136" y="4480560"/>
            <a:ext cx="31089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Trích xuất &amp; tạo Invoice</a:t>
            </a:r>
            <a:endParaRPr lang="en-US" sz="1250" dirty="0"/>
          </a:p>
        </p:txBody>
      </p:sp>
      <p:sp>
        <p:nvSpPr>
          <p:cNvPr id="62" name="Shape 60"/>
          <p:cNvSpPr/>
          <p:nvPr/>
        </p:nvSpPr>
        <p:spPr>
          <a:xfrm>
            <a:off x="7699248" y="4480560"/>
            <a:ext cx="914400" cy="457200"/>
          </a:xfrm>
          <a:prstGeom prst="rect">
            <a:avLst/>
          </a:prstGeom>
          <a:solidFill>
            <a:srgbClr val="E4EEF3"/>
          </a:solidFill>
          <a:ln w="15240">
            <a:solidFill>
              <a:srgbClr val="FFFFFF"/>
            </a:solidFill>
            <a:prstDash val="solid"/>
          </a:ln>
        </p:spPr>
      </p:sp>
      <p:sp>
        <p:nvSpPr>
          <p:cNvPr id="63" name="Text 61"/>
          <p:cNvSpPr/>
          <p:nvPr/>
        </p:nvSpPr>
        <p:spPr>
          <a:xfrm>
            <a:off x="7808976" y="4480560"/>
            <a:ext cx="731520" cy="457200"/>
          </a:xfrm>
          <a:prstGeom prst="rect">
            <a:avLst/>
          </a:prstGeom>
          <a:noFill/>
          <a:ln/>
        </p:spPr>
        <p:txBody>
          <a:bodyPr wrap="square" lIns="0" tIns="0" rIns="0" bIns="0" rtlCol="0" anchor="ctr"/>
          <a:lstStyle/>
          <a:p>
            <a:pPr marL="0" indent="0" algn="ctr">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64" name="Shape 62"/>
          <p:cNvSpPr/>
          <p:nvPr/>
        </p:nvSpPr>
        <p:spPr>
          <a:xfrm>
            <a:off x="566928" y="4937760"/>
            <a:ext cx="1005840" cy="457200"/>
          </a:xfrm>
          <a:prstGeom prst="rect">
            <a:avLst/>
          </a:prstGeom>
          <a:solidFill>
            <a:srgbClr val="FFFFFF"/>
          </a:solidFill>
          <a:ln w="15240">
            <a:solidFill>
              <a:srgbClr val="FFFFFF"/>
            </a:solidFill>
            <a:prstDash val="solid"/>
          </a:ln>
        </p:spPr>
      </p:sp>
      <p:sp>
        <p:nvSpPr>
          <p:cNvPr id="65" name="Text 63"/>
          <p:cNvSpPr/>
          <p:nvPr/>
        </p:nvSpPr>
        <p:spPr>
          <a:xfrm>
            <a:off x="676656" y="4937760"/>
            <a:ext cx="822960" cy="457200"/>
          </a:xfrm>
          <a:prstGeom prst="rect">
            <a:avLst/>
          </a:prstGeom>
          <a:noFill/>
          <a:ln/>
        </p:spPr>
        <p:txBody>
          <a:bodyPr wrap="square" lIns="0" tIns="0" rIns="0" bIns="0" rtlCol="0" anchor="ctr"/>
          <a:lstStyle/>
          <a:p>
            <a:pPr marL="0" indent="0" algn="l">
              <a:buNone/>
            </a:pPr>
            <a:r>
              <a:rPr lang="en-US" sz="1250" b="1" dirty="0">
                <a:solidFill>
                  <a:srgbClr val="0E2A47"/>
                </a:solidFill>
                <a:latin typeface="Calibri" pitchFamily="34" charset="0"/>
                <a:ea typeface="Calibri" pitchFamily="34" charset="-122"/>
                <a:cs typeface="Calibri" pitchFamily="34" charset="-120"/>
              </a:rPr>
              <a:t>TC07</a:t>
            </a:r>
            <a:endParaRPr lang="en-US" sz="1250" dirty="0"/>
          </a:p>
        </p:txBody>
      </p:sp>
      <p:sp>
        <p:nvSpPr>
          <p:cNvPr id="66" name="Shape 64"/>
          <p:cNvSpPr/>
          <p:nvPr/>
        </p:nvSpPr>
        <p:spPr>
          <a:xfrm>
            <a:off x="1572768" y="4937760"/>
            <a:ext cx="2834640" cy="457200"/>
          </a:xfrm>
          <a:prstGeom prst="rect">
            <a:avLst/>
          </a:prstGeom>
          <a:solidFill>
            <a:srgbClr val="FFFFFF"/>
          </a:solidFill>
          <a:ln w="15240">
            <a:solidFill>
              <a:srgbClr val="FFFFFF"/>
            </a:solidFill>
            <a:prstDash val="solid"/>
          </a:ln>
        </p:spPr>
      </p:sp>
      <p:sp>
        <p:nvSpPr>
          <p:cNvPr id="67" name="Text 65"/>
          <p:cNvSpPr/>
          <p:nvPr/>
        </p:nvSpPr>
        <p:spPr>
          <a:xfrm>
            <a:off x="1682496" y="4937760"/>
            <a:ext cx="26517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Ticket quá hạn SLA</a:t>
            </a:r>
            <a:endParaRPr lang="en-US" sz="1250" dirty="0"/>
          </a:p>
        </p:txBody>
      </p:sp>
      <p:sp>
        <p:nvSpPr>
          <p:cNvPr id="68" name="Shape 66"/>
          <p:cNvSpPr/>
          <p:nvPr/>
        </p:nvSpPr>
        <p:spPr>
          <a:xfrm>
            <a:off x="4407408" y="4937760"/>
            <a:ext cx="3291840" cy="457200"/>
          </a:xfrm>
          <a:prstGeom prst="rect">
            <a:avLst/>
          </a:prstGeom>
          <a:solidFill>
            <a:srgbClr val="FFFFFF"/>
          </a:solidFill>
          <a:ln w="15240">
            <a:solidFill>
              <a:srgbClr val="FFFFFF"/>
            </a:solidFill>
            <a:prstDash val="solid"/>
          </a:ln>
        </p:spPr>
      </p:sp>
      <p:sp>
        <p:nvSpPr>
          <p:cNvPr id="69" name="Text 67"/>
          <p:cNvSpPr/>
          <p:nvPr/>
        </p:nvSpPr>
        <p:spPr>
          <a:xfrm>
            <a:off x="4517136" y="4937760"/>
            <a:ext cx="31089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Ghi SlaEscalationLog</a:t>
            </a:r>
            <a:endParaRPr lang="en-US" sz="1250" dirty="0"/>
          </a:p>
        </p:txBody>
      </p:sp>
      <p:sp>
        <p:nvSpPr>
          <p:cNvPr id="70" name="Shape 68"/>
          <p:cNvSpPr/>
          <p:nvPr/>
        </p:nvSpPr>
        <p:spPr>
          <a:xfrm>
            <a:off x="7699248" y="4937760"/>
            <a:ext cx="914400" cy="457200"/>
          </a:xfrm>
          <a:prstGeom prst="rect">
            <a:avLst/>
          </a:prstGeom>
          <a:solidFill>
            <a:srgbClr val="E4EEF3"/>
          </a:solidFill>
          <a:ln w="15240">
            <a:solidFill>
              <a:srgbClr val="FFFFFF"/>
            </a:solidFill>
            <a:prstDash val="solid"/>
          </a:ln>
        </p:spPr>
      </p:sp>
      <p:sp>
        <p:nvSpPr>
          <p:cNvPr id="71" name="Text 69"/>
          <p:cNvSpPr/>
          <p:nvPr/>
        </p:nvSpPr>
        <p:spPr>
          <a:xfrm>
            <a:off x="7808976" y="4937760"/>
            <a:ext cx="731520" cy="457200"/>
          </a:xfrm>
          <a:prstGeom prst="rect">
            <a:avLst/>
          </a:prstGeom>
          <a:noFill/>
          <a:ln/>
        </p:spPr>
        <p:txBody>
          <a:bodyPr wrap="square" lIns="0" tIns="0" rIns="0" bIns="0" rtlCol="0" anchor="ctr"/>
          <a:lstStyle/>
          <a:p>
            <a:pPr marL="0" indent="0" algn="ctr">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72" name="Shape 70"/>
          <p:cNvSpPr/>
          <p:nvPr/>
        </p:nvSpPr>
        <p:spPr>
          <a:xfrm>
            <a:off x="8933688" y="1737360"/>
            <a:ext cx="2709367" cy="2724912"/>
          </a:xfrm>
          <a:prstGeom prst="roundRect">
            <a:avLst>
              <a:gd name="adj" fmla="val 4050"/>
            </a:avLst>
          </a:prstGeom>
          <a:solidFill>
            <a:srgbClr val="0E2A47"/>
          </a:solidFill>
          <a:ln/>
        </p:spPr>
      </p:sp>
      <p:sp>
        <p:nvSpPr>
          <p:cNvPr id="73" name="Shape 71"/>
          <p:cNvSpPr/>
          <p:nvPr/>
        </p:nvSpPr>
        <p:spPr>
          <a:xfrm>
            <a:off x="9208008" y="1938528"/>
            <a:ext cx="566928" cy="566928"/>
          </a:xfrm>
          <a:prstGeom prst="roundRect">
            <a:avLst>
              <a:gd name="adj" fmla="val 50000"/>
            </a:avLst>
          </a:prstGeom>
          <a:solidFill>
            <a:srgbClr val="23B5A6"/>
          </a:solidFill>
          <a:ln/>
        </p:spPr>
      </p:sp>
      <p:pic>
        <p:nvPicPr>
          <p:cNvPr id="74" name="Image 0" descr="preencoded.png"/>
          <p:cNvPicPr>
            <a:picLocks noChangeAspect="1"/>
          </p:cNvPicPr>
          <p:nvPr/>
        </p:nvPicPr>
        <p:blipFill>
          <a:blip r:embed="rId3"/>
          <a:stretch>
            <a:fillRect/>
          </a:stretch>
        </p:blipFill>
        <p:spPr>
          <a:xfrm>
            <a:off x="9344071" y="2074591"/>
            <a:ext cx="294803" cy="294803"/>
          </a:xfrm>
          <a:prstGeom prst="rect">
            <a:avLst/>
          </a:prstGeom>
        </p:spPr>
      </p:pic>
      <p:sp>
        <p:nvSpPr>
          <p:cNvPr id="75" name="Text 72"/>
          <p:cNvSpPr/>
          <p:nvPr/>
        </p:nvSpPr>
        <p:spPr>
          <a:xfrm>
            <a:off x="9939528" y="1965960"/>
            <a:ext cx="1520647"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Phương pháp</a:t>
            </a:r>
            <a:endParaRPr lang="en-US" sz="1600" dirty="0"/>
          </a:p>
        </p:txBody>
      </p:sp>
      <p:sp>
        <p:nvSpPr>
          <p:cNvPr id="76" name="Text 73"/>
          <p:cNvSpPr/>
          <p:nvPr/>
        </p:nvSpPr>
        <p:spPr>
          <a:xfrm>
            <a:off x="9208008" y="2651760"/>
            <a:ext cx="2206447" cy="1737360"/>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Kiểm thử qua Swagger + giao diện</a:t>
            </a:r>
            <a:endParaRPr lang="en-US" sz="1150" dirty="0"/>
          </a:p>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Thành viên kiểm thử chéo phân hệ của nhau</a:t>
            </a:r>
            <a:endParaRPr lang="en-US" sz="1150" dirty="0"/>
          </a:p>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Nhật ký lỗi trên Excel, mỗi lỗi kèm ảnh</a:t>
            </a:r>
            <a:endParaRPr lang="en-US" sz="1150" dirty="0"/>
          </a:p>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Theo dõi qua 3 vòng test</a:t>
            </a:r>
            <a:endParaRPr lang="en-US" sz="1150" dirty="0"/>
          </a:p>
        </p:txBody>
      </p:sp>
      <p:sp>
        <p:nvSpPr>
          <p:cNvPr id="77" name="Shape 74"/>
          <p:cNvSpPr/>
          <p:nvPr/>
        </p:nvSpPr>
        <p:spPr>
          <a:xfrm>
            <a:off x="8933688" y="4645152"/>
            <a:ext cx="2709367" cy="1572768"/>
          </a:xfrm>
          <a:prstGeom prst="roundRect">
            <a:avLst>
              <a:gd name="adj" fmla="val 6977"/>
            </a:avLst>
          </a:prstGeom>
          <a:solidFill>
            <a:srgbClr val="E4EEF3"/>
          </a:solidFill>
          <a:ln/>
          <a:effectLst>
            <a:outerShdw blurRad="88900" dist="25400" dir="5400000" algn="bl" rotWithShape="0">
              <a:srgbClr val="B9C7D1">
                <a:alpha val="40000"/>
              </a:srgbClr>
            </a:outerShdw>
          </a:effectLst>
        </p:spPr>
      </p:sp>
      <p:sp>
        <p:nvSpPr>
          <p:cNvPr id="78" name="Text 75"/>
          <p:cNvSpPr/>
          <p:nvPr/>
        </p:nvSpPr>
        <p:spPr>
          <a:xfrm>
            <a:off x="8933688" y="4645152"/>
            <a:ext cx="2709367" cy="1572768"/>
          </a:xfrm>
          <a:prstGeom prst="rect">
            <a:avLst/>
          </a:prstGeom>
          <a:noFill/>
          <a:ln/>
        </p:spPr>
        <p:txBody>
          <a:bodyPr wrap="square" lIns="0" tIns="0" rIns="0" bIns="0" rtlCol="0" anchor="ctr"/>
          <a:lstStyle/>
          <a:p>
            <a:pPr marL="0" indent="0" algn="ctr">
              <a:lnSpc>
                <a:spcPct val="100000"/>
              </a:lnSpc>
              <a:buNone/>
            </a:pPr>
            <a:r>
              <a:rPr lang="en-US" sz="3400" b="1" dirty="0">
                <a:solidFill>
                  <a:srgbClr val="0E7C86"/>
                </a:solidFill>
                <a:latin typeface="Cambria" pitchFamily="34" charset="0"/>
                <a:ea typeface="Cambria" pitchFamily="34" charset="-122"/>
                <a:cs typeface="Cambria" pitchFamily="34" charset="-120"/>
              </a:rPr>
              <a:t>7 / 7</a:t>
            </a:r>
            <a:endParaRPr lang="en-US" sz="3400" dirty="0"/>
          </a:p>
          <a:p>
            <a:pPr marL="0" indent="0" algn="ctr">
              <a:lnSpc>
                <a:spcPct val="100000"/>
              </a:lnSpc>
              <a:buNone/>
            </a:pPr>
            <a:r>
              <a:rPr lang="en-US" sz="1300" b="1" dirty="0">
                <a:solidFill>
                  <a:srgbClr val="0E2A47"/>
                </a:solidFill>
                <a:latin typeface="Cambria" pitchFamily="34" charset="0"/>
                <a:ea typeface="Cambria" pitchFamily="34" charset="-122"/>
                <a:cs typeface="Cambria" pitchFamily="34" charset="-120"/>
              </a:rPr>
              <a:t>ca kiểm thử tiêu biểu ĐẠT</a:t>
            </a:r>
            <a:endParaRPr lang="en-US" sz="3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05 · KẾT QUẢ &amp; ĐÁNH GIÁ</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Hệ thống chạy được, đầy đủ giao diện &amp; API</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37360"/>
            <a:ext cx="3566160"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822960" y="1975104"/>
            <a:ext cx="658368" cy="658368"/>
          </a:xfrm>
          <a:prstGeom prst="roundRect">
            <a:avLst>
              <a:gd name="adj" fmla="val 50000"/>
            </a:avLst>
          </a:prstGeom>
          <a:solidFill>
            <a:srgbClr val="0E7C86"/>
          </a:solidFill>
          <a:ln/>
        </p:spPr>
      </p:sp>
      <p:pic>
        <p:nvPicPr>
          <p:cNvPr id="10" name="Image 0" descr="preencoded.png"/>
          <p:cNvPicPr>
            <a:picLocks noChangeAspect="1"/>
          </p:cNvPicPr>
          <p:nvPr/>
        </p:nvPicPr>
        <p:blipFill>
          <a:blip r:embed="rId3"/>
          <a:stretch>
            <a:fillRect/>
          </a:stretch>
        </p:blipFill>
        <p:spPr>
          <a:xfrm>
            <a:off x="980968" y="2133112"/>
            <a:ext cx="342351" cy="342351"/>
          </a:xfrm>
          <a:prstGeom prst="rect">
            <a:avLst/>
          </a:prstGeom>
        </p:spPr>
      </p:pic>
      <p:sp>
        <p:nvSpPr>
          <p:cNvPr id="11" name="Text 8"/>
          <p:cNvSpPr/>
          <p:nvPr/>
        </p:nvSpPr>
        <p:spPr>
          <a:xfrm>
            <a:off x="1618488" y="2048256"/>
            <a:ext cx="2377440" cy="50292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Tài sản &amp; bảo trì</a:t>
            </a:r>
            <a:endParaRPr lang="en-US" sz="1500" dirty="0"/>
          </a:p>
        </p:txBody>
      </p:sp>
      <p:sp>
        <p:nvSpPr>
          <p:cNvPr id="12" name="Text 9"/>
          <p:cNvSpPr/>
          <p:nvPr/>
        </p:nvSpPr>
        <p:spPr>
          <a:xfrm>
            <a:off x="822960" y="2834640"/>
            <a:ext cx="3063240" cy="914400"/>
          </a:xfrm>
          <a:prstGeom prst="rect">
            <a:avLst/>
          </a:prstGeom>
          <a:noFill/>
          <a:ln/>
        </p:spPr>
        <p:txBody>
          <a:bodyPr wrap="square" lIns="0" tIns="0" rIns="0" bIns="0" rtlCol="0" anchor="t"/>
          <a:lstStyle/>
          <a:p>
            <a:pPr marL="0" indent="0">
              <a:lnSpc>
                <a:spcPct val="104000"/>
              </a:lnSpc>
              <a:buNone/>
            </a:pPr>
            <a:r>
              <a:rPr lang="en-US" sz="1200" dirty="0">
                <a:solidFill>
                  <a:srgbClr val="22303C"/>
                </a:solidFill>
                <a:latin typeface="Calibri" pitchFamily="34" charset="0"/>
                <a:ea typeface="Calibri" pitchFamily="34" charset="-122"/>
                <a:cs typeface="Calibri" pitchFamily="34" charset="-120"/>
              </a:rPr>
              <a:t>Danh mục, ghi tăng, QR, điều chuyển, khấu hao, thanh lý, lịch bảo trì &amp; Work Order</a:t>
            </a:r>
            <a:endParaRPr lang="en-US" sz="1200" dirty="0"/>
          </a:p>
        </p:txBody>
      </p:sp>
      <p:sp>
        <p:nvSpPr>
          <p:cNvPr id="13" name="Shape 10"/>
          <p:cNvSpPr/>
          <p:nvPr/>
        </p:nvSpPr>
        <p:spPr>
          <a:xfrm>
            <a:off x="4315968" y="1737360"/>
            <a:ext cx="3566160"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4" name="Shape 11"/>
          <p:cNvSpPr/>
          <p:nvPr/>
        </p:nvSpPr>
        <p:spPr>
          <a:xfrm>
            <a:off x="4572000" y="1975104"/>
            <a:ext cx="658368" cy="658368"/>
          </a:xfrm>
          <a:prstGeom prst="roundRect">
            <a:avLst>
              <a:gd name="adj" fmla="val 50000"/>
            </a:avLst>
          </a:prstGeom>
          <a:solidFill>
            <a:srgbClr val="23B5A6"/>
          </a:solidFill>
          <a:ln/>
        </p:spPr>
      </p:sp>
      <p:pic>
        <p:nvPicPr>
          <p:cNvPr id="15" name="Image 1" descr="preencoded.png"/>
          <p:cNvPicPr>
            <a:picLocks noChangeAspect="1"/>
          </p:cNvPicPr>
          <p:nvPr/>
        </p:nvPicPr>
        <p:blipFill>
          <a:blip r:embed="rId4"/>
          <a:stretch>
            <a:fillRect/>
          </a:stretch>
        </p:blipFill>
        <p:spPr>
          <a:xfrm>
            <a:off x="4730008" y="2133112"/>
            <a:ext cx="342351" cy="342351"/>
          </a:xfrm>
          <a:prstGeom prst="rect">
            <a:avLst/>
          </a:prstGeom>
        </p:spPr>
      </p:pic>
      <p:sp>
        <p:nvSpPr>
          <p:cNvPr id="16" name="Text 12"/>
          <p:cNvSpPr/>
          <p:nvPr/>
        </p:nvSpPr>
        <p:spPr>
          <a:xfrm>
            <a:off x="5367528" y="2048256"/>
            <a:ext cx="2377440" cy="50292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Kho – Mua sắm – NCC</a:t>
            </a:r>
            <a:endParaRPr lang="en-US" sz="1500" dirty="0"/>
          </a:p>
        </p:txBody>
      </p:sp>
      <p:sp>
        <p:nvSpPr>
          <p:cNvPr id="17" name="Text 13"/>
          <p:cNvSpPr/>
          <p:nvPr/>
        </p:nvSpPr>
        <p:spPr>
          <a:xfrm>
            <a:off x="4572000" y="2834640"/>
            <a:ext cx="3063240" cy="914400"/>
          </a:xfrm>
          <a:prstGeom prst="rect">
            <a:avLst/>
          </a:prstGeom>
          <a:noFill/>
          <a:ln/>
        </p:spPr>
        <p:txBody>
          <a:bodyPr wrap="square" lIns="0" tIns="0" rIns="0" bIns="0" rtlCol="0" anchor="t"/>
          <a:lstStyle/>
          <a:p>
            <a:pPr marL="0" indent="0">
              <a:lnSpc>
                <a:spcPct val="104000"/>
              </a:lnSpc>
              <a:buNone/>
            </a:pPr>
            <a:r>
              <a:rPr lang="en-US" sz="1200" dirty="0">
                <a:solidFill>
                  <a:srgbClr val="22303C"/>
                </a:solidFill>
                <a:latin typeface="Calibri" pitchFamily="34" charset="0"/>
                <a:ea typeface="Calibri" pitchFamily="34" charset="-122"/>
                <a:cs typeface="Calibri" pitchFamily="34" charset="-120"/>
              </a:rPr>
              <a:t>Tồn kho &amp; cảnh báo, PR→PO→hóa đơn, OCR hóa đơn, quản lý NCC/hợp đồng</a:t>
            </a:r>
            <a:endParaRPr lang="en-US" sz="1200" dirty="0"/>
          </a:p>
        </p:txBody>
      </p:sp>
      <p:sp>
        <p:nvSpPr>
          <p:cNvPr id="18" name="Shape 14"/>
          <p:cNvSpPr/>
          <p:nvPr/>
        </p:nvSpPr>
        <p:spPr>
          <a:xfrm>
            <a:off x="8065008" y="1737360"/>
            <a:ext cx="3566160"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9" name="Shape 15"/>
          <p:cNvSpPr/>
          <p:nvPr/>
        </p:nvSpPr>
        <p:spPr>
          <a:xfrm>
            <a:off x="8321040" y="1975104"/>
            <a:ext cx="658368" cy="658368"/>
          </a:xfrm>
          <a:prstGeom prst="roundRect">
            <a:avLst>
              <a:gd name="adj" fmla="val 50000"/>
            </a:avLst>
          </a:prstGeom>
          <a:solidFill>
            <a:srgbClr val="EFA13C"/>
          </a:solidFill>
          <a:ln/>
        </p:spPr>
      </p:sp>
      <p:pic>
        <p:nvPicPr>
          <p:cNvPr id="20" name="Image 2" descr="preencoded.png"/>
          <p:cNvPicPr>
            <a:picLocks noChangeAspect="1"/>
          </p:cNvPicPr>
          <p:nvPr/>
        </p:nvPicPr>
        <p:blipFill>
          <a:blip r:embed="rId5"/>
          <a:stretch>
            <a:fillRect/>
          </a:stretch>
        </p:blipFill>
        <p:spPr>
          <a:xfrm>
            <a:off x="8479048" y="2133112"/>
            <a:ext cx="342351" cy="342351"/>
          </a:xfrm>
          <a:prstGeom prst="rect">
            <a:avLst/>
          </a:prstGeom>
        </p:spPr>
      </p:pic>
      <p:sp>
        <p:nvSpPr>
          <p:cNvPr id="21" name="Text 16"/>
          <p:cNvSpPr/>
          <p:nvPr/>
        </p:nvSpPr>
        <p:spPr>
          <a:xfrm>
            <a:off x="9116568" y="2048256"/>
            <a:ext cx="2377440" cy="50292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Sự cố &amp; SLA</a:t>
            </a:r>
            <a:endParaRPr lang="en-US" sz="1500" dirty="0"/>
          </a:p>
        </p:txBody>
      </p:sp>
      <p:sp>
        <p:nvSpPr>
          <p:cNvPr id="22" name="Text 17"/>
          <p:cNvSpPr/>
          <p:nvPr/>
        </p:nvSpPr>
        <p:spPr>
          <a:xfrm>
            <a:off x="8321040" y="2834640"/>
            <a:ext cx="3063240" cy="914400"/>
          </a:xfrm>
          <a:prstGeom prst="rect">
            <a:avLst/>
          </a:prstGeom>
          <a:noFill/>
          <a:ln/>
        </p:spPr>
        <p:txBody>
          <a:bodyPr wrap="square" lIns="0" tIns="0" rIns="0" bIns="0" rtlCol="0" anchor="t"/>
          <a:lstStyle/>
          <a:p>
            <a:pPr marL="0" indent="0">
              <a:lnSpc>
                <a:spcPct val="104000"/>
              </a:lnSpc>
              <a:buNone/>
            </a:pPr>
            <a:r>
              <a:rPr lang="en-US" sz="1200" dirty="0">
                <a:solidFill>
                  <a:srgbClr val="22303C"/>
                </a:solidFill>
                <a:latin typeface="Calibri" pitchFamily="34" charset="0"/>
                <a:ea typeface="Calibri" pitchFamily="34" charset="-122"/>
                <a:cs typeface="Calibri" pitchFamily="34" charset="-120"/>
              </a:rPr>
              <a:t>Tạo/xử lý ticket, phân công, theo dõi SLA, leo thang, đánh giá hài lòng</a:t>
            </a:r>
            <a:endParaRPr lang="en-US" sz="1200" dirty="0"/>
          </a:p>
        </p:txBody>
      </p:sp>
      <p:sp>
        <p:nvSpPr>
          <p:cNvPr id="23" name="Shape 18"/>
          <p:cNvSpPr/>
          <p:nvPr/>
        </p:nvSpPr>
        <p:spPr>
          <a:xfrm>
            <a:off x="566928" y="4114800"/>
            <a:ext cx="2688336" cy="1234440"/>
          </a:xfrm>
          <a:prstGeom prst="roundRect">
            <a:avLst>
              <a:gd name="adj" fmla="val 8148"/>
            </a:avLst>
          </a:prstGeom>
          <a:solidFill>
            <a:srgbClr val="0E2A47"/>
          </a:solidFill>
          <a:ln/>
        </p:spPr>
      </p:sp>
      <p:sp>
        <p:nvSpPr>
          <p:cNvPr id="24" name="Shape 19"/>
          <p:cNvSpPr/>
          <p:nvPr/>
        </p:nvSpPr>
        <p:spPr>
          <a:xfrm>
            <a:off x="1627632" y="4261104"/>
            <a:ext cx="566928" cy="566928"/>
          </a:xfrm>
          <a:prstGeom prst="roundRect">
            <a:avLst>
              <a:gd name="adj" fmla="val 50000"/>
            </a:avLst>
          </a:prstGeom>
          <a:solidFill>
            <a:srgbClr val="23B5A6"/>
          </a:solidFill>
          <a:ln/>
        </p:spPr>
      </p:sp>
      <p:pic>
        <p:nvPicPr>
          <p:cNvPr id="25" name="Image 3" descr="preencoded.png"/>
          <p:cNvPicPr>
            <a:picLocks noChangeAspect="1"/>
          </p:cNvPicPr>
          <p:nvPr/>
        </p:nvPicPr>
        <p:blipFill>
          <a:blip r:embed="rId6"/>
          <a:stretch>
            <a:fillRect/>
          </a:stretch>
        </p:blipFill>
        <p:spPr>
          <a:xfrm>
            <a:off x="1763695" y="4397167"/>
            <a:ext cx="294803" cy="294803"/>
          </a:xfrm>
          <a:prstGeom prst="rect">
            <a:avLst/>
          </a:prstGeom>
        </p:spPr>
      </p:pic>
      <p:sp>
        <p:nvSpPr>
          <p:cNvPr id="26" name="Text 20"/>
          <p:cNvSpPr/>
          <p:nvPr/>
        </p:nvSpPr>
        <p:spPr>
          <a:xfrm>
            <a:off x="566928" y="4846320"/>
            <a:ext cx="2688336"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Chức năng</a:t>
            </a:r>
            <a:endParaRPr lang="en-US" sz="1300" dirty="0"/>
          </a:p>
        </p:txBody>
      </p:sp>
      <p:sp>
        <p:nvSpPr>
          <p:cNvPr id="27" name="Text 21"/>
          <p:cNvSpPr/>
          <p:nvPr/>
        </p:nvSpPr>
        <p:spPr>
          <a:xfrm>
            <a:off x="676656" y="5084064"/>
            <a:ext cx="2468880" cy="256032"/>
          </a:xfrm>
          <a:prstGeom prst="rect">
            <a:avLst/>
          </a:prstGeom>
          <a:noFill/>
          <a:ln/>
        </p:spPr>
        <p:txBody>
          <a:bodyPr wrap="square" lIns="0" tIns="0" rIns="0" bIns="0" rtlCol="0" anchor="ctr"/>
          <a:lstStyle/>
          <a:p>
            <a:pPr marL="0" indent="0" algn="ctr">
              <a:buNone/>
            </a:pPr>
            <a:r>
              <a:rPr lang="en-US" sz="1000" dirty="0">
                <a:solidFill>
                  <a:srgbClr val="BFD6DF"/>
                </a:solidFill>
                <a:latin typeface="Calibri" pitchFamily="34" charset="0"/>
                <a:ea typeface="Calibri" pitchFamily="34" charset="-122"/>
                <a:cs typeface="Calibri" pitchFamily="34" charset="-120"/>
              </a:rPr>
              <a:t>Đáp ứng yêu cầu Chương 1 (Base + phần riêng)</a:t>
            </a:r>
            <a:endParaRPr lang="en-US" sz="1000" dirty="0"/>
          </a:p>
        </p:txBody>
      </p:sp>
      <p:sp>
        <p:nvSpPr>
          <p:cNvPr id="28" name="Shape 22"/>
          <p:cNvSpPr/>
          <p:nvPr/>
        </p:nvSpPr>
        <p:spPr>
          <a:xfrm>
            <a:off x="3374136" y="4114800"/>
            <a:ext cx="2688336" cy="1234440"/>
          </a:xfrm>
          <a:prstGeom prst="roundRect">
            <a:avLst>
              <a:gd name="adj" fmla="val 8148"/>
            </a:avLst>
          </a:prstGeom>
          <a:solidFill>
            <a:srgbClr val="0E2A47"/>
          </a:solidFill>
          <a:ln/>
        </p:spPr>
      </p:sp>
      <p:sp>
        <p:nvSpPr>
          <p:cNvPr id="29" name="Shape 23"/>
          <p:cNvSpPr/>
          <p:nvPr/>
        </p:nvSpPr>
        <p:spPr>
          <a:xfrm>
            <a:off x="4434840" y="4261104"/>
            <a:ext cx="566928" cy="566928"/>
          </a:xfrm>
          <a:prstGeom prst="roundRect">
            <a:avLst>
              <a:gd name="adj" fmla="val 50000"/>
            </a:avLst>
          </a:prstGeom>
          <a:solidFill>
            <a:srgbClr val="23B5A6"/>
          </a:solidFill>
          <a:ln/>
        </p:spPr>
      </p:sp>
      <p:pic>
        <p:nvPicPr>
          <p:cNvPr id="30" name="Image 4" descr="preencoded.png"/>
          <p:cNvPicPr>
            <a:picLocks noChangeAspect="1"/>
          </p:cNvPicPr>
          <p:nvPr/>
        </p:nvPicPr>
        <p:blipFill>
          <a:blip r:embed="rId7"/>
          <a:stretch>
            <a:fillRect/>
          </a:stretch>
        </p:blipFill>
        <p:spPr>
          <a:xfrm>
            <a:off x="4570903" y="4397167"/>
            <a:ext cx="294803" cy="294803"/>
          </a:xfrm>
          <a:prstGeom prst="rect">
            <a:avLst/>
          </a:prstGeom>
        </p:spPr>
      </p:pic>
      <p:sp>
        <p:nvSpPr>
          <p:cNvPr id="31" name="Text 24"/>
          <p:cNvSpPr/>
          <p:nvPr/>
        </p:nvSpPr>
        <p:spPr>
          <a:xfrm>
            <a:off x="3374136" y="4846320"/>
            <a:ext cx="2688336"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Hiệu năng</a:t>
            </a:r>
            <a:endParaRPr lang="en-US" sz="1300" dirty="0"/>
          </a:p>
        </p:txBody>
      </p:sp>
      <p:sp>
        <p:nvSpPr>
          <p:cNvPr id="32" name="Text 25"/>
          <p:cNvSpPr/>
          <p:nvPr/>
        </p:nvSpPr>
        <p:spPr>
          <a:xfrm>
            <a:off x="3483864" y="5084064"/>
            <a:ext cx="2468880" cy="256032"/>
          </a:xfrm>
          <a:prstGeom prst="rect">
            <a:avLst/>
          </a:prstGeom>
          <a:noFill/>
          <a:ln/>
        </p:spPr>
        <p:txBody>
          <a:bodyPr wrap="square" lIns="0" tIns="0" rIns="0" bIns="0" rtlCol="0" anchor="ctr"/>
          <a:lstStyle/>
          <a:p>
            <a:pPr marL="0" indent="0" algn="ctr">
              <a:buNone/>
            </a:pPr>
            <a:r>
              <a:rPr lang="en-US" sz="1000" dirty="0">
                <a:solidFill>
                  <a:srgbClr val="BFD6DF"/>
                </a:solidFill>
                <a:latin typeface="Calibri" pitchFamily="34" charset="0"/>
                <a:ea typeface="Calibri" pitchFamily="34" charset="-122"/>
                <a:cs typeface="Calibri" pitchFamily="34" charset="-120"/>
              </a:rPr>
              <a:t>Phân trang/lọc phía server, OCR bất đồng bộ</a:t>
            </a:r>
            <a:endParaRPr lang="en-US" sz="1000" dirty="0"/>
          </a:p>
        </p:txBody>
      </p:sp>
      <p:sp>
        <p:nvSpPr>
          <p:cNvPr id="33" name="Shape 26"/>
          <p:cNvSpPr/>
          <p:nvPr/>
        </p:nvSpPr>
        <p:spPr>
          <a:xfrm>
            <a:off x="6181344" y="4114800"/>
            <a:ext cx="2688336" cy="1234440"/>
          </a:xfrm>
          <a:prstGeom prst="roundRect">
            <a:avLst>
              <a:gd name="adj" fmla="val 8148"/>
            </a:avLst>
          </a:prstGeom>
          <a:solidFill>
            <a:srgbClr val="0E2A47"/>
          </a:solidFill>
          <a:ln/>
        </p:spPr>
      </p:sp>
      <p:sp>
        <p:nvSpPr>
          <p:cNvPr id="34" name="Shape 27"/>
          <p:cNvSpPr/>
          <p:nvPr/>
        </p:nvSpPr>
        <p:spPr>
          <a:xfrm>
            <a:off x="7242048" y="4261104"/>
            <a:ext cx="566928" cy="566928"/>
          </a:xfrm>
          <a:prstGeom prst="roundRect">
            <a:avLst>
              <a:gd name="adj" fmla="val 50000"/>
            </a:avLst>
          </a:prstGeom>
          <a:solidFill>
            <a:srgbClr val="23B5A6"/>
          </a:solidFill>
          <a:ln/>
        </p:spPr>
      </p:sp>
      <p:pic>
        <p:nvPicPr>
          <p:cNvPr id="35" name="Image 5" descr="preencoded.png"/>
          <p:cNvPicPr>
            <a:picLocks noChangeAspect="1"/>
          </p:cNvPicPr>
          <p:nvPr/>
        </p:nvPicPr>
        <p:blipFill>
          <a:blip r:embed="rId8"/>
          <a:stretch>
            <a:fillRect/>
          </a:stretch>
        </p:blipFill>
        <p:spPr>
          <a:xfrm>
            <a:off x="7378111" y="4397167"/>
            <a:ext cx="294803" cy="294803"/>
          </a:xfrm>
          <a:prstGeom prst="rect">
            <a:avLst/>
          </a:prstGeom>
        </p:spPr>
      </p:pic>
      <p:sp>
        <p:nvSpPr>
          <p:cNvPr id="36" name="Text 28"/>
          <p:cNvSpPr/>
          <p:nvPr/>
        </p:nvSpPr>
        <p:spPr>
          <a:xfrm>
            <a:off x="6181344" y="4846320"/>
            <a:ext cx="2688336"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Bảo mật</a:t>
            </a:r>
            <a:endParaRPr lang="en-US" sz="1300" dirty="0"/>
          </a:p>
        </p:txBody>
      </p:sp>
      <p:sp>
        <p:nvSpPr>
          <p:cNvPr id="37" name="Text 29"/>
          <p:cNvSpPr/>
          <p:nvPr/>
        </p:nvSpPr>
        <p:spPr>
          <a:xfrm>
            <a:off x="6291072" y="5084064"/>
            <a:ext cx="2468880" cy="256032"/>
          </a:xfrm>
          <a:prstGeom prst="rect">
            <a:avLst/>
          </a:prstGeom>
          <a:noFill/>
          <a:ln/>
        </p:spPr>
        <p:txBody>
          <a:bodyPr wrap="square" lIns="0" tIns="0" rIns="0" bIns="0" rtlCol="0" anchor="ctr"/>
          <a:lstStyle/>
          <a:p>
            <a:pPr marL="0" indent="0" algn="ctr">
              <a:buNone/>
            </a:pPr>
            <a:r>
              <a:rPr lang="en-US" sz="1000" dirty="0">
                <a:solidFill>
                  <a:srgbClr val="BFD6DF"/>
                </a:solidFill>
                <a:latin typeface="Calibri" pitchFamily="34" charset="0"/>
                <a:ea typeface="Calibri" pitchFamily="34" charset="-122"/>
                <a:cs typeface="Calibri" pitchFamily="34" charset="-120"/>
              </a:rPr>
              <a:t>JWT · MFA · RBAC chi tiết theo vai trò</a:t>
            </a:r>
            <a:endParaRPr lang="en-US" sz="1000" dirty="0"/>
          </a:p>
        </p:txBody>
      </p:sp>
      <p:sp>
        <p:nvSpPr>
          <p:cNvPr id="38" name="Shape 30"/>
          <p:cNvSpPr/>
          <p:nvPr/>
        </p:nvSpPr>
        <p:spPr>
          <a:xfrm>
            <a:off x="8988552" y="4114800"/>
            <a:ext cx="2688336" cy="1234440"/>
          </a:xfrm>
          <a:prstGeom prst="roundRect">
            <a:avLst>
              <a:gd name="adj" fmla="val 8148"/>
            </a:avLst>
          </a:prstGeom>
          <a:solidFill>
            <a:srgbClr val="0E2A47"/>
          </a:solidFill>
          <a:ln/>
        </p:spPr>
      </p:sp>
      <p:sp>
        <p:nvSpPr>
          <p:cNvPr id="39" name="Shape 31"/>
          <p:cNvSpPr/>
          <p:nvPr/>
        </p:nvSpPr>
        <p:spPr>
          <a:xfrm>
            <a:off x="10049256" y="4261104"/>
            <a:ext cx="566928" cy="566928"/>
          </a:xfrm>
          <a:prstGeom prst="roundRect">
            <a:avLst>
              <a:gd name="adj" fmla="val 50000"/>
            </a:avLst>
          </a:prstGeom>
          <a:solidFill>
            <a:srgbClr val="23B5A6"/>
          </a:solidFill>
          <a:ln/>
        </p:spPr>
      </p:sp>
      <p:pic>
        <p:nvPicPr>
          <p:cNvPr id="40" name="Image 6" descr="preencoded.png"/>
          <p:cNvPicPr>
            <a:picLocks noChangeAspect="1"/>
          </p:cNvPicPr>
          <p:nvPr/>
        </p:nvPicPr>
        <p:blipFill>
          <a:blip r:embed="rId9"/>
          <a:stretch>
            <a:fillRect/>
          </a:stretch>
        </p:blipFill>
        <p:spPr>
          <a:xfrm>
            <a:off x="10185319" y="4397167"/>
            <a:ext cx="294803" cy="294803"/>
          </a:xfrm>
          <a:prstGeom prst="rect">
            <a:avLst/>
          </a:prstGeom>
        </p:spPr>
      </p:pic>
      <p:sp>
        <p:nvSpPr>
          <p:cNvPr id="41" name="Text 32"/>
          <p:cNvSpPr/>
          <p:nvPr/>
        </p:nvSpPr>
        <p:spPr>
          <a:xfrm>
            <a:off x="8988552" y="4846320"/>
            <a:ext cx="2688336"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Thông minh</a:t>
            </a:r>
            <a:endParaRPr lang="en-US" sz="1300" dirty="0"/>
          </a:p>
        </p:txBody>
      </p:sp>
      <p:sp>
        <p:nvSpPr>
          <p:cNvPr id="42" name="Text 33"/>
          <p:cNvSpPr/>
          <p:nvPr/>
        </p:nvSpPr>
        <p:spPr>
          <a:xfrm>
            <a:off x="9098280" y="5084064"/>
            <a:ext cx="2468880" cy="256032"/>
          </a:xfrm>
          <a:prstGeom prst="rect">
            <a:avLst/>
          </a:prstGeom>
          <a:noFill/>
          <a:ln/>
        </p:spPr>
        <p:txBody>
          <a:bodyPr wrap="square" lIns="0" tIns="0" rIns="0" bIns="0" rtlCol="0" anchor="ctr"/>
          <a:lstStyle/>
          <a:p>
            <a:pPr marL="0" indent="0" algn="ctr">
              <a:buNone/>
            </a:pPr>
            <a:r>
              <a:rPr lang="en-US" sz="1000" dirty="0">
                <a:solidFill>
                  <a:srgbClr val="BFD6DF"/>
                </a:solidFill>
                <a:latin typeface="Calibri" pitchFamily="34" charset="0"/>
                <a:ea typeface="Calibri" pitchFamily="34" charset="-122"/>
                <a:cs typeface="Calibri" pitchFamily="34" charset="-120"/>
              </a:rPr>
              <a:t>OCR hóa đơn + khấu hao tự động</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05 · KẾT LUẬN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Hạn chế &amp; hướng phát triển</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48</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83080"/>
            <a:ext cx="5440680" cy="4114800"/>
          </a:xfrm>
          <a:prstGeom prst="roundRect">
            <a:avLst>
              <a:gd name="adj" fmla="val 2667"/>
            </a:avLst>
          </a:prstGeom>
          <a:solidFill>
            <a:srgbClr val="F1F5F8"/>
          </a:solidFill>
          <a:ln/>
          <a:effectLst>
            <a:outerShdw blurRad="88900" dist="25400" dir="5400000" algn="bl" rotWithShape="0">
              <a:srgbClr val="B9C7D1">
                <a:alpha val="40000"/>
              </a:srgbClr>
            </a:outerShdw>
          </a:effectLst>
        </p:spPr>
      </p:sp>
      <p:sp>
        <p:nvSpPr>
          <p:cNvPr id="9" name="Shape 7"/>
          <p:cNvSpPr/>
          <p:nvPr/>
        </p:nvSpPr>
        <p:spPr>
          <a:xfrm>
            <a:off x="822960" y="2029968"/>
            <a:ext cx="640080" cy="640080"/>
          </a:xfrm>
          <a:prstGeom prst="roundRect">
            <a:avLst>
              <a:gd name="adj" fmla="val 50000"/>
            </a:avLst>
          </a:prstGeom>
          <a:solidFill>
            <a:srgbClr val="E4572E"/>
          </a:solidFill>
          <a:ln/>
        </p:spPr>
      </p:sp>
      <p:pic>
        <p:nvPicPr>
          <p:cNvPr id="10" name="Image 0" descr="preencoded.png"/>
          <p:cNvPicPr>
            <a:picLocks noChangeAspect="1"/>
          </p:cNvPicPr>
          <p:nvPr/>
        </p:nvPicPr>
        <p:blipFill>
          <a:blip r:embed="rId3"/>
          <a:stretch>
            <a:fillRect/>
          </a:stretch>
        </p:blipFill>
        <p:spPr>
          <a:xfrm>
            <a:off x="976579" y="2183587"/>
            <a:ext cx="332842" cy="332842"/>
          </a:xfrm>
          <a:prstGeom prst="rect">
            <a:avLst/>
          </a:prstGeom>
        </p:spPr>
      </p:pic>
      <p:sp>
        <p:nvSpPr>
          <p:cNvPr id="11" name="Text 8"/>
          <p:cNvSpPr/>
          <p:nvPr/>
        </p:nvSpPr>
        <p:spPr>
          <a:xfrm>
            <a:off x="1600200" y="2084832"/>
            <a:ext cx="4114800" cy="457200"/>
          </a:xfrm>
          <a:prstGeom prst="rect">
            <a:avLst/>
          </a:prstGeom>
          <a:noFill/>
          <a:ln/>
        </p:spPr>
        <p:txBody>
          <a:bodyPr wrap="square" lIns="0" tIns="0" rIns="0" bIns="0" rtlCol="0" anchor="ctr"/>
          <a:lstStyle/>
          <a:p>
            <a:pPr marL="0" indent="0">
              <a:buNone/>
            </a:pPr>
            <a:r>
              <a:rPr lang="en-US" sz="1900" b="1" dirty="0">
                <a:solidFill>
                  <a:srgbClr val="0E2A47"/>
                </a:solidFill>
                <a:latin typeface="Cambria" pitchFamily="34" charset="0"/>
                <a:ea typeface="Cambria" pitchFamily="34" charset="-122"/>
                <a:cs typeface="Cambria" pitchFamily="34" charset="-120"/>
              </a:rPr>
              <a:t>Hạn chế</a:t>
            </a:r>
            <a:endParaRPr lang="en-US" sz="1900" dirty="0"/>
          </a:p>
        </p:txBody>
      </p:sp>
      <p:sp>
        <p:nvSpPr>
          <p:cNvPr id="12" name="Text 9"/>
          <p:cNvSpPr/>
          <p:nvPr/>
        </p:nvSpPr>
        <p:spPr>
          <a:xfrm>
            <a:off x="822960" y="2880360"/>
            <a:ext cx="4983480" cy="2834640"/>
          </a:xfrm>
          <a:prstGeom prst="rect">
            <a:avLst/>
          </a:prstGeom>
          <a:noFill/>
          <a:ln/>
        </p:spPr>
        <p:txBody>
          <a:bodyPr wrap="square" lIns="0" tIns="0" rIns="0" bIns="0" rtlCol="0" anchor="t"/>
          <a:lstStyle/>
          <a:p>
            <a:pPr marL="177800" indent="-177800">
              <a:lnSpc>
                <a:spcPct val="102000"/>
              </a:lnSpc>
              <a:spcAft>
                <a:spcPts val="1400"/>
              </a:spcAft>
              <a:buSzPct val="100000"/>
              <a:buChar char="•"/>
            </a:pPr>
            <a:r>
              <a:rPr lang="en-US" sz="1350" dirty="0">
                <a:solidFill>
                  <a:srgbClr val="22303C"/>
                </a:solidFill>
                <a:latin typeface="Calibri" pitchFamily="34" charset="0"/>
                <a:ea typeface="Calibri" pitchFamily="34" charset="-122"/>
                <a:cs typeface="Calibri" pitchFamily="34" charset="-120"/>
              </a:rPr>
              <a:t>Mô hình OCR cần thêm dữ liệu hóa đơn thật để nâng độ chính xác tầng phát hiện</a:t>
            </a:r>
            <a:endParaRPr lang="en-US" sz="1350" dirty="0"/>
          </a:p>
          <a:p>
            <a:pPr marL="177800" indent="-177800">
              <a:lnSpc>
                <a:spcPct val="102000"/>
              </a:lnSpc>
              <a:spcAft>
                <a:spcPts val="1400"/>
              </a:spcAft>
              <a:buSzPct val="100000"/>
              <a:buChar char="•"/>
            </a:pPr>
            <a:r>
              <a:rPr lang="en-US" sz="1350" dirty="0">
                <a:solidFill>
                  <a:srgbClr val="22303C"/>
                </a:solidFill>
                <a:latin typeface="Calibri" pitchFamily="34" charset="0"/>
                <a:ea typeface="Calibri" pitchFamily="34" charset="-122"/>
                <a:cs typeface="Calibri" pitchFamily="34" charset="-120"/>
              </a:rPr>
              <a:t>Một số báo cáo/thống kê nâng cao &amp; tối ưu ở quy mô dữ liệu lớn chưa kiểm chứng đầy đủ</a:t>
            </a:r>
            <a:endParaRPr lang="en-US" sz="1350" dirty="0"/>
          </a:p>
          <a:p>
            <a:pPr marL="177800" indent="-177800">
              <a:lnSpc>
                <a:spcPct val="102000"/>
              </a:lnSpc>
              <a:spcAft>
                <a:spcPts val="1400"/>
              </a:spcAft>
              <a:buSzPct val="100000"/>
              <a:buChar char="•"/>
            </a:pPr>
            <a:r>
              <a:rPr lang="en-US" sz="1350" dirty="0">
                <a:solidFill>
                  <a:srgbClr val="22303C"/>
                </a:solidFill>
                <a:latin typeface="Calibri" pitchFamily="34" charset="0"/>
                <a:ea typeface="Calibri" pitchFamily="34" charset="-122"/>
                <a:cs typeface="Calibri" pitchFamily="34" charset="-120"/>
              </a:rPr>
              <a:t>Ứng dụng di động cho cư dân / kỹ thuật viên mới ở mức cơ bản (web responsive)</a:t>
            </a:r>
            <a:endParaRPr lang="en-US" sz="1350" dirty="0"/>
          </a:p>
        </p:txBody>
      </p:sp>
      <p:sp>
        <p:nvSpPr>
          <p:cNvPr id="13" name="Shape 10"/>
          <p:cNvSpPr/>
          <p:nvPr/>
        </p:nvSpPr>
        <p:spPr>
          <a:xfrm>
            <a:off x="6199632" y="1783080"/>
            <a:ext cx="5440680" cy="4114800"/>
          </a:xfrm>
          <a:prstGeom prst="roundRect">
            <a:avLst>
              <a:gd name="adj" fmla="val 2667"/>
            </a:avLst>
          </a:prstGeom>
          <a:solidFill>
            <a:srgbClr val="0E2A47"/>
          </a:solidFill>
          <a:ln/>
        </p:spPr>
      </p:sp>
      <p:sp>
        <p:nvSpPr>
          <p:cNvPr id="14" name="Shape 11"/>
          <p:cNvSpPr/>
          <p:nvPr/>
        </p:nvSpPr>
        <p:spPr>
          <a:xfrm>
            <a:off x="6446520" y="2029968"/>
            <a:ext cx="640080" cy="640080"/>
          </a:xfrm>
          <a:prstGeom prst="roundRect">
            <a:avLst>
              <a:gd name="adj" fmla="val 50000"/>
            </a:avLst>
          </a:prstGeom>
          <a:solidFill>
            <a:srgbClr val="23B5A6"/>
          </a:solidFill>
          <a:ln/>
        </p:spPr>
      </p:sp>
      <p:pic>
        <p:nvPicPr>
          <p:cNvPr id="15" name="Image 1" descr="preencoded.png"/>
          <p:cNvPicPr>
            <a:picLocks noChangeAspect="1"/>
          </p:cNvPicPr>
          <p:nvPr/>
        </p:nvPicPr>
        <p:blipFill>
          <a:blip r:embed="rId4"/>
          <a:stretch>
            <a:fillRect/>
          </a:stretch>
        </p:blipFill>
        <p:spPr>
          <a:xfrm>
            <a:off x="6600139" y="2183587"/>
            <a:ext cx="332842" cy="332842"/>
          </a:xfrm>
          <a:prstGeom prst="rect">
            <a:avLst/>
          </a:prstGeom>
        </p:spPr>
      </p:pic>
      <p:sp>
        <p:nvSpPr>
          <p:cNvPr id="16" name="Text 12"/>
          <p:cNvSpPr/>
          <p:nvPr/>
        </p:nvSpPr>
        <p:spPr>
          <a:xfrm>
            <a:off x="7223760" y="2084832"/>
            <a:ext cx="4114800" cy="45720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Hướng phát triển</a:t>
            </a:r>
            <a:endParaRPr lang="en-US" sz="1900" dirty="0"/>
          </a:p>
        </p:txBody>
      </p:sp>
      <p:sp>
        <p:nvSpPr>
          <p:cNvPr id="17" name="Text 13"/>
          <p:cNvSpPr/>
          <p:nvPr/>
        </p:nvSpPr>
        <p:spPr>
          <a:xfrm>
            <a:off x="6446520" y="2880360"/>
            <a:ext cx="4983480" cy="2834640"/>
          </a:xfrm>
          <a:prstGeom prst="rect">
            <a:avLst/>
          </a:prstGeom>
          <a:noFill/>
          <a:ln/>
        </p:spPr>
        <p:txBody>
          <a:bodyPr wrap="square" lIns="0" tIns="0" rIns="0" bIns="0" rtlCol="0" anchor="t"/>
          <a:lstStyle/>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Cải thiện độ chính xác OCR, bổ sung trích xuất thông minh hơn</a:t>
            </a:r>
            <a:endParaRPr lang="en-US" sz="1350" dirty="0"/>
          </a:p>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Tích hợp IoT giám sát thiết bị thời gian thực, dự báo bảo trì</a:t>
            </a:r>
            <a:endParaRPr lang="en-US" sz="1350" dirty="0"/>
          </a:p>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Phân tích dữ liệu &amp; cảnh báo thông minh (dự báo hỏng, tối ưu tồn kho)</a:t>
            </a:r>
            <a:endParaRPr lang="en-US" sz="1350" dirty="0"/>
          </a:p>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Hoàn thiện ứng dụng di động; mở rộng các phân hệ còn lại</a:t>
            </a:r>
            <a:endParaRPr lang="en-US" sz="13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0">
    <p:bg>
      <p:bgPr>
        <a:solidFill>
          <a:srgbClr val="0E2A47"/>
        </a:solidFill>
        <a:effectLst/>
      </p:bgPr>
    </p:bg>
    <p:spTree>
      <p:nvGrpSpPr>
        <p:cNvPr id="1" name=""/>
        <p:cNvGrpSpPr/>
        <p:nvPr/>
      </p:nvGrpSpPr>
      <p:grpSpPr>
        <a:xfrm>
          <a:off x="0" y="0"/>
          <a:ext cx="0" cy="0"/>
          <a:chOff x="0" y="0"/>
          <a:chExt cx="0" cy="0"/>
        </a:xfrm>
      </p:grpSpPr>
      <p:sp>
        <p:nvSpPr>
          <p:cNvPr id="2" name="Shape 0"/>
          <p:cNvSpPr/>
          <p:nvPr/>
        </p:nvSpPr>
        <p:spPr>
          <a:xfrm>
            <a:off x="8686800" y="-2377440"/>
            <a:ext cx="5943600" cy="5943600"/>
          </a:xfrm>
          <a:prstGeom prst="roundRect">
            <a:avLst>
              <a:gd name="adj" fmla="val 50000"/>
            </a:avLst>
          </a:prstGeom>
          <a:solidFill>
            <a:srgbClr val="16385C"/>
          </a:solidFill>
          <a:ln/>
        </p:spPr>
      </p:sp>
      <p:sp>
        <p:nvSpPr>
          <p:cNvPr id="3" name="Shape 1"/>
          <p:cNvSpPr/>
          <p:nvPr/>
        </p:nvSpPr>
        <p:spPr>
          <a:xfrm>
            <a:off x="9692640" y="-1280160"/>
            <a:ext cx="3657600" cy="3657600"/>
          </a:xfrm>
          <a:prstGeom prst="roundRect">
            <a:avLst>
              <a:gd name="adj" fmla="val 50000"/>
            </a:avLst>
          </a:prstGeom>
          <a:solidFill>
            <a:srgbClr val="0E7C86"/>
          </a:solidFill>
          <a:ln/>
        </p:spPr>
      </p:sp>
      <p:sp>
        <p:nvSpPr>
          <p:cNvPr id="4" name="Shape 2"/>
          <p:cNvSpPr/>
          <p:nvPr/>
        </p:nvSpPr>
        <p:spPr>
          <a:xfrm>
            <a:off x="-1920240" y="4480560"/>
            <a:ext cx="4572000" cy="4572000"/>
          </a:xfrm>
          <a:prstGeom prst="roundRect">
            <a:avLst>
              <a:gd name="adj" fmla="val 50000"/>
            </a:avLst>
          </a:prstGeom>
          <a:solidFill>
            <a:srgbClr val="16385C"/>
          </a:solidFill>
          <a:ln/>
        </p:spPr>
      </p:sp>
      <p:sp>
        <p:nvSpPr>
          <p:cNvPr id="5" name="Shape 3"/>
          <p:cNvSpPr/>
          <p:nvPr/>
        </p:nvSpPr>
        <p:spPr>
          <a:xfrm>
            <a:off x="822960" y="1600200"/>
            <a:ext cx="914400" cy="914400"/>
          </a:xfrm>
          <a:prstGeom prst="roundRect">
            <a:avLst>
              <a:gd name="adj" fmla="val 50000"/>
            </a:avLst>
          </a:prstGeom>
          <a:solidFill>
            <a:srgbClr val="23B5A6"/>
          </a:solidFill>
          <a:ln/>
        </p:spPr>
      </p:sp>
      <p:pic>
        <p:nvPicPr>
          <p:cNvPr id="6" name="Image 0" descr="preencoded.png"/>
          <p:cNvPicPr>
            <a:picLocks noChangeAspect="1"/>
          </p:cNvPicPr>
          <p:nvPr/>
        </p:nvPicPr>
        <p:blipFill>
          <a:blip r:embed="rId3"/>
          <a:stretch>
            <a:fillRect/>
          </a:stretch>
        </p:blipFill>
        <p:spPr>
          <a:xfrm>
            <a:off x="1042416" y="1819656"/>
            <a:ext cx="475488" cy="475488"/>
          </a:xfrm>
          <a:prstGeom prst="rect">
            <a:avLst/>
          </a:prstGeom>
        </p:spPr>
      </p:pic>
      <p:sp>
        <p:nvSpPr>
          <p:cNvPr id="7" name="Text 4"/>
          <p:cNvSpPr/>
          <p:nvPr/>
        </p:nvSpPr>
        <p:spPr>
          <a:xfrm>
            <a:off x="777240" y="2743200"/>
            <a:ext cx="10515600"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Trân trọng cảm ơn</a:t>
            </a:r>
            <a:endParaRPr lang="en-US" sz="4800" dirty="0"/>
          </a:p>
        </p:txBody>
      </p:sp>
      <p:sp>
        <p:nvSpPr>
          <p:cNvPr id="8" name="Text 5"/>
          <p:cNvSpPr/>
          <p:nvPr/>
        </p:nvSpPr>
        <p:spPr>
          <a:xfrm>
            <a:off x="822960" y="3794760"/>
            <a:ext cx="10058400" cy="457200"/>
          </a:xfrm>
          <a:prstGeom prst="rect">
            <a:avLst/>
          </a:prstGeom>
          <a:noFill/>
          <a:ln/>
        </p:spPr>
        <p:txBody>
          <a:bodyPr wrap="square" lIns="0" tIns="0" rIns="0" bIns="0" rtlCol="0" anchor="ctr"/>
          <a:lstStyle/>
          <a:p>
            <a:pPr marL="0" indent="0">
              <a:buNone/>
            </a:pPr>
            <a:r>
              <a:rPr lang="en-US" sz="1800" i="1" dirty="0">
                <a:solidFill>
                  <a:srgbClr val="BFD6DF"/>
                </a:solidFill>
                <a:latin typeface="Calibri" pitchFamily="34" charset="0"/>
                <a:ea typeface="Calibri" pitchFamily="34" charset="-122"/>
                <a:cs typeface="Calibri" pitchFamily="34" charset="-120"/>
              </a:rPr>
              <a:t>quý thầy cô trong hội đồng đã lắng nghe</a:t>
            </a:r>
            <a:endParaRPr lang="en-US" sz="1800" dirty="0"/>
          </a:p>
        </p:txBody>
      </p:sp>
      <p:sp>
        <p:nvSpPr>
          <p:cNvPr id="9" name="Shape 6"/>
          <p:cNvSpPr/>
          <p:nvPr/>
        </p:nvSpPr>
        <p:spPr>
          <a:xfrm>
            <a:off x="822960" y="4754880"/>
            <a:ext cx="10515600" cy="1234440"/>
          </a:xfrm>
          <a:prstGeom prst="roundRect">
            <a:avLst>
              <a:gd name="adj" fmla="val 8889"/>
            </a:avLst>
          </a:prstGeom>
          <a:solidFill>
            <a:srgbClr val="16385C"/>
          </a:solidFill>
          <a:ln/>
        </p:spPr>
      </p:sp>
      <p:sp>
        <p:nvSpPr>
          <p:cNvPr id="10" name="Text 7"/>
          <p:cNvSpPr/>
          <p:nvPr/>
        </p:nvSpPr>
        <p:spPr>
          <a:xfrm>
            <a:off x="1097280" y="4892040"/>
            <a:ext cx="9966960" cy="960120"/>
          </a:xfrm>
          <a:prstGeom prst="rect">
            <a:avLst/>
          </a:prstGeom>
          <a:noFill/>
          <a:ln/>
        </p:spPr>
        <p:txBody>
          <a:bodyPr wrap="square" lIns="0" tIns="0" rIns="0" bIns="0" rtlCol="0" anchor="ctr"/>
          <a:lstStyle/>
          <a:p>
            <a:pPr marL="0" indent="0">
              <a:lnSpc>
                <a:spcPct val="105000"/>
              </a:lnSpc>
              <a:buNone/>
            </a:pPr>
            <a:r>
              <a:rPr lang="en-US" sz="1400" b="1" dirty="0">
                <a:solidFill>
                  <a:srgbClr val="23B5A6"/>
                </a:solidFill>
                <a:latin typeface="Calibri" pitchFamily="34" charset="0"/>
                <a:ea typeface="Calibri" pitchFamily="34" charset="-122"/>
                <a:cs typeface="Calibri" pitchFamily="34" charset="-120"/>
              </a:rPr>
              <a:t>Đóng góp cá nhân — </a:t>
            </a:r>
            <a:r>
              <a:rPr lang="en-US" sz="1350" dirty="0">
                <a:solidFill>
                  <a:srgbClr val="FFFFFF"/>
                </a:solidFill>
                <a:latin typeface="Calibri" pitchFamily="34" charset="0"/>
                <a:ea typeface="Calibri" pitchFamily="34" charset="-122"/>
                <a:cs typeface="Calibri" pitchFamily="34" charset="-120"/>
              </a:rPr>
              <a:t>Nguyễn Xuân Thưởng (MSSV 0220766): phân tích, thiết kế &amp; hiện thực trọn vẹn phân hệ Quản lý tài sản (Tài sản &amp; bảo trì · Kho – Mua sắm – NCC · Sự cố &amp; SLA) và tham gia xây dựng phần Base cùng nhóm.</a:t>
            </a:r>
            <a:endParaRPr lang="en-US" sz="1400" dirty="0"/>
          </a:p>
        </p:txBody>
      </p:sp>
      <p:sp>
        <p:nvSpPr>
          <p:cNvPr id="11" name="Text 8"/>
          <p:cNvSpPr/>
          <p:nvPr/>
        </p:nvSpPr>
        <p:spPr>
          <a:xfrm>
            <a:off x="822960" y="6144768"/>
            <a:ext cx="10515600" cy="320040"/>
          </a:xfrm>
          <a:prstGeom prst="rect">
            <a:avLst/>
          </a:prstGeom>
          <a:noFill/>
          <a:ln/>
        </p:spPr>
        <p:txBody>
          <a:bodyPr wrap="square" lIns="0" tIns="0" rIns="0" bIns="0" rtlCol="0" anchor="ctr"/>
          <a:lstStyle/>
          <a:p>
            <a:pPr marL="0" indent="0" algn="ctr">
              <a:buNone/>
            </a:pPr>
            <a:r>
              <a:rPr lang="en-US" sz="1300" b="1" kern="0" spc="100" dirty="0">
                <a:solidFill>
                  <a:srgbClr val="BFD6DF"/>
                </a:solidFill>
                <a:latin typeface="Calibri" pitchFamily="34" charset="0"/>
                <a:ea typeface="Calibri" pitchFamily="34" charset="-122"/>
                <a:cs typeface="Calibri" pitchFamily="34" charset="-120"/>
              </a:rPr>
              <a:t>Rất mong nhận được góp ý của quý thầy cô</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611</TotalTime>
  <Words>9339</Words>
  <Application>Microsoft Office PowerPoint</Application>
  <PresentationFormat>Widescreen</PresentationFormat>
  <Paragraphs>884</Paragraphs>
  <Slides>46</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TownHub - Do an tot nghiep</dc:title>
  <dc:subject>PptxGenJS Presentation</dc:subject>
  <dc:creator>Nguyen Xuan Thuong</dc:creator>
  <cp:lastModifiedBy>ADMIN</cp:lastModifiedBy>
  <cp:revision>6</cp:revision>
  <dcterms:created xsi:type="dcterms:W3CDTF">2026-07-28T02:27:45Z</dcterms:created>
  <dcterms:modified xsi:type="dcterms:W3CDTF">2026-07-31T11:44:14Z</dcterms:modified>
</cp:coreProperties>
</file>