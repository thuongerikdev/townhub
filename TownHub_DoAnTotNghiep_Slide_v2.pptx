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91" r:id="rId37"/>
    <p:sldId id="292" r:id="rId38"/>
    <p:sldId id="293" r:id="rId39"/>
    <p:sldId id="294" r:id="rId40"/>
    <p:sldId id="295" r:id="rId41"/>
    <p:sldId id="296" r:id="rId42"/>
    <p:sldId id="297" r:id="rId43"/>
    <p:sldId id="298" r:id="rId44"/>
    <p:sldId id="299" r:id="rId45"/>
    <p:sldId id="283" r:id="rId29"/>
    <p:sldId id="284" r:id="rId30"/>
    <p:sldId id="285" r:id="rId31"/>
    <p:sldId id="286" r:id="rId32"/>
    <p:sldId id="287" r:id="rId33"/>
    <p:sldId id="288" r:id="rId34"/>
    <p:sldId id="289" r:id="rId35"/>
    <p:sldId id="290" r:id="rId36"/>
    <p:sldId id="300" r:id="rId46"/>
    <p:sldId id="301" r:id="rId47"/>
    <p:sldId id="302" r:id="rId48"/>
    <p:sldId id="303" r:id="rId49"/>
    <p:sldId id="304" r:id="rId5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3" d="100"/>
          <a:sy n="83" d="100"/>
        </p:scale>
        <p:origin x="6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E2A47"/>
                </a:solidFill>
                <a:latin typeface="Calibri"/>
              </a:defRPr>
            </a:pPr>
            <a:r>
              <a:rPr lang="en-US" sz="1300" b="0" i="0" u="none" strike="noStrike">
                <a:solidFill>
                  <a:srgbClr val="0E2A47"/>
                </a:solidFill>
                <a:latin typeface="Calibri"/>
              </a:rPr>
              <a:t>Độ chính xác đọc đúng toàn chuỗi (sau fine-tune)</a:t>
            </a:r>
          </a:p>
        </c:rich>
      </c:tx>
      <c:overlay val="0"/>
    </c:title>
    <c:autoTitleDeleted val="0"/>
    <c:plotArea>
      <c:layout/>
      <c:barChart>
        <c:barDir val="col"/>
        <c:grouping val="clustered"/>
        <c:varyColors val="0"/>
        <c:ser>
          <c:idx val="0"/>
          <c:order val="0"/>
          <c:tx>
            <c:strRef>
              <c:f>Sheet1!$B$1</c:f>
              <c:strCache>
                <c:ptCount val="1"/>
                <c:pt idx="0">
                  <c:v>Seq-acc (đọc đúng toàn chuỗi)</c:v>
                </c:pt>
              </c:strCache>
            </c:strRef>
          </c:tx>
          <c:spPr>
            <a:solidFill>
              <a:srgbClr val="0E7C86">
                <a:alpha val="100000"/>
              </a:srgbClr>
            </a:solidFill>
            <a:effectLst/>
          </c:spPr>
          <c:invertIfNegative val="0"/>
          <c:dLbls>
            <c:numFmt formatCode="0%" sourceLinked="0"/>
            <c:spPr>
              <a:noFill/>
              <a:ln>
                <a:noFill/>
              </a:ln>
              <a:effectLst/>
            </c:spPr>
            <c:txPr>
              <a:bodyPr/>
              <a:lstStyle/>
              <a:p>
                <a:pPr>
                  <a:defRPr sz="1100" b="1" i="0" u="none" strike="noStrike">
                    <a:solidFill>
                      <a:srgbClr val="0E2A47"/>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VietOCR</c:v>
                </c:pt>
                <c:pt idx="1">
                  <c:v>PaddleOCR</c:v>
                </c:pt>
                <c:pt idx="2">
                  <c:v>EasyOCR</c:v>
                </c:pt>
              </c:strCache>
            </c:strRef>
          </c:cat>
          <c:val>
            <c:numRef>
              <c:f>Sheet1!$B$2:$B$4</c:f>
              <c:numCache>
                <c:formatCode>General</c:formatCode>
                <c:ptCount val="3"/>
                <c:pt idx="0">
                  <c:v>1</c:v>
                </c:pt>
                <c:pt idx="1">
                  <c:v>0.89300000000000002</c:v>
                </c:pt>
                <c:pt idx="2">
                  <c:v>0.51</c:v>
                </c:pt>
              </c:numCache>
            </c:numRef>
          </c:val>
          <c:extLst>
            <c:ext xmlns:c16="http://schemas.microsoft.com/office/drawing/2014/chart" uri="{C3380CC4-5D6E-409C-BE32-E72D297353CC}">
              <c16:uniqueId val="{00000000-38B6-4424-A462-0135D2C97D6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22303C"/>
                </a:solidFill>
                <a:latin typeface="Arial"/>
              </a:defRPr>
            </a:pPr>
            <a:endParaRPr lang="en-US"/>
          </a:p>
        </c:txPr>
        <c:crossAx val="2094734552"/>
        <c:crosses val="autoZero"/>
        <c:auto val="1"/>
        <c:lblAlgn val="ctr"/>
        <c:lblOffset val="100"/>
        <c:noMultiLvlLbl val="1"/>
      </c:catAx>
      <c:valAx>
        <c:axId val="2094734552"/>
        <c:scaling>
          <c:orientation val="minMax"/>
          <c:max val="1.1499999999999999"/>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3301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thầy cô trong hội đồng. Em là Nguyễn Xuân Thưởng, lớp 66KSCS. Em xin trình bày đồ án tốt nghiệp: Xây dựng hệ thống quản lý vận hành tòa nhà TownHub, dưới sự hướng dẫn của thầy ThS. Hoàng Nam Thắng. Đây là đồ án nhóm 3 thành viên; phần em trình bày sâu là phân hệ Quản lý tài sản.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6 phần. Em sẽ đi nhanh phần bối cảnh và khảo sát, dành phần lớn thời gian cho phân hệ Quản lý tài sản — phần đóng góp cá nhân của em — đặc biệt là thành phần OCR hóa đơn.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Cùng tốc độ đô thị hóa, quy mô tòa nhà ngày càng lớn: hàng trăm tài sản và hàng nghìn cư dân. Nhưng phần lớn vẫn quản lý thủ công, rời rạc, dẫn tới sai sót và số liệu không khớp sổ kế toán. Đó là lý do nhóm chọn đề tài TownHub.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Khảo sát cho thấy bất cập trải đều ba nhóm nghiệp vụ. Phần em phụ trách là nhóm Tài sản: khấu hao sai, bỏ sót bảo trì, tồn kho lệch, số liệu không khớp sổ kế toán. Từ đây đặt ra yêu cầu một nền tảng tập trung và liên thông.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Đồ án theo nhóm 3 người. Phần Base dùng chung do cả nhóm xây. Trên nền đó, mỗi thành viên đảm nhiệm một phân hệ riêng. Em phụ trách phân hệ Quản lý tài sản gồm 3 nghiệp vụ liên thông — đây là trọng tâm báo cáo. Hai phân hệ dân cư và dịch vụ do bạn khác làm, không thuộc phạm vi trình bày hôm nay.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xây, nhóm khảo sát 3 phần mềm thương mại đang chạy thực tế tại Việt Nam. Building Care của S-TECH đã triển khai 60+ dự án, mạnh về số hóa yêu cầu bảo trì. Landsoft Control mạnh về vòng đời thiết bị và thanh toán tự gạch nợ. CyHome là SaaS trên AWS, 200+ dự án, có app riêng cho kỹ thuật viên chốt số hiện trường. Đây đều là ảnh chụp thật từ trang chính thức.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khảo sát 3 phần mềm thương mại đang chạy thực tế và cách làm thủ công. Các sản phẩm thương mại rất trưởng thành nhưng đóng, đắt, khó tùy biến, và thường thiếu 3 thứ: OCR hóa đơn tiếng Việt, kế toán tài sản với bút toán Nợ/Có, và nhận diện khuôn mặt. Đó chính là điểm khác biệt TownHub hướng tới.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pháp đề xuất: kiến trúc module hóa. Ba phân hệ nghiệp vụ ngang hàng cùng kế thừa nền tảng Base dùng chung. Backend chia 3 module Auth–Base–Asset tương ứng 3 schema, giao tiếp qua Guid cross-service. Nhờ vậy các thành viên phát triển song song, dễ bảo trì, dễ mở rộng.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công nghệ: backend .NET 8 với EF Core và PostgreSQL; frontend Next.js 16 – React 19. Bảo mật đầy đủ JWT, OAuth, MFA và RBAC 74 quyền. Thành phần AI/OCR viết bằng Python/FastAPI tách riêng. Triển khai bằng Docker trên Fly.io. Các lựa chọn được cả nhóm thống nhất từ đầu để các module tích hợp đồng nhất.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tổng thể tách rõ frontend và backend, giao tiếp qua REST API và JWT. Backend theo kiến trúc phân tầng Controllers → ApplicationService → Domain → Infrastructure, chia 3 module. Mọi API trả về ResponseDto&lt;T&gt; thống nhất. Tầng dữ liệu gồm PostgreSQL 3 schema, Redis, Cloudinary và dịch vụ OCR/email.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Base là xương sống, do cả nhóm xây. Về xác thực: 3 phương thức đăng nhập, token rotation, MFA TOTP. Về phân quyền: RBAC với 74 quyền và 6 vai trò nghiệp vụ. Điểm em chú trọng là đặc quyền tối thiểu: tách quyền mịn, policy tổng hợp theo phép hoặc, và giới hạn tầm nhìn dữ liệu theo bản ghi — kỹ thuật viên chỉ thấy phiếu được giao cho mình.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Ngoài Auth, Base cung cấp 4 dịch vụ nền tảng: quản lý người dùng kèm Audit Log, engine thông báo đa kênh, cấu hình danh mục dùng chung, và báo cáo dashboard. Các phân hệ nghiệp vụ chỉ việc gọi lại, không phải xây kênh riêng. Bên dưới là giao diện thật của Dashboard và màn hình phân quyền RBAC.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trọng tâm — phân hệ Quản lý tài sản do em trực tiếp phân tích, thiết kế và lập trình. Nó gồm 3 nghiệp vụ liên thông: Tài sản &amp; bảo trì, Kho–Mua sắm–NCC, và Sự cố &amp; SLA. Cả ba thuộc module Asset và kế thừa Base. Em sẽ đi lần lượt từng nghiệp vụ.</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Nghiệp vụ đầu tiên quản lý trọn vòng đời tài sản: ghi tăng, điều chuyển, khấu hao, bảo trì, thanh lý — mỗi bước sinh chứng từ kế toán. Hệ thống hỗ trợ 3 phương pháp khấu hao và mã QR tự sinh cho từng tài sản để check-in và kiểm kê hiện trường.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quan trọng để trả lời phản biện: các luồng nghiệp vụ của em không thiết kế tùy tiện mà kế thừa các chuẩn đã kiểm chứng — Procure-to-Pay và Maintenance của Odoo, Incident Management theo ITIL/Atlassian, Cycle Count của Odoo Inventory. Bảng bên trái cho thấy mỗi luồng kế thừa gì và TownHub bổ sung gì (OCR tiếng Việt, đối chiếu 3 chiều, bút toán kế toán, SLA cho tòa nhà). Bên phải là lưu đồ thực thi em tự thiết kế cho luồng mua sắm.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em muốn nhấn: tích hợp kế toán. Mọi biến động — ghi tăng, khấu hao, thanh lý — đều tự sinh chứng từ với định khoản Nợ/Có theo Thông tư 200. Từ nền chứng từ đó, hệ thống dẫn xuất 5 loại sổ sách và báo cáo, luôn khớp sổ. Đây là thứ nhiều phần mềm thương mại còn thiếu.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Bảo trì phòng ngừa là quy trình khép kín 6 bước: từ lịch bảo trì, tự sinh Work Order khi tới hạn, phân công kỹ thuật viên, check-in bằng QR, thực hiện checklist có ảnh minh chứng, đến nghiệm thu. Chi phí bảo trì được hạch toán: sửa chữa tính chi phí, nâng cấp cộng nguyên giá; thiếu vật tư thì xuất kho hoặc tự tạo đề xuất mua.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Nghiệp vụ 2 gồm 3 khối. Kho: mọi biến động ghi qua InventoryTransaction, cảnh báo tồn thấp. Mua sắm theo quy trình chuẩn PR→duyệt→PO→hóa đơn, tham chiếu mô hình Procure-to-Pay của Odoo. Kiểm kê định kỳ bằng phiếu StockTake, tự sinh điều chỉnh tồn. Và quản lý nhà cung cấp kèm hợp đồng, đánh giá. Bước hóa đơn có OCR — slide sau em đi sâu.</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OCR hóa đơn là use case trung tâm. Dịch vụ viết bằng Python/FastAPI, tách riêng, chạy bất đồng bộ qua hàng đợi để không chặn giao diện. Có 3 engine tự chủ chạy offline. Quan trọng: kết quả OCR không ghi thẳng mà phải qua đối chiếu 3 chiều với đơn mua — nhà cung cấp, tổng tiền, và danh mục vật tư. Tiêu chí thứ ba là cần thiết vì hóa đơn đúng tiền vẫn có thể giao sai mặt hàng.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toán OCR đã trưởng thành, nên trước khi tự xây em khảo sát 2 nhóm. Nhóm 1 là các API đám mây (Google, Azure, Amazon) — chính xác cao nhưng phải gửi dữ liệu ra ngoài và tốn phí theo lượt, riêng Textract bảng biểu tới 65 USD/1000 trang. Nhóm 2 là mô hình mã nguồn mở: trên bảng xếp hạng OmniDocBench của CVPR 2025, họ PaddleOCR-VL đứng đầu. Vì cần chạy offline, bảo mật dữ liệu và fine-tune được cho hóa đơn Việt, em chọn hướng tự chủ với PaddleOCR và VietOCR.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kiến trúc pipeline dịch vụ OCR, đồng bộ với mã nguồn. Ảnh vào được chuẩn hóa RGB, gọi API /extract, rồi định tuyến theo engine tới một trong ba engine TỰ CHỦ: vietocr (EasyOCR phát hiện + VietOCR nhận dạng), paddleocr mặc định (DBNet + SVTR_LCNet của PP-OCRv4), và paddledet_viet là biến thể lai DBNet + VietOCR. Dù engine nào, kết quả cũng quy về danh sách dòng chuẩn hóa rồi vào chung hàm bóc tách, ghi Invoice để đối chiếu PO. Cả ba đều chạy offline, không gửi dữ liệu ra ngoài — đúng với lý do không dùng dịch vụ đám mây ở slide trước.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không có dữ liệu hóa đơn thật gán nhãn, em tự sinh 400–500 hóa đơn GTGT tiếng Việt, script tự render và tự ghi tọa độ + nội dung nên xuất được cả nhãn phát hiện lẫn nhận dạng, kèm bảng ký tự 137 ký tự. Ảnh được tăng cường cho giống thật và chuẩn hóa về RGB. Về tham số: VietOCR train 20.000 iterations batch 32; PaddleOCR recognition 80 epoch batch 64 với Adam+Cosine lr 0,001; detection 150 epoch. Đầu ra là JSON gồm các trường và danh sách dòng hàng cùng độ tin cậy. Kết quả recognition đạt val accuracy 99,64% ở epoch 41.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đóng góp kỹ thuật em tâm đắc. Vì không có dữ liệu hóa đơn thật gán nhãn, em tự sinh 400–500 hóa đơn GTGT tiếng Việt, tự gán nhãn cả phát hiện lẫn nhận dạng. Sau fine-tune: VietOCR đọc đúng cả 300/300 mẫu, PaddleOCR 89,3%, EasyOCR 51%. Về tốc độ PaddleOCR nhanh nhất 65ms. Em chọn PaddleOCR mặc định vì hợp nhất, nhẹ, tinh chỉnh trọn gói; giữ VietOCR khi cần chính xác cao nhất. Bỏ phiếu 3 engine không có lợi vì bị engine yếu kéo xuống.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Ngoài mô hình AI, em tự thiết kế một thuật toán bóc tách bảng kháng nghiêng, chạy sau tầng OCR, không cần huấn luyện. Pha A ước lượng độ nghiêng từ hàng tiêu đề rồi nắn thẳng tọa độ bằng phép trượt y′ = y − a·x. Pha B tái tạo bảng bằng phân cụm dòng và gán cột. Độ phức tạp O(n log n), tách đúng 7/7 dòng trên hóa đơn nghiêng trong khi cách gom thô chỉ được 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Nghiệp vụ 3 khép kín chuỗi phân hệ tài sản. Ticket đi qua vòng đời trạng thái, mỗi bước ghi lịch sử. Điểm nhấn là giám sát SLA: cấu hình thời gian theo mức ưu tiên, tự động leo thang và ghi nhật ký khi trễ hạn. Sau khi đóng, cư dân chấm sao. Ticket liên thông trực tiếp với tài sản, kho và mua sắm.</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triển khai: backend đóng gói Docker multi-stage và chạy trên Fly.io với HTTPS. Frontend build production, trỏ backend qua biến môi trường. CSDL đồng bộ bằng EF Core migrations cho cả 3 schema. Các dịch vụ ngoài Redis, Cloudinary, email kết nối qua cấu hình.</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kiểm thử theo ca, kết hợp Swagger và giao diện, các thành viên kiểm thử chéo phân hệ của nhau cho khách quan. Nhật ký lỗi quản lý trên Excel, mỗi lỗi kèm ảnh, theo dõi qua 3 vòng test. Các ca tiêu biểu — từ đăng nhập MFA, ghi tăng tài sản, khấu hao, OCR, tới leo thang SLA — đều đạt.</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cả 3 nghiệp vụ của phân hệ được hiện thực đầy đủ trên backend và frontend, chạy trên dữ liệu thật, có phân trang, tìm kiếm, phân quyền. Đánh giá theo 4 mặt: chức năng đáp ứng yêu cầu, hiệu năng nhờ phân trang server và OCR bất đồng bộ, bảo mật JWT–MFA–RBAC, và thành phần thông minh OCR + khấu hao tự động.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hạn chế: tầng phát hiện OCR học trên dữ liệu synthetic còn yếu, cần thêm hóa đơn thật; một số tối ưu ở dữ liệu lớn chưa kiểm chứng; app di động mới cơ bản. Hướng phát triển: nâng độ chính xác OCR, tích hợp IoT để dự báo bảo trì, thêm phân tích và cảnh báo thông minh, và hoàn thiện ứng dụng di động.</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kết thúc phần trình bày. Tóm lại, đóng góp cá nhân của em là phân hệ Quản lý tài sản với 3 nghiệp vụ liên thông và thành phần OCR hóa đơn tự thiết kế. Em xin chân thành cảm ơn quý thầy cô và rất mong nhận được các câu hỏi, góp ý.</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9.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67.png"/><Relationship Id="rId4" Type="http://schemas.openxmlformats.org/officeDocument/2006/relationships/image" Target="../media/image66.png"/></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69.png"/><Relationship Id="rId4" Type="http://schemas.openxmlformats.org/officeDocument/2006/relationships/image" Target="../media/image68.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3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72.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1.png"/><Relationship Id="rId4" Type="http://schemas.openxmlformats.org/officeDocument/2006/relationships/image" Target="../media/image20.png"/></Relationships>
</file>

<file path=ppt/slides/_rels/slide4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6.png"/><Relationship Id="rId7"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75.png"/><Relationship Id="rId4" Type="http://schemas.openxmlformats.org/officeDocument/2006/relationships/image" Target="../media/image74.png"/><Relationship Id="rId9" Type="http://schemas.openxmlformats.org/officeDocument/2006/relationships/image" Target="../media/image78.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9509760" y="-2011680"/>
            <a:ext cx="4754880" cy="4754880"/>
          </a:xfrm>
          <a:prstGeom prst="roundRect">
            <a:avLst>
              <a:gd name="adj" fmla="val 50000"/>
            </a:avLst>
          </a:prstGeom>
          <a:solidFill>
            <a:srgbClr val="16385C"/>
          </a:solidFill>
          <a:ln/>
        </p:spPr>
      </p:sp>
      <p:sp>
        <p:nvSpPr>
          <p:cNvPr id="3" name="Shape 1"/>
          <p:cNvSpPr/>
          <p:nvPr/>
        </p:nvSpPr>
        <p:spPr>
          <a:xfrm>
            <a:off x="10332720" y="-1371600"/>
            <a:ext cx="3291840" cy="3291840"/>
          </a:xfrm>
          <a:prstGeom prst="roundRect">
            <a:avLst>
              <a:gd name="adj" fmla="val 50000"/>
            </a:avLst>
          </a:prstGeom>
          <a:solidFill>
            <a:srgbClr val="0E7C86"/>
          </a:solidFill>
          <a:ln/>
        </p:spPr>
      </p:sp>
      <p:sp>
        <p:nvSpPr>
          <p:cNvPr id="4" name="Shape 2"/>
          <p:cNvSpPr/>
          <p:nvPr/>
        </p:nvSpPr>
        <p:spPr>
          <a:xfrm>
            <a:off x="-1463040" y="4663440"/>
            <a:ext cx="3840480" cy="3840480"/>
          </a:xfrm>
          <a:prstGeom prst="roundRect">
            <a:avLst>
              <a:gd name="adj" fmla="val 50000"/>
            </a:avLst>
          </a:prstGeom>
          <a:solidFill>
            <a:srgbClr val="16385C"/>
          </a:solidFill>
          <a:ln/>
        </p:spPr>
      </p:sp>
      <p:sp>
        <p:nvSpPr>
          <p:cNvPr id="5" name="Text 3"/>
          <p:cNvSpPr/>
          <p:nvPr/>
        </p:nvSpPr>
        <p:spPr>
          <a:xfrm>
            <a:off x="822960" y="548640"/>
            <a:ext cx="8229600" cy="274320"/>
          </a:xfrm>
          <a:prstGeom prst="rect">
            <a:avLst/>
          </a:prstGeom>
          <a:noFill/>
          <a:ln/>
        </p:spPr>
        <p:txBody>
          <a:bodyPr wrap="square" lIns="0" tIns="0" rIns="0" bIns="0" rtlCol="0" anchor="ctr"/>
          <a:lstStyle/>
          <a:p>
            <a:pPr marL="0" indent="0">
              <a:buNone/>
            </a:pPr>
            <a:r>
              <a:rPr lang="en-US" sz="1200" kern="0" spc="100" dirty="0">
                <a:solidFill>
                  <a:srgbClr val="BFD6DF"/>
                </a:solidFill>
                <a:latin typeface="Calibri" pitchFamily="34" charset="0"/>
                <a:ea typeface="Calibri" pitchFamily="34" charset="-122"/>
                <a:cs typeface="Calibri" pitchFamily="34" charset="-120"/>
              </a:rPr>
              <a:t>BỘ GIÁO DỤC VÀ ĐÀO TẠO</a:t>
            </a:r>
            <a:endParaRPr lang="en-US" sz="1200" dirty="0"/>
          </a:p>
        </p:txBody>
      </p:sp>
      <p:sp>
        <p:nvSpPr>
          <p:cNvPr id="6" name="Text 4"/>
          <p:cNvSpPr/>
          <p:nvPr/>
        </p:nvSpPr>
        <p:spPr>
          <a:xfrm>
            <a:off x="822960" y="822960"/>
            <a:ext cx="10058400" cy="320040"/>
          </a:xfrm>
          <a:prstGeom prst="rect">
            <a:avLst/>
          </a:prstGeom>
          <a:noFill/>
          <a:ln/>
        </p:spPr>
        <p:txBody>
          <a:bodyPr wrap="square" lIns="0" tIns="0" rIns="0" bIns="0" rtlCol="0" anchor="ctr"/>
          <a:lstStyle/>
          <a:p>
            <a:pPr marL="0" indent="0">
              <a:buNone/>
            </a:pPr>
            <a:r>
              <a:rPr lang="en-US" sz="1350" b="1" kern="0" spc="50" dirty="0">
                <a:solidFill>
                  <a:srgbClr val="FFFFFF"/>
                </a:solidFill>
                <a:latin typeface="Calibri" pitchFamily="34" charset="0"/>
                <a:ea typeface="Calibri" pitchFamily="34" charset="-122"/>
                <a:cs typeface="Calibri" pitchFamily="34" charset="-120"/>
              </a:rPr>
              <a:t>TRƯỜNG ĐẠI HỌC XÂY DỰNG HÀ NỘI  ·  KHOA CÔNG NGHỆ THÔNG TIN</a:t>
            </a:r>
            <a:endParaRPr lang="en-US" sz="1350" dirty="0"/>
          </a:p>
        </p:txBody>
      </p:sp>
      <p:sp>
        <p:nvSpPr>
          <p:cNvPr id="7" name="Shape 5"/>
          <p:cNvSpPr/>
          <p:nvPr/>
        </p:nvSpPr>
        <p:spPr>
          <a:xfrm>
            <a:off x="822960" y="1691640"/>
            <a:ext cx="868680" cy="868680"/>
          </a:xfrm>
          <a:prstGeom prst="roundRect">
            <a:avLst>
              <a:gd name="adj" fmla="val 50000"/>
            </a:avLst>
          </a:prstGeom>
          <a:solidFill>
            <a:srgbClr val="23B5A6"/>
          </a:solidFill>
          <a:ln/>
        </p:spPr>
      </p:sp>
      <p:pic>
        <p:nvPicPr>
          <p:cNvPr id="8" name="Image 0" descr="preencoded.png"/>
          <p:cNvPicPr>
            <a:picLocks noChangeAspect="1"/>
          </p:cNvPicPr>
          <p:nvPr/>
        </p:nvPicPr>
        <p:blipFill>
          <a:blip r:embed="rId3"/>
          <a:stretch>
            <a:fillRect/>
          </a:stretch>
        </p:blipFill>
        <p:spPr>
          <a:xfrm>
            <a:off x="1031443" y="1900123"/>
            <a:ext cx="451714" cy="451714"/>
          </a:xfrm>
          <a:prstGeom prst="rect">
            <a:avLst/>
          </a:prstGeom>
        </p:spPr>
      </p:pic>
      <p:sp>
        <p:nvSpPr>
          <p:cNvPr id="9" name="Text 6"/>
          <p:cNvSpPr/>
          <p:nvPr/>
        </p:nvSpPr>
        <p:spPr>
          <a:xfrm>
            <a:off x="1920240" y="1700784"/>
            <a:ext cx="7315200" cy="384048"/>
          </a:xfrm>
          <a:prstGeom prst="rect">
            <a:avLst/>
          </a:prstGeom>
          <a:noFill/>
          <a:ln/>
        </p:spPr>
        <p:txBody>
          <a:bodyPr wrap="square" lIns="0" tIns="0" rIns="0" bIns="0" rtlCol="0" anchor="ctr"/>
          <a:lstStyle/>
          <a:p>
            <a:pPr marL="0" indent="0">
              <a:buNone/>
            </a:pPr>
            <a:r>
              <a:rPr lang="en-US" sz="1600" b="1" kern="0" spc="300" dirty="0">
                <a:solidFill>
                  <a:srgbClr val="23B5A6"/>
                </a:solidFill>
                <a:latin typeface="Calibri" pitchFamily="34" charset="0"/>
                <a:ea typeface="Calibri" pitchFamily="34" charset="-122"/>
                <a:cs typeface="Calibri" pitchFamily="34" charset="-120"/>
              </a:rPr>
              <a:t>ĐỒ ÁN TỐT NGHIỆP</a:t>
            </a:r>
            <a:endParaRPr lang="en-US" sz="1600" dirty="0"/>
          </a:p>
        </p:txBody>
      </p:sp>
      <p:sp>
        <p:nvSpPr>
          <p:cNvPr id="10" name="Text 7"/>
          <p:cNvSpPr/>
          <p:nvPr/>
        </p:nvSpPr>
        <p:spPr>
          <a:xfrm>
            <a:off x="1920240" y="2084832"/>
            <a:ext cx="7315200" cy="320040"/>
          </a:xfrm>
          <a:prstGeom prst="rect">
            <a:avLst/>
          </a:prstGeom>
          <a:noFill/>
          <a:ln/>
        </p:spPr>
        <p:txBody>
          <a:bodyPr wrap="square" lIns="0" tIns="0" rIns="0" bIns="0" rtlCol="0" anchor="ctr"/>
          <a:lstStyle/>
          <a:p>
            <a:pPr marL="0" indent="0">
              <a:buNone/>
            </a:pPr>
            <a:r>
              <a:rPr lang="en-US" sz="1250" dirty="0">
                <a:solidFill>
                  <a:srgbClr val="BFD6DF"/>
                </a:solidFill>
                <a:latin typeface="Calibri" pitchFamily="34" charset="0"/>
                <a:ea typeface="Calibri" pitchFamily="34" charset="-122"/>
                <a:cs typeface="Calibri" pitchFamily="34" charset="-120"/>
              </a:rPr>
              <a:t>Ngành: Công nghệ thông tin</a:t>
            </a:r>
            <a:endParaRPr lang="en-US" sz="1250" dirty="0"/>
          </a:p>
        </p:txBody>
      </p:sp>
      <p:sp>
        <p:nvSpPr>
          <p:cNvPr id="11" name="Text 8"/>
          <p:cNvSpPr/>
          <p:nvPr/>
        </p:nvSpPr>
        <p:spPr>
          <a:xfrm>
            <a:off x="777240" y="2697480"/>
            <a:ext cx="10424160" cy="1554480"/>
          </a:xfrm>
          <a:prstGeom prst="rect">
            <a:avLst/>
          </a:prstGeom>
          <a:noFill/>
          <a:ln/>
        </p:spPr>
        <p:txBody>
          <a:bodyPr wrap="square" lIns="0" tIns="0" rIns="0" bIns="0" rtlCol="0" anchor="ctr"/>
          <a:lstStyle/>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XÂY DỰNG HỆ THỐNG QUẢN LÝ</a:t>
            </a:r>
            <a:endParaRPr lang="en-US" sz="4000" dirty="0"/>
          </a:p>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VẬN HÀNH TÒA NHÀ — TOWNHUB</a:t>
            </a:r>
            <a:endParaRPr lang="en-US" sz="4000" dirty="0"/>
          </a:p>
        </p:txBody>
      </p:sp>
      <p:sp>
        <p:nvSpPr>
          <p:cNvPr id="12" name="Text 9"/>
          <p:cNvSpPr/>
          <p:nvPr/>
        </p:nvSpPr>
        <p:spPr>
          <a:xfrm>
            <a:off x="822960" y="4224528"/>
            <a:ext cx="10058400" cy="365760"/>
          </a:xfrm>
          <a:prstGeom prst="rect">
            <a:avLst/>
          </a:prstGeom>
          <a:noFill/>
          <a:ln/>
        </p:spPr>
        <p:txBody>
          <a:bodyPr wrap="square" lIns="0" tIns="0" rIns="0" bIns="0" rtlCol="0" anchor="ctr"/>
          <a:lstStyle/>
          <a:p>
            <a:pPr marL="0" indent="0">
              <a:buNone/>
            </a:pPr>
            <a:r>
              <a:rPr lang="en-US" sz="1500" i="1" dirty="0">
                <a:solidFill>
                  <a:srgbClr val="BFD6DF"/>
                </a:solidFill>
                <a:latin typeface="Calibri" pitchFamily="34" charset="0"/>
                <a:ea typeface="Calibri" pitchFamily="34" charset="-122"/>
                <a:cs typeface="Calibri" pitchFamily="34" charset="-120"/>
              </a:rPr>
              <a:t>Building Operation &amp; Maintenance Management System</a:t>
            </a:r>
            <a:endParaRPr lang="en-US" sz="1500" dirty="0"/>
          </a:p>
        </p:txBody>
      </p:sp>
      <p:sp>
        <p:nvSpPr>
          <p:cNvPr id="13" name="Shape 10"/>
          <p:cNvSpPr/>
          <p:nvPr/>
        </p:nvSpPr>
        <p:spPr>
          <a:xfrm>
            <a:off x="822960" y="5029200"/>
            <a:ext cx="5074920" cy="1234440"/>
          </a:xfrm>
          <a:prstGeom prst="roundRect">
            <a:avLst>
              <a:gd name="adj" fmla="val 8889"/>
            </a:avLst>
          </a:prstGeom>
          <a:solidFill>
            <a:srgbClr val="16385C"/>
          </a:solidFill>
          <a:ln/>
        </p:spPr>
      </p:sp>
      <p:sp>
        <p:nvSpPr>
          <p:cNvPr id="14" name="Text 11"/>
          <p:cNvSpPr/>
          <p:nvPr/>
        </p:nvSpPr>
        <p:spPr>
          <a:xfrm>
            <a:off x="1051560" y="5138928"/>
            <a:ext cx="4663440" cy="1005840"/>
          </a:xfrm>
          <a:prstGeom prst="rect">
            <a:avLst/>
          </a:prstGeom>
          <a:noFill/>
          <a:ln/>
        </p:spPr>
        <p:txBody>
          <a:bodyPr wrap="square" lIns="0" tIns="0" rIns="0" bIns="0" rtlCol="0" anchor="ctr"/>
          <a:lstStyle/>
          <a:p>
            <a:pPr marL="0" indent="0">
              <a:lnSpc>
                <a:spcPct val="100000"/>
              </a:lnSpc>
              <a:buNone/>
            </a:pPr>
            <a:r>
              <a:rPr lang="en-US" sz="1050" b="1" kern="0" dirty="0">
                <a:solidFill>
                  <a:srgbClr val="23B5A6"/>
                </a:solidFill>
                <a:latin typeface="Calibri" pitchFamily="34" charset="0"/>
                <a:ea typeface="Calibri" pitchFamily="34" charset="-122"/>
                <a:cs typeface="Calibri" pitchFamily="34" charset="-120"/>
              </a:rPr>
              <a:t xml:space="preserve">Sinh viên thực hiện (nhóm 3)</a:t>
            </a:r>
          </a:p>
          <a:p>
            <a:pPr marL="0" indent="0">
              <a:lnSpc>
                <a:spcPct val="100000"/>
              </a:lnSpc>
              <a:buNone/>
            </a:pPr>
            <a:r>
              <a:rPr lang="en-US" sz="1250" b="1" kern="0" dirty="0">
                <a:solidFill>
                  <a:srgbClr val="FFFFFF"/>
                </a:solidFill>
                <a:latin typeface="Calibri" pitchFamily="34" charset="0"/>
                <a:ea typeface="Calibri" pitchFamily="34" charset="-122"/>
                <a:cs typeface="Calibri" pitchFamily="34" charset="-120"/>
              </a:rPr>
              <a:t xml:space="preserve">Nguyễn Xuân Thưởng</a:t>
            </a:r>
            <a:r>
              <a:rPr lang="en-US" sz="1000" kern="0" dirty="0">
                <a:solidFill>
                  <a:srgbClr val="BFD6DF"/>
                </a:solidFill>
                <a:latin typeface="Calibri" pitchFamily="34" charset="0"/>
                <a:ea typeface="Calibri" pitchFamily="34" charset="-122"/>
                <a:cs typeface="Calibri" pitchFamily="34" charset="-120"/>
              </a:rPr>
              <a:t xml:space="preserve">   ·   Quản lý tài sản</a:t>
            </a:r>
          </a:p>
          <a:p>
            <a:pPr marL="0" indent="0">
              <a:lnSpc>
                <a:spcPct val="100000"/>
              </a:lnSpc>
              <a:spcBef>
                <a:spcPts val="300"/>
              </a:spcBef>
              <a:buNone/>
            </a:pPr>
            <a:r>
              <a:rPr lang="en-US" sz="1250" b="1" kern="0" dirty="0">
                <a:solidFill>
                  <a:srgbClr val="FFFFFF"/>
                </a:solidFill>
                <a:latin typeface="Calibri" pitchFamily="34" charset="0"/>
                <a:ea typeface="Calibri" pitchFamily="34" charset="-122"/>
                <a:cs typeface="Calibri" pitchFamily="34" charset="-120"/>
              </a:rPr>
              <a:t xml:space="preserve">Nguyễn Xuân Khải</a:t>
            </a:r>
            <a:r>
              <a:rPr lang="en-US" sz="1000" kern="0" dirty="0">
                <a:solidFill>
                  <a:srgbClr val="BFD6DF"/>
                </a:solidFill>
                <a:latin typeface="Calibri" pitchFamily="34" charset="0"/>
                <a:ea typeface="Calibri" pitchFamily="34" charset="-122"/>
                <a:cs typeface="Calibri" pitchFamily="34" charset="-120"/>
              </a:rPr>
              <a:t xml:space="preserve">   ·   Quản lý dịch vụ</a:t>
            </a:r>
          </a:p>
          <a:p>
            <a:pPr marL="0" indent="0">
              <a:lnSpc>
                <a:spcPct val="100000"/>
              </a:lnSpc>
              <a:spcBef>
                <a:spcPts val="300"/>
              </a:spcBef>
              <a:buNone/>
            </a:pPr>
            <a:r>
              <a:rPr lang="en-US" sz="1250" b="1" kern="0" dirty="0">
                <a:solidFill>
                  <a:srgbClr val="FFFFFF"/>
                </a:solidFill>
                <a:latin typeface="Calibri" pitchFamily="34" charset="0"/>
                <a:ea typeface="Calibri" pitchFamily="34" charset="-122"/>
                <a:cs typeface="Calibri" pitchFamily="34" charset="-120"/>
              </a:rPr>
              <a:t xml:space="preserve">Lương Thanh Tài</a:t>
            </a:r>
            <a:r>
              <a:rPr lang="en-US" sz="1000" kern="0" dirty="0">
                <a:solidFill>
                  <a:srgbClr val="BFD6DF"/>
                </a:solidFill>
                <a:latin typeface="Calibri" pitchFamily="34" charset="0"/>
                <a:ea typeface="Calibri" pitchFamily="34" charset="-122"/>
                <a:cs typeface="Calibri" pitchFamily="34" charset="-120"/>
              </a:rPr>
              <a:t xml:space="preserve">   ·   Quản lý dân cư</a:t>
            </a:r>
          </a:p>
        </p:txBody>
      </p:sp>
      <p:sp>
        <p:nvSpPr>
          <p:cNvPr id="15" name="Shape 12"/>
          <p:cNvSpPr/>
          <p:nvPr/>
        </p:nvSpPr>
        <p:spPr>
          <a:xfrm>
            <a:off x="6080760" y="5029200"/>
            <a:ext cx="5120640" cy="1234440"/>
          </a:xfrm>
          <a:prstGeom prst="roundRect">
            <a:avLst>
              <a:gd name="adj" fmla="val 8889"/>
            </a:avLst>
          </a:prstGeom>
          <a:solidFill>
            <a:srgbClr val="16385C"/>
          </a:solidFill>
          <a:ln/>
        </p:spPr>
      </p:sp>
      <p:sp>
        <p:nvSpPr>
          <p:cNvPr id="16" name="Text 13"/>
          <p:cNvSpPr/>
          <p:nvPr/>
        </p:nvSpPr>
        <p:spPr>
          <a:xfrm>
            <a:off x="6309360" y="5138928"/>
            <a:ext cx="4663440" cy="1005840"/>
          </a:xfrm>
          <a:prstGeom prst="rect">
            <a:avLst/>
          </a:prstGeom>
          <a:noFill/>
          <a:ln/>
        </p:spPr>
        <p:txBody>
          <a:bodyPr wrap="square" lIns="0" tIns="0" rIns="0" bIns="0" rtlCol="0" anchor="ctr"/>
          <a:lstStyle/>
          <a:p>
            <a:pPr marL="0" indent="0">
              <a:lnSpc>
                <a:spcPct val="110000"/>
              </a:lnSpc>
              <a:buNone/>
            </a:pPr>
            <a:r>
              <a:rPr lang="en-US" sz="1100" b="1" dirty="0">
                <a:solidFill>
                  <a:srgbClr val="23B5A6"/>
                </a:solidFill>
                <a:latin typeface="Calibri" pitchFamily="34" charset="0"/>
                <a:ea typeface="Calibri" pitchFamily="34" charset="-122"/>
                <a:cs typeface="Calibri" pitchFamily="34" charset="-120"/>
              </a:rPr>
              <a:t>Giảng viên hướng dẫn</a:t>
            </a:r>
            <a:r>
              <a:rPr lang="en-US" sz="1100" b="1">
                <a:solidFill>
                  <a:srgbClr val="23B5A6"/>
                </a:solidFill>
                <a:latin typeface="Calibri" pitchFamily="34" charset="0"/>
                <a:ea typeface="Calibri" pitchFamily="34" charset="-122"/>
                <a:cs typeface="Calibri" pitchFamily="34" charset="-120"/>
              </a:rPr>
              <a:t>
</a:t>
            </a:r>
            <a:r>
              <a:rPr lang="en-US" sz="1700" b="1">
                <a:solidFill>
                  <a:srgbClr val="FFFFFF"/>
                </a:solidFill>
                <a:latin typeface="Calibri" pitchFamily="34" charset="0"/>
                <a:ea typeface="Calibri" pitchFamily="34" charset="-122"/>
                <a:cs typeface="Calibri" pitchFamily="34" charset="-120"/>
              </a:rPr>
              <a:t>ThS</a:t>
            </a:r>
            <a:r>
              <a:rPr lang="en-US" sz="1700" b="1" dirty="0">
                <a:solidFill>
                  <a:srgbClr val="FFFFFF"/>
                </a:solidFill>
                <a:latin typeface="Calibri" pitchFamily="34" charset="0"/>
                <a:ea typeface="Calibri" pitchFamily="34" charset="-122"/>
                <a:cs typeface="Calibri" pitchFamily="34" charset="-120"/>
              </a:rPr>
              <a:t>. Hoàng Nam Thắng</a:t>
            </a:r>
            <a:endParaRPr lang="en-US" sz="1100" dirty="0"/>
          </a:p>
          <a:p>
            <a:pPr marL="0" indent="0">
              <a:lnSpc>
                <a:spcPct val="110000"/>
              </a:lnSpc>
              <a:buNone/>
            </a:pPr>
            <a:r>
              <a:rPr lang="en-US" sz="1150" dirty="0">
                <a:solidFill>
                  <a:srgbClr val="BFD6DF"/>
                </a:solidFill>
                <a:latin typeface="Calibri" pitchFamily="34" charset="0"/>
                <a:ea typeface="Calibri" pitchFamily="34" charset="-122"/>
                <a:cs typeface="Calibri" pitchFamily="34" charset="-120"/>
              </a:rPr>
              <a:t>Khoa Công nghệ thông tin</a:t>
            </a:r>
            <a:endParaRPr lang="en-US" sz="1100" dirty="0"/>
          </a:p>
        </p:txBody>
      </p:sp>
      <p:sp>
        <p:nvSpPr>
          <p:cNvPr id="17" name="Text 14"/>
          <p:cNvSpPr/>
          <p:nvPr/>
        </p:nvSpPr>
        <p:spPr>
          <a:xfrm>
            <a:off x="822960" y="6419088"/>
            <a:ext cx="10424160" cy="320040"/>
          </a:xfrm>
          <a:prstGeom prst="rect">
            <a:avLst/>
          </a:prstGeom>
          <a:noFill/>
          <a:ln/>
        </p:spPr>
        <p:txBody>
          <a:bodyPr wrap="square" lIns="0" tIns="0" rIns="0" bIns="0" rtlCol="0" anchor="ctr"/>
          <a:lstStyle/>
          <a:p>
            <a:pPr marL="0" indent="0" algn="ctr">
              <a:buNone/>
            </a:pPr>
            <a:r>
              <a:rPr lang="en-US" sz="1200" b="1" kern="0" spc="300" dirty="0">
                <a:solidFill>
                  <a:srgbClr val="BFD6DF"/>
                </a:solidFill>
                <a:latin typeface="Calibri" pitchFamily="34" charset="0"/>
                <a:ea typeface="Calibri" pitchFamily="34" charset="-122"/>
                <a:cs typeface="Calibri" pitchFamily="34" charset="-120"/>
              </a:rPr>
              <a:t>HÀ NỘI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NỘI DUNG TRÌNH BÀY</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Cấu trúc bài trình bày</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00200"/>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892808"/>
            <a:ext cx="786384" cy="786384"/>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1011692" y="2081540"/>
            <a:ext cx="408920" cy="408920"/>
          </a:xfrm>
          <a:prstGeom prst="rect">
            <a:avLst/>
          </a:prstGeom>
        </p:spPr>
      </p:pic>
      <p:sp>
        <p:nvSpPr>
          <p:cNvPr id="11" name="Shape 8"/>
          <p:cNvSpPr/>
          <p:nvPr/>
        </p:nvSpPr>
        <p:spPr>
          <a:xfrm>
            <a:off x="4910328" y="1819656"/>
            <a:ext cx="603504" cy="384048"/>
          </a:xfrm>
          <a:prstGeom prst="roundRect">
            <a:avLst>
              <a:gd name="adj" fmla="val 23810"/>
            </a:avLst>
          </a:prstGeom>
          <a:solidFill>
            <a:srgbClr val="F1F5F8"/>
          </a:solidFill>
          <a:ln/>
        </p:spPr>
      </p:sp>
      <p:sp>
        <p:nvSpPr>
          <p:cNvPr id="12" name="Text 9"/>
          <p:cNvSpPr/>
          <p:nvPr/>
        </p:nvSpPr>
        <p:spPr>
          <a:xfrm>
            <a:off x="4910328" y="1819656"/>
            <a:ext cx="603504" cy="384048"/>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01</a:t>
            </a:r>
            <a:endParaRPr lang="en-US" sz="1500" dirty="0"/>
          </a:p>
        </p:txBody>
      </p:sp>
      <p:sp>
        <p:nvSpPr>
          <p:cNvPr id="13" name="Text 10"/>
          <p:cNvSpPr/>
          <p:nvPr/>
        </p:nvSpPr>
        <p:spPr>
          <a:xfrm>
            <a:off x="1773936" y="1874520"/>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Đặt vấn đề &amp; mục tiêu</a:t>
            </a:r>
            <a:endParaRPr lang="en-US" sz="1500" dirty="0"/>
          </a:p>
        </p:txBody>
      </p:sp>
      <p:sp>
        <p:nvSpPr>
          <p:cNvPr id="14" name="Text 11"/>
          <p:cNvSpPr/>
          <p:nvPr/>
        </p:nvSpPr>
        <p:spPr>
          <a:xfrm>
            <a:off x="1773936" y="2295144"/>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Bối cảnh, hiện trạng, phân công nhóm</a:t>
            </a:r>
            <a:endParaRPr lang="en-US" sz="1150" dirty="0"/>
          </a:p>
        </p:txBody>
      </p:sp>
      <p:sp>
        <p:nvSpPr>
          <p:cNvPr id="15" name="Shape 12"/>
          <p:cNvSpPr/>
          <p:nvPr/>
        </p:nvSpPr>
        <p:spPr>
          <a:xfrm>
            <a:off x="6144768" y="1600200"/>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6" name="Shape 13"/>
          <p:cNvSpPr/>
          <p:nvPr/>
        </p:nvSpPr>
        <p:spPr>
          <a:xfrm>
            <a:off x="6400800" y="1892808"/>
            <a:ext cx="786384" cy="786384"/>
          </a:xfrm>
          <a:prstGeom prst="roundRect">
            <a:avLst>
              <a:gd name="adj" fmla="val 50000"/>
            </a:avLst>
          </a:prstGeom>
          <a:solidFill>
            <a:srgbClr val="0E7C86"/>
          </a:solidFill>
          <a:ln/>
        </p:spPr>
      </p:sp>
      <p:pic>
        <p:nvPicPr>
          <p:cNvPr id="17" name="Image 1" descr="preencoded.png"/>
          <p:cNvPicPr>
            <a:picLocks noChangeAspect="1"/>
          </p:cNvPicPr>
          <p:nvPr/>
        </p:nvPicPr>
        <p:blipFill>
          <a:blip r:embed="rId4"/>
          <a:stretch>
            <a:fillRect/>
          </a:stretch>
        </p:blipFill>
        <p:spPr>
          <a:xfrm>
            <a:off x="6589532" y="2081540"/>
            <a:ext cx="408920" cy="408920"/>
          </a:xfrm>
          <a:prstGeom prst="rect">
            <a:avLst/>
          </a:prstGeom>
        </p:spPr>
      </p:pic>
      <p:sp>
        <p:nvSpPr>
          <p:cNvPr id="18" name="Shape 14"/>
          <p:cNvSpPr/>
          <p:nvPr/>
        </p:nvSpPr>
        <p:spPr>
          <a:xfrm>
            <a:off x="10488168" y="1819656"/>
            <a:ext cx="603504" cy="384048"/>
          </a:xfrm>
          <a:prstGeom prst="roundRect">
            <a:avLst>
              <a:gd name="adj" fmla="val 23810"/>
            </a:avLst>
          </a:prstGeom>
          <a:solidFill>
            <a:srgbClr val="F1F5F8"/>
          </a:solidFill>
          <a:ln/>
        </p:spPr>
      </p:sp>
      <p:sp>
        <p:nvSpPr>
          <p:cNvPr id="19" name="Text 15"/>
          <p:cNvSpPr/>
          <p:nvPr/>
        </p:nvSpPr>
        <p:spPr>
          <a:xfrm>
            <a:off x="10488168" y="1819656"/>
            <a:ext cx="603504" cy="384048"/>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02</a:t>
            </a:r>
            <a:endParaRPr lang="en-US" sz="1500" dirty="0"/>
          </a:p>
        </p:txBody>
      </p:sp>
      <p:sp>
        <p:nvSpPr>
          <p:cNvPr id="20" name="Text 16"/>
          <p:cNvSpPr/>
          <p:nvPr/>
        </p:nvSpPr>
        <p:spPr>
          <a:xfrm>
            <a:off x="7351776" y="1874520"/>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Khảo sát &amp; giải pháp</a:t>
            </a:r>
            <a:endParaRPr lang="en-US" sz="1500" dirty="0"/>
          </a:p>
        </p:txBody>
      </p:sp>
      <p:sp>
        <p:nvSpPr>
          <p:cNvPr id="21" name="Text 17"/>
          <p:cNvSpPr/>
          <p:nvPr/>
        </p:nvSpPr>
        <p:spPr>
          <a:xfrm>
            <a:off x="7351776" y="2295144"/>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So sánh giải pháp, định vị TownHub</a:t>
            </a:r>
            <a:endParaRPr lang="en-US" sz="1150" dirty="0"/>
          </a:p>
        </p:txBody>
      </p:sp>
      <p:sp>
        <p:nvSpPr>
          <p:cNvPr id="22" name="Shape 18"/>
          <p:cNvSpPr/>
          <p:nvPr/>
        </p:nvSpPr>
        <p:spPr>
          <a:xfrm>
            <a:off x="566928" y="3227832"/>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3" name="Shape 19"/>
          <p:cNvSpPr/>
          <p:nvPr/>
        </p:nvSpPr>
        <p:spPr>
          <a:xfrm>
            <a:off x="822960" y="3520440"/>
            <a:ext cx="786384" cy="786384"/>
          </a:xfrm>
          <a:prstGeom prst="roundRect">
            <a:avLst>
              <a:gd name="adj" fmla="val 50000"/>
            </a:avLst>
          </a:prstGeom>
          <a:solidFill>
            <a:srgbClr val="0E7C86"/>
          </a:solidFill>
          <a:ln/>
        </p:spPr>
      </p:sp>
      <p:pic>
        <p:nvPicPr>
          <p:cNvPr id="24" name="Image 2" descr="preencoded.png"/>
          <p:cNvPicPr>
            <a:picLocks noChangeAspect="1"/>
          </p:cNvPicPr>
          <p:nvPr/>
        </p:nvPicPr>
        <p:blipFill>
          <a:blip r:embed="rId5"/>
          <a:stretch>
            <a:fillRect/>
          </a:stretch>
        </p:blipFill>
        <p:spPr>
          <a:xfrm>
            <a:off x="1011692" y="3709172"/>
            <a:ext cx="408920" cy="408920"/>
          </a:xfrm>
          <a:prstGeom prst="rect">
            <a:avLst/>
          </a:prstGeom>
        </p:spPr>
      </p:pic>
      <p:sp>
        <p:nvSpPr>
          <p:cNvPr id="25" name="Shape 20"/>
          <p:cNvSpPr/>
          <p:nvPr/>
        </p:nvSpPr>
        <p:spPr>
          <a:xfrm>
            <a:off x="4910328" y="3447288"/>
            <a:ext cx="603504" cy="384048"/>
          </a:xfrm>
          <a:prstGeom prst="roundRect">
            <a:avLst>
              <a:gd name="adj" fmla="val 23810"/>
            </a:avLst>
          </a:prstGeom>
          <a:solidFill>
            <a:srgbClr val="F1F5F8"/>
          </a:solidFill>
          <a:ln/>
        </p:spPr>
      </p:sp>
      <p:sp>
        <p:nvSpPr>
          <p:cNvPr id="26" name="Text 21"/>
          <p:cNvSpPr/>
          <p:nvPr/>
        </p:nvSpPr>
        <p:spPr>
          <a:xfrm>
            <a:off x="4910328" y="3447288"/>
            <a:ext cx="603504" cy="384048"/>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03</a:t>
            </a:r>
            <a:endParaRPr lang="en-US" sz="1500" dirty="0"/>
          </a:p>
        </p:txBody>
      </p:sp>
      <p:sp>
        <p:nvSpPr>
          <p:cNvPr id="27" name="Text 22"/>
          <p:cNvSpPr/>
          <p:nvPr/>
        </p:nvSpPr>
        <p:spPr>
          <a:xfrm>
            <a:off x="1773936" y="3502152"/>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Công nghệ &amp; kiến trúc</a:t>
            </a:r>
            <a:endParaRPr lang="en-US" sz="1500" dirty="0"/>
          </a:p>
        </p:txBody>
      </p:sp>
      <p:sp>
        <p:nvSpPr>
          <p:cNvPr id="28" name="Text 23"/>
          <p:cNvSpPr/>
          <p:nvPr/>
        </p:nvSpPr>
        <p:spPr>
          <a:xfrm>
            <a:off x="1773936" y="3922776"/>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.NET 8 · Next.js 16 · kiến trúc module hóa</a:t>
            </a:r>
            <a:endParaRPr lang="en-US" sz="1150" dirty="0"/>
          </a:p>
        </p:txBody>
      </p:sp>
      <p:sp>
        <p:nvSpPr>
          <p:cNvPr id="29" name="Shape 24"/>
          <p:cNvSpPr/>
          <p:nvPr/>
        </p:nvSpPr>
        <p:spPr>
          <a:xfrm>
            <a:off x="6144768" y="3227832"/>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0" name="Shape 25"/>
          <p:cNvSpPr/>
          <p:nvPr/>
        </p:nvSpPr>
        <p:spPr>
          <a:xfrm>
            <a:off x="6400800" y="3520440"/>
            <a:ext cx="786384" cy="786384"/>
          </a:xfrm>
          <a:prstGeom prst="roundRect">
            <a:avLst>
              <a:gd name="adj" fmla="val 50000"/>
            </a:avLst>
          </a:prstGeom>
          <a:solidFill>
            <a:srgbClr val="0E7C86"/>
          </a:solidFill>
          <a:ln/>
        </p:spPr>
      </p:sp>
      <p:pic>
        <p:nvPicPr>
          <p:cNvPr id="31" name="Image 3" descr="preencoded.png"/>
          <p:cNvPicPr>
            <a:picLocks noChangeAspect="1"/>
          </p:cNvPicPr>
          <p:nvPr/>
        </p:nvPicPr>
        <p:blipFill>
          <a:blip r:embed="rId6"/>
          <a:stretch>
            <a:fillRect/>
          </a:stretch>
        </p:blipFill>
        <p:spPr>
          <a:xfrm>
            <a:off x="6589532" y="3709172"/>
            <a:ext cx="408920" cy="408920"/>
          </a:xfrm>
          <a:prstGeom prst="rect">
            <a:avLst/>
          </a:prstGeom>
        </p:spPr>
      </p:pic>
      <p:sp>
        <p:nvSpPr>
          <p:cNvPr id="32" name="Shape 26"/>
          <p:cNvSpPr/>
          <p:nvPr/>
        </p:nvSpPr>
        <p:spPr>
          <a:xfrm>
            <a:off x="10488168" y="3447288"/>
            <a:ext cx="603504" cy="384048"/>
          </a:xfrm>
          <a:prstGeom prst="roundRect">
            <a:avLst>
              <a:gd name="adj" fmla="val 23810"/>
            </a:avLst>
          </a:prstGeom>
          <a:solidFill>
            <a:srgbClr val="F1F5F8"/>
          </a:solidFill>
          <a:ln/>
        </p:spPr>
      </p:sp>
      <p:sp>
        <p:nvSpPr>
          <p:cNvPr id="33" name="Text 27"/>
          <p:cNvSpPr/>
          <p:nvPr/>
        </p:nvSpPr>
        <p:spPr>
          <a:xfrm>
            <a:off x="10488168" y="3447288"/>
            <a:ext cx="603504" cy="384048"/>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04</a:t>
            </a:r>
            <a:endParaRPr lang="en-US" sz="1500" dirty="0"/>
          </a:p>
        </p:txBody>
      </p:sp>
      <p:sp>
        <p:nvSpPr>
          <p:cNvPr id="34" name="Text 28"/>
          <p:cNvSpPr/>
          <p:nvPr/>
        </p:nvSpPr>
        <p:spPr>
          <a:xfrm>
            <a:off x="7351776" y="3502152"/>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Module Base (phần chung)</a:t>
            </a:r>
            <a:endParaRPr lang="en-US" sz="1500" dirty="0"/>
          </a:p>
        </p:txBody>
      </p:sp>
      <p:sp>
        <p:nvSpPr>
          <p:cNvPr id="35" name="Text 29"/>
          <p:cNvSpPr/>
          <p:nvPr/>
        </p:nvSpPr>
        <p:spPr>
          <a:xfrm>
            <a:off x="7351776" y="3922776"/>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Auth/RBAC · dữ liệu lõi · thông báo · báo cáo</a:t>
            </a:r>
            <a:endParaRPr lang="en-US" sz="1150" dirty="0"/>
          </a:p>
        </p:txBody>
      </p:sp>
      <p:sp>
        <p:nvSpPr>
          <p:cNvPr id="36" name="Shape 30"/>
          <p:cNvSpPr/>
          <p:nvPr/>
        </p:nvSpPr>
        <p:spPr>
          <a:xfrm>
            <a:off x="566928" y="4855464"/>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7" name="Shape 31"/>
          <p:cNvSpPr/>
          <p:nvPr/>
        </p:nvSpPr>
        <p:spPr>
          <a:xfrm>
            <a:off x="822960" y="5148072"/>
            <a:ext cx="786384" cy="786384"/>
          </a:xfrm>
          <a:prstGeom prst="roundRect">
            <a:avLst>
              <a:gd name="adj" fmla="val 50000"/>
            </a:avLst>
          </a:prstGeom>
          <a:solidFill>
            <a:srgbClr val="EFA13C"/>
          </a:solidFill>
          <a:ln/>
        </p:spPr>
      </p:sp>
      <p:pic>
        <p:nvPicPr>
          <p:cNvPr id="38" name="Image 4" descr="preencoded.png"/>
          <p:cNvPicPr>
            <a:picLocks noChangeAspect="1"/>
          </p:cNvPicPr>
          <p:nvPr/>
        </p:nvPicPr>
        <p:blipFill>
          <a:blip r:embed="rId7"/>
          <a:stretch>
            <a:fillRect/>
          </a:stretch>
        </p:blipFill>
        <p:spPr>
          <a:xfrm>
            <a:off x="1011692" y="5336804"/>
            <a:ext cx="408920" cy="408920"/>
          </a:xfrm>
          <a:prstGeom prst="rect">
            <a:avLst/>
          </a:prstGeom>
        </p:spPr>
      </p:pic>
      <p:sp>
        <p:nvSpPr>
          <p:cNvPr id="39" name="Shape 32"/>
          <p:cNvSpPr/>
          <p:nvPr/>
        </p:nvSpPr>
        <p:spPr>
          <a:xfrm>
            <a:off x="4910328" y="5074920"/>
            <a:ext cx="603504" cy="384048"/>
          </a:xfrm>
          <a:prstGeom prst="roundRect">
            <a:avLst>
              <a:gd name="adj" fmla="val 23810"/>
            </a:avLst>
          </a:prstGeom>
          <a:solidFill>
            <a:srgbClr val="F1F5F8"/>
          </a:solidFill>
          <a:ln/>
        </p:spPr>
      </p:sp>
      <p:sp>
        <p:nvSpPr>
          <p:cNvPr id="40" name="Text 33"/>
          <p:cNvSpPr/>
          <p:nvPr/>
        </p:nvSpPr>
        <p:spPr>
          <a:xfrm>
            <a:off x="4910328" y="5074920"/>
            <a:ext cx="603504" cy="384048"/>
          </a:xfrm>
          <a:prstGeom prst="rect">
            <a:avLst/>
          </a:prstGeom>
          <a:noFill/>
          <a:ln/>
        </p:spPr>
        <p:txBody>
          <a:bodyPr wrap="square" lIns="0" tIns="0" rIns="0" bIns="0" rtlCol="0" anchor="ctr"/>
          <a:lstStyle/>
          <a:p>
            <a:pPr marL="0" indent="0" algn="ctr">
              <a:buNone/>
            </a:pPr>
            <a:r>
              <a:rPr lang="en-US" sz="1500" b="1" dirty="0">
                <a:solidFill>
                  <a:srgbClr val="EFA13C"/>
                </a:solidFill>
                <a:latin typeface="Cambria" pitchFamily="34" charset="0"/>
                <a:ea typeface="Cambria" pitchFamily="34" charset="-122"/>
                <a:cs typeface="Cambria" pitchFamily="34" charset="-120"/>
              </a:rPr>
              <a:t>05</a:t>
            </a:r>
            <a:endParaRPr lang="en-US" sz="1500" dirty="0"/>
          </a:p>
        </p:txBody>
      </p:sp>
      <p:sp>
        <p:nvSpPr>
          <p:cNvPr id="41" name="Text 34"/>
          <p:cNvSpPr/>
          <p:nvPr/>
        </p:nvSpPr>
        <p:spPr>
          <a:xfrm>
            <a:off x="1773936" y="5129784"/>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Ba phân hệ nghiệp vụ</a:t>
            </a:r>
            <a:endParaRPr lang="en-US" sz="1500" dirty="0"/>
          </a:p>
        </p:txBody>
      </p:sp>
      <p:sp>
        <p:nvSpPr>
          <p:cNvPr id="42" name="Text 35"/>
          <p:cNvSpPr/>
          <p:nvPr/>
        </p:nvSpPr>
        <p:spPr>
          <a:xfrm>
            <a:off x="1773936" y="5550408"/>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Tài sản (phần riêng) · Dịch vụ · Dân cư</a:t>
            </a:r>
            <a:endParaRPr lang="en-US" sz="1150" dirty="0"/>
          </a:p>
        </p:txBody>
      </p:sp>
      <p:sp>
        <p:nvSpPr>
          <p:cNvPr id="43" name="Shape 36"/>
          <p:cNvSpPr/>
          <p:nvPr/>
        </p:nvSpPr>
        <p:spPr>
          <a:xfrm>
            <a:off x="6144768" y="4855464"/>
            <a:ext cx="5257800" cy="1371600"/>
          </a:xfrm>
          <a:prstGeom prst="roundRect">
            <a:avLst>
              <a:gd name="adj" fmla="val 7333"/>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44" name="Shape 37"/>
          <p:cNvSpPr/>
          <p:nvPr/>
        </p:nvSpPr>
        <p:spPr>
          <a:xfrm>
            <a:off x="6400800" y="5148072"/>
            <a:ext cx="786384" cy="786384"/>
          </a:xfrm>
          <a:prstGeom prst="roundRect">
            <a:avLst>
              <a:gd name="adj" fmla="val 50000"/>
            </a:avLst>
          </a:prstGeom>
          <a:solidFill>
            <a:srgbClr val="0E7C86"/>
          </a:solidFill>
          <a:ln/>
        </p:spPr>
      </p:sp>
      <p:pic>
        <p:nvPicPr>
          <p:cNvPr id="45" name="Image 5" descr="preencoded.png"/>
          <p:cNvPicPr>
            <a:picLocks noChangeAspect="1"/>
          </p:cNvPicPr>
          <p:nvPr/>
        </p:nvPicPr>
        <p:blipFill>
          <a:blip r:embed="rId8"/>
          <a:stretch>
            <a:fillRect/>
          </a:stretch>
        </p:blipFill>
        <p:spPr>
          <a:xfrm>
            <a:off x="6589532" y="5336804"/>
            <a:ext cx="408920" cy="408920"/>
          </a:xfrm>
          <a:prstGeom prst="rect">
            <a:avLst/>
          </a:prstGeom>
        </p:spPr>
      </p:pic>
      <p:sp>
        <p:nvSpPr>
          <p:cNvPr id="46" name="Shape 38"/>
          <p:cNvSpPr/>
          <p:nvPr/>
        </p:nvSpPr>
        <p:spPr>
          <a:xfrm>
            <a:off x="10488168" y="5074920"/>
            <a:ext cx="603504" cy="384048"/>
          </a:xfrm>
          <a:prstGeom prst="roundRect">
            <a:avLst>
              <a:gd name="adj" fmla="val 23810"/>
            </a:avLst>
          </a:prstGeom>
          <a:solidFill>
            <a:srgbClr val="F1F5F8"/>
          </a:solidFill>
          <a:ln/>
        </p:spPr>
      </p:sp>
      <p:sp>
        <p:nvSpPr>
          <p:cNvPr id="47" name="Text 39"/>
          <p:cNvSpPr/>
          <p:nvPr/>
        </p:nvSpPr>
        <p:spPr>
          <a:xfrm>
            <a:off x="10488168" y="5074920"/>
            <a:ext cx="603504" cy="384048"/>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06</a:t>
            </a:r>
            <a:endParaRPr lang="en-US" sz="1500" dirty="0"/>
          </a:p>
        </p:txBody>
      </p:sp>
      <p:sp>
        <p:nvSpPr>
          <p:cNvPr id="48" name="Text 40"/>
          <p:cNvSpPr/>
          <p:nvPr/>
        </p:nvSpPr>
        <p:spPr>
          <a:xfrm>
            <a:off x="7351776" y="5129784"/>
            <a:ext cx="3200400" cy="411480"/>
          </a:xfrm>
          <a:prstGeom prst="rect">
            <a:avLst/>
          </a:prstGeom>
          <a:noFill/>
          <a:ln/>
        </p:spPr>
        <p:txBody>
          <a:bodyPr wrap="square" lIns="0" tIns="0" rIns="0" bIns="0" rtlCol="0" anchor="ctr"/>
          <a:lstStyle/>
          <a:p>
            <a:pPr marL="0" indent="0">
              <a:buNone/>
            </a:pPr>
            <a:r>
              <a:rPr lang="en-US" sz="1500" b="1" dirty="0">
                <a:solidFill>
                  <a:srgbClr val="0E2A47"/>
                </a:solidFill>
                <a:latin typeface="Calibri" pitchFamily="34" charset="0"/>
                <a:ea typeface="Calibri" pitchFamily="34" charset="-122"/>
                <a:cs typeface="Calibri" pitchFamily="34" charset="-120"/>
              </a:rPr>
              <a:t>Triển khai · Kiểm thử · Kết luận</a:t>
            </a:r>
            <a:endParaRPr lang="en-US" sz="1500" dirty="0"/>
          </a:p>
        </p:txBody>
      </p:sp>
      <p:sp>
        <p:nvSpPr>
          <p:cNvPr id="49" name="Text 41"/>
          <p:cNvSpPr/>
          <p:nvPr/>
        </p:nvSpPr>
        <p:spPr>
          <a:xfrm>
            <a:off x="7351776" y="5550408"/>
            <a:ext cx="384048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Docker/Fly.io, kết quả &amp; hướng phát triển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01 · ĐẶT VẤN ĐỀ</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Vì sao cần số hóa quản lý vận hành tòa nhà?</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Text 6"/>
          <p:cNvSpPr/>
          <p:nvPr/>
        </p:nvSpPr>
        <p:spPr>
          <a:xfrm>
            <a:off x="566928" y="1691640"/>
            <a:ext cx="5943600" cy="4206240"/>
          </a:xfrm>
          <a:prstGeom prst="rect">
            <a:avLst/>
          </a:prstGeom>
          <a:noFill/>
          <a:ln/>
        </p:spPr>
        <p:txBody>
          <a:bodyPr wrap="square" lIns="0" tIns="0" rIns="0" bIns="0" rtlCol="0" anchor="t"/>
          <a:lstStyle/>
          <a:p>
            <a:pPr marL="0" indent="0">
              <a:lnSpc>
                <a:spcPct val="105000"/>
              </a:lnSpc>
              <a:spcAft>
                <a:spcPts val="300"/>
              </a:spcAft>
              <a:buNone/>
            </a:pPr>
            <a:r>
              <a:rPr lang="en-US" sz="1500" b="1" dirty="0">
                <a:solidFill>
                  <a:srgbClr val="0E2A47"/>
                </a:solidFill>
                <a:latin typeface="Calibri" pitchFamily="34" charset="0"/>
                <a:ea typeface="Calibri" pitchFamily="34" charset="-122"/>
                <a:cs typeface="Calibri" pitchFamily="34" charset="-120"/>
              </a:rPr>
              <a:t>Đô thị hóa nhanh</a:t>
            </a:r>
            <a:endParaRPr lang="en-US" sz="1500" dirty="0"/>
          </a:p>
          <a:p>
            <a:pPr marL="0" indent="0">
              <a:lnSpc>
                <a:spcPct val="105000"/>
              </a:lnSpc>
              <a:spcAft>
                <a:spcPts val="1200"/>
              </a:spcAft>
              <a:buNone/>
            </a:pPr>
            <a:r>
              <a:rPr lang="en-US" sz="1350" dirty="0">
                <a:solidFill>
                  <a:srgbClr val="22303C"/>
                </a:solidFill>
                <a:latin typeface="Calibri" pitchFamily="34" charset="0"/>
                <a:ea typeface="Calibri" pitchFamily="34" charset="-122"/>
                <a:cs typeface="Calibri" pitchFamily="34" charset="-120"/>
              </a:rPr>
              <a:t>Một tòa nhà điển hình vừa quản lý hàng trăm tài sản – thiết bị kỹ thuật (thang máy, máy bơm, PCCC, máy phát điện…), vừa phục vụ hàng nghìn cư dân với nhu cầu phí, an ninh, dịch vụ hằng ngày.</a:t>
            </a:r>
            <a:endParaRPr lang="en-US" sz="1500" dirty="0"/>
          </a:p>
          <a:p>
            <a:pPr marL="0" indent="0">
              <a:lnSpc>
                <a:spcPct val="105000"/>
              </a:lnSpc>
              <a:spcAft>
                <a:spcPts val="300"/>
              </a:spcAft>
              <a:buNone/>
            </a:pPr>
            <a:r>
              <a:rPr lang="en-US" sz="1500" b="1" dirty="0">
                <a:solidFill>
                  <a:srgbClr val="0E2A47"/>
                </a:solidFill>
                <a:latin typeface="Calibri" pitchFamily="34" charset="0"/>
                <a:ea typeface="Calibri" pitchFamily="34" charset="-122"/>
                <a:cs typeface="Calibri" pitchFamily="34" charset="-120"/>
              </a:rPr>
              <a:t>Quản lý thủ công = rời rạc &amp; sai sót</a:t>
            </a:r>
            <a:endParaRPr lang="en-US" sz="1500" dirty="0"/>
          </a:p>
          <a:p>
            <a:pPr marL="0" indent="0">
              <a:lnSpc>
                <a:spcPct val="105000"/>
              </a:lnSpc>
              <a:buNone/>
            </a:pPr>
            <a:r>
              <a:rPr lang="en-US" sz="1350" dirty="0">
                <a:solidFill>
                  <a:srgbClr val="22303C"/>
                </a:solidFill>
                <a:latin typeface="Calibri" pitchFamily="34" charset="0"/>
                <a:ea typeface="Calibri" pitchFamily="34" charset="-122"/>
                <a:cs typeface="Calibri" pitchFamily="34" charset="-120"/>
              </a:rPr>
              <a:t>Phần lớn đơn vị vẫn dùng sổ sách, bảng tính rời rạc: khó tra cứu, thất lạc thông tin, khấu hao sai, bỏ sót bảo trì, xử lý sự cố chậm, số liệu không khớp sổ kế toán.</a:t>
            </a:r>
            <a:endParaRPr lang="en-US" sz="1500" dirty="0"/>
          </a:p>
        </p:txBody>
      </p:sp>
      <p:sp>
        <p:nvSpPr>
          <p:cNvPr id="9" name="Shape 7"/>
          <p:cNvSpPr/>
          <p:nvPr/>
        </p:nvSpPr>
        <p:spPr>
          <a:xfrm>
            <a:off x="6858000" y="1691640"/>
            <a:ext cx="4754880" cy="1280160"/>
          </a:xfrm>
          <a:prstGeom prst="roundRect">
            <a:avLst>
              <a:gd name="adj" fmla="val 8571"/>
            </a:avLst>
          </a:prstGeom>
          <a:solidFill>
            <a:srgbClr val="F1F5F8"/>
          </a:solidFill>
          <a:ln/>
          <a:effectLst>
            <a:outerShdw blurRad="88900" dist="25400" dir="5400000" algn="bl" rotWithShape="0">
              <a:srgbClr val="B9C7D1">
                <a:alpha val="40000"/>
              </a:srgbClr>
            </a:outerShdw>
          </a:effectLst>
        </p:spPr>
      </p:sp>
      <p:sp>
        <p:nvSpPr>
          <p:cNvPr id="10" name="Shape 8"/>
          <p:cNvSpPr/>
          <p:nvPr/>
        </p:nvSpPr>
        <p:spPr>
          <a:xfrm>
            <a:off x="7132320" y="2002536"/>
            <a:ext cx="658368" cy="658368"/>
          </a:xfrm>
          <a:prstGeom prst="roundRect">
            <a:avLst>
              <a:gd name="adj" fmla="val 50000"/>
            </a:avLst>
          </a:prstGeom>
          <a:solidFill>
            <a:srgbClr val="0E7C86"/>
          </a:solidFill>
          <a:ln/>
        </p:spPr>
      </p:sp>
      <p:pic>
        <p:nvPicPr>
          <p:cNvPr id="11" name="Image 0" descr="preencoded.png"/>
          <p:cNvPicPr>
            <a:picLocks noChangeAspect="1"/>
          </p:cNvPicPr>
          <p:nvPr/>
        </p:nvPicPr>
        <p:blipFill>
          <a:blip r:embed="rId3"/>
          <a:stretch>
            <a:fillRect/>
          </a:stretch>
        </p:blipFill>
        <p:spPr>
          <a:xfrm>
            <a:off x="7290328" y="2160544"/>
            <a:ext cx="342351" cy="342351"/>
          </a:xfrm>
          <a:prstGeom prst="rect">
            <a:avLst/>
          </a:prstGeom>
        </p:spPr>
      </p:pic>
      <p:sp>
        <p:nvSpPr>
          <p:cNvPr id="12" name="Text 9"/>
          <p:cNvSpPr/>
          <p:nvPr/>
        </p:nvSpPr>
        <p:spPr>
          <a:xfrm>
            <a:off x="8001000" y="1911096"/>
            <a:ext cx="3474720" cy="502920"/>
          </a:xfrm>
          <a:prstGeom prst="rect">
            <a:avLst/>
          </a:prstGeom>
          <a:noFill/>
          <a:ln/>
        </p:spPr>
        <p:txBody>
          <a:bodyPr wrap="square" lIns="0" tIns="0" rIns="0" bIns="0" rtlCol="0" anchor="ctr"/>
          <a:lstStyle/>
          <a:p>
            <a:pPr marL="0" indent="0">
              <a:buNone/>
            </a:pPr>
            <a:r>
              <a:rPr lang="en-US" sz="2400" b="1" dirty="0">
                <a:solidFill>
                  <a:srgbClr val="0E2A47"/>
                </a:solidFill>
                <a:latin typeface="Cambria" pitchFamily="34" charset="0"/>
                <a:ea typeface="Cambria" pitchFamily="34" charset="-122"/>
                <a:cs typeface="Cambria" pitchFamily="34" charset="-120"/>
              </a:rPr>
              <a:t>Hàng trăm</a:t>
            </a:r>
            <a:endParaRPr lang="en-US" sz="2400" dirty="0"/>
          </a:p>
        </p:txBody>
      </p:sp>
      <p:sp>
        <p:nvSpPr>
          <p:cNvPr id="13" name="Text 10"/>
          <p:cNvSpPr/>
          <p:nvPr/>
        </p:nvSpPr>
        <p:spPr>
          <a:xfrm>
            <a:off x="8001000" y="2441448"/>
            <a:ext cx="3474720" cy="411480"/>
          </a:xfrm>
          <a:prstGeom prst="rect">
            <a:avLst/>
          </a:prstGeom>
          <a:noFill/>
          <a:ln/>
        </p:spPr>
        <p:txBody>
          <a:bodyPr wrap="square" lIns="0" tIns="0" rIns="0" bIns="0" rtlCol="0" anchor="ctr"/>
          <a:lstStyle/>
          <a:p>
            <a:pPr marL="0" indent="0">
              <a:buNone/>
            </a:pPr>
            <a:r>
              <a:rPr lang="en-US" sz="1250" dirty="0">
                <a:solidFill>
                  <a:srgbClr val="6B7A88"/>
                </a:solidFill>
                <a:latin typeface="Calibri" pitchFamily="34" charset="0"/>
                <a:ea typeface="Calibri" pitchFamily="34" charset="-122"/>
                <a:cs typeface="Calibri" pitchFamily="34" charset="-120"/>
              </a:rPr>
              <a:t>tài sản &amp; thiết bị / tòa nhà</a:t>
            </a:r>
            <a:endParaRPr lang="en-US" sz="1250" dirty="0"/>
          </a:p>
        </p:txBody>
      </p:sp>
      <p:sp>
        <p:nvSpPr>
          <p:cNvPr id="14" name="Shape 11"/>
          <p:cNvSpPr/>
          <p:nvPr/>
        </p:nvSpPr>
        <p:spPr>
          <a:xfrm>
            <a:off x="6858000" y="3227832"/>
            <a:ext cx="4754880" cy="1280160"/>
          </a:xfrm>
          <a:prstGeom prst="roundRect">
            <a:avLst>
              <a:gd name="adj" fmla="val 8571"/>
            </a:avLst>
          </a:prstGeom>
          <a:solidFill>
            <a:srgbClr val="F1F5F8"/>
          </a:solidFill>
          <a:ln/>
          <a:effectLst>
            <a:outerShdw blurRad="88900" dist="25400" dir="5400000" algn="bl" rotWithShape="0">
              <a:srgbClr val="B9C7D1">
                <a:alpha val="40000"/>
              </a:srgbClr>
            </a:outerShdw>
          </a:effectLst>
        </p:spPr>
      </p:sp>
      <p:sp>
        <p:nvSpPr>
          <p:cNvPr id="15" name="Shape 12"/>
          <p:cNvSpPr/>
          <p:nvPr/>
        </p:nvSpPr>
        <p:spPr>
          <a:xfrm>
            <a:off x="7132320" y="3538728"/>
            <a:ext cx="658368" cy="658368"/>
          </a:xfrm>
          <a:prstGeom prst="roundRect">
            <a:avLst>
              <a:gd name="adj" fmla="val 50000"/>
            </a:avLst>
          </a:prstGeom>
          <a:solidFill>
            <a:srgbClr val="23B5A6"/>
          </a:solidFill>
          <a:ln/>
        </p:spPr>
      </p:sp>
      <p:pic>
        <p:nvPicPr>
          <p:cNvPr id="16" name="Image 1" descr="preencoded.png"/>
          <p:cNvPicPr>
            <a:picLocks noChangeAspect="1"/>
          </p:cNvPicPr>
          <p:nvPr/>
        </p:nvPicPr>
        <p:blipFill>
          <a:blip r:embed="rId4"/>
          <a:stretch>
            <a:fillRect/>
          </a:stretch>
        </p:blipFill>
        <p:spPr>
          <a:xfrm>
            <a:off x="7290328" y="3696736"/>
            <a:ext cx="342351" cy="342351"/>
          </a:xfrm>
          <a:prstGeom prst="rect">
            <a:avLst/>
          </a:prstGeom>
        </p:spPr>
      </p:pic>
      <p:sp>
        <p:nvSpPr>
          <p:cNvPr id="17" name="Text 13"/>
          <p:cNvSpPr/>
          <p:nvPr/>
        </p:nvSpPr>
        <p:spPr>
          <a:xfrm>
            <a:off x="8001000" y="3447288"/>
            <a:ext cx="3474720" cy="502920"/>
          </a:xfrm>
          <a:prstGeom prst="rect">
            <a:avLst/>
          </a:prstGeom>
          <a:noFill/>
          <a:ln/>
        </p:spPr>
        <p:txBody>
          <a:bodyPr wrap="square" lIns="0" tIns="0" rIns="0" bIns="0" rtlCol="0" anchor="ctr"/>
          <a:lstStyle/>
          <a:p>
            <a:pPr marL="0" indent="0">
              <a:buNone/>
            </a:pPr>
            <a:r>
              <a:rPr lang="en-US" sz="2400" b="1" dirty="0">
                <a:solidFill>
                  <a:srgbClr val="0E2A47"/>
                </a:solidFill>
                <a:latin typeface="Cambria" pitchFamily="34" charset="0"/>
                <a:ea typeface="Cambria" pitchFamily="34" charset="-122"/>
                <a:cs typeface="Cambria" pitchFamily="34" charset="-120"/>
              </a:rPr>
              <a:t>Hàng nghìn</a:t>
            </a:r>
            <a:endParaRPr lang="en-US" sz="2400" dirty="0"/>
          </a:p>
        </p:txBody>
      </p:sp>
      <p:sp>
        <p:nvSpPr>
          <p:cNvPr id="18" name="Text 14"/>
          <p:cNvSpPr/>
          <p:nvPr/>
        </p:nvSpPr>
        <p:spPr>
          <a:xfrm>
            <a:off x="8001000" y="3977640"/>
            <a:ext cx="3474720" cy="411480"/>
          </a:xfrm>
          <a:prstGeom prst="rect">
            <a:avLst/>
          </a:prstGeom>
          <a:noFill/>
          <a:ln/>
        </p:spPr>
        <p:txBody>
          <a:bodyPr wrap="square" lIns="0" tIns="0" rIns="0" bIns="0" rtlCol="0" anchor="ctr"/>
          <a:lstStyle/>
          <a:p>
            <a:pPr marL="0" indent="0">
              <a:buNone/>
            </a:pPr>
            <a:r>
              <a:rPr lang="en-US" sz="1250" dirty="0">
                <a:solidFill>
                  <a:srgbClr val="6B7A88"/>
                </a:solidFill>
                <a:latin typeface="Calibri" pitchFamily="34" charset="0"/>
                <a:ea typeface="Calibri" pitchFamily="34" charset="-122"/>
                <a:cs typeface="Calibri" pitchFamily="34" charset="-120"/>
              </a:rPr>
              <a:t>cư dân cần phục vụ</a:t>
            </a:r>
            <a:endParaRPr lang="en-US" sz="1250" dirty="0"/>
          </a:p>
        </p:txBody>
      </p:sp>
      <p:sp>
        <p:nvSpPr>
          <p:cNvPr id="19" name="Shape 15"/>
          <p:cNvSpPr/>
          <p:nvPr/>
        </p:nvSpPr>
        <p:spPr>
          <a:xfrm>
            <a:off x="6858000" y="4764024"/>
            <a:ext cx="4754880" cy="1280160"/>
          </a:xfrm>
          <a:prstGeom prst="roundRect">
            <a:avLst>
              <a:gd name="adj" fmla="val 8571"/>
            </a:avLst>
          </a:prstGeom>
          <a:solidFill>
            <a:srgbClr val="F1F5F8"/>
          </a:solidFill>
          <a:ln/>
          <a:effectLst>
            <a:outerShdw blurRad="88900" dist="25400" dir="5400000" algn="bl" rotWithShape="0">
              <a:srgbClr val="B9C7D1">
                <a:alpha val="40000"/>
              </a:srgbClr>
            </a:outerShdw>
          </a:effectLst>
        </p:spPr>
      </p:sp>
      <p:sp>
        <p:nvSpPr>
          <p:cNvPr id="20" name="Shape 16"/>
          <p:cNvSpPr/>
          <p:nvPr/>
        </p:nvSpPr>
        <p:spPr>
          <a:xfrm>
            <a:off x="7132320" y="5074920"/>
            <a:ext cx="658368" cy="658368"/>
          </a:xfrm>
          <a:prstGeom prst="roundRect">
            <a:avLst>
              <a:gd name="adj" fmla="val 50000"/>
            </a:avLst>
          </a:prstGeom>
          <a:solidFill>
            <a:srgbClr val="EFA13C"/>
          </a:solidFill>
          <a:ln/>
        </p:spPr>
      </p:sp>
      <p:pic>
        <p:nvPicPr>
          <p:cNvPr id="21" name="Image 2" descr="preencoded.png"/>
          <p:cNvPicPr>
            <a:picLocks noChangeAspect="1"/>
          </p:cNvPicPr>
          <p:nvPr/>
        </p:nvPicPr>
        <p:blipFill>
          <a:blip r:embed="rId5"/>
          <a:stretch>
            <a:fillRect/>
          </a:stretch>
        </p:blipFill>
        <p:spPr>
          <a:xfrm>
            <a:off x="7290328" y="5232928"/>
            <a:ext cx="342351" cy="342351"/>
          </a:xfrm>
          <a:prstGeom prst="rect">
            <a:avLst/>
          </a:prstGeom>
        </p:spPr>
      </p:pic>
      <p:sp>
        <p:nvSpPr>
          <p:cNvPr id="22" name="Text 17"/>
          <p:cNvSpPr/>
          <p:nvPr/>
        </p:nvSpPr>
        <p:spPr>
          <a:xfrm>
            <a:off x="8001000" y="4983480"/>
            <a:ext cx="3474720" cy="502920"/>
          </a:xfrm>
          <a:prstGeom prst="rect">
            <a:avLst/>
          </a:prstGeom>
          <a:noFill/>
          <a:ln/>
        </p:spPr>
        <p:txBody>
          <a:bodyPr wrap="square" lIns="0" tIns="0" rIns="0" bIns="0" rtlCol="0" anchor="ctr"/>
          <a:lstStyle/>
          <a:p>
            <a:pPr marL="0" indent="0">
              <a:buNone/>
            </a:pPr>
            <a:r>
              <a:rPr lang="en-US" sz="2400" b="1" dirty="0">
                <a:solidFill>
                  <a:srgbClr val="0E2A47"/>
                </a:solidFill>
                <a:latin typeface="Cambria" pitchFamily="34" charset="0"/>
                <a:ea typeface="Cambria" pitchFamily="34" charset="-122"/>
                <a:cs typeface="Cambria" pitchFamily="34" charset="-120"/>
              </a:rPr>
              <a:t>Rời rạc</a:t>
            </a:r>
            <a:endParaRPr lang="en-US" sz="2400" dirty="0"/>
          </a:p>
        </p:txBody>
      </p:sp>
      <p:sp>
        <p:nvSpPr>
          <p:cNvPr id="23" name="Text 18"/>
          <p:cNvSpPr/>
          <p:nvPr/>
        </p:nvSpPr>
        <p:spPr>
          <a:xfrm>
            <a:off x="8001000" y="5513832"/>
            <a:ext cx="3474720" cy="411480"/>
          </a:xfrm>
          <a:prstGeom prst="rect">
            <a:avLst/>
          </a:prstGeom>
          <a:noFill/>
          <a:ln/>
        </p:spPr>
        <p:txBody>
          <a:bodyPr wrap="square" lIns="0" tIns="0" rIns="0" bIns="0" rtlCol="0" anchor="ctr"/>
          <a:lstStyle/>
          <a:p>
            <a:pPr marL="0" indent="0">
              <a:buNone/>
            </a:pPr>
            <a:r>
              <a:rPr lang="en-US" sz="1250" dirty="0">
                <a:solidFill>
                  <a:srgbClr val="6B7A88"/>
                </a:solidFill>
                <a:latin typeface="Calibri" pitchFamily="34" charset="0"/>
                <a:ea typeface="Calibri" pitchFamily="34" charset="-122"/>
                <a:cs typeface="Calibri" pitchFamily="34" charset="-120"/>
              </a:rPr>
              <a:t>nghiệp vụ không liên thông</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01 · HIỆN TRẠNG</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Bất cập trải đều trên ba nhóm nghiệp vụ</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675888" cy="416052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566928" y="1691640"/>
            <a:ext cx="3675888" cy="914400"/>
          </a:xfrm>
          <a:prstGeom prst="roundRect">
            <a:avLst>
              <a:gd name="adj" fmla="val 12000"/>
            </a:avLst>
          </a:prstGeom>
          <a:solidFill>
            <a:srgbClr val="0E7C86"/>
          </a:solidFill>
          <a:ln/>
        </p:spPr>
      </p:sp>
      <p:sp>
        <p:nvSpPr>
          <p:cNvPr id="10" name="Shape 8"/>
          <p:cNvSpPr/>
          <p:nvPr/>
        </p:nvSpPr>
        <p:spPr>
          <a:xfrm>
            <a:off x="566928" y="2148840"/>
            <a:ext cx="3675888" cy="457200"/>
          </a:xfrm>
          <a:prstGeom prst="rect">
            <a:avLst/>
          </a:prstGeom>
          <a:solidFill>
            <a:srgbClr val="0E7C86"/>
          </a:solidFill>
          <a:ln/>
        </p:spPr>
      </p:sp>
      <p:sp>
        <p:nvSpPr>
          <p:cNvPr id="11" name="Shape 9"/>
          <p:cNvSpPr/>
          <p:nvPr/>
        </p:nvSpPr>
        <p:spPr>
          <a:xfrm>
            <a:off x="841248" y="1911096"/>
            <a:ext cx="502920" cy="502920"/>
          </a:xfrm>
          <a:prstGeom prst="roundRect">
            <a:avLst>
              <a:gd name="adj" fmla="val 50000"/>
            </a:avLst>
          </a:prstGeom>
          <a:solidFill>
            <a:srgbClr val="FFFFFF"/>
          </a:solidFill>
          <a:ln/>
        </p:spPr>
      </p:sp>
      <p:pic>
        <p:nvPicPr>
          <p:cNvPr id="12" name="Image 0" descr="preencoded.png"/>
          <p:cNvPicPr>
            <a:picLocks noChangeAspect="1"/>
          </p:cNvPicPr>
          <p:nvPr/>
        </p:nvPicPr>
        <p:blipFill>
          <a:blip r:embed="rId3"/>
          <a:stretch>
            <a:fillRect/>
          </a:stretch>
        </p:blipFill>
        <p:spPr>
          <a:xfrm>
            <a:off x="961949" y="2031797"/>
            <a:ext cx="261518" cy="261518"/>
          </a:xfrm>
          <a:prstGeom prst="rect">
            <a:avLst/>
          </a:prstGeom>
        </p:spPr>
      </p:pic>
      <p:sp>
        <p:nvSpPr>
          <p:cNvPr id="13" name="Text 10"/>
          <p:cNvSpPr/>
          <p:nvPr/>
        </p:nvSpPr>
        <p:spPr>
          <a:xfrm>
            <a:off x="1481328" y="1911096"/>
            <a:ext cx="2578608" cy="50292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Tài sản</a:t>
            </a:r>
            <a:endParaRPr lang="en-US" sz="2000" dirty="0"/>
          </a:p>
        </p:txBody>
      </p:sp>
      <p:sp>
        <p:nvSpPr>
          <p:cNvPr id="14" name="Text 11"/>
          <p:cNvSpPr/>
          <p:nvPr/>
        </p:nvSpPr>
        <p:spPr>
          <a:xfrm>
            <a:off x="822960" y="2788920"/>
            <a:ext cx="3218688" cy="292608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Khó tra cứu, không theo dõi giá trị còn lại</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Tính khấu hao sai lệch, bỏ sót lịch bảo trì</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Tồn kho không chính xác; chứng từ khó kiểm soát</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Số liệu vật lý không khớp sổ kế toán</a:t>
            </a:r>
            <a:endParaRPr lang="en-US" sz="1250" dirty="0"/>
          </a:p>
        </p:txBody>
      </p:sp>
      <p:sp>
        <p:nvSpPr>
          <p:cNvPr id="15" name="Shape 12"/>
          <p:cNvSpPr/>
          <p:nvPr/>
        </p:nvSpPr>
        <p:spPr>
          <a:xfrm>
            <a:off x="4498848" y="1691640"/>
            <a:ext cx="3675888" cy="416052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6" name="Shape 13"/>
          <p:cNvSpPr/>
          <p:nvPr/>
        </p:nvSpPr>
        <p:spPr>
          <a:xfrm>
            <a:off x="4498848" y="1691640"/>
            <a:ext cx="3675888" cy="914400"/>
          </a:xfrm>
          <a:prstGeom prst="roundRect">
            <a:avLst>
              <a:gd name="adj" fmla="val 12000"/>
            </a:avLst>
          </a:prstGeom>
          <a:solidFill>
            <a:srgbClr val="23B5A6"/>
          </a:solidFill>
          <a:ln/>
        </p:spPr>
      </p:sp>
      <p:sp>
        <p:nvSpPr>
          <p:cNvPr id="17" name="Shape 14"/>
          <p:cNvSpPr/>
          <p:nvPr/>
        </p:nvSpPr>
        <p:spPr>
          <a:xfrm>
            <a:off x="4498848" y="2148840"/>
            <a:ext cx="3675888" cy="457200"/>
          </a:xfrm>
          <a:prstGeom prst="rect">
            <a:avLst/>
          </a:prstGeom>
          <a:solidFill>
            <a:srgbClr val="23B5A6"/>
          </a:solidFill>
          <a:ln/>
        </p:spPr>
      </p:sp>
      <p:sp>
        <p:nvSpPr>
          <p:cNvPr id="18" name="Shape 15"/>
          <p:cNvSpPr/>
          <p:nvPr/>
        </p:nvSpPr>
        <p:spPr>
          <a:xfrm>
            <a:off x="4773168" y="1911096"/>
            <a:ext cx="502920" cy="502920"/>
          </a:xfrm>
          <a:prstGeom prst="roundRect">
            <a:avLst>
              <a:gd name="adj" fmla="val 50000"/>
            </a:avLst>
          </a:prstGeom>
          <a:solidFill>
            <a:srgbClr val="FFFFFF"/>
          </a:solidFill>
          <a:ln/>
        </p:spPr>
      </p:sp>
      <p:pic>
        <p:nvPicPr>
          <p:cNvPr id="19" name="Image 1" descr="preencoded.png"/>
          <p:cNvPicPr>
            <a:picLocks noChangeAspect="1"/>
          </p:cNvPicPr>
          <p:nvPr/>
        </p:nvPicPr>
        <p:blipFill>
          <a:blip r:embed="rId4"/>
          <a:stretch>
            <a:fillRect/>
          </a:stretch>
        </p:blipFill>
        <p:spPr>
          <a:xfrm>
            <a:off x="4893869" y="2031797"/>
            <a:ext cx="261518" cy="261518"/>
          </a:xfrm>
          <a:prstGeom prst="rect">
            <a:avLst/>
          </a:prstGeom>
        </p:spPr>
      </p:pic>
      <p:sp>
        <p:nvSpPr>
          <p:cNvPr id="20" name="Text 16"/>
          <p:cNvSpPr/>
          <p:nvPr/>
        </p:nvSpPr>
        <p:spPr>
          <a:xfrm>
            <a:off x="5413248" y="1911096"/>
            <a:ext cx="2578608" cy="50292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Dân cư</a:t>
            </a:r>
            <a:endParaRPr lang="en-US" sz="2000" dirty="0"/>
          </a:p>
        </p:txBody>
      </p:sp>
      <p:sp>
        <p:nvSpPr>
          <p:cNvPr id="21" name="Text 17"/>
          <p:cNvSpPr/>
          <p:nvPr/>
        </p:nvSpPr>
        <p:spPr>
          <a:xfrm>
            <a:off x="4754880" y="2788920"/>
            <a:ext cx="3218688" cy="292608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Hồ sơ cư dân – căn hộ lưu rải rác</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Khó cập nhật khi chuyển đến / đổi chủ hộ</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Kiểm soát ra vào thủ công, khó truy vết</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Thông báo phân tán qua nhiều kênh</a:t>
            </a:r>
            <a:endParaRPr lang="en-US" sz="1250" dirty="0"/>
          </a:p>
        </p:txBody>
      </p:sp>
      <p:sp>
        <p:nvSpPr>
          <p:cNvPr id="22" name="Shape 18"/>
          <p:cNvSpPr/>
          <p:nvPr/>
        </p:nvSpPr>
        <p:spPr>
          <a:xfrm>
            <a:off x="8430768" y="1691640"/>
            <a:ext cx="3675888" cy="416052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3" name="Shape 19"/>
          <p:cNvSpPr/>
          <p:nvPr/>
        </p:nvSpPr>
        <p:spPr>
          <a:xfrm>
            <a:off x="8430768" y="1691640"/>
            <a:ext cx="3675888" cy="914400"/>
          </a:xfrm>
          <a:prstGeom prst="roundRect">
            <a:avLst>
              <a:gd name="adj" fmla="val 12000"/>
            </a:avLst>
          </a:prstGeom>
          <a:solidFill>
            <a:srgbClr val="EFA13C"/>
          </a:solidFill>
          <a:ln/>
        </p:spPr>
      </p:sp>
      <p:sp>
        <p:nvSpPr>
          <p:cNvPr id="24" name="Shape 20"/>
          <p:cNvSpPr/>
          <p:nvPr/>
        </p:nvSpPr>
        <p:spPr>
          <a:xfrm>
            <a:off x="8430768" y="2148840"/>
            <a:ext cx="3675888" cy="457200"/>
          </a:xfrm>
          <a:prstGeom prst="rect">
            <a:avLst/>
          </a:prstGeom>
          <a:solidFill>
            <a:srgbClr val="EFA13C"/>
          </a:solidFill>
          <a:ln/>
        </p:spPr>
      </p:sp>
      <p:sp>
        <p:nvSpPr>
          <p:cNvPr id="25" name="Shape 21"/>
          <p:cNvSpPr/>
          <p:nvPr/>
        </p:nvSpPr>
        <p:spPr>
          <a:xfrm>
            <a:off x="8705088" y="1911096"/>
            <a:ext cx="502920" cy="502920"/>
          </a:xfrm>
          <a:prstGeom prst="roundRect">
            <a:avLst>
              <a:gd name="adj" fmla="val 50000"/>
            </a:avLst>
          </a:prstGeom>
          <a:solidFill>
            <a:srgbClr val="FFFFFF"/>
          </a:solidFill>
          <a:ln/>
        </p:spPr>
      </p:sp>
      <p:pic>
        <p:nvPicPr>
          <p:cNvPr id="26" name="Image 2" descr="preencoded.png"/>
          <p:cNvPicPr>
            <a:picLocks noChangeAspect="1"/>
          </p:cNvPicPr>
          <p:nvPr/>
        </p:nvPicPr>
        <p:blipFill>
          <a:blip r:embed="rId5"/>
          <a:stretch>
            <a:fillRect/>
          </a:stretch>
        </p:blipFill>
        <p:spPr>
          <a:xfrm>
            <a:off x="8825789" y="2031797"/>
            <a:ext cx="261518" cy="261518"/>
          </a:xfrm>
          <a:prstGeom prst="rect">
            <a:avLst/>
          </a:prstGeom>
        </p:spPr>
      </p:pic>
      <p:sp>
        <p:nvSpPr>
          <p:cNvPr id="27" name="Text 22"/>
          <p:cNvSpPr/>
          <p:nvPr/>
        </p:nvSpPr>
        <p:spPr>
          <a:xfrm>
            <a:off x="9345168" y="1911096"/>
            <a:ext cx="2578608" cy="50292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Dịch vụ</a:t>
            </a:r>
            <a:endParaRPr lang="en-US" sz="2000" dirty="0"/>
          </a:p>
        </p:txBody>
      </p:sp>
      <p:sp>
        <p:nvSpPr>
          <p:cNvPr id="28" name="Text 23"/>
          <p:cNvSpPr/>
          <p:nvPr/>
        </p:nvSpPr>
        <p:spPr>
          <a:xfrm>
            <a:off x="8686800" y="2788920"/>
            <a:ext cx="3218688" cy="292608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Khó tìm nhà cung cấp uy tín trong tòa nhà</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Yêu cầu qua điện thoại/tin nhắn, thiếu theo dõi</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Không rõ trạng thái, thời gian, trách nhiệm</a:t>
            </a:r>
            <a:endParaRPr lang="en-US" sz="1250" dirty="0"/>
          </a:p>
          <a:p>
            <a:pPr marL="177800" indent="-177800">
              <a:lnSpc>
                <a:spcPct val="102000"/>
              </a:lnSpc>
              <a:spcAft>
                <a:spcPts val="900"/>
              </a:spcAft>
              <a:buSzPct val="100000"/>
              <a:buChar char="•"/>
            </a:pPr>
            <a:r>
              <a:rPr lang="en-US" sz="1250" dirty="0">
                <a:solidFill>
                  <a:srgbClr val="22303C"/>
                </a:solidFill>
                <a:latin typeface="Calibri" pitchFamily="34" charset="0"/>
                <a:ea typeface="Calibri" pitchFamily="34" charset="-122"/>
                <a:cs typeface="Calibri" pitchFamily="34" charset="-120"/>
              </a:rPr>
              <a:t>BQL khó đánh giá chất lượng NCC</a:t>
            </a:r>
            <a:endParaRPr lang="en-US" sz="1250" dirty="0"/>
          </a:p>
        </p:txBody>
      </p:sp>
      <p:sp>
        <p:nvSpPr>
          <p:cNvPr id="29" name="Text 24"/>
          <p:cNvSpPr/>
          <p:nvPr/>
        </p:nvSpPr>
        <p:spPr>
          <a:xfrm>
            <a:off x="566928" y="5989320"/>
            <a:ext cx="11064240" cy="365760"/>
          </a:xfrm>
          <a:prstGeom prst="rect">
            <a:avLst/>
          </a:prstGeom>
          <a:noFill/>
          <a:ln/>
        </p:spPr>
        <p:txBody>
          <a:bodyPr wrap="square" lIns="0" tIns="0" rIns="0" bIns="0" rtlCol="0" anchor="ctr"/>
          <a:lstStyle/>
          <a:p>
            <a:pPr marL="0" indent="0">
              <a:buNone/>
            </a:pPr>
            <a:r>
              <a:rPr lang="en-US" sz="1300" b="1" i="1" dirty="0">
                <a:solidFill>
                  <a:srgbClr val="0E7C86"/>
                </a:solidFill>
                <a:latin typeface="Calibri" pitchFamily="34" charset="0"/>
                <a:ea typeface="Calibri" pitchFamily="34" charset="-122"/>
                <a:cs typeface="Calibri" pitchFamily="34" charset="-120"/>
              </a:rPr>
              <a:t>→ Đặt ra yêu cầu: một hệ thống tập trung, tự động hóa và liên thông dữ liệu cho cả ba phân hệ.</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01 · MỤC TIÊU &amp; PHÂN CÔNG</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Đồ án nhóm — kiến trúc module, phần riêng rõ ràng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5</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1064240" cy="932688"/>
          </a:xfrm>
          <a:prstGeom prst="roundRect">
            <a:avLst>
              <a:gd name="adj" fmla="val 11765"/>
            </a:avLst>
          </a:prstGeom>
          <a:solidFill>
            <a:srgbClr val="0E2A47"/>
          </a:solidFill>
          <a:ln/>
        </p:spPr>
      </p:sp>
      <p:sp>
        <p:nvSpPr>
          <p:cNvPr id="9" name="Shape 7"/>
          <p:cNvSpPr/>
          <p:nvPr/>
        </p:nvSpPr>
        <p:spPr>
          <a:xfrm>
            <a:off x="822960" y="1847088"/>
            <a:ext cx="548640" cy="548640"/>
          </a:xfrm>
          <a:prstGeom prst="roundRect">
            <a:avLst>
              <a:gd name="adj" fmla="val 50000"/>
            </a:avLst>
          </a:prstGeom>
          <a:solidFill>
            <a:srgbClr val="23B5A6"/>
          </a:solidFill>
          <a:ln/>
        </p:spPr>
      </p:sp>
      <p:pic>
        <p:nvPicPr>
          <p:cNvPr id="10" name="Image 0" descr="preencoded.png"/>
          <p:cNvPicPr>
            <a:picLocks noChangeAspect="1"/>
          </p:cNvPicPr>
          <p:nvPr/>
        </p:nvPicPr>
        <p:blipFill>
          <a:blip r:embed="rId3"/>
          <a:stretch>
            <a:fillRect/>
          </a:stretch>
        </p:blipFill>
        <p:spPr>
          <a:xfrm>
            <a:off x="954634" y="1978762"/>
            <a:ext cx="285293" cy="285293"/>
          </a:xfrm>
          <a:prstGeom prst="rect">
            <a:avLst/>
          </a:prstGeom>
        </p:spPr>
      </p:pic>
      <p:sp>
        <p:nvSpPr>
          <p:cNvPr id="11" name="Text 8"/>
          <p:cNvSpPr/>
          <p:nvPr/>
        </p:nvSpPr>
        <p:spPr>
          <a:xfrm>
            <a:off x="1508760" y="1737360"/>
            <a:ext cx="9966960" cy="777240"/>
          </a:xfrm>
          <a:prstGeom prst="rect">
            <a:avLst/>
          </a:prstGeom>
          <a:noFill/>
          <a:ln/>
        </p:spPr>
        <p:txBody>
          <a:bodyPr wrap="square" lIns="0" tIns="0" rIns="0" bIns="0" rtlCol="0" anchor="ctr"/>
          <a:lstStyle/>
          <a:p>
            <a:pPr marL="0" indent="0">
              <a:lnSpc>
                <a:spcPct val="105000"/>
              </a:lnSpc>
              <a:buNone/>
            </a:pPr>
            <a:r>
              <a:rPr lang="en-US" sz="1500" b="1" dirty="0">
                <a:solidFill>
                  <a:srgbClr val="FFFFFF"/>
                </a:solidFill>
                <a:latin typeface="Calibri" pitchFamily="34" charset="0"/>
                <a:ea typeface="Calibri" pitchFamily="34" charset="-122"/>
                <a:cs typeface="Calibri" pitchFamily="34" charset="-120"/>
              </a:rPr>
              <a:t>Phần Base (dùng chung) — cả nhóm 3 thành viên
</a:t>
            </a:r>
            <a:r>
              <a:rPr lang="en-US" sz="1250" dirty="0">
                <a:solidFill>
                  <a:srgbClr val="BFD6DF"/>
                </a:solidFill>
                <a:latin typeface="Calibri" pitchFamily="34" charset="0"/>
                <a:ea typeface="Calibri" pitchFamily="34" charset="-122"/>
                <a:cs typeface="Calibri" pitchFamily="34" charset="-120"/>
              </a:rPr>
              <a:t>Xác thực – phân quyền · Người dùng · Thông báo · Cấu hình · Báo cáo tổng hợp</a:t>
            </a:r>
            <a:endParaRPr lang="en-US" sz="1500" dirty="0"/>
          </a:p>
        </p:txBody>
      </p:sp>
      <p:sp>
        <p:nvSpPr>
          <p:cNvPr id="12" name="Shape 9"/>
          <p:cNvSpPr/>
          <p:nvPr/>
        </p:nvSpPr>
        <p:spPr>
          <a:xfrm>
            <a:off x="566928" y="2788920"/>
            <a:ext cx="3675888" cy="2148840"/>
          </a:xfrm>
          <a:prstGeom prst="roundRect">
            <a:avLst>
              <a:gd name="adj" fmla="val 5106"/>
            </a:avLst>
          </a:prstGeom>
          <a:solidFill>
            <a:srgbClr val="E4EEF3"/>
          </a:solidFill>
          <a:ln w="25400">
            <a:solidFill>
              <a:srgbClr val="0E7C86"/>
            </a:solidFill>
            <a:prstDash val="solid"/>
          </a:ln>
          <a:effectLst>
            <a:outerShdw blurRad="88900" dist="25400" dir="5400000" algn="bl" rotWithShape="0">
              <a:srgbClr val="B9C7D1">
                <a:alpha val="40000"/>
              </a:srgbClr>
            </a:outerShdw>
          </a:effectLst>
        </p:spPr>
      </p:sp>
      <p:sp>
        <p:nvSpPr>
          <p:cNvPr id="13" name="Shape 10"/>
          <p:cNvSpPr/>
          <p:nvPr/>
        </p:nvSpPr>
        <p:spPr>
          <a:xfrm>
            <a:off x="841248" y="3063240"/>
            <a:ext cx="731520" cy="731520"/>
          </a:xfrm>
          <a:prstGeom prst="roundRect">
            <a:avLst>
              <a:gd name="adj" fmla="val 50000"/>
            </a:avLst>
          </a:prstGeom>
          <a:solidFill>
            <a:srgbClr val="0E7C86"/>
          </a:solidFill>
          <a:ln/>
        </p:spPr>
      </p:sp>
      <p:pic>
        <p:nvPicPr>
          <p:cNvPr id="14" name="Image 1" descr="preencoded.png"/>
          <p:cNvPicPr>
            <a:picLocks noChangeAspect="1"/>
          </p:cNvPicPr>
          <p:nvPr/>
        </p:nvPicPr>
        <p:blipFill>
          <a:blip r:embed="rId4"/>
          <a:stretch>
            <a:fillRect/>
          </a:stretch>
        </p:blipFill>
        <p:spPr>
          <a:xfrm>
            <a:off x="1016813" y="3238805"/>
            <a:ext cx="380390" cy="380390"/>
          </a:xfrm>
          <a:prstGeom prst="rect">
            <a:avLst/>
          </a:prstGeom>
        </p:spPr>
      </p:pic>
      <p:sp>
        <p:nvSpPr>
          <p:cNvPr id="15" name="Text 11"/>
          <p:cNvSpPr/>
          <p:nvPr/>
        </p:nvSpPr>
        <p:spPr>
          <a:xfrm>
            <a:off x="170992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Quản lý tài sản</a:t>
            </a:r>
            <a:endParaRPr lang="en-US" sz="1700" dirty="0"/>
          </a:p>
        </p:txBody>
      </p:sp>
      <p:sp>
        <p:nvSpPr>
          <p:cNvPr id="16" name="Text 12"/>
          <p:cNvSpPr/>
          <p:nvPr/>
        </p:nvSpPr>
        <p:spPr>
          <a:xfrm>
            <a:off x="1709928" y="3502152"/>
            <a:ext cx="2395728" cy="32004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Nguyễn Xuân Thưởng</a:t>
            </a:r>
            <a:endParaRPr lang="en-US" sz="1200" dirty="0"/>
          </a:p>
        </p:txBody>
      </p:sp>
      <p:sp>
        <p:nvSpPr>
          <p:cNvPr id="17" name="Text 13"/>
          <p:cNvSpPr/>
          <p:nvPr/>
        </p:nvSpPr>
        <p:spPr>
          <a:xfrm>
            <a:off x="84124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Tài sản &amp; bảo trì · Kho – Mua sắm – NCC · Sự cố &amp; SLA</a:t>
            </a:r>
            <a:endParaRPr lang="en-US" sz="1200" dirty="0"/>
          </a:p>
        </p:txBody>
      </p:sp>
      <p:sp>
        <p:nvSpPr>
          <p:cNvPr id="18" name="Text 14"/>
          <p:cNvSpPr/>
          <p:nvPr/>
        </p:nvSpPr>
        <p:spPr>
          <a:xfrm>
            <a:off x="841248" y="4617720"/>
            <a:ext cx="3172968" cy="274320"/>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PHẦN TRÌNH BÀY</a:t>
            </a:r>
            <a:endParaRPr lang="en-US" sz="1000" dirty="0"/>
          </a:p>
        </p:txBody>
      </p:sp>
      <p:sp>
        <p:nvSpPr>
          <p:cNvPr id="19" name="Shape 15"/>
          <p:cNvSpPr/>
          <p:nvPr/>
        </p:nvSpPr>
        <p:spPr>
          <a:xfrm>
            <a:off x="449884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0" name="Shape 16"/>
          <p:cNvSpPr/>
          <p:nvPr/>
        </p:nvSpPr>
        <p:spPr>
          <a:xfrm>
            <a:off x="4773168" y="3063240"/>
            <a:ext cx="731520" cy="731520"/>
          </a:xfrm>
          <a:prstGeom prst="roundRect">
            <a:avLst>
              <a:gd name="adj" fmla="val 50000"/>
            </a:avLst>
          </a:prstGeom>
          <a:solidFill>
            <a:srgbClr val="6B7A88"/>
          </a:solidFill>
          <a:ln/>
        </p:spPr>
      </p:sp>
      <p:pic>
        <p:nvPicPr>
          <p:cNvPr id="21" name="Image 2" descr="preencoded.png"/>
          <p:cNvPicPr>
            <a:picLocks noChangeAspect="1"/>
          </p:cNvPicPr>
          <p:nvPr/>
        </p:nvPicPr>
        <p:blipFill>
          <a:blip r:embed="rId6"/>
          <a:stretch>
            <a:fillRect/>
          </a:stretch>
        </p:blipFill>
        <p:spPr>
          <a:xfrm>
            <a:off x="4948733" y="3238805"/>
            <a:ext cx="380390" cy="380390"/>
          </a:xfrm>
          <a:prstGeom prst="rect">
            <a:avLst/>
          </a:prstGeom>
        </p:spPr>
      </p:pic>
      <p:sp>
        <p:nvSpPr>
          <p:cNvPr id="22" name="Text 17"/>
          <p:cNvSpPr/>
          <p:nvPr/>
        </p:nvSpPr>
        <p:spPr>
          <a:xfrm>
            <a:off x="564184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Quản lý dịch vụ</a:t>
            </a:r>
            <a:endParaRPr lang="en-US" sz="1700" dirty="0"/>
          </a:p>
        </p:txBody>
      </p:sp>
      <p:sp>
        <p:nvSpPr>
          <p:cNvPr id="23" name="Text 18"/>
          <p:cNvSpPr/>
          <p:nvPr/>
        </p:nvSpPr>
        <p:spPr>
          <a:xfrm>
            <a:off x="564184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Nguyễn Xuân Khải</a:t>
            </a:r>
            <a:endParaRPr lang="en-US" sz="1200" dirty="0"/>
          </a:p>
        </p:txBody>
      </p:sp>
      <p:sp>
        <p:nvSpPr>
          <p:cNvPr id="24" name="Text 19"/>
          <p:cNvSpPr/>
          <p:nvPr/>
        </p:nvSpPr>
        <p:spPr>
          <a:xfrm>
            <a:off x="477316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Dịch vụ tiện ích · NCC dịch vụ · Quy trình yêu cầu</a:t>
            </a:r>
            <a:endParaRPr lang="en-US" sz="1200" dirty="0"/>
          </a:p>
        </p:txBody>
      </p:sp>
      <p:sp>
        <p:nvSpPr>
          <p:cNvPr id="25" name="Shape 20"/>
          <p:cNvSpPr/>
          <p:nvPr/>
        </p:nvSpPr>
        <p:spPr>
          <a:xfrm>
            <a:off x="843076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6" name="Shape 21"/>
          <p:cNvSpPr/>
          <p:nvPr/>
        </p:nvSpPr>
        <p:spPr>
          <a:xfrm>
            <a:off x="8705088" y="3063240"/>
            <a:ext cx="731520" cy="731520"/>
          </a:xfrm>
          <a:prstGeom prst="roundRect">
            <a:avLst>
              <a:gd name="adj" fmla="val 50000"/>
            </a:avLst>
          </a:prstGeom>
          <a:solidFill>
            <a:srgbClr val="6B7A88"/>
          </a:solidFill>
          <a:ln/>
        </p:spPr>
      </p:sp>
      <p:pic>
        <p:nvPicPr>
          <p:cNvPr id="27" name="Image 3" descr="preencoded.png"/>
          <p:cNvPicPr>
            <a:picLocks noChangeAspect="1"/>
          </p:cNvPicPr>
          <p:nvPr/>
        </p:nvPicPr>
        <p:blipFill>
          <a:blip r:embed="rId5"/>
          <a:stretch>
            <a:fillRect/>
          </a:stretch>
        </p:blipFill>
        <p:spPr>
          <a:xfrm>
            <a:off x="8880653" y="3238805"/>
            <a:ext cx="380390" cy="380390"/>
          </a:xfrm>
          <a:prstGeom prst="rect">
            <a:avLst/>
          </a:prstGeom>
        </p:spPr>
      </p:pic>
      <p:sp>
        <p:nvSpPr>
          <p:cNvPr id="28" name="Text 22"/>
          <p:cNvSpPr/>
          <p:nvPr/>
        </p:nvSpPr>
        <p:spPr>
          <a:xfrm>
            <a:off x="957376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Quản lý dân cư</a:t>
            </a:r>
            <a:endParaRPr lang="en-US" sz="1700" dirty="0"/>
          </a:p>
        </p:txBody>
      </p:sp>
      <p:sp>
        <p:nvSpPr>
          <p:cNvPr id="29" name="Text 23"/>
          <p:cNvSpPr/>
          <p:nvPr/>
        </p:nvSpPr>
        <p:spPr>
          <a:xfrm>
            <a:off x="957376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Lương Thanh Tài</a:t>
            </a:r>
            <a:endParaRPr lang="en-US" sz="1200" dirty="0"/>
          </a:p>
        </p:txBody>
      </p:sp>
      <p:sp>
        <p:nvSpPr>
          <p:cNvPr id="30" name="Text 24"/>
          <p:cNvSpPr/>
          <p:nvPr/>
        </p:nvSpPr>
        <p:spPr>
          <a:xfrm>
            <a:off x="870508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Căn hộ – cư dân – phí · An ninh AI nhận diện khuôn mặt</a:t>
            </a:r>
            <a:endParaRPr lang="en-US" sz="1200" dirty="0"/>
          </a:p>
        </p:txBody>
      </p:sp>
      <p:sp>
        <p:nvSpPr>
          <p:cNvPr id="31" name="Text 25"/>
          <p:cNvSpPr/>
          <p:nvPr/>
        </p:nvSpPr>
        <p:spPr>
          <a:xfrm>
            <a:off x="566928" y="5138928"/>
            <a:ext cx="11064240" cy="640080"/>
          </a:xfrm>
          <a:prstGeom prst="rect">
            <a:avLst/>
          </a:prstGeom>
          <a:noFill/>
          <a:ln/>
        </p:spPr>
        <p:txBody>
          <a:bodyPr wrap="square" lIns="0" tIns="0" rIns="0" bIns="0" rtlCol="0" anchor="ctr"/>
          <a:lstStyle/>
          <a:p>
            <a:pPr marL="0" indent="0">
              <a:buNone/>
            </a:pPr>
            <a:r>
              <a:rPr lang="en-US" sz="1250" i="1" dirty="0">
                <a:solidFill>
                  <a:srgbClr val="6B7A88"/>
                </a:solidFill>
                <a:latin typeface="Calibri" pitchFamily="34" charset="0"/>
                <a:ea typeface="Calibri" pitchFamily="34" charset="-122"/>
                <a:cs typeface="Calibri" pitchFamily="34" charset="-120"/>
              </a:rPr>
              <a:t>Mục tiêu: hệ thống chạy được, giao diện &amp; API hoàn chỉnh; áp dụng .NET 8, Next.js 16, PostgreSQL và các thành phần thông minh (OCR hóa đơn, khấu hao tự động).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02 · KHẢO SÁT GIẢI PHÁP</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Các phần mềm tương tự đang triển khai thực tế</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6</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3675888" cy="425196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731520" y="1810512"/>
            <a:ext cx="3346704" cy="1965960"/>
          </a:xfrm>
          <a:prstGeom prst="roundRect">
            <a:avLst>
              <a:gd name="adj" fmla="val 4651"/>
            </a:avLst>
          </a:prstGeom>
          <a:solidFill>
            <a:srgbClr val="FFFFFF"/>
          </a:solidFill>
          <a:ln/>
          <a:effectLst>
            <a:outerShdw blurRad="88900" dist="25400" dir="5400000" algn="bl" rotWithShape="0">
              <a:srgbClr val="B9C7D1">
                <a:alpha val="40000"/>
              </a:srgbClr>
            </a:outerShdw>
          </a:effectLst>
        </p:spPr>
      </p:sp>
      <p:pic>
        <p:nvPicPr>
          <p:cNvPr id="10" name="Image 0" descr="D:/DATN/TownHub/latex/images/img45.png"/>
          <p:cNvPicPr>
            <a:picLocks noChangeAspect="1"/>
          </p:cNvPicPr>
          <p:nvPr/>
        </p:nvPicPr>
        <p:blipFill>
          <a:blip r:embed="rId3"/>
          <a:srcRect/>
          <a:stretch/>
        </p:blipFill>
        <p:spPr>
          <a:xfrm>
            <a:off x="813816" y="1892808"/>
            <a:ext cx="3182112" cy="1801368"/>
          </a:xfrm>
          <a:prstGeom prst="rect">
            <a:avLst/>
          </a:prstGeom>
        </p:spPr>
      </p:pic>
      <p:sp>
        <p:nvSpPr>
          <p:cNvPr id="11" name="Text 8"/>
          <p:cNvSpPr/>
          <p:nvPr/>
        </p:nvSpPr>
        <p:spPr>
          <a:xfrm>
            <a:off x="822960" y="3886200"/>
            <a:ext cx="2670048" cy="365760"/>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Building Care</a:t>
            </a:r>
            <a:endParaRPr lang="en-US" sz="1700" dirty="0"/>
          </a:p>
        </p:txBody>
      </p:sp>
      <p:sp>
        <p:nvSpPr>
          <p:cNvPr id="12" name="Shape 9"/>
          <p:cNvSpPr/>
          <p:nvPr/>
        </p:nvSpPr>
        <p:spPr>
          <a:xfrm>
            <a:off x="3584448" y="3931920"/>
            <a:ext cx="457200" cy="274320"/>
          </a:xfrm>
          <a:prstGeom prst="roundRect">
            <a:avLst>
              <a:gd name="adj" fmla="val 50000"/>
            </a:avLst>
          </a:prstGeom>
          <a:solidFill>
            <a:srgbClr val="0E7C86"/>
          </a:solidFill>
          <a:ln/>
        </p:spPr>
      </p:sp>
      <p:sp>
        <p:nvSpPr>
          <p:cNvPr id="13" name="Text 10"/>
          <p:cNvSpPr/>
          <p:nvPr/>
        </p:nvSpPr>
        <p:spPr>
          <a:xfrm>
            <a:off x="822960" y="4251960"/>
            <a:ext cx="3172968" cy="274320"/>
          </a:xfrm>
          <a:prstGeom prst="rect">
            <a:avLst/>
          </a:prstGeom>
          <a:noFill/>
          <a:ln/>
        </p:spPr>
        <p:txBody>
          <a:bodyPr wrap="square" lIns="0" tIns="0" rIns="0" bIns="0" rtlCol="0" anchor="ctr"/>
          <a:lstStyle/>
          <a:p>
            <a:pPr marL="0" indent="0">
              <a:buNone/>
            </a:pPr>
            <a:r>
              <a:rPr lang="en-US" sz="1150" b="1" dirty="0">
                <a:solidFill>
                  <a:srgbClr val="0E7C86"/>
                </a:solidFill>
                <a:latin typeface="Calibri" pitchFamily="34" charset="0"/>
                <a:ea typeface="Calibri" pitchFamily="34" charset="-122"/>
                <a:cs typeface="Calibri" pitchFamily="34" charset="-120"/>
              </a:rPr>
              <a:t>S-TECH</a:t>
            </a:r>
            <a:endParaRPr lang="en-US" sz="1150" dirty="0"/>
          </a:p>
        </p:txBody>
      </p:sp>
      <p:sp>
        <p:nvSpPr>
          <p:cNvPr id="14" name="Text 11"/>
          <p:cNvSpPr/>
          <p:nvPr/>
        </p:nvSpPr>
        <p:spPr>
          <a:xfrm>
            <a:off x="822960" y="4572000"/>
            <a:ext cx="3172968" cy="1234440"/>
          </a:xfrm>
          <a:prstGeom prst="rect">
            <a:avLst/>
          </a:prstGeom>
          <a:noFill/>
          <a:ln/>
        </p:spPr>
        <p:txBody>
          <a:bodyPr wrap="square" lIns="0" tIns="0" rIns="0" bIns="0" rtlCol="0" anchor="t"/>
          <a:lstStyle/>
          <a:p>
            <a:pPr marL="0" indent="0">
              <a:lnSpc>
                <a:spcPct val="105000"/>
              </a:lnSpc>
              <a:buNone/>
            </a:pPr>
            <a:r>
              <a:rPr lang="en-US" sz="1200" dirty="0">
                <a:solidFill>
                  <a:srgbClr val="22303C"/>
                </a:solidFill>
                <a:latin typeface="Calibri" pitchFamily="34" charset="0"/>
                <a:ea typeface="Calibri" pitchFamily="34" charset="-122"/>
                <a:cs typeface="Calibri" pitchFamily="34" charset="-120"/>
              </a:rPr>
              <a:t>60+ dự án · 172+ tòa nhà. Số hóa yêu cầu bảo trì: cư dân tạo ticket, hệ thống tự phân công KTV. FLC Twin Towers (06/2025).</a:t>
            </a:r>
            <a:endParaRPr lang="en-US" sz="1200" dirty="0"/>
          </a:p>
        </p:txBody>
      </p:sp>
      <p:sp>
        <p:nvSpPr>
          <p:cNvPr id="15" name="Shape 12"/>
          <p:cNvSpPr/>
          <p:nvPr/>
        </p:nvSpPr>
        <p:spPr>
          <a:xfrm>
            <a:off x="4498848" y="1645920"/>
            <a:ext cx="3675888" cy="425196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6" name="Shape 13"/>
          <p:cNvSpPr/>
          <p:nvPr/>
        </p:nvSpPr>
        <p:spPr>
          <a:xfrm>
            <a:off x="4663440" y="1810512"/>
            <a:ext cx="3346704" cy="1965960"/>
          </a:xfrm>
          <a:prstGeom prst="roundRect">
            <a:avLst>
              <a:gd name="adj" fmla="val 4651"/>
            </a:avLst>
          </a:prstGeom>
          <a:solidFill>
            <a:srgbClr val="FFFFFF"/>
          </a:solidFill>
          <a:ln/>
          <a:effectLst>
            <a:outerShdw blurRad="88900" dist="25400" dir="5400000" algn="bl" rotWithShape="0">
              <a:srgbClr val="B9C7D1">
                <a:alpha val="40000"/>
              </a:srgbClr>
            </a:outerShdw>
          </a:effectLst>
        </p:spPr>
      </p:sp>
      <p:pic>
        <p:nvPicPr>
          <p:cNvPr id="17" name="Image 1" descr="D:/DATN/TownHub/latex/images/img47.png"/>
          <p:cNvPicPr>
            <a:picLocks noChangeAspect="1"/>
          </p:cNvPicPr>
          <p:nvPr/>
        </p:nvPicPr>
        <p:blipFill>
          <a:blip r:embed="rId4"/>
          <a:srcRect/>
          <a:stretch/>
        </p:blipFill>
        <p:spPr>
          <a:xfrm>
            <a:off x="4745736" y="1892808"/>
            <a:ext cx="3182112" cy="1801368"/>
          </a:xfrm>
          <a:prstGeom prst="rect">
            <a:avLst/>
          </a:prstGeom>
        </p:spPr>
      </p:pic>
      <p:sp>
        <p:nvSpPr>
          <p:cNvPr id="18" name="Text 14"/>
          <p:cNvSpPr/>
          <p:nvPr/>
        </p:nvSpPr>
        <p:spPr>
          <a:xfrm>
            <a:off x="4754880" y="3886200"/>
            <a:ext cx="2670048" cy="365760"/>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Landsoft Control</a:t>
            </a:r>
            <a:endParaRPr lang="en-US" sz="1700" dirty="0"/>
          </a:p>
        </p:txBody>
      </p:sp>
      <p:sp>
        <p:nvSpPr>
          <p:cNvPr id="19" name="Shape 15"/>
          <p:cNvSpPr/>
          <p:nvPr/>
        </p:nvSpPr>
        <p:spPr>
          <a:xfrm>
            <a:off x="7516368" y="3931920"/>
            <a:ext cx="457200" cy="274320"/>
          </a:xfrm>
          <a:prstGeom prst="roundRect">
            <a:avLst>
              <a:gd name="adj" fmla="val 50000"/>
            </a:avLst>
          </a:prstGeom>
          <a:solidFill>
            <a:srgbClr val="23B5A6"/>
          </a:solidFill>
          <a:ln/>
        </p:spPr>
      </p:sp>
      <p:sp>
        <p:nvSpPr>
          <p:cNvPr id="20" name="Text 16"/>
          <p:cNvSpPr/>
          <p:nvPr/>
        </p:nvSpPr>
        <p:spPr>
          <a:xfrm>
            <a:off x="4754880" y="4251960"/>
            <a:ext cx="3172968" cy="274320"/>
          </a:xfrm>
          <a:prstGeom prst="rect">
            <a:avLst/>
          </a:prstGeom>
          <a:noFill/>
          <a:ln/>
        </p:spPr>
        <p:txBody>
          <a:bodyPr wrap="square" lIns="0" tIns="0" rIns="0" bIns="0" rtlCol="0" anchor="ctr"/>
          <a:lstStyle/>
          <a:p>
            <a:pPr marL="0" indent="0">
              <a:buNone/>
            </a:pPr>
            <a:r>
              <a:rPr lang="en-US" sz="1150" b="1" dirty="0">
                <a:solidFill>
                  <a:srgbClr val="23B5A6"/>
                </a:solidFill>
                <a:latin typeface="Calibri" pitchFamily="34" charset="0"/>
                <a:ea typeface="Calibri" pitchFamily="34" charset="-122"/>
                <a:cs typeface="Calibri" pitchFamily="34" charset="-120"/>
              </a:rPr>
              <a:t>Landsoft · DIP</a:t>
            </a:r>
            <a:endParaRPr lang="en-US" sz="1150" dirty="0"/>
          </a:p>
        </p:txBody>
      </p:sp>
      <p:sp>
        <p:nvSpPr>
          <p:cNvPr id="21" name="Text 17"/>
          <p:cNvSpPr/>
          <p:nvPr/>
        </p:nvSpPr>
        <p:spPr>
          <a:xfrm>
            <a:off x="4754880" y="4572000"/>
            <a:ext cx="3172968" cy="1234440"/>
          </a:xfrm>
          <a:prstGeom prst="rect">
            <a:avLst/>
          </a:prstGeom>
          <a:noFill/>
          <a:ln/>
        </p:spPr>
        <p:txBody>
          <a:bodyPr wrap="square" lIns="0" tIns="0" rIns="0" bIns="0" rtlCol="0" anchor="t"/>
          <a:lstStyle/>
          <a:p>
            <a:pPr marL="0" indent="0">
              <a:lnSpc>
                <a:spcPct val="105000"/>
              </a:lnSpc>
              <a:buNone/>
            </a:pPr>
            <a:r>
              <a:rPr lang="en-US" sz="1200" dirty="0">
                <a:solidFill>
                  <a:srgbClr val="22303C"/>
                </a:solidFill>
                <a:latin typeface="Calibri" pitchFamily="34" charset="0"/>
                <a:ea typeface="Calibri" pitchFamily="34" charset="-122"/>
                <a:cs typeface="Calibri" pitchFamily="34" charset="-120"/>
              </a:rPr>
              <a:t>Quản lý vòng đời thiết bị. Xuân Mai (11 dự án), Geleximco, SunGroup. Thu phí VNPay/Viettel Pay, tự gạch nợ kế toán.</a:t>
            </a:r>
            <a:endParaRPr lang="en-US" sz="1200" dirty="0"/>
          </a:p>
        </p:txBody>
      </p:sp>
      <p:sp>
        <p:nvSpPr>
          <p:cNvPr id="22" name="Shape 18"/>
          <p:cNvSpPr/>
          <p:nvPr/>
        </p:nvSpPr>
        <p:spPr>
          <a:xfrm>
            <a:off x="8430768" y="1645920"/>
            <a:ext cx="3675888" cy="4251960"/>
          </a:xfrm>
          <a:prstGeom prst="roundRect">
            <a:avLst>
              <a:gd name="adj" fmla="val 2985"/>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3" name="Shape 19"/>
          <p:cNvSpPr/>
          <p:nvPr/>
        </p:nvSpPr>
        <p:spPr>
          <a:xfrm>
            <a:off x="8595360" y="1810512"/>
            <a:ext cx="3346704" cy="1965960"/>
          </a:xfrm>
          <a:prstGeom prst="roundRect">
            <a:avLst>
              <a:gd name="adj" fmla="val 4651"/>
            </a:avLst>
          </a:prstGeom>
          <a:solidFill>
            <a:srgbClr val="FFFFFF"/>
          </a:solidFill>
          <a:ln/>
          <a:effectLst>
            <a:outerShdw blurRad="88900" dist="25400" dir="5400000" algn="bl" rotWithShape="0">
              <a:srgbClr val="B9C7D1">
                <a:alpha val="40000"/>
              </a:srgbClr>
            </a:outerShdw>
          </a:effectLst>
        </p:spPr>
      </p:sp>
      <p:pic>
        <p:nvPicPr>
          <p:cNvPr id="24" name="Image 2" descr="D:/DATN/TownHub/latex/images/img51.png"/>
          <p:cNvPicPr>
            <a:picLocks noChangeAspect="1"/>
          </p:cNvPicPr>
          <p:nvPr/>
        </p:nvPicPr>
        <p:blipFill>
          <a:blip r:embed="rId5"/>
          <a:srcRect/>
          <a:stretch/>
        </p:blipFill>
        <p:spPr>
          <a:xfrm>
            <a:off x="8677656" y="1892808"/>
            <a:ext cx="3182112" cy="1801368"/>
          </a:xfrm>
          <a:prstGeom prst="rect">
            <a:avLst/>
          </a:prstGeom>
        </p:spPr>
      </p:pic>
      <p:sp>
        <p:nvSpPr>
          <p:cNvPr id="25" name="Text 20"/>
          <p:cNvSpPr/>
          <p:nvPr/>
        </p:nvSpPr>
        <p:spPr>
          <a:xfrm>
            <a:off x="8686800" y="3886200"/>
            <a:ext cx="2670048" cy="365760"/>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CyHome PMS</a:t>
            </a:r>
            <a:endParaRPr lang="en-US" sz="1700" dirty="0"/>
          </a:p>
        </p:txBody>
      </p:sp>
      <p:sp>
        <p:nvSpPr>
          <p:cNvPr id="26" name="Shape 21"/>
          <p:cNvSpPr/>
          <p:nvPr/>
        </p:nvSpPr>
        <p:spPr>
          <a:xfrm>
            <a:off x="11448288" y="3931920"/>
            <a:ext cx="457200" cy="274320"/>
          </a:xfrm>
          <a:prstGeom prst="roundRect">
            <a:avLst>
              <a:gd name="adj" fmla="val 50000"/>
            </a:avLst>
          </a:prstGeom>
          <a:solidFill>
            <a:srgbClr val="EFA13C"/>
          </a:solidFill>
          <a:ln/>
        </p:spPr>
      </p:sp>
      <p:sp>
        <p:nvSpPr>
          <p:cNvPr id="27" name="Text 22"/>
          <p:cNvSpPr/>
          <p:nvPr/>
        </p:nvSpPr>
        <p:spPr>
          <a:xfrm>
            <a:off x="8686800" y="4251960"/>
            <a:ext cx="3172968" cy="274320"/>
          </a:xfrm>
          <a:prstGeom prst="rect">
            <a:avLst/>
          </a:prstGeom>
          <a:noFill/>
          <a:ln/>
        </p:spPr>
        <p:txBody>
          <a:bodyPr wrap="square" lIns="0" tIns="0" rIns="0" bIns="0" rtlCol="0" anchor="ctr"/>
          <a:lstStyle/>
          <a:p>
            <a:pPr marL="0" indent="0">
              <a:buNone/>
            </a:pPr>
            <a:r>
              <a:rPr lang="en-US" sz="1150" b="1" dirty="0">
                <a:solidFill>
                  <a:srgbClr val="EFA13C"/>
                </a:solidFill>
                <a:latin typeface="Calibri" pitchFamily="34" charset="0"/>
                <a:ea typeface="Calibri" pitchFamily="34" charset="-122"/>
                <a:cs typeface="Calibri" pitchFamily="34" charset="-120"/>
              </a:rPr>
              <a:t>CYFEER · SaaS/AWS</a:t>
            </a:r>
            <a:endParaRPr lang="en-US" sz="1150" dirty="0"/>
          </a:p>
        </p:txBody>
      </p:sp>
      <p:sp>
        <p:nvSpPr>
          <p:cNvPr id="28" name="Text 23"/>
          <p:cNvSpPr/>
          <p:nvPr/>
        </p:nvSpPr>
        <p:spPr>
          <a:xfrm>
            <a:off x="8686800" y="4572000"/>
            <a:ext cx="3172968" cy="1234440"/>
          </a:xfrm>
          <a:prstGeom prst="rect">
            <a:avLst/>
          </a:prstGeom>
          <a:noFill/>
          <a:ln/>
        </p:spPr>
        <p:txBody>
          <a:bodyPr wrap="square" lIns="0" tIns="0" rIns="0" bIns="0" rtlCol="0" anchor="t"/>
          <a:lstStyle/>
          <a:p>
            <a:pPr marL="0" indent="0">
              <a:lnSpc>
                <a:spcPct val="105000"/>
              </a:lnSpc>
              <a:buNone/>
            </a:pPr>
            <a:r>
              <a:rPr lang="en-US" sz="1200" dirty="0">
                <a:solidFill>
                  <a:srgbClr val="22303C"/>
                </a:solidFill>
                <a:latin typeface="Calibri" pitchFamily="34" charset="0"/>
                <a:ea typeface="Calibri" pitchFamily="34" charset="-122"/>
                <a:cs typeface="Calibri" pitchFamily="34" charset="-120"/>
              </a:rPr>
              <a:t>200+ dự án · 180k+ cư dân (CBRE, Vingroup…). App KTV chốt số + chụp ảnh hiện trường. Giải Sao Khuê 2022.</a:t>
            </a:r>
            <a:endParaRPr lang="en-US" sz="1200" dirty="0"/>
          </a:p>
        </p:txBody>
      </p:sp>
      <p:sp>
        <p:nvSpPr>
          <p:cNvPr id="29" name="Text 24"/>
          <p:cNvSpPr/>
          <p:nvPr/>
        </p:nvSpPr>
        <p:spPr>
          <a:xfrm>
            <a:off x="566928" y="5989320"/>
            <a:ext cx="11064240" cy="274320"/>
          </a:xfrm>
          <a:prstGeom prst="rect">
            <a:avLst/>
          </a:prstGeom>
          <a:noFill/>
          <a:ln/>
        </p:spPr>
        <p:txBody>
          <a:bodyPr wrap="square" lIns="0" tIns="0" rIns="0" bIns="0" rtlCol="0" anchor="ctr"/>
          <a:lstStyle/>
          <a:p>
            <a:pPr marL="0" indent="0">
              <a:buNone/>
            </a:pPr>
            <a:r>
              <a:rPr lang="en-US" sz="1050" i="1" dirty="0">
                <a:solidFill>
                  <a:srgbClr val="6B7A88"/>
                </a:solidFill>
                <a:latin typeface="Calibri" pitchFamily="34" charset="0"/>
                <a:ea typeface="Calibri" pitchFamily="34" charset="-122"/>
                <a:cs typeface="Calibri" pitchFamily="34" charset="-120"/>
              </a:rPr>
              <a:t>Nguồn: trang chủ / thông cáo chính thức của từng sản phẩm (ảnh chụp màn hình, truy cập 07/2026).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02 · KHẢO SÁT GIẢI PHÁP</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Định vị TownHub giữa các giải pháp hiện có</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7</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383280" cy="502920"/>
          </a:xfrm>
          <a:prstGeom prst="rect">
            <a:avLst/>
          </a:prstGeom>
          <a:solidFill>
            <a:srgbClr val="0E2A47"/>
          </a:solidFill>
          <a:ln w="15240">
            <a:solidFill>
              <a:srgbClr val="FFFFFF"/>
            </a:solidFill>
            <a:prstDash val="solid"/>
          </a:ln>
        </p:spPr>
      </p:sp>
      <p:sp>
        <p:nvSpPr>
          <p:cNvPr id="9" name="Text 7"/>
          <p:cNvSpPr/>
          <p:nvPr/>
        </p:nvSpPr>
        <p:spPr>
          <a:xfrm>
            <a:off x="694944" y="1691640"/>
            <a:ext cx="3163824" cy="502920"/>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Tiêu chí</a:t>
            </a:r>
            <a:endParaRPr lang="en-US" sz="1200" dirty="0"/>
          </a:p>
        </p:txBody>
      </p:sp>
      <p:sp>
        <p:nvSpPr>
          <p:cNvPr id="10" name="Shape 8"/>
          <p:cNvSpPr/>
          <p:nvPr/>
        </p:nvSpPr>
        <p:spPr>
          <a:xfrm>
            <a:off x="3950208" y="1691640"/>
            <a:ext cx="2468880" cy="502920"/>
          </a:xfrm>
          <a:prstGeom prst="rect">
            <a:avLst/>
          </a:prstGeom>
          <a:solidFill>
            <a:srgbClr val="0E2A47"/>
          </a:solidFill>
          <a:ln w="15240">
            <a:solidFill>
              <a:srgbClr val="FFFFFF"/>
            </a:solidFill>
            <a:prstDash val="solid"/>
          </a:ln>
        </p:spPr>
      </p:sp>
      <p:sp>
        <p:nvSpPr>
          <p:cNvPr id="11" name="Text 9"/>
          <p:cNvSpPr/>
          <p:nvPr/>
        </p:nvSpPr>
        <p:spPr>
          <a:xfrm>
            <a:off x="4078224" y="1691640"/>
            <a:ext cx="224942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Thủ công (Excel)</a:t>
            </a:r>
            <a:endParaRPr lang="en-US" sz="1200" dirty="0"/>
          </a:p>
        </p:txBody>
      </p:sp>
      <p:sp>
        <p:nvSpPr>
          <p:cNvPr id="12" name="Shape 10"/>
          <p:cNvSpPr/>
          <p:nvPr/>
        </p:nvSpPr>
        <p:spPr>
          <a:xfrm>
            <a:off x="6419088" y="1691640"/>
            <a:ext cx="2651760" cy="502920"/>
          </a:xfrm>
          <a:prstGeom prst="rect">
            <a:avLst/>
          </a:prstGeom>
          <a:solidFill>
            <a:srgbClr val="0E2A47"/>
          </a:solidFill>
          <a:ln w="15240">
            <a:solidFill>
              <a:srgbClr val="FFFFFF"/>
            </a:solidFill>
            <a:prstDash val="solid"/>
          </a:ln>
        </p:spPr>
      </p:sp>
      <p:sp>
        <p:nvSpPr>
          <p:cNvPr id="13" name="Text 11"/>
          <p:cNvSpPr/>
          <p:nvPr/>
        </p:nvSpPr>
        <p:spPr>
          <a:xfrm>
            <a:off x="6547104" y="1691640"/>
            <a:ext cx="243230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PM thương mại*</a:t>
            </a:r>
            <a:endParaRPr lang="en-US" sz="1200" dirty="0"/>
          </a:p>
        </p:txBody>
      </p:sp>
      <p:sp>
        <p:nvSpPr>
          <p:cNvPr id="14" name="Shape 12"/>
          <p:cNvSpPr/>
          <p:nvPr/>
        </p:nvSpPr>
        <p:spPr>
          <a:xfrm>
            <a:off x="9070848" y="1691640"/>
            <a:ext cx="2560320" cy="502920"/>
          </a:xfrm>
          <a:prstGeom prst="rect">
            <a:avLst/>
          </a:prstGeom>
          <a:solidFill>
            <a:srgbClr val="0E7C86"/>
          </a:solidFill>
          <a:ln w="15240">
            <a:solidFill>
              <a:srgbClr val="FFFFFF"/>
            </a:solidFill>
            <a:prstDash val="solid"/>
          </a:ln>
        </p:spPr>
      </p:sp>
      <p:sp>
        <p:nvSpPr>
          <p:cNvPr id="15" name="Text 13"/>
          <p:cNvSpPr/>
          <p:nvPr/>
        </p:nvSpPr>
        <p:spPr>
          <a:xfrm>
            <a:off x="9198864" y="1691640"/>
            <a:ext cx="234086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TownHub</a:t>
            </a:r>
            <a:endParaRPr lang="en-US" sz="1200" dirty="0"/>
          </a:p>
        </p:txBody>
      </p:sp>
      <p:sp>
        <p:nvSpPr>
          <p:cNvPr id="16" name="Shape 14"/>
          <p:cNvSpPr/>
          <p:nvPr/>
        </p:nvSpPr>
        <p:spPr>
          <a:xfrm>
            <a:off x="566928" y="2194560"/>
            <a:ext cx="3383280" cy="502920"/>
          </a:xfrm>
          <a:prstGeom prst="rect">
            <a:avLst/>
          </a:prstGeom>
          <a:solidFill>
            <a:srgbClr val="FFFFFF"/>
          </a:solidFill>
          <a:ln w="15240">
            <a:solidFill>
              <a:srgbClr val="FFFFFF"/>
            </a:solidFill>
            <a:prstDash val="solid"/>
          </a:ln>
        </p:spPr>
      </p:sp>
      <p:sp>
        <p:nvSpPr>
          <p:cNvPr id="17" name="Text 15"/>
          <p:cNvSpPr/>
          <p:nvPr/>
        </p:nvSpPr>
        <p:spPr>
          <a:xfrm>
            <a:off x="694944" y="219456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Vòng đời &amp; khấu hao TS</a:t>
            </a:r>
            <a:endParaRPr lang="en-US" sz="1200" dirty="0"/>
          </a:p>
        </p:txBody>
      </p:sp>
      <p:sp>
        <p:nvSpPr>
          <p:cNvPr id="18" name="Shape 16"/>
          <p:cNvSpPr/>
          <p:nvPr/>
        </p:nvSpPr>
        <p:spPr>
          <a:xfrm>
            <a:off x="3950208" y="2194560"/>
            <a:ext cx="2468880" cy="502920"/>
          </a:xfrm>
          <a:prstGeom prst="rect">
            <a:avLst/>
          </a:prstGeom>
          <a:solidFill>
            <a:srgbClr val="FFFFFF"/>
          </a:solidFill>
          <a:ln w="15240">
            <a:solidFill>
              <a:srgbClr val="FFFFFF"/>
            </a:solidFill>
            <a:prstDash val="solid"/>
          </a:ln>
        </p:spPr>
      </p:sp>
      <p:sp>
        <p:nvSpPr>
          <p:cNvPr id="19" name="Text 17"/>
          <p:cNvSpPr/>
          <p:nvPr/>
        </p:nvSpPr>
        <p:spPr>
          <a:xfrm>
            <a:off x="4078224" y="219456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Thủ công, dễ sai</a:t>
            </a:r>
            <a:endParaRPr lang="en-US" sz="1200" dirty="0"/>
          </a:p>
        </p:txBody>
      </p:sp>
      <p:sp>
        <p:nvSpPr>
          <p:cNvPr id="20" name="Shape 18"/>
          <p:cNvSpPr/>
          <p:nvPr/>
        </p:nvSpPr>
        <p:spPr>
          <a:xfrm>
            <a:off x="6419088" y="2194560"/>
            <a:ext cx="2651760" cy="502920"/>
          </a:xfrm>
          <a:prstGeom prst="rect">
            <a:avLst/>
          </a:prstGeom>
          <a:solidFill>
            <a:srgbClr val="FFFFFF"/>
          </a:solidFill>
          <a:ln w="15240">
            <a:solidFill>
              <a:srgbClr val="FFFFFF"/>
            </a:solidFill>
            <a:prstDash val="solid"/>
          </a:ln>
        </p:spPr>
      </p:sp>
      <p:sp>
        <p:nvSpPr>
          <p:cNvPr id="21" name="Text 19"/>
          <p:cNvSpPr/>
          <p:nvPr/>
        </p:nvSpPr>
        <p:spPr>
          <a:xfrm>
            <a:off x="6547104" y="219456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Có</a:t>
            </a:r>
            <a:endParaRPr lang="en-US" sz="1200" dirty="0"/>
          </a:p>
        </p:txBody>
      </p:sp>
      <p:sp>
        <p:nvSpPr>
          <p:cNvPr id="22" name="Shape 20"/>
          <p:cNvSpPr/>
          <p:nvPr/>
        </p:nvSpPr>
        <p:spPr>
          <a:xfrm>
            <a:off x="9070848" y="2194560"/>
            <a:ext cx="2560320" cy="502920"/>
          </a:xfrm>
          <a:prstGeom prst="rect">
            <a:avLst/>
          </a:prstGeom>
          <a:solidFill>
            <a:srgbClr val="E4EEF3"/>
          </a:solidFill>
          <a:ln w="15240">
            <a:solidFill>
              <a:srgbClr val="FFFFFF"/>
            </a:solidFill>
            <a:prstDash val="solid"/>
          </a:ln>
        </p:spPr>
      </p:sp>
      <p:sp>
        <p:nvSpPr>
          <p:cNvPr id="23" name="Text 21"/>
          <p:cNvSpPr/>
          <p:nvPr/>
        </p:nvSpPr>
        <p:spPr>
          <a:xfrm>
            <a:off x="9198864" y="219456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Tự động</a:t>
            </a:r>
            <a:endParaRPr lang="en-US" sz="1200" dirty="0"/>
          </a:p>
        </p:txBody>
      </p:sp>
      <p:sp>
        <p:nvSpPr>
          <p:cNvPr id="24" name="Shape 22"/>
          <p:cNvSpPr/>
          <p:nvPr/>
        </p:nvSpPr>
        <p:spPr>
          <a:xfrm>
            <a:off x="566928" y="2697480"/>
            <a:ext cx="3383280" cy="502920"/>
          </a:xfrm>
          <a:prstGeom prst="rect">
            <a:avLst/>
          </a:prstGeom>
          <a:solidFill>
            <a:srgbClr val="F1F5F8"/>
          </a:solidFill>
          <a:ln w="15240">
            <a:solidFill>
              <a:srgbClr val="FFFFFF"/>
            </a:solidFill>
            <a:prstDash val="solid"/>
          </a:ln>
        </p:spPr>
      </p:sp>
      <p:sp>
        <p:nvSpPr>
          <p:cNvPr id="25" name="Text 23"/>
          <p:cNvSpPr/>
          <p:nvPr/>
        </p:nvSpPr>
        <p:spPr>
          <a:xfrm>
            <a:off x="694944" y="269748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Bảo trì phòng ngừa (PM/WO)</a:t>
            </a:r>
            <a:endParaRPr lang="en-US" sz="1200" dirty="0"/>
          </a:p>
        </p:txBody>
      </p:sp>
      <p:sp>
        <p:nvSpPr>
          <p:cNvPr id="26" name="Shape 24"/>
          <p:cNvSpPr/>
          <p:nvPr/>
        </p:nvSpPr>
        <p:spPr>
          <a:xfrm>
            <a:off x="3950208" y="2697480"/>
            <a:ext cx="2468880" cy="502920"/>
          </a:xfrm>
          <a:prstGeom prst="rect">
            <a:avLst/>
          </a:prstGeom>
          <a:solidFill>
            <a:srgbClr val="F1F5F8"/>
          </a:solidFill>
          <a:ln w="15240">
            <a:solidFill>
              <a:srgbClr val="FFFFFF"/>
            </a:solidFill>
            <a:prstDash val="solid"/>
          </a:ln>
        </p:spPr>
      </p:sp>
      <p:sp>
        <p:nvSpPr>
          <p:cNvPr id="27" name="Text 25"/>
          <p:cNvSpPr/>
          <p:nvPr/>
        </p:nvSpPr>
        <p:spPr>
          <a:xfrm>
            <a:off x="4078224" y="269748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Không</a:t>
            </a:r>
            <a:endParaRPr lang="en-US" sz="1200" dirty="0"/>
          </a:p>
        </p:txBody>
      </p:sp>
      <p:sp>
        <p:nvSpPr>
          <p:cNvPr id="28" name="Shape 26"/>
          <p:cNvSpPr/>
          <p:nvPr/>
        </p:nvSpPr>
        <p:spPr>
          <a:xfrm>
            <a:off x="6419088" y="2697480"/>
            <a:ext cx="2651760" cy="502920"/>
          </a:xfrm>
          <a:prstGeom prst="rect">
            <a:avLst/>
          </a:prstGeom>
          <a:solidFill>
            <a:srgbClr val="F1F5F8"/>
          </a:solidFill>
          <a:ln w="15240">
            <a:solidFill>
              <a:srgbClr val="FFFFFF"/>
            </a:solidFill>
            <a:prstDash val="solid"/>
          </a:ln>
        </p:spPr>
      </p:sp>
      <p:sp>
        <p:nvSpPr>
          <p:cNvPr id="29" name="Text 27"/>
          <p:cNvSpPr/>
          <p:nvPr/>
        </p:nvSpPr>
        <p:spPr>
          <a:xfrm>
            <a:off x="6547104" y="269748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Có</a:t>
            </a:r>
            <a:endParaRPr lang="en-US" sz="1200" dirty="0"/>
          </a:p>
        </p:txBody>
      </p:sp>
      <p:sp>
        <p:nvSpPr>
          <p:cNvPr id="30" name="Shape 28"/>
          <p:cNvSpPr/>
          <p:nvPr/>
        </p:nvSpPr>
        <p:spPr>
          <a:xfrm>
            <a:off x="9070848" y="2697480"/>
            <a:ext cx="2560320" cy="502920"/>
          </a:xfrm>
          <a:prstGeom prst="rect">
            <a:avLst/>
          </a:prstGeom>
          <a:solidFill>
            <a:srgbClr val="E4EEF3"/>
          </a:solidFill>
          <a:ln w="15240">
            <a:solidFill>
              <a:srgbClr val="FFFFFF"/>
            </a:solidFill>
            <a:prstDash val="solid"/>
          </a:ln>
        </p:spPr>
      </p:sp>
      <p:sp>
        <p:nvSpPr>
          <p:cNvPr id="31" name="Text 29"/>
          <p:cNvSpPr/>
          <p:nvPr/>
        </p:nvSpPr>
        <p:spPr>
          <a:xfrm>
            <a:off x="9198864" y="269748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Có</a:t>
            </a:r>
            <a:endParaRPr lang="en-US" sz="1200" dirty="0"/>
          </a:p>
        </p:txBody>
      </p:sp>
      <p:sp>
        <p:nvSpPr>
          <p:cNvPr id="32" name="Shape 30"/>
          <p:cNvSpPr/>
          <p:nvPr/>
        </p:nvSpPr>
        <p:spPr>
          <a:xfrm>
            <a:off x="566928" y="3200400"/>
            <a:ext cx="3383280" cy="502920"/>
          </a:xfrm>
          <a:prstGeom prst="rect">
            <a:avLst/>
          </a:prstGeom>
          <a:solidFill>
            <a:srgbClr val="FFFFFF"/>
          </a:solidFill>
          <a:ln w="15240">
            <a:solidFill>
              <a:srgbClr val="FFFFFF"/>
            </a:solidFill>
            <a:prstDash val="solid"/>
          </a:ln>
        </p:spPr>
      </p:sp>
      <p:sp>
        <p:nvSpPr>
          <p:cNvPr id="33" name="Text 31"/>
          <p:cNvSpPr/>
          <p:nvPr/>
        </p:nvSpPr>
        <p:spPr>
          <a:xfrm>
            <a:off x="694944" y="320040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OCR hóa đơn tiếng Việt</a:t>
            </a:r>
            <a:endParaRPr lang="en-US" sz="1200" dirty="0"/>
          </a:p>
        </p:txBody>
      </p:sp>
      <p:sp>
        <p:nvSpPr>
          <p:cNvPr id="34" name="Shape 32"/>
          <p:cNvSpPr/>
          <p:nvPr/>
        </p:nvSpPr>
        <p:spPr>
          <a:xfrm>
            <a:off x="3950208" y="3200400"/>
            <a:ext cx="2468880" cy="502920"/>
          </a:xfrm>
          <a:prstGeom prst="rect">
            <a:avLst/>
          </a:prstGeom>
          <a:solidFill>
            <a:srgbClr val="FFFFFF"/>
          </a:solidFill>
          <a:ln w="15240">
            <a:solidFill>
              <a:srgbClr val="FFFFFF"/>
            </a:solidFill>
            <a:prstDash val="solid"/>
          </a:ln>
        </p:spPr>
      </p:sp>
      <p:sp>
        <p:nvSpPr>
          <p:cNvPr id="35" name="Text 33"/>
          <p:cNvSpPr/>
          <p:nvPr/>
        </p:nvSpPr>
        <p:spPr>
          <a:xfrm>
            <a:off x="4078224" y="320040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Không</a:t>
            </a:r>
            <a:endParaRPr lang="en-US" sz="1200" dirty="0"/>
          </a:p>
        </p:txBody>
      </p:sp>
      <p:sp>
        <p:nvSpPr>
          <p:cNvPr id="36" name="Shape 34"/>
          <p:cNvSpPr/>
          <p:nvPr/>
        </p:nvSpPr>
        <p:spPr>
          <a:xfrm>
            <a:off x="6419088" y="3200400"/>
            <a:ext cx="2651760" cy="502920"/>
          </a:xfrm>
          <a:prstGeom prst="rect">
            <a:avLst/>
          </a:prstGeom>
          <a:solidFill>
            <a:srgbClr val="FFFFFF"/>
          </a:solidFill>
          <a:ln w="15240">
            <a:solidFill>
              <a:srgbClr val="FFFFFF"/>
            </a:solidFill>
            <a:prstDash val="solid"/>
          </a:ln>
        </p:spPr>
      </p:sp>
      <p:sp>
        <p:nvSpPr>
          <p:cNvPr id="37" name="Text 35"/>
          <p:cNvSpPr/>
          <p:nvPr/>
        </p:nvSpPr>
        <p:spPr>
          <a:xfrm>
            <a:off x="6547104" y="320040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Hiếm / Không</a:t>
            </a:r>
            <a:endParaRPr lang="en-US" sz="1200" dirty="0"/>
          </a:p>
        </p:txBody>
      </p:sp>
      <p:sp>
        <p:nvSpPr>
          <p:cNvPr id="38" name="Shape 36"/>
          <p:cNvSpPr/>
          <p:nvPr/>
        </p:nvSpPr>
        <p:spPr>
          <a:xfrm>
            <a:off x="9070848" y="3200400"/>
            <a:ext cx="2560320" cy="502920"/>
          </a:xfrm>
          <a:prstGeom prst="rect">
            <a:avLst/>
          </a:prstGeom>
          <a:solidFill>
            <a:srgbClr val="E4EEF3"/>
          </a:solidFill>
          <a:ln w="15240">
            <a:solidFill>
              <a:srgbClr val="FFFFFF"/>
            </a:solidFill>
            <a:prstDash val="solid"/>
          </a:ln>
        </p:spPr>
      </p:sp>
      <p:sp>
        <p:nvSpPr>
          <p:cNvPr id="39" name="Text 37"/>
          <p:cNvSpPr/>
          <p:nvPr/>
        </p:nvSpPr>
        <p:spPr>
          <a:xfrm>
            <a:off x="9198864" y="320040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Có (VietOCR/Paddle)</a:t>
            </a:r>
            <a:endParaRPr lang="en-US" sz="1200" dirty="0"/>
          </a:p>
        </p:txBody>
      </p:sp>
      <p:sp>
        <p:nvSpPr>
          <p:cNvPr id="40" name="Shape 38"/>
          <p:cNvSpPr/>
          <p:nvPr/>
        </p:nvSpPr>
        <p:spPr>
          <a:xfrm>
            <a:off x="566928" y="3703320"/>
            <a:ext cx="3383280" cy="502920"/>
          </a:xfrm>
          <a:prstGeom prst="rect">
            <a:avLst/>
          </a:prstGeom>
          <a:solidFill>
            <a:srgbClr val="F1F5F8"/>
          </a:solidFill>
          <a:ln w="15240">
            <a:solidFill>
              <a:srgbClr val="FFFFFF"/>
            </a:solidFill>
            <a:prstDash val="solid"/>
          </a:ln>
        </p:spPr>
      </p:sp>
      <p:sp>
        <p:nvSpPr>
          <p:cNvPr id="41" name="Text 39"/>
          <p:cNvSpPr/>
          <p:nvPr/>
        </p:nvSpPr>
        <p:spPr>
          <a:xfrm>
            <a:off x="694944" y="370332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Kế toán TS — bút toán Nợ/Có</a:t>
            </a:r>
            <a:endParaRPr lang="en-US" sz="1200" dirty="0"/>
          </a:p>
        </p:txBody>
      </p:sp>
      <p:sp>
        <p:nvSpPr>
          <p:cNvPr id="42" name="Shape 40"/>
          <p:cNvSpPr/>
          <p:nvPr/>
        </p:nvSpPr>
        <p:spPr>
          <a:xfrm>
            <a:off x="3950208" y="3703320"/>
            <a:ext cx="2468880" cy="502920"/>
          </a:xfrm>
          <a:prstGeom prst="rect">
            <a:avLst/>
          </a:prstGeom>
          <a:solidFill>
            <a:srgbClr val="F1F5F8"/>
          </a:solidFill>
          <a:ln w="15240">
            <a:solidFill>
              <a:srgbClr val="FFFFFF"/>
            </a:solidFill>
            <a:prstDash val="solid"/>
          </a:ln>
        </p:spPr>
      </p:sp>
      <p:sp>
        <p:nvSpPr>
          <p:cNvPr id="43" name="Text 41"/>
          <p:cNvSpPr/>
          <p:nvPr/>
        </p:nvSpPr>
        <p:spPr>
          <a:xfrm>
            <a:off x="4078224" y="370332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Thủ công</a:t>
            </a:r>
            <a:endParaRPr lang="en-US" sz="1200" dirty="0"/>
          </a:p>
        </p:txBody>
      </p:sp>
      <p:sp>
        <p:nvSpPr>
          <p:cNvPr id="44" name="Shape 42"/>
          <p:cNvSpPr/>
          <p:nvPr/>
        </p:nvSpPr>
        <p:spPr>
          <a:xfrm>
            <a:off x="6419088" y="3703320"/>
            <a:ext cx="2651760" cy="502920"/>
          </a:xfrm>
          <a:prstGeom prst="rect">
            <a:avLst/>
          </a:prstGeom>
          <a:solidFill>
            <a:srgbClr val="F1F5F8"/>
          </a:solidFill>
          <a:ln w="15240">
            <a:solidFill>
              <a:srgbClr val="FFFFFF"/>
            </a:solidFill>
            <a:prstDash val="solid"/>
          </a:ln>
        </p:spPr>
      </p:sp>
      <p:sp>
        <p:nvSpPr>
          <p:cNvPr id="45" name="Text 43"/>
          <p:cNvSpPr/>
          <p:nvPr/>
        </p:nvSpPr>
        <p:spPr>
          <a:xfrm>
            <a:off x="6547104" y="370332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Tùy sản phẩm</a:t>
            </a:r>
            <a:endParaRPr lang="en-US" sz="1200" dirty="0"/>
          </a:p>
        </p:txBody>
      </p:sp>
      <p:sp>
        <p:nvSpPr>
          <p:cNvPr id="46" name="Shape 44"/>
          <p:cNvSpPr/>
          <p:nvPr/>
        </p:nvSpPr>
        <p:spPr>
          <a:xfrm>
            <a:off x="9070848" y="3703320"/>
            <a:ext cx="2560320" cy="502920"/>
          </a:xfrm>
          <a:prstGeom prst="rect">
            <a:avLst/>
          </a:prstGeom>
          <a:solidFill>
            <a:srgbClr val="E4EEF3"/>
          </a:solidFill>
          <a:ln w="15240">
            <a:solidFill>
              <a:srgbClr val="FFFFFF"/>
            </a:solidFill>
            <a:prstDash val="solid"/>
          </a:ln>
        </p:spPr>
      </p:sp>
      <p:sp>
        <p:nvSpPr>
          <p:cNvPr id="47" name="Text 45"/>
          <p:cNvSpPr/>
          <p:nvPr/>
        </p:nvSpPr>
        <p:spPr>
          <a:xfrm>
            <a:off x="9198864" y="370332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Có</a:t>
            </a:r>
            <a:endParaRPr lang="en-US" sz="1200" dirty="0"/>
          </a:p>
        </p:txBody>
      </p:sp>
      <p:sp>
        <p:nvSpPr>
          <p:cNvPr id="48" name="Shape 46"/>
          <p:cNvSpPr/>
          <p:nvPr/>
        </p:nvSpPr>
        <p:spPr>
          <a:xfrm>
            <a:off x="566928" y="4206240"/>
            <a:ext cx="3383280" cy="502920"/>
          </a:xfrm>
          <a:prstGeom prst="rect">
            <a:avLst/>
          </a:prstGeom>
          <a:solidFill>
            <a:srgbClr val="FFFFFF"/>
          </a:solidFill>
          <a:ln w="15240">
            <a:solidFill>
              <a:srgbClr val="FFFFFF"/>
            </a:solidFill>
            <a:prstDash val="solid"/>
          </a:ln>
        </p:spPr>
      </p:sp>
      <p:sp>
        <p:nvSpPr>
          <p:cNvPr id="49" name="Text 47"/>
          <p:cNvSpPr/>
          <p:nvPr/>
        </p:nvSpPr>
        <p:spPr>
          <a:xfrm>
            <a:off x="694944" y="420624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Nhận diện khuôn mặt ra/vào</a:t>
            </a:r>
            <a:endParaRPr lang="en-US" sz="1200" dirty="0"/>
          </a:p>
        </p:txBody>
      </p:sp>
      <p:sp>
        <p:nvSpPr>
          <p:cNvPr id="50" name="Shape 48"/>
          <p:cNvSpPr/>
          <p:nvPr/>
        </p:nvSpPr>
        <p:spPr>
          <a:xfrm>
            <a:off x="3950208" y="4206240"/>
            <a:ext cx="2468880" cy="502920"/>
          </a:xfrm>
          <a:prstGeom prst="rect">
            <a:avLst/>
          </a:prstGeom>
          <a:solidFill>
            <a:srgbClr val="FFFFFF"/>
          </a:solidFill>
          <a:ln w="15240">
            <a:solidFill>
              <a:srgbClr val="FFFFFF"/>
            </a:solidFill>
            <a:prstDash val="solid"/>
          </a:ln>
        </p:spPr>
      </p:sp>
      <p:sp>
        <p:nvSpPr>
          <p:cNvPr id="51" name="Text 49"/>
          <p:cNvSpPr/>
          <p:nvPr/>
        </p:nvSpPr>
        <p:spPr>
          <a:xfrm>
            <a:off x="4078224" y="420624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Không</a:t>
            </a:r>
            <a:endParaRPr lang="en-US" sz="1200" dirty="0"/>
          </a:p>
        </p:txBody>
      </p:sp>
      <p:sp>
        <p:nvSpPr>
          <p:cNvPr id="52" name="Shape 50"/>
          <p:cNvSpPr/>
          <p:nvPr/>
        </p:nvSpPr>
        <p:spPr>
          <a:xfrm>
            <a:off x="6419088" y="4206240"/>
            <a:ext cx="2651760" cy="502920"/>
          </a:xfrm>
          <a:prstGeom prst="rect">
            <a:avLst/>
          </a:prstGeom>
          <a:solidFill>
            <a:srgbClr val="FFFFFF"/>
          </a:solidFill>
          <a:ln w="15240">
            <a:solidFill>
              <a:srgbClr val="FFFFFF"/>
            </a:solidFill>
            <a:prstDash val="solid"/>
          </a:ln>
        </p:spPr>
      </p:sp>
      <p:sp>
        <p:nvSpPr>
          <p:cNvPr id="53" name="Text 51"/>
          <p:cNvSpPr/>
          <p:nvPr/>
        </p:nvSpPr>
        <p:spPr>
          <a:xfrm>
            <a:off x="6547104" y="420624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Tùy tích hợp</a:t>
            </a:r>
            <a:endParaRPr lang="en-US" sz="1200" dirty="0"/>
          </a:p>
        </p:txBody>
      </p:sp>
      <p:sp>
        <p:nvSpPr>
          <p:cNvPr id="54" name="Shape 52"/>
          <p:cNvSpPr/>
          <p:nvPr/>
        </p:nvSpPr>
        <p:spPr>
          <a:xfrm>
            <a:off x="9070848" y="4206240"/>
            <a:ext cx="2560320" cy="502920"/>
          </a:xfrm>
          <a:prstGeom prst="rect">
            <a:avLst/>
          </a:prstGeom>
          <a:solidFill>
            <a:srgbClr val="E4EEF3"/>
          </a:solidFill>
          <a:ln w="15240">
            <a:solidFill>
              <a:srgbClr val="FFFFFF"/>
            </a:solidFill>
            <a:prstDash val="solid"/>
          </a:ln>
        </p:spPr>
      </p:sp>
      <p:sp>
        <p:nvSpPr>
          <p:cNvPr id="55" name="Text 53"/>
          <p:cNvSpPr/>
          <p:nvPr/>
        </p:nvSpPr>
        <p:spPr>
          <a:xfrm>
            <a:off x="9198864" y="420624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Có</a:t>
            </a:r>
            <a:endParaRPr lang="en-US" sz="1200" dirty="0"/>
          </a:p>
        </p:txBody>
      </p:sp>
      <p:sp>
        <p:nvSpPr>
          <p:cNvPr id="56" name="Shape 54"/>
          <p:cNvSpPr/>
          <p:nvPr/>
        </p:nvSpPr>
        <p:spPr>
          <a:xfrm>
            <a:off x="566928" y="4709160"/>
            <a:ext cx="3383280" cy="502920"/>
          </a:xfrm>
          <a:prstGeom prst="rect">
            <a:avLst/>
          </a:prstGeom>
          <a:solidFill>
            <a:srgbClr val="F1F5F8"/>
          </a:solidFill>
          <a:ln w="15240">
            <a:solidFill>
              <a:srgbClr val="FFFFFF"/>
            </a:solidFill>
            <a:prstDash val="solid"/>
          </a:ln>
        </p:spPr>
      </p:sp>
      <p:sp>
        <p:nvSpPr>
          <p:cNvPr id="57" name="Text 55"/>
          <p:cNvSpPr/>
          <p:nvPr/>
        </p:nvSpPr>
        <p:spPr>
          <a:xfrm>
            <a:off x="694944" y="4709160"/>
            <a:ext cx="3163824" cy="502920"/>
          </a:xfrm>
          <a:prstGeom prst="rect">
            <a:avLst/>
          </a:prstGeom>
          <a:noFill/>
          <a:ln/>
        </p:spPr>
        <p:txBody>
          <a:bodyPr wrap="square" lIns="0" tIns="0" rIns="0" bIns="0" rtlCol="0" anchor="ctr"/>
          <a:lstStyle/>
          <a:p>
            <a:pPr marL="0" indent="0" algn="l">
              <a:buNone/>
            </a:pPr>
            <a:r>
              <a:rPr lang="en-US" sz="1200" b="1" dirty="0">
                <a:solidFill>
                  <a:srgbClr val="0E2A47"/>
                </a:solidFill>
                <a:latin typeface="Calibri" pitchFamily="34" charset="0"/>
                <a:ea typeface="Calibri" pitchFamily="34" charset="-122"/>
                <a:cs typeface="Calibri" pitchFamily="34" charset="-120"/>
              </a:rPr>
              <a:t>Chi phí &amp; tùy biến mã nguồn</a:t>
            </a:r>
            <a:endParaRPr lang="en-US" sz="1200" dirty="0"/>
          </a:p>
        </p:txBody>
      </p:sp>
      <p:sp>
        <p:nvSpPr>
          <p:cNvPr id="58" name="Shape 56"/>
          <p:cNvSpPr/>
          <p:nvPr/>
        </p:nvSpPr>
        <p:spPr>
          <a:xfrm>
            <a:off x="3950208" y="4709160"/>
            <a:ext cx="2468880" cy="502920"/>
          </a:xfrm>
          <a:prstGeom prst="rect">
            <a:avLst/>
          </a:prstGeom>
          <a:solidFill>
            <a:srgbClr val="F1F5F8"/>
          </a:solidFill>
          <a:ln w="15240">
            <a:solidFill>
              <a:srgbClr val="FFFFFF"/>
            </a:solidFill>
            <a:prstDash val="solid"/>
          </a:ln>
        </p:spPr>
      </p:sp>
      <p:sp>
        <p:nvSpPr>
          <p:cNvPr id="59" name="Text 57"/>
          <p:cNvSpPr/>
          <p:nvPr/>
        </p:nvSpPr>
        <p:spPr>
          <a:xfrm>
            <a:off x="4078224" y="4709160"/>
            <a:ext cx="224942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Rời rạc</a:t>
            </a:r>
            <a:endParaRPr lang="en-US" sz="1200" dirty="0"/>
          </a:p>
        </p:txBody>
      </p:sp>
      <p:sp>
        <p:nvSpPr>
          <p:cNvPr id="60" name="Shape 58"/>
          <p:cNvSpPr/>
          <p:nvPr/>
        </p:nvSpPr>
        <p:spPr>
          <a:xfrm>
            <a:off x="6419088" y="4709160"/>
            <a:ext cx="2651760" cy="502920"/>
          </a:xfrm>
          <a:prstGeom prst="rect">
            <a:avLst/>
          </a:prstGeom>
          <a:solidFill>
            <a:srgbClr val="F1F5F8"/>
          </a:solidFill>
          <a:ln w="15240">
            <a:solidFill>
              <a:srgbClr val="FFFFFF"/>
            </a:solidFill>
            <a:prstDash val="solid"/>
          </a:ln>
        </p:spPr>
      </p:sp>
      <p:sp>
        <p:nvSpPr>
          <p:cNvPr id="61" name="Text 59"/>
          <p:cNvSpPr/>
          <p:nvPr/>
        </p:nvSpPr>
        <p:spPr>
          <a:xfrm>
            <a:off x="6547104" y="4709160"/>
            <a:ext cx="2432304" cy="502920"/>
          </a:xfrm>
          <a:prstGeom prst="rect">
            <a:avLst/>
          </a:prstGeom>
          <a:noFill/>
          <a:ln/>
        </p:spPr>
        <p:txBody>
          <a:bodyPr wrap="square" lIns="0" tIns="0" rIns="0" bIns="0" rtlCol="0" anchor="ctr"/>
          <a:lstStyle/>
          <a:p>
            <a:pPr marL="0" indent="0" algn="ctr">
              <a:buNone/>
            </a:pPr>
            <a:r>
              <a:rPr lang="en-US" sz="1200" dirty="0">
                <a:solidFill>
                  <a:srgbClr val="22303C"/>
                </a:solidFill>
                <a:latin typeface="Calibri" pitchFamily="34" charset="0"/>
                <a:ea typeface="Calibri" pitchFamily="34" charset="-122"/>
                <a:cs typeface="Calibri" pitchFamily="34" charset="-120"/>
              </a:rPr>
              <a:t>Cao, đóng</a:t>
            </a:r>
            <a:endParaRPr lang="en-US" sz="1200" dirty="0"/>
          </a:p>
        </p:txBody>
      </p:sp>
      <p:sp>
        <p:nvSpPr>
          <p:cNvPr id="62" name="Shape 60"/>
          <p:cNvSpPr/>
          <p:nvPr/>
        </p:nvSpPr>
        <p:spPr>
          <a:xfrm>
            <a:off x="9070848" y="4709160"/>
            <a:ext cx="2560320" cy="502920"/>
          </a:xfrm>
          <a:prstGeom prst="rect">
            <a:avLst/>
          </a:prstGeom>
          <a:solidFill>
            <a:srgbClr val="E4EEF3"/>
          </a:solidFill>
          <a:ln w="15240">
            <a:solidFill>
              <a:srgbClr val="FFFFFF"/>
            </a:solidFill>
            <a:prstDash val="solid"/>
          </a:ln>
        </p:spPr>
      </p:sp>
      <p:sp>
        <p:nvSpPr>
          <p:cNvPr id="63" name="Text 61"/>
          <p:cNvSpPr/>
          <p:nvPr/>
        </p:nvSpPr>
        <p:spPr>
          <a:xfrm>
            <a:off x="9198864" y="4709160"/>
            <a:ext cx="2340864" cy="502920"/>
          </a:xfrm>
          <a:prstGeom prst="rect">
            <a:avLst/>
          </a:prstGeom>
          <a:noFill/>
          <a:ln/>
        </p:spPr>
        <p:txBody>
          <a:bodyPr wrap="square" lIns="0" tIns="0" rIns="0" bIns="0" rtlCol="0" anchor="ctr"/>
          <a:lstStyle/>
          <a:p>
            <a:pPr marL="0" indent="0" algn="ctr">
              <a:buNone/>
            </a:pPr>
            <a:r>
              <a:rPr lang="en-US" sz="1200" b="1" dirty="0">
                <a:solidFill>
                  <a:srgbClr val="0E2A47"/>
                </a:solidFill>
                <a:latin typeface="Calibri" pitchFamily="34" charset="0"/>
                <a:ea typeface="Calibri" pitchFamily="34" charset="-122"/>
                <a:cs typeface="Calibri" pitchFamily="34" charset="-120"/>
              </a:rPr>
              <a:t>Thấp, tự chủ</a:t>
            </a:r>
            <a:endParaRPr lang="en-US" sz="1200" dirty="0"/>
          </a:p>
        </p:txBody>
      </p:sp>
      <p:sp>
        <p:nvSpPr>
          <p:cNvPr id="64" name="Text 62"/>
          <p:cNvSpPr/>
          <p:nvPr/>
        </p:nvSpPr>
        <p:spPr>
          <a:xfrm>
            <a:off x="566928" y="5285232"/>
            <a:ext cx="6949440" cy="274320"/>
          </a:xfrm>
          <a:prstGeom prst="rect">
            <a:avLst/>
          </a:prstGeom>
          <a:noFill/>
          <a:ln/>
        </p:spPr>
        <p:txBody>
          <a:bodyPr wrap="square" lIns="0" tIns="0" rIns="0" bIns="0" rtlCol="0" anchor="ctr"/>
          <a:lstStyle/>
          <a:p>
            <a:pPr marL="0" indent="0">
              <a:buNone/>
            </a:pPr>
            <a:r>
              <a:rPr lang="en-US" sz="1050" i="1" dirty="0">
                <a:solidFill>
                  <a:srgbClr val="6B7A88"/>
                </a:solidFill>
                <a:latin typeface="Calibri" pitchFamily="34" charset="0"/>
                <a:ea typeface="Calibri" pitchFamily="34" charset="-122"/>
                <a:cs typeface="Calibri" pitchFamily="34" charset="-120"/>
              </a:rPr>
              <a:t>* Đại diện: Building Care · Landsoft Control · CyHome (đã triển khai 60–200+ dự án thực tế)</a:t>
            </a:r>
            <a:endParaRPr lang="en-US" sz="1050" dirty="0"/>
          </a:p>
        </p:txBody>
      </p:sp>
      <p:sp>
        <p:nvSpPr>
          <p:cNvPr id="65" name="Shape 63"/>
          <p:cNvSpPr/>
          <p:nvPr/>
        </p:nvSpPr>
        <p:spPr>
          <a:xfrm>
            <a:off x="7635240" y="5257800"/>
            <a:ext cx="3995928" cy="868680"/>
          </a:xfrm>
          <a:prstGeom prst="roundRect">
            <a:avLst>
              <a:gd name="adj" fmla="val 12632"/>
            </a:avLst>
          </a:prstGeom>
          <a:solidFill>
            <a:srgbClr val="0E2A47"/>
          </a:solidFill>
          <a:ln/>
        </p:spPr>
      </p:sp>
      <p:sp>
        <p:nvSpPr>
          <p:cNvPr id="66" name="Text 64"/>
          <p:cNvSpPr/>
          <p:nvPr/>
        </p:nvSpPr>
        <p:spPr>
          <a:xfrm>
            <a:off x="7818120" y="5257800"/>
            <a:ext cx="3657600" cy="868680"/>
          </a:xfrm>
          <a:prstGeom prst="rect">
            <a:avLst/>
          </a:prstGeom>
          <a:noFill/>
          <a:ln/>
        </p:spPr>
        <p:txBody>
          <a:bodyPr wrap="square" lIns="0" tIns="0" rIns="0" bIns="0" rtlCol="0" anchor="ctr"/>
          <a:lstStyle/>
          <a:p>
            <a:pPr marL="0" indent="0">
              <a:lnSpc>
                <a:spcPct val="102000"/>
              </a:lnSpc>
              <a:buNone/>
            </a:pPr>
            <a:r>
              <a:rPr lang="en-US" sz="1150" b="1" dirty="0">
                <a:solidFill>
                  <a:srgbClr val="23B5A6"/>
                </a:solidFill>
                <a:latin typeface="Calibri" pitchFamily="34" charset="0"/>
                <a:ea typeface="Calibri" pitchFamily="34" charset="-122"/>
                <a:cs typeface="Calibri" pitchFamily="34" charset="-120"/>
              </a:rPr>
              <a:t>Khoảng trống TownHub lấp đầy:  </a:t>
            </a:r>
            <a:r>
              <a:rPr lang="en-US" sz="1150" dirty="0">
                <a:solidFill>
                  <a:srgbClr val="FFFFFF"/>
                </a:solidFill>
                <a:latin typeface="Calibri" pitchFamily="34" charset="0"/>
                <a:ea typeface="Calibri" pitchFamily="34" charset="-122"/>
                <a:cs typeface="Calibri" pitchFamily="34" charset="-120"/>
              </a:rPr>
              <a:t>OCR hóa đơn VN · kế toán Nợ/Có · nhận diện khuôn mặt — liên thông cả 3 phân hệ, tự chủ mã nguồn.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02 · ĐỀ XUẤT GIẢI PHÁP</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Kiến trúc module hóa — độc lập nhưng liên thông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8</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NỀN TẢNG BASE (LÕI DÙNG CHUNG)</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Xác thực &amp; phân quyền (RBAC)   ·   Người dùng   ·   Thông báo   ·   Cấu hình &amp; danh mục   ·   Báo cáo   ·   Dữ liệu nền dân cư/dịch vụ</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3"/>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Phân hệ Tài sản</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kế thừa Base</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4"/>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Phân hệ Dân cư</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kế thừa Base</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5"/>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Phân hệ Dịch vụ</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kế thừa Base</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3 module backend  </a:t>
            </a:r>
            <a:r>
              <a:rPr lang="en-US" sz="1250" b="1" dirty="0">
                <a:solidFill>
                  <a:srgbClr val="0E7C86"/>
                </a:solidFill>
                <a:latin typeface="Calibri" pitchFamily="34" charset="0"/>
                <a:ea typeface="Calibri" pitchFamily="34" charset="-122"/>
                <a:cs typeface="Calibri" pitchFamily="34" charset="-120"/>
              </a:rPr>
              <a:t>Auth · Base · Asset</a:t>
            </a:r>
            <a:r>
              <a:rPr lang="en-US" sz="1250" b="1" dirty="0">
                <a:solidFill>
                  <a:srgbClr val="0E2A47"/>
                </a:solidFill>
                <a:latin typeface="Calibri" pitchFamily="34" charset="0"/>
                <a:ea typeface="Calibri" pitchFamily="34" charset="-122"/>
                <a:cs typeface="Calibri" pitchFamily="34" charset="-120"/>
              </a:rPr>
              <a:t>   ~   3 schema CSDL  </a:t>
            </a:r>
            <a:r>
              <a:rPr lang="en-US" sz="1250" b="1" dirty="0">
                <a:solidFill>
                  <a:srgbClr val="0E7C86"/>
                </a:solidFill>
                <a:latin typeface="Calibri" pitchFamily="34" charset="0"/>
                <a:ea typeface="Calibri" pitchFamily="34" charset="-122"/>
                <a:cs typeface="Calibri" pitchFamily="34" charset="-120"/>
              </a:rPr>
              <a:t>auth · base · asset</a:t>
            </a:r>
            <a:r>
              <a:rPr lang="en-US" sz="1250" dirty="0">
                <a:solidFill>
                  <a:srgbClr val="22303C"/>
                </a:solidFill>
                <a:latin typeface="Calibri" pitchFamily="34" charset="0"/>
                <a:ea typeface="Calibri" pitchFamily="34" charset="-122"/>
                <a:cs typeface="Calibri" pitchFamily="34" charset="-120"/>
              </a:rPr>
              <a:t>   ·   giao tiếp qua định danh cross-service dạng Guid, không phụ thuộc chặt.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03 · CÔNG NGHỆ</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Ngăn xếp công nghệ TownHub</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9</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47672"/>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80968" y="2105680"/>
            <a:ext cx="342351" cy="342351"/>
          </a:xfrm>
          <a:prstGeom prst="rect">
            <a:avLst/>
          </a:prstGeom>
        </p:spPr>
      </p:pic>
      <p:sp>
        <p:nvSpPr>
          <p:cNvPr id="11" name="Text 8"/>
          <p:cNvSpPr/>
          <p:nvPr/>
        </p:nvSpPr>
        <p:spPr>
          <a:xfrm>
            <a:off x="164592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Backend</a:t>
            </a:r>
            <a:endParaRPr lang="en-US" sz="1800" dirty="0"/>
          </a:p>
        </p:txBody>
      </p:sp>
      <p:sp>
        <p:nvSpPr>
          <p:cNvPr id="12" name="Text 9"/>
          <p:cNvSpPr/>
          <p:nvPr/>
        </p:nvSpPr>
        <p:spPr>
          <a:xfrm>
            <a:off x="84124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.NET 8 Web API</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EF Core 8 (ORM)</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Kiến trúc phân tầng</a:t>
            </a:r>
            <a:endParaRPr lang="en-US" sz="1200" dirty="0"/>
          </a:p>
        </p:txBody>
      </p:sp>
      <p:sp>
        <p:nvSpPr>
          <p:cNvPr id="13" name="Shape 10"/>
          <p:cNvSpPr/>
          <p:nvPr/>
        </p:nvSpPr>
        <p:spPr>
          <a:xfrm>
            <a:off x="431596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4572000" y="1947672"/>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4730008" y="2105680"/>
            <a:ext cx="342351" cy="342351"/>
          </a:xfrm>
          <a:prstGeom prst="rect">
            <a:avLst/>
          </a:prstGeom>
        </p:spPr>
      </p:pic>
      <p:sp>
        <p:nvSpPr>
          <p:cNvPr id="16" name="Text 12"/>
          <p:cNvSpPr/>
          <p:nvPr/>
        </p:nvSpPr>
        <p:spPr>
          <a:xfrm>
            <a:off x="539496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Frontend</a:t>
            </a:r>
            <a:endParaRPr lang="en-US" sz="1800" dirty="0"/>
          </a:p>
        </p:txBody>
      </p:sp>
      <p:sp>
        <p:nvSpPr>
          <p:cNvPr id="17" name="Text 13"/>
          <p:cNvSpPr/>
          <p:nvPr/>
        </p:nvSpPr>
        <p:spPr>
          <a:xfrm>
            <a:off x="459028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Next.js 16 · React 19</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TypeScript · Tailwind v4</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Radix UI · recharts</a:t>
            </a:r>
            <a:endParaRPr lang="en-US" sz="1200" dirty="0"/>
          </a:p>
        </p:txBody>
      </p:sp>
      <p:sp>
        <p:nvSpPr>
          <p:cNvPr id="18" name="Shape 14"/>
          <p:cNvSpPr/>
          <p:nvPr/>
        </p:nvSpPr>
        <p:spPr>
          <a:xfrm>
            <a:off x="806500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321040" y="1947672"/>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5"/>
          <a:stretch>
            <a:fillRect/>
          </a:stretch>
        </p:blipFill>
        <p:spPr>
          <a:xfrm>
            <a:off x="8479048" y="2105680"/>
            <a:ext cx="342351" cy="342351"/>
          </a:xfrm>
          <a:prstGeom prst="rect">
            <a:avLst/>
          </a:prstGeom>
        </p:spPr>
      </p:pic>
      <p:sp>
        <p:nvSpPr>
          <p:cNvPr id="21" name="Text 16"/>
          <p:cNvSpPr/>
          <p:nvPr/>
        </p:nvSpPr>
        <p:spPr>
          <a:xfrm>
            <a:off x="914400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Dữ liệu</a:t>
            </a:r>
            <a:endParaRPr lang="en-US" sz="1800" dirty="0"/>
          </a:p>
        </p:txBody>
      </p:sp>
      <p:sp>
        <p:nvSpPr>
          <p:cNvPr id="22" name="Text 17"/>
          <p:cNvSpPr/>
          <p:nvPr/>
        </p:nvSpPr>
        <p:spPr>
          <a:xfrm>
            <a:off x="833932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PostgreSQL (3 schema)</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Redis (cache/phiên)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Cloudinary (ảnh/tệp)</a:t>
            </a:r>
            <a:endParaRPr lang="en-US" sz="1200" dirty="0"/>
          </a:p>
        </p:txBody>
      </p:sp>
      <p:sp>
        <p:nvSpPr>
          <p:cNvPr id="23" name="Shape 18"/>
          <p:cNvSpPr/>
          <p:nvPr/>
        </p:nvSpPr>
        <p:spPr>
          <a:xfrm>
            <a:off x="56692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822960" y="4050792"/>
            <a:ext cx="658368" cy="658368"/>
          </a:xfrm>
          <a:prstGeom prst="roundRect">
            <a:avLst>
              <a:gd name="adj" fmla="val 50000"/>
            </a:avLst>
          </a:prstGeom>
          <a:solidFill>
            <a:srgbClr val="16385C"/>
          </a:solidFill>
          <a:ln/>
        </p:spPr>
      </p:sp>
      <p:pic>
        <p:nvPicPr>
          <p:cNvPr id="25" name="Image 3" descr="preencoded.png"/>
          <p:cNvPicPr>
            <a:picLocks noChangeAspect="1"/>
          </p:cNvPicPr>
          <p:nvPr/>
        </p:nvPicPr>
        <p:blipFill>
          <a:blip r:embed="rId6"/>
          <a:stretch>
            <a:fillRect/>
          </a:stretch>
        </p:blipFill>
        <p:spPr>
          <a:xfrm>
            <a:off x="980968" y="4208800"/>
            <a:ext cx="342351" cy="342351"/>
          </a:xfrm>
          <a:prstGeom prst="rect">
            <a:avLst/>
          </a:prstGeom>
        </p:spPr>
      </p:pic>
      <p:sp>
        <p:nvSpPr>
          <p:cNvPr id="26" name="Text 20"/>
          <p:cNvSpPr/>
          <p:nvPr/>
        </p:nvSpPr>
        <p:spPr>
          <a:xfrm>
            <a:off x="164592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Bảo mật</a:t>
            </a:r>
            <a:endParaRPr lang="en-US" sz="1800" dirty="0"/>
          </a:p>
        </p:txBody>
      </p:sp>
      <p:sp>
        <p:nvSpPr>
          <p:cNvPr id="27" name="Text 21"/>
          <p:cNvSpPr/>
          <p:nvPr/>
        </p:nvSpPr>
        <p:spPr>
          <a:xfrm>
            <a:off x="84124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JWT · Google OAuth 2.0</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MFA / TOTP</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RBAC (74 quyền)</a:t>
            </a:r>
            <a:endParaRPr lang="en-US" sz="1200" dirty="0"/>
          </a:p>
        </p:txBody>
      </p:sp>
      <p:sp>
        <p:nvSpPr>
          <p:cNvPr id="28" name="Shape 22"/>
          <p:cNvSpPr/>
          <p:nvPr/>
        </p:nvSpPr>
        <p:spPr>
          <a:xfrm>
            <a:off x="431596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9" name="Shape 23"/>
          <p:cNvSpPr/>
          <p:nvPr/>
        </p:nvSpPr>
        <p:spPr>
          <a:xfrm>
            <a:off x="4572000" y="4050792"/>
            <a:ext cx="658368" cy="658368"/>
          </a:xfrm>
          <a:prstGeom prst="roundRect">
            <a:avLst>
              <a:gd name="adj" fmla="val 50000"/>
            </a:avLst>
          </a:prstGeom>
          <a:solidFill>
            <a:srgbClr val="EFA13C"/>
          </a:solidFill>
          <a:ln/>
        </p:spPr>
      </p:sp>
      <p:pic>
        <p:nvPicPr>
          <p:cNvPr id="30" name="Image 4" descr="preencoded.png"/>
          <p:cNvPicPr>
            <a:picLocks noChangeAspect="1"/>
          </p:cNvPicPr>
          <p:nvPr/>
        </p:nvPicPr>
        <p:blipFill>
          <a:blip r:embed="rId7"/>
          <a:stretch>
            <a:fillRect/>
          </a:stretch>
        </p:blipFill>
        <p:spPr>
          <a:xfrm>
            <a:off x="4730008" y="4208800"/>
            <a:ext cx="342351" cy="342351"/>
          </a:xfrm>
          <a:prstGeom prst="rect">
            <a:avLst/>
          </a:prstGeom>
        </p:spPr>
      </p:pic>
      <p:sp>
        <p:nvSpPr>
          <p:cNvPr id="31" name="Text 24"/>
          <p:cNvSpPr/>
          <p:nvPr/>
        </p:nvSpPr>
        <p:spPr>
          <a:xfrm>
            <a:off x="539496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AI / OCR</a:t>
            </a:r>
            <a:endParaRPr lang="en-US" sz="1800" dirty="0"/>
          </a:p>
        </p:txBody>
      </p:sp>
      <p:sp>
        <p:nvSpPr>
          <p:cNvPr id="32" name="Text 25"/>
          <p:cNvSpPr/>
          <p:nvPr/>
        </p:nvSpPr>
        <p:spPr>
          <a:xfrm>
            <a:off x="459028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VietOCR · PaddleOCR</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FastAPI · hàng đợi nền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Bóc tách hóa đơn VN</a:t>
            </a:r>
            <a:endParaRPr lang="en-US" sz="1200" dirty="0"/>
          </a:p>
        </p:txBody>
      </p:sp>
      <p:sp>
        <p:nvSpPr>
          <p:cNvPr id="33" name="Shape 26"/>
          <p:cNvSpPr/>
          <p:nvPr/>
        </p:nvSpPr>
        <p:spPr>
          <a:xfrm>
            <a:off x="806500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4" name="Shape 27"/>
          <p:cNvSpPr/>
          <p:nvPr/>
        </p:nvSpPr>
        <p:spPr>
          <a:xfrm>
            <a:off x="8321040" y="4050792"/>
            <a:ext cx="658368" cy="658368"/>
          </a:xfrm>
          <a:prstGeom prst="roundRect">
            <a:avLst>
              <a:gd name="adj" fmla="val 50000"/>
            </a:avLst>
          </a:prstGeom>
          <a:solidFill>
            <a:srgbClr val="E4572E"/>
          </a:solidFill>
          <a:ln/>
        </p:spPr>
      </p:sp>
      <p:pic>
        <p:nvPicPr>
          <p:cNvPr id="35" name="Image 5" descr="preencoded.png"/>
          <p:cNvPicPr>
            <a:picLocks noChangeAspect="1"/>
          </p:cNvPicPr>
          <p:nvPr/>
        </p:nvPicPr>
        <p:blipFill>
          <a:blip r:embed="rId8"/>
          <a:stretch>
            <a:fillRect/>
          </a:stretch>
        </p:blipFill>
        <p:spPr>
          <a:xfrm>
            <a:off x="8479048" y="4208800"/>
            <a:ext cx="342351" cy="342351"/>
          </a:xfrm>
          <a:prstGeom prst="rect">
            <a:avLst/>
          </a:prstGeom>
        </p:spPr>
      </p:pic>
      <p:sp>
        <p:nvSpPr>
          <p:cNvPr id="36" name="Text 28"/>
          <p:cNvSpPr/>
          <p:nvPr/>
        </p:nvSpPr>
        <p:spPr>
          <a:xfrm>
            <a:off x="914400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Triển khai</a:t>
            </a:r>
            <a:endParaRPr lang="en-US" sz="1800" dirty="0"/>
          </a:p>
        </p:txBody>
      </p:sp>
      <p:sp>
        <p:nvSpPr>
          <p:cNvPr id="37" name="Text 29"/>
          <p:cNvSpPr/>
          <p:nvPr/>
        </p:nvSpPr>
        <p:spPr>
          <a:xfrm>
            <a:off x="833932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Docker multi-stage</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Fly.io · HTTPS</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Git · Swagger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03 · KIẾN TRÚC TỔNG THỂ</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Client–server nhiều tầng, REST API + JWT</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10</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1064240" cy="868680"/>
          </a:xfrm>
          <a:prstGeom prst="roundRect">
            <a:avLst>
              <a:gd name="adj" fmla="val 12632"/>
            </a:avLst>
          </a:prstGeom>
          <a:solidFill>
            <a:srgbClr val="E4EEF3"/>
          </a:solidFill>
          <a:ln/>
          <a:effectLst>
            <a:outerShdw blurRad="88900" dist="25400" dir="5400000" algn="bl" rotWithShape="0">
              <a:srgbClr val="B9C7D1">
                <a:alpha val="40000"/>
              </a:srgbClr>
            </a:outerShdw>
          </a:effectLst>
        </p:spPr>
      </p:sp>
      <p:sp>
        <p:nvSpPr>
          <p:cNvPr id="9" name="Shape 7"/>
          <p:cNvSpPr/>
          <p:nvPr/>
        </p:nvSpPr>
        <p:spPr>
          <a:xfrm>
            <a:off x="777240" y="1828800"/>
            <a:ext cx="502920" cy="502920"/>
          </a:xfrm>
          <a:prstGeom prst="roundRect">
            <a:avLst>
              <a:gd name="adj" fmla="val 50000"/>
            </a:avLst>
          </a:prstGeom>
          <a:solidFill>
            <a:srgbClr val="23B5A6"/>
          </a:solidFill>
          <a:ln/>
        </p:spPr>
      </p:sp>
      <p:pic>
        <p:nvPicPr>
          <p:cNvPr id="10" name="Image 0" descr="preencoded.png"/>
          <p:cNvPicPr>
            <a:picLocks noChangeAspect="1"/>
          </p:cNvPicPr>
          <p:nvPr/>
        </p:nvPicPr>
        <p:blipFill>
          <a:blip r:embed="rId3"/>
          <a:stretch>
            <a:fillRect/>
          </a:stretch>
        </p:blipFill>
        <p:spPr>
          <a:xfrm>
            <a:off x="897941" y="1949501"/>
            <a:ext cx="261518" cy="261518"/>
          </a:xfrm>
          <a:prstGeom prst="rect">
            <a:avLst/>
          </a:prstGeom>
        </p:spPr>
      </p:pic>
      <p:sp>
        <p:nvSpPr>
          <p:cNvPr id="11" name="Text 8"/>
          <p:cNvSpPr/>
          <p:nvPr/>
        </p:nvSpPr>
        <p:spPr>
          <a:xfrm>
            <a:off x="1417320" y="1645920"/>
            <a:ext cx="10058400" cy="868680"/>
          </a:xfrm>
          <a:prstGeom prst="rect">
            <a:avLst/>
          </a:prstGeom>
          <a:noFill/>
          <a:ln/>
        </p:spPr>
        <p:txBody>
          <a:bodyPr wrap="square" lIns="0" tIns="0" rIns="0" bIns="0" rtlCol="0" anchor="ctr"/>
          <a:lstStyle/>
          <a:p>
            <a:pPr marL="0" indent="0">
              <a:buNone/>
            </a:pPr>
            <a:r>
              <a:rPr lang="en-US" sz="1300" b="1" dirty="0">
                <a:solidFill>
                  <a:srgbClr val="0E2A47"/>
                </a:solidFill>
                <a:latin typeface="Calibri" pitchFamily="34" charset="0"/>
                <a:ea typeface="Calibri" pitchFamily="34" charset="-122"/>
                <a:cs typeface="Calibri" pitchFamily="34" charset="-120"/>
              </a:rPr>
              <a:t>FRONTEND  </a:t>
            </a:r>
            <a:r>
              <a:rPr lang="en-US" sz="1250" dirty="0">
                <a:solidFill>
                  <a:srgbClr val="22303C"/>
                </a:solidFill>
                <a:latin typeface="Calibri" pitchFamily="34" charset="0"/>
                <a:ea typeface="Calibri" pitchFamily="34" charset="-122"/>
                <a:cs typeface="Calibri" pitchFamily="34" charset="-120"/>
              </a:rPr>
              <a:t>Next.js 16 (App Router) · React 19 · TypeScript · Tailwind · Radix UI — lib/api.ts tự gắn token</a:t>
            </a:r>
            <a:endParaRPr lang="en-US" sz="1300" dirty="0"/>
          </a:p>
        </p:txBody>
      </p:sp>
      <p:sp>
        <p:nvSpPr>
          <p:cNvPr id="12" name="Text 9"/>
          <p:cNvSpPr/>
          <p:nvPr/>
        </p:nvSpPr>
        <p:spPr>
          <a:xfrm>
            <a:off x="566928" y="2578608"/>
            <a:ext cx="11064240" cy="292608"/>
          </a:xfrm>
          <a:prstGeom prst="rect">
            <a:avLst/>
          </a:prstGeom>
          <a:noFill/>
          <a:ln/>
        </p:spPr>
        <p:txBody>
          <a:bodyPr wrap="square" lIns="0" tIns="0" rIns="0" bIns="0" rtlCol="0" anchor="ctr"/>
          <a:lstStyle/>
          <a:p>
            <a:pPr marL="0" indent="0" algn="ctr">
              <a:buNone/>
            </a:pPr>
            <a:r>
              <a:rPr lang="en-US" sz="1150" b="1" dirty="0">
                <a:solidFill>
                  <a:srgbClr val="0E7C86"/>
                </a:solidFill>
                <a:latin typeface="Calibri" pitchFamily="34" charset="0"/>
                <a:ea typeface="Calibri" pitchFamily="34" charset="-122"/>
                <a:cs typeface="Calibri" pitchFamily="34" charset="-120"/>
              </a:rPr>
              <a:t>▼   REST API (JSON) · JWT Bearer · ResponseDto&lt;T&gt; { ErrorCode, ErrorMessage, Data }</a:t>
            </a:r>
            <a:endParaRPr lang="en-US" sz="1150" dirty="0"/>
          </a:p>
        </p:txBody>
      </p:sp>
      <p:sp>
        <p:nvSpPr>
          <p:cNvPr id="13" name="Shape 10"/>
          <p:cNvSpPr/>
          <p:nvPr/>
        </p:nvSpPr>
        <p:spPr>
          <a:xfrm>
            <a:off x="566928" y="2971800"/>
            <a:ext cx="11064240" cy="1600200"/>
          </a:xfrm>
          <a:prstGeom prst="roundRect">
            <a:avLst>
              <a:gd name="adj" fmla="val 6857"/>
            </a:avLst>
          </a:prstGeom>
          <a:solidFill>
            <a:srgbClr val="0E2A47"/>
          </a:solidFill>
          <a:ln/>
        </p:spPr>
      </p:sp>
      <p:sp>
        <p:nvSpPr>
          <p:cNvPr id="14" name="Text 11"/>
          <p:cNvSpPr/>
          <p:nvPr/>
        </p:nvSpPr>
        <p:spPr>
          <a:xfrm>
            <a:off x="822960" y="3108960"/>
            <a:ext cx="10515600" cy="320040"/>
          </a:xfrm>
          <a:prstGeom prst="rect">
            <a:avLst/>
          </a:prstGeom>
          <a:noFill/>
          <a:ln/>
        </p:spPr>
        <p:txBody>
          <a:bodyPr wrap="square" lIns="0" tIns="0" rIns="0" bIns="0" rtlCol="0" anchor="ctr"/>
          <a:lstStyle/>
          <a:p>
            <a:pPr marL="0" indent="0">
              <a:buNone/>
            </a:pPr>
            <a:r>
              <a:rPr lang="en-US" sz="1250" b="1" dirty="0">
                <a:solidFill>
                  <a:srgbClr val="23B5A6"/>
                </a:solidFill>
                <a:latin typeface="Calibri" pitchFamily="34" charset="0"/>
                <a:ea typeface="Calibri" pitchFamily="34" charset="-122"/>
                <a:cs typeface="Calibri" pitchFamily="34" charset="-120"/>
              </a:rPr>
              <a:t>BACKEND · .NET 8 Web API — 3 module độc lập (Auth · Base · Asset)</a:t>
            </a:r>
            <a:endParaRPr lang="en-US" sz="1250" dirty="0"/>
          </a:p>
        </p:txBody>
      </p:sp>
      <p:sp>
        <p:nvSpPr>
          <p:cNvPr id="15" name="Shape 12"/>
          <p:cNvSpPr/>
          <p:nvPr/>
        </p:nvSpPr>
        <p:spPr>
          <a:xfrm>
            <a:off x="822960" y="3520440"/>
            <a:ext cx="2542032" cy="868680"/>
          </a:xfrm>
          <a:prstGeom prst="roundRect">
            <a:avLst>
              <a:gd name="adj" fmla="val 10526"/>
            </a:avLst>
          </a:prstGeom>
          <a:solidFill>
            <a:srgbClr val="16385C"/>
          </a:solidFill>
          <a:ln/>
        </p:spPr>
      </p:sp>
      <p:sp>
        <p:nvSpPr>
          <p:cNvPr id="16" name="Text 13"/>
          <p:cNvSpPr/>
          <p:nvPr/>
        </p:nvSpPr>
        <p:spPr>
          <a:xfrm>
            <a:off x="914400" y="3520440"/>
            <a:ext cx="2359152" cy="868680"/>
          </a:xfrm>
          <a:prstGeom prst="rect">
            <a:avLst/>
          </a:prstGeom>
          <a:noFill/>
          <a:ln/>
        </p:spPr>
        <p:txBody>
          <a:bodyPr wrap="square" lIns="0" tIns="0" rIns="0" bIns="0" rtlCol="0" anchor="ctr"/>
          <a:lstStyle/>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Controllers</a:t>
            </a:r>
            <a:endParaRPr lang="en-US" sz="1150" dirty="0"/>
          </a:p>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(nhận request, kiểm tra quyền)</a:t>
            </a:r>
            <a:endParaRPr lang="en-US" sz="1150" dirty="0"/>
          </a:p>
        </p:txBody>
      </p:sp>
      <p:sp>
        <p:nvSpPr>
          <p:cNvPr id="17" name="Shape 14"/>
          <p:cNvSpPr/>
          <p:nvPr/>
        </p:nvSpPr>
        <p:spPr>
          <a:xfrm>
            <a:off x="3364992" y="3849624"/>
            <a:ext cx="155448" cy="201168"/>
          </a:xfrm>
          <a:prstGeom prst="rightArrow">
            <a:avLst/>
          </a:prstGeom>
          <a:solidFill>
            <a:srgbClr val="23B5A6"/>
          </a:solidFill>
          <a:ln/>
        </p:spPr>
      </p:sp>
      <p:sp>
        <p:nvSpPr>
          <p:cNvPr id="18" name="Shape 15"/>
          <p:cNvSpPr/>
          <p:nvPr/>
        </p:nvSpPr>
        <p:spPr>
          <a:xfrm>
            <a:off x="3529584" y="3520440"/>
            <a:ext cx="2542032" cy="868680"/>
          </a:xfrm>
          <a:prstGeom prst="roundRect">
            <a:avLst>
              <a:gd name="adj" fmla="val 10526"/>
            </a:avLst>
          </a:prstGeom>
          <a:solidFill>
            <a:srgbClr val="16385C"/>
          </a:solidFill>
          <a:ln/>
        </p:spPr>
      </p:sp>
      <p:sp>
        <p:nvSpPr>
          <p:cNvPr id="19" name="Text 16"/>
          <p:cNvSpPr/>
          <p:nvPr/>
        </p:nvSpPr>
        <p:spPr>
          <a:xfrm>
            <a:off x="3621024" y="3520440"/>
            <a:ext cx="2359152" cy="868680"/>
          </a:xfrm>
          <a:prstGeom prst="rect">
            <a:avLst/>
          </a:prstGeom>
          <a:noFill/>
          <a:ln/>
        </p:spPr>
        <p:txBody>
          <a:bodyPr wrap="square" lIns="0" tIns="0" rIns="0" bIns="0" rtlCol="0" anchor="ctr"/>
          <a:lstStyle/>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ApplicationService</a:t>
            </a:r>
            <a:endParaRPr lang="en-US" sz="1150" dirty="0"/>
          </a:p>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(logic nghiệp vụ)</a:t>
            </a:r>
            <a:endParaRPr lang="en-US" sz="1150" dirty="0"/>
          </a:p>
        </p:txBody>
      </p:sp>
      <p:sp>
        <p:nvSpPr>
          <p:cNvPr id="20" name="Shape 17"/>
          <p:cNvSpPr/>
          <p:nvPr/>
        </p:nvSpPr>
        <p:spPr>
          <a:xfrm>
            <a:off x="6071616" y="3849624"/>
            <a:ext cx="155448" cy="201168"/>
          </a:xfrm>
          <a:prstGeom prst="rightArrow">
            <a:avLst/>
          </a:prstGeom>
          <a:solidFill>
            <a:srgbClr val="23B5A6"/>
          </a:solidFill>
          <a:ln/>
        </p:spPr>
      </p:sp>
      <p:sp>
        <p:nvSpPr>
          <p:cNvPr id="21" name="Shape 18"/>
          <p:cNvSpPr/>
          <p:nvPr/>
        </p:nvSpPr>
        <p:spPr>
          <a:xfrm>
            <a:off x="6236208" y="3520440"/>
            <a:ext cx="2542032" cy="868680"/>
          </a:xfrm>
          <a:prstGeom prst="roundRect">
            <a:avLst>
              <a:gd name="adj" fmla="val 10526"/>
            </a:avLst>
          </a:prstGeom>
          <a:solidFill>
            <a:srgbClr val="16385C"/>
          </a:solidFill>
          <a:ln/>
        </p:spPr>
      </p:sp>
      <p:sp>
        <p:nvSpPr>
          <p:cNvPr id="22" name="Text 19"/>
          <p:cNvSpPr/>
          <p:nvPr/>
        </p:nvSpPr>
        <p:spPr>
          <a:xfrm>
            <a:off x="6327648" y="3520440"/>
            <a:ext cx="2359152" cy="868680"/>
          </a:xfrm>
          <a:prstGeom prst="rect">
            <a:avLst/>
          </a:prstGeom>
          <a:noFill/>
          <a:ln/>
        </p:spPr>
        <p:txBody>
          <a:bodyPr wrap="square" lIns="0" tIns="0" rIns="0" bIns="0" rtlCol="0" anchor="ctr"/>
          <a:lstStyle/>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Domain</a:t>
            </a:r>
            <a:endParaRPr lang="en-US" sz="1150" dirty="0"/>
          </a:p>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(thực thể)</a:t>
            </a:r>
            <a:endParaRPr lang="en-US" sz="1150" dirty="0"/>
          </a:p>
        </p:txBody>
      </p:sp>
      <p:sp>
        <p:nvSpPr>
          <p:cNvPr id="23" name="Shape 20"/>
          <p:cNvSpPr/>
          <p:nvPr/>
        </p:nvSpPr>
        <p:spPr>
          <a:xfrm>
            <a:off x="8778240" y="3849624"/>
            <a:ext cx="155448" cy="201168"/>
          </a:xfrm>
          <a:prstGeom prst="rightArrow">
            <a:avLst/>
          </a:prstGeom>
          <a:solidFill>
            <a:srgbClr val="23B5A6"/>
          </a:solidFill>
          <a:ln/>
        </p:spPr>
      </p:sp>
      <p:sp>
        <p:nvSpPr>
          <p:cNvPr id="24" name="Shape 21"/>
          <p:cNvSpPr/>
          <p:nvPr/>
        </p:nvSpPr>
        <p:spPr>
          <a:xfrm>
            <a:off x="8942832" y="3520440"/>
            <a:ext cx="2542032" cy="868680"/>
          </a:xfrm>
          <a:prstGeom prst="roundRect">
            <a:avLst>
              <a:gd name="adj" fmla="val 10526"/>
            </a:avLst>
          </a:prstGeom>
          <a:solidFill>
            <a:srgbClr val="16385C"/>
          </a:solidFill>
          <a:ln/>
        </p:spPr>
      </p:sp>
      <p:sp>
        <p:nvSpPr>
          <p:cNvPr id="25" name="Text 22"/>
          <p:cNvSpPr/>
          <p:nvPr/>
        </p:nvSpPr>
        <p:spPr>
          <a:xfrm>
            <a:off x="9034272" y="3520440"/>
            <a:ext cx="2359152" cy="868680"/>
          </a:xfrm>
          <a:prstGeom prst="rect">
            <a:avLst/>
          </a:prstGeom>
          <a:noFill/>
          <a:ln/>
        </p:spPr>
        <p:txBody>
          <a:bodyPr wrap="square" lIns="0" tIns="0" rIns="0" bIns="0" rtlCol="0" anchor="ctr"/>
          <a:lstStyle/>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Infrastructure</a:t>
            </a:r>
            <a:endParaRPr lang="en-US" sz="1150" dirty="0"/>
          </a:p>
          <a:p>
            <a:pPr marL="0" indent="0" algn="ctr">
              <a:lnSpc>
                <a:spcPct val="95000"/>
              </a:lnSpc>
              <a:buNone/>
            </a:pPr>
            <a:r>
              <a:rPr lang="en-US" sz="1150" b="1" dirty="0">
                <a:solidFill>
                  <a:srgbClr val="FFFFFF"/>
                </a:solidFill>
                <a:latin typeface="Calibri" pitchFamily="34" charset="0"/>
                <a:ea typeface="Calibri" pitchFamily="34" charset="-122"/>
                <a:cs typeface="Calibri" pitchFamily="34" charset="-120"/>
              </a:rPr>
              <a:t>(EF Core · Npgsql)</a:t>
            </a:r>
            <a:endParaRPr lang="en-US" sz="1150" dirty="0"/>
          </a:p>
        </p:txBody>
      </p:sp>
      <p:sp>
        <p:nvSpPr>
          <p:cNvPr id="26" name="Text 23"/>
          <p:cNvSpPr/>
          <p:nvPr/>
        </p:nvSpPr>
        <p:spPr>
          <a:xfrm>
            <a:off x="566928" y="4617720"/>
            <a:ext cx="11064240" cy="256032"/>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a:t>
            </a:r>
            <a:endParaRPr lang="en-US" sz="1200" dirty="0"/>
          </a:p>
        </p:txBody>
      </p:sp>
      <p:sp>
        <p:nvSpPr>
          <p:cNvPr id="27" name="Shape 24"/>
          <p:cNvSpPr/>
          <p:nvPr/>
        </p:nvSpPr>
        <p:spPr>
          <a:xfrm>
            <a:off x="566928" y="4937760"/>
            <a:ext cx="2688336"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8" name="Shape 25"/>
          <p:cNvSpPr/>
          <p:nvPr/>
        </p:nvSpPr>
        <p:spPr>
          <a:xfrm>
            <a:off x="1609344" y="5102352"/>
            <a:ext cx="603504" cy="603504"/>
          </a:xfrm>
          <a:prstGeom prst="roundRect">
            <a:avLst>
              <a:gd name="adj" fmla="val 50000"/>
            </a:avLst>
          </a:prstGeom>
          <a:solidFill>
            <a:srgbClr val="0E7C86"/>
          </a:solidFill>
          <a:ln/>
        </p:spPr>
      </p:sp>
      <p:pic>
        <p:nvPicPr>
          <p:cNvPr id="29" name="Image 1" descr="preencoded.png"/>
          <p:cNvPicPr>
            <a:picLocks noChangeAspect="1"/>
          </p:cNvPicPr>
          <p:nvPr/>
        </p:nvPicPr>
        <p:blipFill>
          <a:blip r:embed="rId4"/>
          <a:stretch>
            <a:fillRect/>
          </a:stretch>
        </p:blipFill>
        <p:spPr>
          <a:xfrm>
            <a:off x="1754185" y="5247193"/>
            <a:ext cx="313822" cy="313822"/>
          </a:xfrm>
          <a:prstGeom prst="rect">
            <a:avLst/>
          </a:prstGeom>
        </p:spPr>
      </p:pic>
      <p:sp>
        <p:nvSpPr>
          <p:cNvPr id="30" name="Text 26"/>
          <p:cNvSpPr/>
          <p:nvPr/>
        </p:nvSpPr>
        <p:spPr>
          <a:xfrm>
            <a:off x="566928" y="5724144"/>
            <a:ext cx="2688336" cy="274320"/>
          </a:xfrm>
          <a:prstGeom prst="rect">
            <a:avLst/>
          </a:prstGeom>
          <a:noFill/>
          <a:ln/>
        </p:spPr>
        <p:txBody>
          <a:bodyPr wrap="square" lIns="0" tIns="0" rIns="0" bIns="0" rtlCol="0" anchor="ctr"/>
          <a:lstStyle/>
          <a:p>
            <a:pPr marL="0" indent="0" algn="ctr">
              <a:buNone/>
            </a:pPr>
            <a:r>
              <a:rPr lang="en-US" sz="1300" b="1" dirty="0">
                <a:solidFill>
                  <a:srgbClr val="0E2A47"/>
                </a:solidFill>
                <a:latin typeface="Calibri" pitchFamily="34" charset="0"/>
                <a:ea typeface="Calibri" pitchFamily="34" charset="-122"/>
                <a:cs typeface="Calibri" pitchFamily="34" charset="-120"/>
              </a:rPr>
              <a:t>PostgreSQL</a:t>
            </a:r>
            <a:endParaRPr lang="en-US" sz="1300" dirty="0"/>
          </a:p>
        </p:txBody>
      </p:sp>
      <p:sp>
        <p:nvSpPr>
          <p:cNvPr id="31" name="Text 27"/>
          <p:cNvSpPr/>
          <p:nvPr/>
        </p:nvSpPr>
        <p:spPr>
          <a:xfrm>
            <a:off x="658368" y="5961888"/>
            <a:ext cx="2505456" cy="256032"/>
          </a:xfrm>
          <a:prstGeom prst="rect">
            <a:avLst/>
          </a:prstGeom>
          <a:noFill/>
          <a:ln/>
        </p:spPr>
        <p:txBody>
          <a:bodyPr wrap="square" lIns="0" tIns="0" rIns="0" bIns="0" rtlCol="0" anchor="ctr"/>
          <a:lstStyle/>
          <a:p>
            <a:pPr marL="0" indent="0" algn="ctr">
              <a:buNone/>
            </a:pPr>
            <a:r>
              <a:rPr lang="en-US" sz="1050" dirty="0">
                <a:solidFill>
                  <a:srgbClr val="6B7A88"/>
                </a:solidFill>
                <a:latin typeface="Calibri" pitchFamily="34" charset="0"/>
                <a:ea typeface="Calibri" pitchFamily="34" charset="-122"/>
                <a:cs typeface="Calibri" pitchFamily="34" charset="-120"/>
              </a:rPr>
              <a:t>3 schema auth/base/asset</a:t>
            </a:r>
            <a:endParaRPr lang="en-US" sz="1050" dirty="0"/>
          </a:p>
        </p:txBody>
      </p:sp>
      <p:sp>
        <p:nvSpPr>
          <p:cNvPr id="32" name="Shape 28"/>
          <p:cNvSpPr/>
          <p:nvPr/>
        </p:nvSpPr>
        <p:spPr>
          <a:xfrm>
            <a:off x="3374136" y="4937760"/>
            <a:ext cx="2688336"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3" name="Shape 29"/>
          <p:cNvSpPr/>
          <p:nvPr/>
        </p:nvSpPr>
        <p:spPr>
          <a:xfrm>
            <a:off x="4416552" y="5102352"/>
            <a:ext cx="603504" cy="603504"/>
          </a:xfrm>
          <a:prstGeom prst="roundRect">
            <a:avLst>
              <a:gd name="adj" fmla="val 50000"/>
            </a:avLst>
          </a:prstGeom>
          <a:solidFill>
            <a:srgbClr val="EFA13C"/>
          </a:solidFill>
          <a:ln/>
        </p:spPr>
      </p:sp>
      <p:pic>
        <p:nvPicPr>
          <p:cNvPr id="34" name="Image 2" descr="preencoded.png"/>
          <p:cNvPicPr>
            <a:picLocks noChangeAspect="1"/>
          </p:cNvPicPr>
          <p:nvPr/>
        </p:nvPicPr>
        <p:blipFill>
          <a:blip r:embed="rId5"/>
          <a:stretch>
            <a:fillRect/>
          </a:stretch>
        </p:blipFill>
        <p:spPr>
          <a:xfrm>
            <a:off x="4561393" y="5247193"/>
            <a:ext cx="313822" cy="313822"/>
          </a:xfrm>
          <a:prstGeom prst="rect">
            <a:avLst/>
          </a:prstGeom>
        </p:spPr>
      </p:pic>
      <p:sp>
        <p:nvSpPr>
          <p:cNvPr id="35" name="Text 30"/>
          <p:cNvSpPr/>
          <p:nvPr/>
        </p:nvSpPr>
        <p:spPr>
          <a:xfrm>
            <a:off x="3374136" y="5724144"/>
            <a:ext cx="2688336" cy="274320"/>
          </a:xfrm>
          <a:prstGeom prst="rect">
            <a:avLst/>
          </a:prstGeom>
          <a:noFill/>
          <a:ln/>
        </p:spPr>
        <p:txBody>
          <a:bodyPr wrap="square" lIns="0" tIns="0" rIns="0" bIns="0" rtlCol="0" anchor="ctr"/>
          <a:lstStyle/>
          <a:p>
            <a:pPr marL="0" indent="0" algn="ctr">
              <a:buNone/>
            </a:pPr>
            <a:r>
              <a:rPr lang="en-US" sz="1300" b="1" dirty="0">
                <a:solidFill>
                  <a:srgbClr val="0E2A47"/>
                </a:solidFill>
                <a:latin typeface="Calibri" pitchFamily="34" charset="0"/>
                <a:ea typeface="Calibri" pitchFamily="34" charset="-122"/>
                <a:cs typeface="Calibri" pitchFamily="34" charset="-120"/>
              </a:rPr>
              <a:t>Redis</a:t>
            </a:r>
            <a:endParaRPr lang="en-US" sz="1300" dirty="0"/>
          </a:p>
        </p:txBody>
      </p:sp>
      <p:sp>
        <p:nvSpPr>
          <p:cNvPr id="36" name="Text 31"/>
          <p:cNvSpPr/>
          <p:nvPr/>
        </p:nvSpPr>
        <p:spPr>
          <a:xfrm>
            <a:off x="3465576" y="5961888"/>
            <a:ext cx="2505456" cy="256032"/>
          </a:xfrm>
          <a:prstGeom prst="rect">
            <a:avLst/>
          </a:prstGeom>
          <a:noFill/>
          <a:ln/>
        </p:spPr>
        <p:txBody>
          <a:bodyPr wrap="square" lIns="0" tIns="0" rIns="0" bIns="0" rtlCol="0" anchor="ctr"/>
          <a:lstStyle/>
          <a:p>
            <a:pPr marL="0" indent="0" algn="ctr">
              <a:buNone/>
            </a:pPr>
            <a:r>
              <a:rPr lang="en-US" sz="1050" dirty="0">
                <a:solidFill>
                  <a:srgbClr val="6B7A88"/>
                </a:solidFill>
                <a:latin typeface="Calibri" pitchFamily="34" charset="0"/>
                <a:ea typeface="Calibri" pitchFamily="34" charset="-122"/>
                <a:cs typeface="Calibri" pitchFamily="34" charset="-120"/>
              </a:rPr>
              <a:t>phiên &amp; trạng thái MFA</a:t>
            </a:r>
            <a:endParaRPr lang="en-US" sz="1050" dirty="0"/>
          </a:p>
        </p:txBody>
      </p:sp>
      <p:sp>
        <p:nvSpPr>
          <p:cNvPr id="37" name="Shape 32"/>
          <p:cNvSpPr/>
          <p:nvPr/>
        </p:nvSpPr>
        <p:spPr>
          <a:xfrm>
            <a:off x="6181344" y="4937760"/>
            <a:ext cx="2688336"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8" name="Shape 33"/>
          <p:cNvSpPr/>
          <p:nvPr/>
        </p:nvSpPr>
        <p:spPr>
          <a:xfrm>
            <a:off x="7223760" y="5102352"/>
            <a:ext cx="603504" cy="603504"/>
          </a:xfrm>
          <a:prstGeom prst="roundRect">
            <a:avLst>
              <a:gd name="adj" fmla="val 50000"/>
            </a:avLst>
          </a:prstGeom>
          <a:solidFill>
            <a:srgbClr val="1E3A57"/>
          </a:solidFill>
          <a:ln/>
        </p:spPr>
      </p:sp>
      <p:pic>
        <p:nvPicPr>
          <p:cNvPr id="39" name="Image 3" descr="preencoded.png"/>
          <p:cNvPicPr>
            <a:picLocks noChangeAspect="1"/>
          </p:cNvPicPr>
          <p:nvPr/>
        </p:nvPicPr>
        <p:blipFill>
          <a:blip r:embed="rId6"/>
          <a:stretch>
            <a:fillRect/>
          </a:stretch>
        </p:blipFill>
        <p:spPr>
          <a:xfrm>
            <a:off x="7368601" y="5247193"/>
            <a:ext cx="313822" cy="313822"/>
          </a:xfrm>
          <a:prstGeom prst="rect">
            <a:avLst/>
          </a:prstGeom>
        </p:spPr>
      </p:pic>
      <p:sp>
        <p:nvSpPr>
          <p:cNvPr id="40" name="Text 34"/>
          <p:cNvSpPr/>
          <p:nvPr/>
        </p:nvSpPr>
        <p:spPr>
          <a:xfrm>
            <a:off x="6181344" y="5724144"/>
            <a:ext cx="2688336" cy="274320"/>
          </a:xfrm>
          <a:prstGeom prst="rect">
            <a:avLst/>
          </a:prstGeom>
          <a:noFill/>
          <a:ln/>
        </p:spPr>
        <p:txBody>
          <a:bodyPr wrap="square" lIns="0" tIns="0" rIns="0" bIns="0" rtlCol="0" anchor="ctr"/>
          <a:lstStyle/>
          <a:p>
            <a:pPr marL="0" indent="0" algn="ctr">
              <a:buNone/>
            </a:pPr>
            <a:r>
              <a:rPr lang="en-US" sz="1300" b="1" dirty="0">
                <a:solidFill>
                  <a:srgbClr val="0E2A47"/>
                </a:solidFill>
                <a:latin typeface="Calibri" pitchFamily="34" charset="0"/>
                <a:ea typeface="Calibri" pitchFamily="34" charset="-122"/>
                <a:cs typeface="Calibri" pitchFamily="34" charset="-120"/>
              </a:rPr>
              <a:t>Cloudinary</a:t>
            </a:r>
            <a:endParaRPr lang="en-US" sz="1300" dirty="0"/>
          </a:p>
        </p:txBody>
      </p:sp>
      <p:sp>
        <p:nvSpPr>
          <p:cNvPr id="41" name="Text 35"/>
          <p:cNvSpPr/>
          <p:nvPr/>
        </p:nvSpPr>
        <p:spPr>
          <a:xfrm>
            <a:off x="6272784" y="5961888"/>
            <a:ext cx="2505456" cy="256032"/>
          </a:xfrm>
          <a:prstGeom prst="rect">
            <a:avLst/>
          </a:prstGeom>
          <a:noFill/>
          <a:ln/>
        </p:spPr>
        <p:txBody>
          <a:bodyPr wrap="square" lIns="0" tIns="0" rIns="0" bIns="0" rtlCol="0" anchor="ctr"/>
          <a:lstStyle/>
          <a:p>
            <a:pPr marL="0" indent="0" algn="ctr">
              <a:buNone/>
            </a:pPr>
            <a:r>
              <a:rPr lang="en-US" sz="1050" dirty="0">
                <a:solidFill>
                  <a:srgbClr val="6B7A88"/>
                </a:solidFill>
                <a:latin typeface="Calibri" pitchFamily="34" charset="0"/>
                <a:ea typeface="Calibri" pitchFamily="34" charset="-122"/>
                <a:cs typeface="Calibri" pitchFamily="34" charset="-120"/>
              </a:rPr>
              <a:t>ảnh, hóa đơn, minh chứng</a:t>
            </a:r>
            <a:endParaRPr lang="en-US" sz="1050" dirty="0"/>
          </a:p>
        </p:txBody>
      </p:sp>
      <p:sp>
        <p:nvSpPr>
          <p:cNvPr id="42" name="Shape 36"/>
          <p:cNvSpPr/>
          <p:nvPr/>
        </p:nvSpPr>
        <p:spPr>
          <a:xfrm>
            <a:off x="8988552" y="4937760"/>
            <a:ext cx="2688336"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43" name="Shape 37"/>
          <p:cNvSpPr/>
          <p:nvPr/>
        </p:nvSpPr>
        <p:spPr>
          <a:xfrm>
            <a:off x="10030968" y="5102352"/>
            <a:ext cx="603504" cy="603504"/>
          </a:xfrm>
          <a:prstGeom prst="roundRect">
            <a:avLst>
              <a:gd name="adj" fmla="val 50000"/>
            </a:avLst>
          </a:prstGeom>
          <a:solidFill>
            <a:srgbClr val="E4572E"/>
          </a:solidFill>
          <a:ln/>
        </p:spPr>
      </p:sp>
      <p:pic>
        <p:nvPicPr>
          <p:cNvPr id="44" name="Image 4" descr="preencoded.png"/>
          <p:cNvPicPr>
            <a:picLocks noChangeAspect="1"/>
          </p:cNvPicPr>
          <p:nvPr/>
        </p:nvPicPr>
        <p:blipFill>
          <a:blip r:embed="rId7"/>
          <a:stretch>
            <a:fillRect/>
          </a:stretch>
        </p:blipFill>
        <p:spPr>
          <a:xfrm>
            <a:off x="10175809" y="5247193"/>
            <a:ext cx="313822" cy="313822"/>
          </a:xfrm>
          <a:prstGeom prst="rect">
            <a:avLst/>
          </a:prstGeom>
        </p:spPr>
      </p:pic>
      <p:sp>
        <p:nvSpPr>
          <p:cNvPr id="45" name="Text 38"/>
          <p:cNvSpPr/>
          <p:nvPr/>
        </p:nvSpPr>
        <p:spPr>
          <a:xfrm>
            <a:off x="8988552" y="5724144"/>
            <a:ext cx="2688336" cy="274320"/>
          </a:xfrm>
          <a:prstGeom prst="rect">
            <a:avLst/>
          </a:prstGeom>
          <a:noFill/>
          <a:ln/>
        </p:spPr>
        <p:txBody>
          <a:bodyPr wrap="square" lIns="0" tIns="0" rIns="0" bIns="0" rtlCol="0" anchor="ctr"/>
          <a:lstStyle/>
          <a:p>
            <a:pPr marL="0" indent="0" algn="ctr">
              <a:buNone/>
            </a:pPr>
            <a:r>
              <a:rPr lang="en-US" sz="1300" b="1" dirty="0">
                <a:solidFill>
                  <a:srgbClr val="0E2A47"/>
                </a:solidFill>
                <a:latin typeface="Calibri" pitchFamily="34" charset="0"/>
                <a:ea typeface="Calibri" pitchFamily="34" charset="-122"/>
                <a:cs typeface="Calibri" pitchFamily="34" charset="-120"/>
              </a:rPr>
              <a:t>VietOCR + MailKit</a:t>
            </a:r>
            <a:endParaRPr lang="en-US" sz="1300" dirty="0"/>
          </a:p>
        </p:txBody>
      </p:sp>
      <p:sp>
        <p:nvSpPr>
          <p:cNvPr id="46" name="Text 39"/>
          <p:cNvSpPr/>
          <p:nvPr/>
        </p:nvSpPr>
        <p:spPr>
          <a:xfrm>
            <a:off x="9079992" y="5961888"/>
            <a:ext cx="2505456" cy="256032"/>
          </a:xfrm>
          <a:prstGeom prst="rect">
            <a:avLst/>
          </a:prstGeom>
          <a:noFill/>
          <a:ln/>
        </p:spPr>
        <p:txBody>
          <a:bodyPr wrap="square" lIns="0" tIns="0" rIns="0" bIns="0" rtlCol="0" anchor="ctr"/>
          <a:lstStyle/>
          <a:p>
            <a:pPr marL="0" indent="0" algn="ctr">
              <a:buNone/>
            </a:pPr>
            <a:r>
              <a:rPr lang="en-US" sz="1050" dirty="0">
                <a:solidFill>
                  <a:srgbClr val="6B7A88"/>
                </a:solidFill>
                <a:latin typeface="Calibri" pitchFamily="34" charset="0"/>
                <a:ea typeface="Calibri" pitchFamily="34" charset="-122"/>
                <a:cs typeface="Calibri" pitchFamily="34" charset="-120"/>
              </a:rPr>
              <a:t>OCR hóa đơn · gửi email</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04 · MODULE BASE</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Xác thực &amp; phân quyền (Auth &amp; Security)</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11</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486400" cy="4114800"/>
          </a:xfrm>
          <a:prstGeom prst="roundRect">
            <a:avLst>
              <a:gd name="adj" fmla="val 2667"/>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38528"/>
            <a:ext cx="640080" cy="640080"/>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76579" y="2092147"/>
            <a:ext cx="332842" cy="332842"/>
          </a:xfrm>
          <a:prstGeom prst="rect">
            <a:avLst/>
          </a:prstGeom>
        </p:spPr>
      </p:pic>
      <p:sp>
        <p:nvSpPr>
          <p:cNvPr id="11" name="Text 8"/>
          <p:cNvSpPr/>
          <p:nvPr/>
        </p:nvSpPr>
        <p:spPr>
          <a:xfrm>
            <a:off x="1600200" y="2011680"/>
            <a:ext cx="411480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Xác thực đa lớp</a:t>
            </a:r>
            <a:endParaRPr lang="en-US" sz="1800" dirty="0"/>
          </a:p>
        </p:txBody>
      </p:sp>
      <p:sp>
        <p:nvSpPr>
          <p:cNvPr id="12" name="Text 9"/>
          <p:cNvSpPr/>
          <p:nvPr/>
        </p:nvSpPr>
        <p:spPr>
          <a:xfrm>
            <a:off x="822960" y="2788920"/>
            <a:ext cx="5029200" cy="2926080"/>
          </a:xfrm>
          <a:prstGeom prst="rect">
            <a:avLst/>
          </a:prstGeom>
          <a:noFill/>
          <a:ln/>
        </p:spPr>
        <p:txBody>
          <a:bodyPr wrap="square" lIns="0" tIns="0" rIns="0" bIns="0" rtlCol="0" anchor="t"/>
          <a:lstStyle/>
          <a:p>
            <a:pPr marL="177800" indent="-177800">
              <a:lnSpc>
                <a:spcPct val="102000"/>
              </a:lnSpc>
              <a:spcAft>
                <a:spcPts val="1100"/>
              </a:spcAft>
              <a:buSzPct val="100000"/>
              <a:buChar char="•"/>
            </a:pPr>
            <a:r>
              <a:rPr lang="en-US" sz="1300" dirty="0">
                <a:solidFill>
                  <a:srgbClr val="22303C"/>
                </a:solidFill>
                <a:latin typeface="Calibri" pitchFamily="34" charset="0"/>
                <a:ea typeface="Calibri" pitchFamily="34" charset="-122"/>
                <a:cs typeface="Calibri" pitchFamily="34" charset="-120"/>
              </a:rPr>
              <a:t>3 phương thức: email/mật khẩu · Google OAuth 2.0 · luồng riêng cho di động</a:t>
            </a:r>
            <a:endParaRPr lang="en-US" sz="1300" dirty="0"/>
          </a:p>
          <a:p>
            <a:pPr marL="177800" indent="-177800">
              <a:lnSpc>
                <a:spcPct val="102000"/>
              </a:lnSpc>
              <a:spcAft>
                <a:spcPts val="1100"/>
              </a:spcAft>
              <a:buSzPct val="100000"/>
              <a:buChar char="•"/>
            </a:pPr>
            <a:r>
              <a:rPr lang="en-US" sz="1300" dirty="0">
                <a:solidFill>
                  <a:srgbClr val="22303C"/>
                </a:solidFill>
                <a:latin typeface="Calibri" pitchFamily="34" charset="0"/>
                <a:ea typeface="Calibri" pitchFamily="34" charset="-122"/>
                <a:cs typeface="Calibri" pitchFamily="34" charset="-120"/>
              </a:rPr>
              <a:t>AccessToken (~30 phút) + RefreshToken (~7 ngày), token rotation + tokenVersion</a:t>
            </a:r>
            <a:endParaRPr lang="en-US" sz="1300" dirty="0"/>
          </a:p>
          <a:p>
            <a:pPr marL="177800" indent="-177800">
              <a:lnSpc>
                <a:spcPct val="102000"/>
              </a:lnSpc>
              <a:spcAft>
                <a:spcPts val="1100"/>
              </a:spcAft>
              <a:buSzPct val="100000"/>
              <a:buChar char="•"/>
            </a:pPr>
            <a:r>
              <a:rPr lang="en-US" sz="1300" dirty="0">
                <a:solidFill>
                  <a:srgbClr val="22303C"/>
                </a:solidFill>
                <a:latin typeface="Calibri" pitchFamily="34" charset="0"/>
                <a:ea typeface="Calibri" pitchFamily="34" charset="-122"/>
                <a:cs typeface="Calibri" pitchFamily="34" charset="-120"/>
              </a:rPr>
              <a:t>Cookie HttpOnly + CSRF; quản lý phiên theo thiết bị (đăng xuất 1 / tất cả)</a:t>
            </a:r>
            <a:endParaRPr lang="en-US" sz="1300" dirty="0"/>
          </a:p>
          <a:p>
            <a:pPr marL="177800" indent="-177800">
              <a:lnSpc>
                <a:spcPct val="102000"/>
              </a:lnSpc>
              <a:spcAft>
                <a:spcPts val="1100"/>
              </a:spcAft>
              <a:buSzPct val="100000"/>
              <a:buChar char="•"/>
            </a:pPr>
            <a:r>
              <a:rPr lang="en-US" sz="1300" dirty="0">
                <a:solidFill>
                  <a:srgbClr val="22303C"/>
                </a:solidFill>
                <a:latin typeface="Calibri" pitchFamily="34" charset="0"/>
                <a:ea typeface="Calibri" pitchFamily="34" charset="-122"/>
                <a:cs typeface="Calibri" pitchFamily="34" charset="-120"/>
              </a:rPr>
              <a:t>MFA bằng OTP theo thời gian (TOTP) · xác minh email · đặt lại mật khẩu</a:t>
            </a:r>
            <a:endParaRPr lang="en-US" sz="1300" dirty="0"/>
          </a:p>
        </p:txBody>
      </p:sp>
      <p:sp>
        <p:nvSpPr>
          <p:cNvPr id="13" name="Shape 10"/>
          <p:cNvSpPr/>
          <p:nvPr/>
        </p:nvSpPr>
        <p:spPr>
          <a:xfrm>
            <a:off x="6236208" y="1691640"/>
            <a:ext cx="5394960" cy="4114800"/>
          </a:xfrm>
          <a:prstGeom prst="roundRect">
            <a:avLst>
              <a:gd name="adj" fmla="val 2667"/>
            </a:avLst>
          </a:prstGeom>
          <a:solidFill>
            <a:srgbClr val="0E2A47"/>
          </a:solidFill>
          <a:ln/>
        </p:spPr>
      </p:sp>
      <p:sp>
        <p:nvSpPr>
          <p:cNvPr id="14" name="Shape 11"/>
          <p:cNvSpPr/>
          <p:nvPr/>
        </p:nvSpPr>
        <p:spPr>
          <a:xfrm>
            <a:off x="6492240" y="1938528"/>
            <a:ext cx="640080" cy="640080"/>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6645859" y="2092147"/>
            <a:ext cx="332842" cy="332842"/>
          </a:xfrm>
          <a:prstGeom prst="rect">
            <a:avLst/>
          </a:prstGeom>
        </p:spPr>
      </p:pic>
      <p:sp>
        <p:nvSpPr>
          <p:cNvPr id="16" name="Text 12"/>
          <p:cNvSpPr/>
          <p:nvPr/>
        </p:nvSpPr>
        <p:spPr>
          <a:xfrm>
            <a:off x="7269480" y="2011680"/>
            <a:ext cx="4114800" cy="45720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Phân quyền RBAC</a:t>
            </a:r>
            <a:endParaRPr lang="en-US" sz="1800" dirty="0"/>
          </a:p>
        </p:txBody>
      </p:sp>
      <p:sp>
        <p:nvSpPr>
          <p:cNvPr id="17" name="Shape 13"/>
          <p:cNvSpPr/>
          <p:nvPr/>
        </p:nvSpPr>
        <p:spPr>
          <a:xfrm>
            <a:off x="6492240" y="2788920"/>
            <a:ext cx="2377440" cy="960120"/>
          </a:xfrm>
          <a:prstGeom prst="roundRect">
            <a:avLst>
              <a:gd name="adj" fmla="val 9524"/>
            </a:avLst>
          </a:prstGeom>
          <a:solidFill>
            <a:srgbClr val="16385C"/>
          </a:solidFill>
          <a:ln/>
        </p:spPr>
      </p:sp>
      <p:sp>
        <p:nvSpPr>
          <p:cNvPr id="18" name="Text 14"/>
          <p:cNvSpPr/>
          <p:nvPr/>
        </p:nvSpPr>
        <p:spPr>
          <a:xfrm>
            <a:off x="6492240" y="2788920"/>
            <a:ext cx="2377440" cy="960120"/>
          </a:xfrm>
          <a:prstGeom prst="rect">
            <a:avLst/>
          </a:prstGeom>
          <a:noFill/>
          <a:ln/>
        </p:spPr>
        <p:txBody>
          <a:bodyPr wrap="square" lIns="0" tIns="0" rIns="0" bIns="0" rtlCol="0" anchor="ctr"/>
          <a:lstStyle/>
          <a:p>
            <a:pPr marL="0" indent="0" algn="ctr">
              <a:buNone/>
            </a:pPr>
            <a:r>
              <a:rPr lang="en-US" sz="3000" b="1" dirty="0">
                <a:solidFill>
                  <a:srgbClr val="23B5A6"/>
                </a:solidFill>
                <a:latin typeface="Cambria" pitchFamily="34" charset="0"/>
                <a:ea typeface="Cambria" pitchFamily="34" charset="-122"/>
                <a:cs typeface="Cambria" pitchFamily="34" charset="-120"/>
              </a:rPr>
              <a:t>74</a:t>
            </a:r>
            <a:r>
              <a:rPr lang="en-US" sz="1300" dirty="0">
                <a:solidFill>
                  <a:srgbClr val="BFD6DF"/>
                </a:solidFill>
                <a:latin typeface="Cambria" pitchFamily="34" charset="0"/>
                <a:ea typeface="Cambria" pitchFamily="34" charset="-122"/>
                <a:cs typeface="Cambria" pitchFamily="34" charset="-120"/>
              </a:rPr>
              <a:t>  quyền</a:t>
            </a:r>
            <a:endParaRPr lang="en-US" sz="3000" dirty="0"/>
          </a:p>
        </p:txBody>
      </p:sp>
      <p:sp>
        <p:nvSpPr>
          <p:cNvPr id="19" name="Shape 15"/>
          <p:cNvSpPr/>
          <p:nvPr/>
        </p:nvSpPr>
        <p:spPr>
          <a:xfrm>
            <a:off x="9006840" y="2788920"/>
            <a:ext cx="2377440" cy="960120"/>
          </a:xfrm>
          <a:prstGeom prst="roundRect">
            <a:avLst>
              <a:gd name="adj" fmla="val 9524"/>
            </a:avLst>
          </a:prstGeom>
          <a:solidFill>
            <a:srgbClr val="16385C"/>
          </a:solidFill>
          <a:ln/>
        </p:spPr>
      </p:sp>
      <p:sp>
        <p:nvSpPr>
          <p:cNvPr id="20" name="Text 16"/>
          <p:cNvSpPr/>
          <p:nvPr/>
        </p:nvSpPr>
        <p:spPr>
          <a:xfrm>
            <a:off x="9006840" y="2788920"/>
            <a:ext cx="2377440" cy="960120"/>
          </a:xfrm>
          <a:prstGeom prst="rect">
            <a:avLst/>
          </a:prstGeom>
          <a:noFill/>
          <a:ln/>
        </p:spPr>
        <p:txBody>
          <a:bodyPr wrap="square" lIns="0" tIns="0" rIns="0" bIns="0" rtlCol="0" anchor="ctr"/>
          <a:lstStyle/>
          <a:p>
            <a:pPr marL="0" indent="0" algn="ctr">
              <a:buNone/>
            </a:pPr>
            <a:r>
              <a:rPr lang="en-US" sz="3000" b="1" dirty="0">
                <a:solidFill>
                  <a:srgbClr val="EFA13C"/>
                </a:solidFill>
                <a:latin typeface="Cambria" pitchFamily="34" charset="0"/>
                <a:ea typeface="Cambria" pitchFamily="34" charset="-122"/>
                <a:cs typeface="Cambria" pitchFamily="34" charset="-120"/>
              </a:rPr>
              <a:t>6</a:t>
            </a:r>
            <a:r>
              <a:rPr lang="en-US" sz="1300" dirty="0">
                <a:solidFill>
                  <a:srgbClr val="BFD6DF"/>
                </a:solidFill>
                <a:latin typeface="Cambria" pitchFamily="34" charset="0"/>
                <a:ea typeface="Cambria" pitchFamily="34" charset="-122"/>
                <a:cs typeface="Cambria" pitchFamily="34" charset="-120"/>
              </a:rPr>
              <a:t>  vai trò</a:t>
            </a:r>
            <a:endParaRPr lang="en-US" sz="3000" dirty="0"/>
          </a:p>
        </p:txBody>
      </p:sp>
      <p:sp>
        <p:nvSpPr>
          <p:cNvPr id="21" name="Text 17"/>
          <p:cNvSpPr/>
          <p:nvPr/>
        </p:nvSpPr>
        <p:spPr>
          <a:xfrm>
            <a:off x="6492240" y="3886200"/>
            <a:ext cx="4892040" cy="1828800"/>
          </a:xfrm>
          <a:prstGeom prst="rect">
            <a:avLst/>
          </a:prstGeom>
          <a:noFill/>
          <a:ln/>
        </p:spPr>
        <p:txBody>
          <a:bodyPr wrap="square" lIns="0" tIns="0" rIns="0" bIns="0" rtlCol="0" anchor="t"/>
          <a:lstStyle/>
          <a:p>
            <a:pPr marL="177800" indent="-177800">
              <a:lnSpc>
                <a:spcPct val="102000"/>
              </a:lnSpc>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Quyền = resource.action (asset.create) → gán cho vai trò → gán cho người dùng</a:t>
            </a:r>
            <a:endParaRPr lang="en-US" sz="1200" dirty="0"/>
          </a:p>
          <a:p>
            <a:pPr marL="177800" indent="-177800">
              <a:lnSpc>
                <a:spcPct val="102000"/>
              </a:lnSpc>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Nguồn sự thật duy nhất PermissionConstants.cs; mỗi quyền tự sinh Authorization Policy</a:t>
            </a:r>
            <a:endParaRPr lang="en-US" sz="1200" dirty="0"/>
          </a:p>
          <a:p>
            <a:pPr marL="177800" indent="-177800">
              <a:lnSpc>
                <a:spcPct val="102000"/>
              </a:lnSpc>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Đặc quyền tối thiểu: tách quyền mịn, policy tổng hợp (WorkOrderWrite = create ∨ execute)</a:t>
            </a:r>
            <a:endParaRPr lang="en-US" sz="1200" dirty="0"/>
          </a:p>
          <a:p>
            <a:pPr marL="177800" indent="-177800">
              <a:lnSpc>
                <a:spcPct val="102000"/>
              </a:lnSpc>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Giới hạn tầm nhìn theo bản ghi: KTV chỉ thấy phiếu được giao (403 nếu không thuộc)</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04 · MODULE BASE</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Dịch vụ nền tảng dùng chung cho mọi phân hệ</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12</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84248"/>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80968" y="2142256"/>
            <a:ext cx="342351" cy="342351"/>
          </a:xfrm>
          <a:prstGeom prst="rect">
            <a:avLst/>
          </a:prstGeom>
        </p:spPr>
      </p:pic>
      <p:sp>
        <p:nvSpPr>
          <p:cNvPr id="11" name="Text 8"/>
          <p:cNvSpPr/>
          <p:nvPr/>
        </p:nvSpPr>
        <p:spPr>
          <a:xfrm>
            <a:off x="1664208" y="1911096"/>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Người dùng &amp; Nhật ký</a:t>
            </a:r>
            <a:endParaRPr lang="en-US" sz="1450" dirty="0"/>
          </a:p>
        </p:txBody>
      </p:sp>
      <p:sp>
        <p:nvSpPr>
          <p:cNvPr id="12" name="Text 9"/>
          <p:cNvSpPr/>
          <p:nvPr/>
        </p:nvSpPr>
        <p:spPr>
          <a:xfrm>
            <a:off x="1664208" y="2313432"/>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CRUD tài khoản, vai trò, quyền; Audit Log truy vết hành động</a:t>
            </a:r>
            <a:endParaRPr lang="en-US" sz="1150" dirty="0"/>
          </a:p>
        </p:txBody>
      </p:sp>
      <p:sp>
        <p:nvSpPr>
          <p:cNvPr id="13" name="Shape 10"/>
          <p:cNvSpPr/>
          <p:nvPr/>
        </p:nvSpPr>
        <p:spPr>
          <a:xfrm>
            <a:off x="6254496" y="1691640"/>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6510528" y="1984248"/>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6668536" y="2142256"/>
            <a:ext cx="342351" cy="342351"/>
          </a:xfrm>
          <a:prstGeom prst="rect">
            <a:avLst/>
          </a:prstGeom>
        </p:spPr>
      </p:pic>
      <p:sp>
        <p:nvSpPr>
          <p:cNvPr id="16" name="Text 12"/>
          <p:cNvSpPr/>
          <p:nvPr/>
        </p:nvSpPr>
        <p:spPr>
          <a:xfrm>
            <a:off x="7351776" y="1911096"/>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Thông báo</a:t>
            </a:r>
            <a:endParaRPr lang="en-US" sz="1450" dirty="0"/>
          </a:p>
        </p:txBody>
      </p:sp>
      <p:sp>
        <p:nvSpPr>
          <p:cNvPr id="17" name="Text 13"/>
          <p:cNvSpPr/>
          <p:nvPr/>
        </p:nvSpPr>
        <p:spPr>
          <a:xfrm>
            <a:off x="7351776" y="2313432"/>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Đa kênh (push/email/SMS), mẫu tái sử dụng, lịch sử gửi</a:t>
            </a:r>
            <a:endParaRPr lang="en-US" sz="1150" dirty="0"/>
          </a:p>
        </p:txBody>
      </p:sp>
      <p:sp>
        <p:nvSpPr>
          <p:cNvPr id="18" name="Shape 14"/>
          <p:cNvSpPr/>
          <p:nvPr/>
        </p:nvSpPr>
        <p:spPr>
          <a:xfrm>
            <a:off x="566928" y="3127248"/>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22960" y="3419856"/>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5"/>
          <a:stretch>
            <a:fillRect/>
          </a:stretch>
        </p:blipFill>
        <p:spPr>
          <a:xfrm>
            <a:off x="980968" y="3577864"/>
            <a:ext cx="342351" cy="342351"/>
          </a:xfrm>
          <a:prstGeom prst="rect">
            <a:avLst/>
          </a:prstGeom>
        </p:spPr>
      </p:pic>
      <p:sp>
        <p:nvSpPr>
          <p:cNvPr id="21" name="Text 16"/>
          <p:cNvSpPr/>
          <p:nvPr/>
        </p:nvSpPr>
        <p:spPr>
          <a:xfrm>
            <a:off x="1664208" y="3346704"/>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Cấu hình &amp; danh mục</a:t>
            </a:r>
            <a:endParaRPr lang="en-US" sz="1450" dirty="0"/>
          </a:p>
        </p:txBody>
      </p:sp>
      <p:sp>
        <p:nvSpPr>
          <p:cNvPr id="22" name="Text 17"/>
          <p:cNvSpPr/>
          <p:nvPr/>
        </p:nvSpPr>
        <p:spPr>
          <a:xfrm>
            <a:off x="1664208" y="3749040"/>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Tham số khóa–giá trị: sinh mã, khấu hao, ngưỡng tồn kho</a:t>
            </a:r>
            <a:endParaRPr lang="en-US" sz="1150" dirty="0"/>
          </a:p>
        </p:txBody>
      </p:sp>
      <p:sp>
        <p:nvSpPr>
          <p:cNvPr id="23" name="Shape 18"/>
          <p:cNvSpPr/>
          <p:nvPr/>
        </p:nvSpPr>
        <p:spPr>
          <a:xfrm>
            <a:off x="6254496" y="3127248"/>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6510528" y="3419856"/>
            <a:ext cx="658368" cy="658368"/>
          </a:xfrm>
          <a:prstGeom prst="roundRect">
            <a:avLst>
              <a:gd name="adj" fmla="val 50000"/>
            </a:avLst>
          </a:prstGeom>
          <a:solidFill>
            <a:srgbClr val="EFA13C"/>
          </a:solidFill>
          <a:ln/>
        </p:spPr>
      </p:sp>
      <p:pic>
        <p:nvPicPr>
          <p:cNvPr id="25" name="Image 3" descr="preencoded.png"/>
          <p:cNvPicPr>
            <a:picLocks noChangeAspect="1"/>
          </p:cNvPicPr>
          <p:nvPr/>
        </p:nvPicPr>
        <p:blipFill>
          <a:blip r:embed="rId6"/>
          <a:stretch>
            <a:fillRect/>
          </a:stretch>
        </p:blipFill>
        <p:spPr>
          <a:xfrm>
            <a:off x="6668536" y="3577864"/>
            <a:ext cx="342351" cy="342351"/>
          </a:xfrm>
          <a:prstGeom prst="rect">
            <a:avLst/>
          </a:prstGeom>
        </p:spPr>
      </p:pic>
      <p:sp>
        <p:nvSpPr>
          <p:cNvPr id="26" name="Text 20"/>
          <p:cNvSpPr/>
          <p:nvPr/>
        </p:nvSpPr>
        <p:spPr>
          <a:xfrm>
            <a:off x="7351776" y="3346704"/>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Báo cáo &amp; Dashboard</a:t>
            </a:r>
            <a:endParaRPr lang="en-US" sz="1450" dirty="0"/>
          </a:p>
        </p:txBody>
      </p:sp>
      <p:sp>
        <p:nvSpPr>
          <p:cNvPr id="27" name="Text 21"/>
          <p:cNvSpPr/>
          <p:nvPr/>
        </p:nvSpPr>
        <p:spPr>
          <a:xfrm>
            <a:off x="7351776" y="3749040"/>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KPI, chi phí, SLA; tổng hợp qua Guid cross-service</a:t>
            </a:r>
            <a:endParaRPr lang="en-US" sz="1150" dirty="0"/>
          </a:p>
        </p:txBody>
      </p:sp>
      <p:sp>
        <p:nvSpPr>
          <p:cNvPr id="28" name="Shape 22"/>
          <p:cNvSpPr/>
          <p:nvPr/>
        </p:nvSpPr>
        <p:spPr>
          <a:xfrm>
            <a:off x="566928" y="4434840"/>
            <a:ext cx="5486400" cy="1874520"/>
          </a:xfrm>
          <a:prstGeom prst="roundRect">
            <a:avLst>
              <a:gd name="adj" fmla="val 4878"/>
            </a:avLst>
          </a:prstGeom>
          <a:solidFill>
            <a:srgbClr val="FFFFFF"/>
          </a:solidFill>
          <a:ln/>
          <a:effectLst>
            <a:outerShdw blurRad="88900" dist="25400" dir="5400000" algn="bl" rotWithShape="0">
              <a:srgbClr val="B9C7D1">
                <a:alpha val="40000"/>
              </a:srgbClr>
            </a:outerShdw>
          </a:effectLst>
        </p:spPr>
      </p:sp>
      <p:pic>
        <p:nvPicPr>
          <p:cNvPr id="29" name="Image 4" descr="D:/DATN/TownHub/latex/images/img11.png"/>
          <p:cNvPicPr>
            <a:picLocks noChangeAspect="1"/>
          </p:cNvPicPr>
          <p:nvPr/>
        </p:nvPicPr>
        <p:blipFill>
          <a:blip r:embed="rId7"/>
          <a:srcRect/>
          <a:stretch/>
        </p:blipFill>
        <p:spPr>
          <a:xfrm>
            <a:off x="649224" y="4517136"/>
            <a:ext cx="5321808" cy="1709928"/>
          </a:xfrm>
          <a:prstGeom prst="rect">
            <a:avLst/>
          </a:prstGeom>
        </p:spPr>
      </p:pic>
      <p:sp>
        <p:nvSpPr>
          <p:cNvPr id="30" name="Shape 23"/>
          <p:cNvSpPr/>
          <p:nvPr/>
        </p:nvSpPr>
        <p:spPr>
          <a:xfrm>
            <a:off x="6254496" y="4434840"/>
            <a:ext cx="5376672" cy="1874520"/>
          </a:xfrm>
          <a:prstGeom prst="roundRect">
            <a:avLst>
              <a:gd name="adj" fmla="val 4878"/>
            </a:avLst>
          </a:prstGeom>
          <a:solidFill>
            <a:srgbClr val="FFFFFF"/>
          </a:solidFill>
          <a:ln/>
          <a:effectLst>
            <a:outerShdw blurRad="88900" dist="25400" dir="5400000" algn="bl" rotWithShape="0">
              <a:srgbClr val="B9C7D1">
                <a:alpha val="40000"/>
              </a:srgbClr>
            </a:outerShdw>
          </a:effectLst>
        </p:spPr>
      </p:sp>
      <p:pic>
        <p:nvPicPr>
          <p:cNvPr id="31" name="Image 5" descr="D:/DATN/TownHub/latex/images/real_permissions.png"/>
          <p:cNvPicPr>
            <a:picLocks noChangeAspect="1"/>
          </p:cNvPicPr>
          <p:nvPr/>
        </p:nvPicPr>
        <p:blipFill>
          <a:blip r:embed="rId8"/>
          <a:srcRect/>
          <a:stretch/>
        </p:blipFill>
        <p:spPr>
          <a:xfrm>
            <a:off x="6336792" y="4517136"/>
            <a:ext cx="5212080" cy="1709928"/>
          </a:xfrm>
          <a:prstGeom prst="rect">
            <a:avLst/>
          </a:prstGeom>
        </p:spPr>
      </p:pic>
      <p:sp>
        <p:nvSpPr>
          <p:cNvPr id="32" name="Text 24"/>
          <p:cNvSpPr/>
          <p:nvPr/>
        </p:nvSpPr>
        <p:spPr>
          <a:xfrm>
            <a:off x="566928" y="6327648"/>
            <a:ext cx="5486400"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Dashboard tổng quan (KPI, chi phí)</a:t>
            </a:r>
            <a:endParaRPr lang="en-US" sz="950" dirty="0"/>
          </a:p>
        </p:txBody>
      </p:sp>
      <p:sp>
        <p:nvSpPr>
          <p:cNvPr id="33" name="Text 25"/>
          <p:cNvSpPr/>
          <p:nvPr/>
        </p:nvSpPr>
        <p:spPr>
          <a:xfrm>
            <a:off x="6254496" y="6327648"/>
            <a:ext cx="5376672"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Danh mục quyền &amp; phân quyền theo vai trò (RBAC)</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04 · MODULE BASE</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Nền tảng Base — xương sống dùng chung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13</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47672"/>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2"/>
          <a:stretch>
            <a:fillRect/>
          </a:stretch>
        </p:blipFill>
        <p:spPr>
          <a:xfrm>
            <a:off x="980968" y="2105680"/>
            <a:ext cx="342351" cy="342351"/>
          </a:xfrm>
          <a:prstGeom prst="rect">
            <a:avLst/>
          </a:prstGeom>
        </p:spPr>
      </p:pic>
      <p:sp>
        <p:nvSpPr>
          <p:cNvPr id="11" name="Text 8"/>
          <p:cNvSpPr/>
          <p:nvPr/>
        </p:nvSpPr>
        <p:spPr>
          <a:xfrm>
            <a:off x="1645920" y="207568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Xác thực &amp; Bảo mật</a:t>
            </a:r>
            <a:endParaRPr lang="en-US" sz="1500" dirty="0"/>
          </a:p>
        </p:txBody>
      </p:sp>
      <p:sp>
        <p:nvSpPr>
          <p:cNvPr id="12" name="Text 9"/>
          <p:cNvSpPr/>
          <p:nvPr/>
        </p:nvSpPr>
        <p:spPr>
          <a:xfrm>
            <a:off x="84124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Đăng nhập đa phương thức</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Google OAuth 2.0 · JWT</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Xác thực 2 lớp (MFA/TOTP)</a:t>
            </a:r>
            <a:endParaRPr lang="en-US" sz="1200" dirty="0"/>
          </a:p>
        </p:txBody>
      </p:sp>
      <p:sp>
        <p:nvSpPr>
          <p:cNvPr id="13" name="Shape 10"/>
          <p:cNvSpPr/>
          <p:nvPr/>
        </p:nvSpPr>
        <p:spPr>
          <a:xfrm>
            <a:off x="431596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4572000" y="1947672"/>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4730008" y="2105680"/>
            <a:ext cx="342351" cy="342351"/>
          </a:xfrm>
          <a:prstGeom prst="rect">
            <a:avLst/>
          </a:prstGeom>
        </p:spPr>
      </p:pic>
      <p:sp>
        <p:nvSpPr>
          <p:cNvPr id="16" name="Text 12"/>
          <p:cNvSpPr/>
          <p:nvPr/>
        </p:nvSpPr>
        <p:spPr>
          <a:xfrm>
            <a:off x="5394960" y="207568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Phân quyền RBAC</a:t>
            </a:r>
            <a:endParaRPr lang="en-US" sz="1500" dirty="0"/>
          </a:p>
        </p:txBody>
      </p:sp>
      <p:sp>
        <p:nvSpPr>
          <p:cNvPr id="17" name="Text 13"/>
          <p:cNvSpPr/>
          <p:nvPr/>
        </p:nvSpPr>
        <p:spPr>
          <a:xfrm>
            <a:off x="459028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Quyền = resource.action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74 quyền · 6 vai trò</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Policy tự sinh, đặc quyền tối thiểu</a:t>
            </a:r>
            <a:endParaRPr lang="en-US" sz="1200" dirty="0"/>
          </a:p>
        </p:txBody>
      </p:sp>
      <p:sp>
        <p:nvSpPr>
          <p:cNvPr id="18" name="Shape 14"/>
          <p:cNvSpPr/>
          <p:nvPr/>
        </p:nvSpPr>
        <p:spPr>
          <a:xfrm>
            <a:off x="806500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321040" y="1947672"/>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4"/>
          <a:stretch>
            <a:fillRect/>
          </a:stretch>
        </p:blipFill>
        <p:spPr>
          <a:xfrm>
            <a:off x="8479048" y="2105680"/>
            <a:ext cx="342351" cy="342351"/>
          </a:xfrm>
          <a:prstGeom prst="rect">
            <a:avLst/>
          </a:prstGeom>
        </p:spPr>
      </p:pic>
      <p:sp>
        <p:nvSpPr>
          <p:cNvPr id="21" name="Text 16"/>
          <p:cNvSpPr/>
          <p:nvPr/>
        </p:nvSpPr>
        <p:spPr>
          <a:xfrm>
            <a:off x="9144000" y="207568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Người dùng &amp; Nhật ký</a:t>
            </a:r>
            <a:endParaRPr lang="en-US" sz="1500" dirty="0"/>
          </a:p>
        </p:txBody>
      </p:sp>
      <p:sp>
        <p:nvSpPr>
          <p:cNvPr id="22" name="Text 17"/>
          <p:cNvSpPr/>
          <p:nvPr/>
        </p:nvSpPr>
        <p:spPr>
          <a:xfrm>
            <a:off x="833932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CRUD tài khoản · vai trò</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Định danh trung tâm dùng chung</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Audit Log truy vết hành động</a:t>
            </a:r>
            <a:endParaRPr lang="en-US" sz="1200" dirty="0"/>
          </a:p>
        </p:txBody>
      </p:sp>
      <p:sp>
        <p:nvSpPr>
          <p:cNvPr id="23" name="Shape 18"/>
          <p:cNvSpPr/>
          <p:nvPr/>
        </p:nvSpPr>
        <p:spPr>
          <a:xfrm>
            <a:off x="56692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822960" y="4050792"/>
            <a:ext cx="658368" cy="658368"/>
          </a:xfrm>
          <a:prstGeom prst="roundRect">
            <a:avLst>
              <a:gd name="adj" fmla="val 50000"/>
            </a:avLst>
          </a:prstGeom>
          <a:solidFill>
            <a:srgbClr val="16385C"/>
          </a:solidFill>
          <a:ln/>
        </p:spPr>
      </p:sp>
      <p:pic>
        <p:nvPicPr>
          <p:cNvPr id="25" name="Image 3" descr="preencoded.png"/>
          <p:cNvPicPr>
            <a:picLocks noChangeAspect="1"/>
          </p:cNvPicPr>
          <p:nvPr/>
        </p:nvPicPr>
        <p:blipFill>
          <a:blip r:embed="rId5"/>
          <a:stretch>
            <a:fillRect/>
          </a:stretch>
        </p:blipFill>
        <p:spPr>
          <a:xfrm>
            <a:off x="980968" y="4208800"/>
            <a:ext cx="342351" cy="342351"/>
          </a:xfrm>
          <a:prstGeom prst="rect">
            <a:avLst/>
          </a:prstGeom>
        </p:spPr>
      </p:pic>
      <p:sp>
        <p:nvSpPr>
          <p:cNvPr id="26" name="Text 20"/>
          <p:cNvSpPr/>
          <p:nvPr/>
        </p:nvSpPr>
        <p:spPr>
          <a:xfrm>
            <a:off x="1645920" y="417880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Thông báo</a:t>
            </a:r>
            <a:endParaRPr lang="en-US" sz="1500" dirty="0"/>
          </a:p>
        </p:txBody>
      </p:sp>
      <p:sp>
        <p:nvSpPr>
          <p:cNvPr id="27" name="Text 21"/>
          <p:cNvSpPr/>
          <p:nvPr/>
        </p:nvSpPr>
        <p:spPr>
          <a:xfrm>
            <a:off x="84124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Đa kênh: push · email · SMS</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Mẫu thông báo tái sử dụng</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Lịch sử &amp; trạng thái gửi</a:t>
            </a:r>
            <a:endParaRPr lang="en-US" sz="1200" dirty="0"/>
          </a:p>
        </p:txBody>
      </p:sp>
      <p:sp>
        <p:nvSpPr>
          <p:cNvPr id="28" name="Shape 22"/>
          <p:cNvSpPr/>
          <p:nvPr/>
        </p:nvSpPr>
        <p:spPr>
          <a:xfrm>
            <a:off x="431596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9" name="Shape 23"/>
          <p:cNvSpPr/>
          <p:nvPr/>
        </p:nvSpPr>
        <p:spPr>
          <a:xfrm>
            <a:off x="4572000" y="4050792"/>
            <a:ext cx="658368" cy="658368"/>
          </a:xfrm>
          <a:prstGeom prst="roundRect">
            <a:avLst>
              <a:gd name="adj" fmla="val 50000"/>
            </a:avLst>
          </a:prstGeom>
          <a:solidFill>
            <a:srgbClr val="EFA13C"/>
          </a:solidFill>
          <a:ln/>
        </p:spPr>
      </p:sp>
      <p:pic>
        <p:nvPicPr>
          <p:cNvPr id="30" name="Image 4" descr="preencoded.png"/>
          <p:cNvPicPr>
            <a:picLocks noChangeAspect="1"/>
          </p:cNvPicPr>
          <p:nvPr/>
        </p:nvPicPr>
        <p:blipFill>
          <a:blip r:embed="rId6"/>
          <a:stretch>
            <a:fillRect/>
          </a:stretch>
        </p:blipFill>
        <p:spPr>
          <a:xfrm>
            <a:off x="4730008" y="4208800"/>
            <a:ext cx="342351" cy="342351"/>
          </a:xfrm>
          <a:prstGeom prst="rect">
            <a:avLst/>
          </a:prstGeom>
        </p:spPr>
      </p:pic>
      <p:sp>
        <p:nvSpPr>
          <p:cNvPr id="31" name="Text 24"/>
          <p:cNvSpPr/>
          <p:nvPr/>
        </p:nvSpPr>
        <p:spPr>
          <a:xfrm>
            <a:off x="5394960" y="417880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Cấu hình &amp; Danh mục</a:t>
            </a:r>
            <a:endParaRPr lang="en-US" sz="1500" dirty="0"/>
          </a:p>
        </p:txBody>
      </p:sp>
      <p:sp>
        <p:nvSpPr>
          <p:cNvPr id="32" name="Text 25"/>
          <p:cNvSpPr/>
          <p:nvPr/>
        </p:nvSpPr>
        <p:spPr>
          <a:xfrm>
            <a:off x="459028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Tham số khóa – giá trị</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Sinh mã · khấu hao · ngưỡng tồn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Danh mục dùng chung</a:t>
            </a:r>
            <a:endParaRPr lang="en-US" sz="1200" dirty="0"/>
          </a:p>
        </p:txBody>
      </p:sp>
      <p:sp>
        <p:nvSpPr>
          <p:cNvPr id="33" name="Shape 26"/>
          <p:cNvSpPr/>
          <p:nvPr/>
        </p:nvSpPr>
        <p:spPr>
          <a:xfrm>
            <a:off x="806500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4" name="Shape 27"/>
          <p:cNvSpPr/>
          <p:nvPr/>
        </p:nvSpPr>
        <p:spPr>
          <a:xfrm>
            <a:off x="8321040" y="4050792"/>
            <a:ext cx="658368" cy="658368"/>
          </a:xfrm>
          <a:prstGeom prst="roundRect">
            <a:avLst>
              <a:gd name="adj" fmla="val 50000"/>
            </a:avLst>
          </a:prstGeom>
          <a:solidFill>
            <a:srgbClr val="E4572E"/>
          </a:solidFill>
          <a:ln/>
        </p:spPr>
      </p:sp>
      <p:pic>
        <p:nvPicPr>
          <p:cNvPr id="35" name="Image 5" descr="preencoded.png"/>
          <p:cNvPicPr>
            <a:picLocks noChangeAspect="1"/>
          </p:cNvPicPr>
          <p:nvPr/>
        </p:nvPicPr>
        <p:blipFill>
          <a:blip r:embed="rId7"/>
          <a:stretch>
            <a:fillRect/>
          </a:stretch>
        </p:blipFill>
        <p:spPr>
          <a:xfrm>
            <a:off x="8479048" y="4208800"/>
            <a:ext cx="342351" cy="342351"/>
          </a:xfrm>
          <a:prstGeom prst="rect">
            <a:avLst/>
          </a:prstGeom>
        </p:spPr>
      </p:pic>
      <p:sp>
        <p:nvSpPr>
          <p:cNvPr id="36" name="Text 28"/>
          <p:cNvSpPr/>
          <p:nvPr/>
        </p:nvSpPr>
        <p:spPr>
          <a:xfrm>
            <a:off x="9144000" y="4178808"/>
            <a:ext cx="2377440" cy="45720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Báo cáo &amp; Dashboard</a:t>
            </a:r>
            <a:endParaRPr lang="en-US" sz="1500" dirty="0"/>
          </a:p>
        </p:txBody>
      </p:sp>
      <p:sp>
        <p:nvSpPr>
          <p:cNvPr id="37" name="Text 29"/>
          <p:cNvSpPr/>
          <p:nvPr/>
        </p:nvSpPr>
        <p:spPr>
          <a:xfrm>
            <a:off x="833932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KPI · chi phí · SLA</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Tổng hợp qua Guid cross-service</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Biểu đồ &amp; dashboard trực quan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04 · MODULE BASE</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Mô hình dữ liệu lõi Base — schema auth</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14</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1064240" cy="932688"/>
          </a:xfrm>
          <a:prstGeom prst="roundRect">
            <a:avLst>
              <a:gd name="adj" fmla="val 11765"/>
            </a:avLst>
          </a:prstGeom>
          <a:solidFill>
            <a:srgbClr val="0E2A47"/>
          </a:solidFill>
          <a:ln/>
        </p:spPr>
      </p:sp>
      <p:sp>
        <p:nvSpPr>
          <p:cNvPr id="9" name="Shape 7"/>
          <p:cNvSpPr/>
          <p:nvPr/>
        </p:nvSpPr>
        <p:spPr>
          <a:xfrm>
            <a:off x="822960" y="1847088"/>
            <a:ext cx="548640" cy="548640"/>
          </a:xfrm>
          <a:prstGeom prst="roundRect">
            <a:avLst>
              <a:gd name="adj" fmla="val 50000"/>
            </a:avLst>
          </a:prstGeom>
          <a:solidFill>
            <a:srgbClr val="23B5A6"/>
          </a:solidFill>
          <a:ln/>
        </p:spPr>
      </p:sp>
      <p:pic>
        <p:nvPicPr>
          <p:cNvPr id="10" name="Image 0" descr="preencoded.png"/>
          <p:cNvPicPr>
            <a:picLocks noChangeAspect="1"/>
          </p:cNvPicPr>
          <p:nvPr/>
        </p:nvPicPr>
        <p:blipFill>
          <a:blip r:embed="rId2"/>
          <a:stretch>
            <a:fillRect/>
          </a:stretch>
        </p:blipFill>
        <p:spPr>
          <a:xfrm>
            <a:off x="954634" y="1978762"/>
            <a:ext cx="285293" cy="285293"/>
          </a:xfrm>
          <a:prstGeom prst="rect">
            <a:avLst/>
          </a:prstGeom>
        </p:spPr>
      </p:pic>
      <p:sp>
        <p:nvSpPr>
          <p:cNvPr id="11" name="Text 8"/>
          <p:cNvSpPr/>
          <p:nvPr/>
        </p:nvSpPr>
        <p:spPr>
          <a:xfrm>
            <a:off x="1508760" y="1737360"/>
            <a:ext cx="9966960" cy="777240"/>
          </a:xfrm>
          <a:prstGeom prst="rect">
            <a:avLst/>
          </a:prstGeom>
          <a:noFill/>
          <a:ln/>
        </p:spPr>
        <p:txBody>
          <a:bodyPr wrap="square" lIns="0" tIns="0" rIns="0" bIns="0" rtlCol="0" anchor="ctr"/>
          <a:lstStyle/>
          <a:p>
            <a:pPr marL="0" indent="0">
              <a:lnSpc>
                <a:spcPct val="105000"/>
              </a:lnSpc>
              <a:buNone/>
            </a:pPr>
            <a:r>
              <a:rPr lang="en-US" sz="1500" b="1" dirty="0">
                <a:solidFill>
                  <a:srgbClr val="FFFFFF"/>
                </a:solidFill>
                <a:latin typeface="Calibri" pitchFamily="34" charset="0"/>
                <a:ea typeface="Calibri" pitchFamily="34" charset="-122"/>
                <a:cs typeface="Calibri" pitchFamily="34" charset="-120"/>
              </a:rPr>
              <a:t>Schema auth — định danh &amp; phân quyền tập trung
</a:t>
            </a:r>
            <a:r>
              <a:rPr lang="en-US" sz="1250" dirty="0">
                <a:solidFill>
                  <a:srgbClr val="BFD6DF"/>
                </a:solidFill>
                <a:latin typeface="Calibri" pitchFamily="34" charset="0"/>
                <a:ea typeface="Calibri" pitchFamily="34" charset="-122"/>
                <a:cs typeface="Calibri" pitchFamily="34" charset="-120"/>
              </a:rPr>
              <a:t>AuthUser · AuthProfile · AuthRole · AuthPermission · AuthUserSession · AuditLog</a:t>
            </a:r>
            <a:endParaRPr lang="en-US" sz="1500" dirty="0"/>
          </a:p>
        </p:txBody>
      </p:sp>
      <p:sp>
        <p:nvSpPr>
          <p:cNvPr id="12" name="Shape 9"/>
          <p:cNvSpPr/>
          <p:nvPr/>
        </p:nvSpPr>
        <p:spPr>
          <a:xfrm>
            <a:off x="566928" y="2788920"/>
            <a:ext cx="3675888" cy="2148840"/>
          </a:xfrm>
          <a:prstGeom prst="roundRect">
            <a:avLst>
              <a:gd name="adj" fmla="val 5106"/>
            </a:avLst>
          </a:prstGeom>
          <a:solidFill>
            <a:srgbClr val="E4EEF3"/>
          </a:solidFill>
          <a:ln w="25400">
            <a:solidFill>
              <a:srgbClr val="0E7C86"/>
            </a:solidFill>
            <a:prstDash val="solid"/>
          </a:ln>
          <a:effectLst>
            <a:outerShdw blurRad="88900" dist="25400" dir="5400000" algn="bl" rotWithShape="0">
              <a:srgbClr val="B9C7D1">
                <a:alpha val="40000"/>
              </a:srgbClr>
            </a:outerShdw>
          </a:effectLst>
        </p:spPr>
      </p:sp>
      <p:sp>
        <p:nvSpPr>
          <p:cNvPr id="13" name="Shape 10"/>
          <p:cNvSpPr/>
          <p:nvPr/>
        </p:nvSpPr>
        <p:spPr>
          <a:xfrm>
            <a:off x="841248" y="3063240"/>
            <a:ext cx="731520" cy="731520"/>
          </a:xfrm>
          <a:prstGeom prst="roundRect">
            <a:avLst>
              <a:gd name="adj" fmla="val 50000"/>
            </a:avLst>
          </a:prstGeom>
          <a:solidFill>
            <a:srgbClr val="0E7C86"/>
          </a:solidFill>
          <a:ln/>
        </p:spPr>
      </p:sp>
      <p:pic>
        <p:nvPicPr>
          <p:cNvPr id="14" name="Image 1" descr="preencoded.png"/>
          <p:cNvPicPr>
            <a:picLocks noChangeAspect="1"/>
          </p:cNvPicPr>
          <p:nvPr/>
        </p:nvPicPr>
        <p:blipFill>
          <a:blip r:embed="rId3"/>
          <a:stretch>
            <a:fillRect/>
          </a:stretch>
        </p:blipFill>
        <p:spPr>
          <a:xfrm>
            <a:off x="1016813" y="3238805"/>
            <a:ext cx="380390" cy="380390"/>
          </a:xfrm>
          <a:prstGeom prst="rect">
            <a:avLst/>
          </a:prstGeom>
        </p:spPr>
      </p:pic>
      <p:sp>
        <p:nvSpPr>
          <p:cNvPr id="15" name="Text 11"/>
          <p:cNvSpPr/>
          <p:nvPr/>
        </p:nvSpPr>
        <p:spPr>
          <a:xfrm>
            <a:off x="170992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Người dùng &amp; Hồ sơ</a:t>
            </a:r>
            <a:endParaRPr lang="en-US" sz="1700" dirty="0"/>
          </a:p>
        </p:txBody>
      </p:sp>
      <p:sp>
        <p:nvSpPr>
          <p:cNvPr id="16" name="Text 12"/>
          <p:cNvSpPr/>
          <p:nvPr/>
        </p:nvSpPr>
        <p:spPr>
          <a:xfrm>
            <a:off x="1709928" y="3502152"/>
            <a:ext cx="2395728" cy="32004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nguoi_dung · ho_so</a:t>
            </a:r>
            <a:endParaRPr lang="en-US" sz="1200" dirty="0"/>
          </a:p>
        </p:txBody>
      </p:sp>
      <p:sp>
        <p:nvSpPr>
          <p:cNvPr id="17" name="Text 13"/>
          <p:cNvSpPr/>
          <p:nvPr/>
        </p:nvSpPr>
        <p:spPr>
          <a:xfrm>
            <a:off x="84124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Tài khoản: email, mật khẩu băm, googleSub, tokenVersion; hồ sơ cá nhân 1–1.</a:t>
            </a:r>
            <a:endParaRPr lang="en-US" sz="1200" dirty="0"/>
          </a:p>
        </p:txBody>
      </p:sp>
      <p:sp>
        <p:nvSpPr>
          <p:cNvPr id="18" name="Text 14"/>
          <p:cNvSpPr/>
          <p:nvPr/>
        </p:nvSpPr>
        <p:spPr>
          <a:xfrm>
            <a:off x="841248" y="4617720"/>
            <a:ext cx="3172968" cy="274320"/>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THỰC THỂ CHÍNH</a:t>
            </a:r>
            <a:endParaRPr lang="en-US" sz="1000" dirty="0"/>
          </a:p>
        </p:txBody>
      </p:sp>
      <p:sp>
        <p:nvSpPr>
          <p:cNvPr id="19" name="Shape 15"/>
          <p:cNvSpPr/>
          <p:nvPr/>
        </p:nvSpPr>
        <p:spPr>
          <a:xfrm>
            <a:off x="449884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0" name="Shape 16"/>
          <p:cNvSpPr/>
          <p:nvPr/>
        </p:nvSpPr>
        <p:spPr>
          <a:xfrm>
            <a:off x="4773168" y="3063240"/>
            <a:ext cx="731520" cy="731520"/>
          </a:xfrm>
          <a:prstGeom prst="roundRect">
            <a:avLst>
              <a:gd name="adj" fmla="val 50000"/>
            </a:avLst>
          </a:prstGeom>
          <a:solidFill>
            <a:srgbClr val="6B7A88"/>
          </a:solidFill>
          <a:ln/>
        </p:spPr>
      </p:sp>
      <p:pic>
        <p:nvPicPr>
          <p:cNvPr id="21" name="Image 2" descr="preencoded.png"/>
          <p:cNvPicPr>
            <a:picLocks noChangeAspect="1"/>
          </p:cNvPicPr>
          <p:nvPr/>
        </p:nvPicPr>
        <p:blipFill>
          <a:blip r:embed="rId4"/>
          <a:stretch>
            <a:fillRect/>
          </a:stretch>
        </p:blipFill>
        <p:spPr>
          <a:xfrm>
            <a:off x="4948733" y="3238805"/>
            <a:ext cx="380390" cy="380390"/>
          </a:xfrm>
          <a:prstGeom prst="rect">
            <a:avLst/>
          </a:prstGeom>
        </p:spPr>
      </p:pic>
      <p:sp>
        <p:nvSpPr>
          <p:cNvPr id="22" name="Text 17"/>
          <p:cNvSpPr/>
          <p:nvPr/>
        </p:nvSpPr>
        <p:spPr>
          <a:xfrm>
            <a:off x="564184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Vai trò &amp; Quyền</a:t>
            </a:r>
            <a:endParaRPr lang="en-US" sz="1700" dirty="0"/>
          </a:p>
        </p:txBody>
      </p:sp>
      <p:sp>
        <p:nvSpPr>
          <p:cNvPr id="23" name="Text 18"/>
          <p:cNvSpPr/>
          <p:nvPr/>
        </p:nvSpPr>
        <p:spPr>
          <a:xfrm>
            <a:off x="564184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vai_tro · quyen</a:t>
            </a:r>
            <a:endParaRPr lang="en-US" sz="1200" dirty="0"/>
          </a:p>
        </p:txBody>
      </p:sp>
      <p:sp>
        <p:nvSpPr>
          <p:cNvPr id="24" name="Text 19"/>
          <p:cNvSpPr/>
          <p:nvPr/>
        </p:nvSpPr>
        <p:spPr>
          <a:xfrm>
            <a:off x="477316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Quyền chi tiết theo code (AssetCreate…); N–N: vai trò ⇄ quyền ⇄ người dùng.</a:t>
            </a:r>
            <a:endParaRPr lang="en-US" sz="1200" dirty="0"/>
          </a:p>
        </p:txBody>
      </p:sp>
      <p:sp>
        <p:nvSpPr>
          <p:cNvPr id="25" name="Shape 20"/>
          <p:cNvSpPr/>
          <p:nvPr/>
        </p:nvSpPr>
        <p:spPr>
          <a:xfrm>
            <a:off x="843076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6" name="Shape 21"/>
          <p:cNvSpPr/>
          <p:nvPr/>
        </p:nvSpPr>
        <p:spPr>
          <a:xfrm>
            <a:off x="8705088" y="3063240"/>
            <a:ext cx="731520" cy="731520"/>
          </a:xfrm>
          <a:prstGeom prst="roundRect">
            <a:avLst>
              <a:gd name="adj" fmla="val 50000"/>
            </a:avLst>
          </a:prstGeom>
          <a:solidFill>
            <a:srgbClr val="6B7A88"/>
          </a:solidFill>
          <a:ln/>
        </p:spPr>
      </p:sp>
      <p:pic>
        <p:nvPicPr>
          <p:cNvPr id="27" name="Image 3" descr="preencoded.png"/>
          <p:cNvPicPr>
            <a:picLocks noChangeAspect="1"/>
          </p:cNvPicPr>
          <p:nvPr/>
        </p:nvPicPr>
        <p:blipFill>
          <a:blip r:embed="rId5"/>
          <a:stretch>
            <a:fillRect/>
          </a:stretch>
        </p:blipFill>
        <p:spPr>
          <a:xfrm>
            <a:off x="8880653" y="3238805"/>
            <a:ext cx="380390" cy="380390"/>
          </a:xfrm>
          <a:prstGeom prst="rect">
            <a:avLst/>
          </a:prstGeom>
        </p:spPr>
      </p:pic>
      <p:sp>
        <p:nvSpPr>
          <p:cNvPr id="28" name="Text 22"/>
          <p:cNvSpPr/>
          <p:nvPr/>
        </p:nvSpPr>
        <p:spPr>
          <a:xfrm>
            <a:off x="957376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Phiên &amp; Nhật ký</a:t>
            </a:r>
            <a:endParaRPr lang="en-US" sz="1700" dirty="0"/>
          </a:p>
        </p:txBody>
      </p:sp>
      <p:sp>
        <p:nvSpPr>
          <p:cNvPr id="29" name="Text 23"/>
          <p:cNvSpPr/>
          <p:nvPr/>
        </p:nvSpPr>
        <p:spPr>
          <a:xfrm>
            <a:off x="957376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phien · audit_log</a:t>
            </a:r>
            <a:endParaRPr lang="en-US" sz="1200" dirty="0"/>
          </a:p>
        </p:txBody>
      </p:sp>
      <p:sp>
        <p:nvSpPr>
          <p:cNvPr id="30" name="Text 24"/>
          <p:cNvSpPr/>
          <p:nvPr/>
        </p:nvSpPr>
        <p:spPr>
          <a:xfrm>
            <a:off x="870508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Phiên đăng nhập theo thiết bị (refresh token); Audit Log truy vết mọi hành động.</a:t>
            </a:r>
            <a:endParaRPr lang="en-US" sz="1200" dirty="0"/>
          </a:p>
        </p:txBody>
      </p:sp>
      <p:sp>
        <p:nvSpPr>
          <p:cNvPr id="31" name="Text 25"/>
          <p:cNvSpPr/>
          <p:nvPr/>
        </p:nvSpPr>
        <p:spPr>
          <a:xfrm>
            <a:off x="566928" y="5138928"/>
            <a:ext cx="11064240" cy="640080"/>
          </a:xfrm>
          <a:prstGeom prst="rect">
            <a:avLst/>
          </a:prstGeom>
          <a:noFill/>
          <a:ln/>
        </p:spPr>
        <p:txBody>
          <a:bodyPr wrap="square" lIns="0" tIns="0" rIns="0" bIns="0" rtlCol="0" anchor="ctr"/>
          <a:lstStyle/>
          <a:p>
            <a:pPr marL="0" indent="0">
              <a:buNone/>
            </a:pPr>
            <a:r>
              <a:rPr lang="en-US" sz="1250" i="1" dirty="0">
                <a:solidFill>
                  <a:srgbClr val="6B7A88"/>
                </a:solidFill>
                <a:latin typeface="Calibri" pitchFamily="34" charset="0"/>
                <a:ea typeface="Calibri" pitchFamily="34" charset="-122"/>
                <a:cs typeface="Calibri" pitchFamily="34" charset="-120"/>
              </a:rPr>
              <a:t>Các phân hệ nghiệp vụ chỉ tham chiếu định danh Base qua Guid cross-service (createdBy, assignedTo, buildingId…) — không dùng navigation property xuyên module.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8961120" y="-2194560"/>
            <a:ext cx="5486400" cy="5486400"/>
          </a:xfrm>
          <a:prstGeom prst="roundRect">
            <a:avLst>
              <a:gd name="adj" fmla="val 50000"/>
            </a:avLst>
          </a:prstGeom>
          <a:solidFill>
            <a:srgbClr val="16385C"/>
          </a:solidFill>
          <a:ln/>
        </p:spPr>
      </p:sp>
      <p:sp>
        <p:nvSpPr>
          <p:cNvPr id="3" name="Shape 1"/>
          <p:cNvSpPr/>
          <p:nvPr/>
        </p:nvSpPr>
        <p:spPr>
          <a:xfrm>
            <a:off x="-1645920" y="4206240"/>
            <a:ext cx="4206240" cy="4206240"/>
          </a:xfrm>
          <a:prstGeom prst="roundRect">
            <a:avLst>
              <a:gd name="adj" fmla="val 50000"/>
            </a:avLst>
          </a:prstGeom>
          <a:solidFill>
            <a:srgbClr val="16385C"/>
          </a:solidFill>
          <a:ln/>
        </p:spPr>
      </p:sp>
      <p:sp>
        <p:nvSpPr>
          <p:cNvPr id="4" name="Text 2"/>
          <p:cNvSpPr/>
          <p:nvPr/>
        </p:nvSpPr>
        <p:spPr>
          <a:xfrm>
            <a:off x="822960" y="1234440"/>
            <a:ext cx="9144000" cy="365760"/>
          </a:xfrm>
          <a:prstGeom prst="rect">
            <a:avLst/>
          </a:prstGeom>
          <a:noFill/>
          <a:ln/>
        </p:spPr>
        <p:txBody>
          <a:bodyPr wrap="square" lIns="0" tIns="0" rIns="0" bIns="0" rtlCol="0" anchor="ctr"/>
          <a:lstStyle/>
          <a:p>
            <a:pPr marL="0" indent="0">
              <a:buNone/>
            </a:pPr>
            <a:r>
              <a:rPr lang="en-US" sz="1400" b="1" kern="0" spc="300" dirty="0">
                <a:solidFill>
                  <a:srgbClr val="23B5A6"/>
                </a:solidFill>
                <a:latin typeface="Calibri" pitchFamily="34" charset="0"/>
                <a:ea typeface="Calibri" pitchFamily="34" charset="-122"/>
                <a:cs typeface="Calibri" pitchFamily="34" charset="-120"/>
              </a:rPr>
              <a:t>PHẦN RIÊNG · CHƯƠNG 4</a:t>
            </a:r>
            <a:endParaRPr lang="en-US" sz="1400" dirty="0"/>
          </a:p>
        </p:txBody>
      </p:sp>
      <p:sp>
        <p:nvSpPr>
          <p:cNvPr id="5" name="Text 3"/>
          <p:cNvSpPr/>
          <p:nvPr/>
        </p:nvSpPr>
        <p:spPr>
          <a:xfrm>
            <a:off x="777240" y="1691640"/>
            <a:ext cx="1051560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Phân hệ Quản lý tài sản</a:t>
            </a:r>
            <a:endParaRPr lang="en-US" sz="4600" dirty="0"/>
          </a:p>
        </p:txBody>
      </p:sp>
      <p:sp>
        <p:nvSpPr>
          <p:cNvPr id="6" name="Text 4"/>
          <p:cNvSpPr/>
          <p:nvPr/>
        </p:nvSpPr>
        <p:spPr>
          <a:xfrm>
            <a:off x="822960" y="2697480"/>
            <a:ext cx="10058400" cy="365760"/>
          </a:xfrm>
          <a:prstGeom prst="rect">
            <a:avLst/>
          </a:prstGeom>
          <a:noFill/>
          <a:ln/>
        </p:spPr>
        <p:txBody>
          <a:bodyPr wrap="square" lIns="0" tIns="0" rIns="0" bIns="0" rtlCol="0" anchor="ctr"/>
          <a:lstStyle/>
          <a:p>
            <a:pPr marL="0" indent="0">
              <a:buNone/>
            </a:pPr>
            <a:r>
              <a:rPr lang="en-US" sz="1500" i="1" dirty="0">
                <a:solidFill>
                  <a:srgbClr val="BFD6DF"/>
                </a:solidFill>
                <a:latin typeface="Calibri" pitchFamily="34" charset="0"/>
                <a:ea typeface="Calibri" pitchFamily="34" charset="-122"/>
                <a:cs typeface="Calibri" pitchFamily="34" charset="-120"/>
              </a:rPr>
              <a:t>Đóng góp cá nhân — Nguyễn Xuân Thưởng · thuộc module Asset, kế thừa Base</a:t>
            </a:r>
            <a:endParaRPr lang="en-US" sz="1500" dirty="0"/>
          </a:p>
        </p:txBody>
      </p:sp>
      <p:sp>
        <p:nvSpPr>
          <p:cNvPr id="7" name="Shape 5"/>
          <p:cNvSpPr/>
          <p:nvPr/>
        </p:nvSpPr>
        <p:spPr>
          <a:xfrm>
            <a:off x="566928" y="3611880"/>
            <a:ext cx="3566160" cy="2331720"/>
          </a:xfrm>
          <a:prstGeom prst="roundRect">
            <a:avLst>
              <a:gd name="adj" fmla="val 4706"/>
            </a:avLst>
          </a:prstGeom>
          <a:solidFill>
            <a:srgbClr val="16385C"/>
          </a:solidFill>
          <a:ln/>
        </p:spPr>
      </p:sp>
      <p:sp>
        <p:nvSpPr>
          <p:cNvPr id="8" name="Shape 6"/>
          <p:cNvSpPr/>
          <p:nvPr/>
        </p:nvSpPr>
        <p:spPr>
          <a:xfrm>
            <a:off x="841248" y="3886200"/>
            <a:ext cx="777240" cy="777240"/>
          </a:xfrm>
          <a:prstGeom prst="roundRect">
            <a:avLst>
              <a:gd name="adj" fmla="val 50000"/>
            </a:avLst>
          </a:prstGeom>
          <a:solidFill>
            <a:srgbClr val="0E7C86"/>
          </a:solidFill>
          <a:ln/>
        </p:spPr>
      </p:sp>
      <p:pic>
        <p:nvPicPr>
          <p:cNvPr id="9" name="Image 0" descr="preencoded.png"/>
          <p:cNvPicPr>
            <a:picLocks noChangeAspect="1"/>
          </p:cNvPicPr>
          <p:nvPr/>
        </p:nvPicPr>
        <p:blipFill>
          <a:blip r:embed="rId3"/>
          <a:stretch>
            <a:fillRect/>
          </a:stretch>
        </p:blipFill>
        <p:spPr>
          <a:xfrm>
            <a:off x="1027786" y="4072738"/>
            <a:ext cx="404165" cy="404165"/>
          </a:xfrm>
          <a:prstGeom prst="rect">
            <a:avLst/>
          </a:prstGeom>
        </p:spPr>
      </p:pic>
      <p:sp>
        <p:nvSpPr>
          <p:cNvPr id="10" name="Text 7"/>
          <p:cNvSpPr/>
          <p:nvPr/>
        </p:nvSpPr>
        <p:spPr>
          <a:xfrm>
            <a:off x="175564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Nghiệp vụ 1</a:t>
            </a:r>
            <a:endParaRPr lang="en-US" sz="1100" dirty="0"/>
          </a:p>
        </p:txBody>
      </p:sp>
      <p:sp>
        <p:nvSpPr>
          <p:cNvPr id="11" name="Text 8"/>
          <p:cNvSpPr/>
          <p:nvPr/>
        </p:nvSpPr>
        <p:spPr>
          <a:xfrm>
            <a:off x="175564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Tài sản &amp; bảo trì</a:t>
            </a:r>
            <a:endParaRPr lang="en-US" sz="1550" dirty="0"/>
          </a:p>
        </p:txBody>
      </p:sp>
      <p:sp>
        <p:nvSpPr>
          <p:cNvPr id="12" name="Text 9"/>
          <p:cNvSpPr/>
          <p:nvPr/>
        </p:nvSpPr>
        <p:spPr>
          <a:xfrm>
            <a:off x="84124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Vòng đời · khấu hao · QR · điều chuyển · bảo trì · thanh lý · kế toán</a:t>
            </a:r>
            <a:endParaRPr lang="en-US" sz="1200" dirty="0"/>
          </a:p>
        </p:txBody>
      </p:sp>
      <p:sp>
        <p:nvSpPr>
          <p:cNvPr id="13" name="Shape 10"/>
          <p:cNvSpPr/>
          <p:nvPr/>
        </p:nvSpPr>
        <p:spPr>
          <a:xfrm>
            <a:off x="4315968" y="3611880"/>
            <a:ext cx="3566160" cy="2331720"/>
          </a:xfrm>
          <a:prstGeom prst="roundRect">
            <a:avLst>
              <a:gd name="adj" fmla="val 4706"/>
            </a:avLst>
          </a:prstGeom>
          <a:solidFill>
            <a:srgbClr val="16385C"/>
          </a:solidFill>
          <a:ln/>
        </p:spPr>
      </p:sp>
      <p:sp>
        <p:nvSpPr>
          <p:cNvPr id="14" name="Shape 11"/>
          <p:cNvSpPr/>
          <p:nvPr/>
        </p:nvSpPr>
        <p:spPr>
          <a:xfrm>
            <a:off x="4590288" y="3886200"/>
            <a:ext cx="777240" cy="777240"/>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4776826" y="4072738"/>
            <a:ext cx="404165" cy="404165"/>
          </a:xfrm>
          <a:prstGeom prst="rect">
            <a:avLst/>
          </a:prstGeom>
        </p:spPr>
      </p:pic>
      <p:sp>
        <p:nvSpPr>
          <p:cNvPr id="16" name="Text 12"/>
          <p:cNvSpPr/>
          <p:nvPr/>
        </p:nvSpPr>
        <p:spPr>
          <a:xfrm>
            <a:off x="550468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Nghiệp vụ 2</a:t>
            </a:r>
            <a:endParaRPr lang="en-US" sz="1100" dirty="0"/>
          </a:p>
        </p:txBody>
      </p:sp>
      <p:sp>
        <p:nvSpPr>
          <p:cNvPr id="17" name="Text 13"/>
          <p:cNvSpPr/>
          <p:nvPr/>
        </p:nvSpPr>
        <p:spPr>
          <a:xfrm>
            <a:off x="550468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Kho – Mua sắm – NCC</a:t>
            </a:r>
            <a:endParaRPr lang="en-US" sz="1550" dirty="0"/>
          </a:p>
        </p:txBody>
      </p:sp>
      <p:sp>
        <p:nvSpPr>
          <p:cNvPr id="18" name="Text 14"/>
          <p:cNvSpPr/>
          <p:nvPr/>
        </p:nvSpPr>
        <p:spPr>
          <a:xfrm>
            <a:off x="459028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Tồn kho · PR→PO→hóa đơn · OCR hóa đơn · nhà cung cấp</a:t>
            </a:r>
            <a:endParaRPr lang="en-US" sz="1200" dirty="0"/>
          </a:p>
        </p:txBody>
      </p:sp>
      <p:sp>
        <p:nvSpPr>
          <p:cNvPr id="19" name="Shape 15"/>
          <p:cNvSpPr/>
          <p:nvPr/>
        </p:nvSpPr>
        <p:spPr>
          <a:xfrm>
            <a:off x="8065008" y="3611880"/>
            <a:ext cx="3566160" cy="2331720"/>
          </a:xfrm>
          <a:prstGeom prst="roundRect">
            <a:avLst>
              <a:gd name="adj" fmla="val 4706"/>
            </a:avLst>
          </a:prstGeom>
          <a:solidFill>
            <a:srgbClr val="16385C"/>
          </a:solidFill>
          <a:ln/>
        </p:spPr>
      </p:sp>
      <p:sp>
        <p:nvSpPr>
          <p:cNvPr id="20" name="Shape 16"/>
          <p:cNvSpPr/>
          <p:nvPr/>
        </p:nvSpPr>
        <p:spPr>
          <a:xfrm>
            <a:off x="8339328" y="3886200"/>
            <a:ext cx="777240" cy="777240"/>
          </a:xfrm>
          <a:prstGeom prst="roundRect">
            <a:avLst>
              <a:gd name="adj" fmla="val 50000"/>
            </a:avLst>
          </a:prstGeom>
          <a:solidFill>
            <a:srgbClr val="EFA13C"/>
          </a:solidFill>
          <a:ln/>
        </p:spPr>
      </p:sp>
      <p:pic>
        <p:nvPicPr>
          <p:cNvPr id="21" name="Image 2" descr="preencoded.png"/>
          <p:cNvPicPr>
            <a:picLocks noChangeAspect="1"/>
          </p:cNvPicPr>
          <p:nvPr/>
        </p:nvPicPr>
        <p:blipFill>
          <a:blip r:embed="rId5"/>
          <a:stretch>
            <a:fillRect/>
          </a:stretch>
        </p:blipFill>
        <p:spPr>
          <a:xfrm>
            <a:off x="8525866" y="4072738"/>
            <a:ext cx="404165" cy="404165"/>
          </a:xfrm>
          <a:prstGeom prst="rect">
            <a:avLst/>
          </a:prstGeom>
        </p:spPr>
      </p:pic>
      <p:sp>
        <p:nvSpPr>
          <p:cNvPr id="22" name="Text 17"/>
          <p:cNvSpPr/>
          <p:nvPr/>
        </p:nvSpPr>
        <p:spPr>
          <a:xfrm>
            <a:off x="925372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Nghiệp vụ 3</a:t>
            </a:r>
            <a:endParaRPr lang="en-US" sz="1100" dirty="0"/>
          </a:p>
        </p:txBody>
      </p:sp>
      <p:sp>
        <p:nvSpPr>
          <p:cNvPr id="23" name="Text 18"/>
          <p:cNvSpPr/>
          <p:nvPr/>
        </p:nvSpPr>
        <p:spPr>
          <a:xfrm>
            <a:off x="925372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Sự cố &amp; SLA</a:t>
            </a:r>
            <a:endParaRPr lang="en-US" sz="1550" dirty="0"/>
          </a:p>
        </p:txBody>
      </p:sp>
      <p:sp>
        <p:nvSpPr>
          <p:cNvPr id="24" name="Text 19"/>
          <p:cNvSpPr/>
          <p:nvPr/>
        </p:nvSpPr>
        <p:spPr>
          <a:xfrm>
            <a:off x="833932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Vòng đời ticket · cấu hình SLA · leo thang tự động · đánh giá</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1 · TÀI SẢN &amp; BẢO TRÌ</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Quản lý trọn vòng đời tài sản</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16</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828800"/>
            <a:ext cx="1965960" cy="868680"/>
          </a:xfrm>
          <a:prstGeom prst="roundRect">
            <a:avLst>
              <a:gd name="adj" fmla="val 10526"/>
            </a:avLst>
          </a:prstGeom>
          <a:solidFill>
            <a:srgbClr val="0E2A47"/>
          </a:solidFill>
          <a:ln/>
        </p:spPr>
      </p:sp>
      <p:sp>
        <p:nvSpPr>
          <p:cNvPr id="9" name="Text 7"/>
          <p:cNvSpPr/>
          <p:nvPr/>
        </p:nvSpPr>
        <p:spPr>
          <a:xfrm>
            <a:off x="612648" y="1828800"/>
            <a:ext cx="1874520" cy="868680"/>
          </a:xfrm>
          <a:prstGeom prst="rect">
            <a:avLst/>
          </a:prstGeom>
          <a:noFill/>
          <a:ln/>
        </p:spPr>
        <p:txBody>
          <a:bodyPr wrap="square" lIns="0" tIns="0" rIns="0" bIns="0" rtlCol="0" anchor="ctr"/>
          <a:lstStyle/>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Ghi tăng</a:t>
            </a:r>
            <a:endParaRPr lang="en-US" sz="1250" dirty="0"/>
          </a:p>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(mua sắm)</a:t>
            </a:r>
            <a:endParaRPr lang="en-US" sz="1250" dirty="0"/>
          </a:p>
        </p:txBody>
      </p:sp>
      <p:sp>
        <p:nvSpPr>
          <p:cNvPr id="10" name="Shape 8"/>
          <p:cNvSpPr/>
          <p:nvPr/>
        </p:nvSpPr>
        <p:spPr>
          <a:xfrm>
            <a:off x="2560320" y="2130552"/>
            <a:ext cx="201168" cy="256032"/>
          </a:xfrm>
          <a:prstGeom prst="rightArrow">
            <a:avLst/>
          </a:prstGeom>
          <a:solidFill>
            <a:srgbClr val="23B5A6"/>
          </a:solidFill>
          <a:ln/>
        </p:spPr>
      </p:sp>
      <p:sp>
        <p:nvSpPr>
          <p:cNvPr id="11" name="Shape 9"/>
          <p:cNvSpPr/>
          <p:nvPr/>
        </p:nvSpPr>
        <p:spPr>
          <a:xfrm>
            <a:off x="2788920" y="1828800"/>
            <a:ext cx="1965960" cy="868680"/>
          </a:xfrm>
          <a:prstGeom prst="roundRect">
            <a:avLst>
              <a:gd name="adj" fmla="val 10526"/>
            </a:avLst>
          </a:prstGeom>
          <a:solidFill>
            <a:srgbClr val="0E2A47"/>
          </a:solidFill>
          <a:ln/>
        </p:spPr>
      </p:sp>
      <p:sp>
        <p:nvSpPr>
          <p:cNvPr id="12" name="Text 10"/>
          <p:cNvSpPr/>
          <p:nvPr/>
        </p:nvSpPr>
        <p:spPr>
          <a:xfrm>
            <a:off x="2834640" y="1828800"/>
            <a:ext cx="1874520" cy="868680"/>
          </a:xfrm>
          <a:prstGeom prst="rect">
            <a:avLst/>
          </a:prstGeom>
          <a:noFill/>
          <a:ln/>
        </p:spPr>
        <p:txBody>
          <a:bodyPr wrap="square" lIns="0" tIns="0" rIns="0" bIns="0" rtlCol="0" anchor="ctr"/>
          <a:lstStyle/>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Cấp phát</a:t>
            </a:r>
            <a:endParaRPr lang="en-US" sz="1250" dirty="0"/>
          </a:p>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Điều chuyển</a:t>
            </a:r>
            <a:endParaRPr lang="en-US" sz="1250" dirty="0"/>
          </a:p>
        </p:txBody>
      </p:sp>
      <p:sp>
        <p:nvSpPr>
          <p:cNvPr id="13" name="Shape 11"/>
          <p:cNvSpPr/>
          <p:nvPr/>
        </p:nvSpPr>
        <p:spPr>
          <a:xfrm>
            <a:off x="4782312" y="2130552"/>
            <a:ext cx="201168" cy="256032"/>
          </a:xfrm>
          <a:prstGeom prst="rightArrow">
            <a:avLst/>
          </a:prstGeom>
          <a:solidFill>
            <a:srgbClr val="23B5A6"/>
          </a:solidFill>
          <a:ln/>
        </p:spPr>
      </p:sp>
      <p:sp>
        <p:nvSpPr>
          <p:cNvPr id="14" name="Shape 12"/>
          <p:cNvSpPr/>
          <p:nvPr/>
        </p:nvSpPr>
        <p:spPr>
          <a:xfrm>
            <a:off x="5010912" y="1828800"/>
            <a:ext cx="1965960" cy="868680"/>
          </a:xfrm>
          <a:prstGeom prst="roundRect">
            <a:avLst>
              <a:gd name="adj" fmla="val 10526"/>
            </a:avLst>
          </a:prstGeom>
          <a:solidFill>
            <a:srgbClr val="0E2A47"/>
          </a:solidFill>
          <a:ln/>
        </p:spPr>
      </p:sp>
      <p:sp>
        <p:nvSpPr>
          <p:cNvPr id="15" name="Text 13"/>
          <p:cNvSpPr/>
          <p:nvPr/>
        </p:nvSpPr>
        <p:spPr>
          <a:xfrm>
            <a:off x="5056632" y="1828800"/>
            <a:ext cx="1874520" cy="868680"/>
          </a:xfrm>
          <a:prstGeom prst="rect">
            <a:avLst/>
          </a:prstGeom>
          <a:noFill/>
          <a:ln/>
        </p:spPr>
        <p:txBody>
          <a:bodyPr wrap="square" lIns="0" tIns="0" rIns="0" bIns="0" rtlCol="0" anchor="ctr"/>
          <a:lstStyle/>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Khấu hao</a:t>
            </a:r>
            <a:endParaRPr lang="en-US" sz="1250" dirty="0"/>
          </a:p>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định kỳ</a:t>
            </a:r>
            <a:endParaRPr lang="en-US" sz="1250" dirty="0"/>
          </a:p>
        </p:txBody>
      </p:sp>
      <p:sp>
        <p:nvSpPr>
          <p:cNvPr id="16" name="Shape 14"/>
          <p:cNvSpPr/>
          <p:nvPr/>
        </p:nvSpPr>
        <p:spPr>
          <a:xfrm>
            <a:off x="7004304" y="2130552"/>
            <a:ext cx="201168" cy="256032"/>
          </a:xfrm>
          <a:prstGeom prst="rightArrow">
            <a:avLst/>
          </a:prstGeom>
          <a:solidFill>
            <a:srgbClr val="23B5A6"/>
          </a:solidFill>
          <a:ln/>
        </p:spPr>
      </p:sp>
      <p:sp>
        <p:nvSpPr>
          <p:cNvPr id="17" name="Shape 15"/>
          <p:cNvSpPr/>
          <p:nvPr/>
        </p:nvSpPr>
        <p:spPr>
          <a:xfrm>
            <a:off x="7232904" y="1828800"/>
            <a:ext cx="1965960" cy="868680"/>
          </a:xfrm>
          <a:prstGeom prst="roundRect">
            <a:avLst>
              <a:gd name="adj" fmla="val 10526"/>
            </a:avLst>
          </a:prstGeom>
          <a:solidFill>
            <a:srgbClr val="0E7C86"/>
          </a:solidFill>
          <a:ln/>
        </p:spPr>
      </p:sp>
      <p:sp>
        <p:nvSpPr>
          <p:cNvPr id="18" name="Text 16"/>
          <p:cNvSpPr/>
          <p:nvPr/>
        </p:nvSpPr>
        <p:spPr>
          <a:xfrm>
            <a:off x="7278624" y="1828800"/>
            <a:ext cx="1874520" cy="868680"/>
          </a:xfrm>
          <a:prstGeom prst="rect">
            <a:avLst/>
          </a:prstGeom>
          <a:noFill/>
          <a:ln/>
        </p:spPr>
        <p:txBody>
          <a:bodyPr wrap="square" lIns="0" tIns="0" rIns="0" bIns="0" rtlCol="0" anchor="ctr"/>
          <a:lstStyle/>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Bảo trì</a:t>
            </a:r>
            <a:endParaRPr lang="en-US" sz="1250" dirty="0"/>
          </a:p>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(PM/WO)</a:t>
            </a:r>
            <a:endParaRPr lang="en-US" sz="1250" dirty="0"/>
          </a:p>
        </p:txBody>
      </p:sp>
      <p:sp>
        <p:nvSpPr>
          <p:cNvPr id="19" name="Shape 17"/>
          <p:cNvSpPr/>
          <p:nvPr/>
        </p:nvSpPr>
        <p:spPr>
          <a:xfrm>
            <a:off x="9226296" y="2130552"/>
            <a:ext cx="201168" cy="256032"/>
          </a:xfrm>
          <a:prstGeom prst="rightArrow">
            <a:avLst/>
          </a:prstGeom>
          <a:solidFill>
            <a:srgbClr val="23B5A6"/>
          </a:solidFill>
          <a:ln/>
        </p:spPr>
      </p:sp>
      <p:sp>
        <p:nvSpPr>
          <p:cNvPr id="20" name="Shape 18"/>
          <p:cNvSpPr/>
          <p:nvPr/>
        </p:nvSpPr>
        <p:spPr>
          <a:xfrm>
            <a:off x="9454896" y="1828800"/>
            <a:ext cx="1965960" cy="868680"/>
          </a:xfrm>
          <a:prstGeom prst="roundRect">
            <a:avLst>
              <a:gd name="adj" fmla="val 10526"/>
            </a:avLst>
          </a:prstGeom>
          <a:solidFill>
            <a:srgbClr val="0E2A47"/>
          </a:solidFill>
          <a:ln/>
        </p:spPr>
      </p:sp>
      <p:sp>
        <p:nvSpPr>
          <p:cNvPr id="21" name="Text 19"/>
          <p:cNvSpPr/>
          <p:nvPr/>
        </p:nvSpPr>
        <p:spPr>
          <a:xfrm>
            <a:off x="9500616" y="1828800"/>
            <a:ext cx="1874520" cy="868680"/>
          </a:xfrm>
          <a:prstGeom prst="rect">
            <a:avLst/>
          </a:prstGeom>
          <a:noFill/>
          <a:ln/>
        </p:spPr>
        <p:txBody>
          <a:bodyPr wrap="square" lIns="0" tIns="0" rIns="0" bIns="0" rtlCol="0" anchor="ctr"/>
          <a:lstStyle/>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Thanh lý</a:t>
            </a:r>
            <a:endParaRPr lang="en-US" sz="1250" dirty="0"/>
          </a:p>
          <a:p>
            <a:pPr marL="0" indent="0" algn="ctr">
              <a:lnSpc>
                <a:spcPct val="95000"/>
              </a:lnSpc>
              <a:buNone/>
            </a:pPr>
            <a:r>
              <a:rPr lang="en-US" sz="1250" b="1" dirty="0">
                <a:solidFill>
                  <a:srgbClr val="FFFFFF"/>
                </a:solidFill>
                <a:latin typeface="Calibri" pitchFamily="34" charset="0"/>
                <a:ea typeface="Calibri" pitchFamily="34" charset="-122"/>
                <a:cs typeface="Calibri" pitchFamily="34" charset="-120"/>
              </a:rPr>
              <a:t>(lãi/lỗ)</a:t>
            </a:r>
            <a:endParaRPr lang="en-US" sz="1250" dirty="0"/>
          </a:p>
        </p:txBody>
      </p:sp>
      <p:sp>
        <p:nvSpPr>
          <p:cNvPr id="22" name="Text 20"/>
          <p:cNvSpPr/>
          <p:nvPr/>
        </p:nvSpPr>
        <p:spPr>
          <a:xfrm>
            <a:off x="566928" y="2788920"/>
            <a:ext cx="11064240" cy="292608"/>
          </a:xfrm>
          <a:prstGeom prst="rect">
            <a:avLst/>
          </a:prstGeom>
          <a:noFill/>
          <a:ln/>
        </p:spPr>
        <p:txBody>
          <a:bodyPr wrap="square" lIns="0" tIns="0" rIns="0" bIns="0" rtlCol="0" anchor="ctr"/>
          <a:lstStyle/>
          <a:p>
            <a:pPr marL="0" indent="0" algn="ctr">
              <a:buNone/>
            </a:pPr>
            <a:r>
              <a:rPr lang="en-US" sz="1200" b="1" i="1" dirty="0">
                <a:solidFill>
                  <a:srgbClr val="0E7C86"/>
                </a:solidFill>
                <a:latin typeface="Calibri" pitchFamily="34" charset="0"/>
                <a:ea typeface="Calibri" pitchFamily="34" charset="-122"/>
                <a:cs typeface="Calibri" pitchFamily="34" charset="-120"/>
              </a:rPr>
              <a:t>Mỗi biến động đều sinh chứng từ kế toán kèm định khoản Nợ / Có</a:t>
            </a:r>
            <a:endParaRPr lang="en-US" sz="1200" dirty="0"/>
          </a:p>
        </p:txBody>
      </p:sp>
      <p:sp>
        <p:nvSpPr>
          <p:cNvPr id="23" name="Shape 21"/>
          <p:cNvSpPr/>
          <p:nvPr/>
        </p:nvSpPr>
        <p:spPr>
          <a:xfrm>
            <a:off x="566928" y="3291840"/>
            <a:ext cx="5486400" cy="2788920"/>
          </a:xfrm>
          <a:prstGeom prst="roundRect">
            <a:avLst>
              <a:gd name="adj" fmla="val 3934"/>
            </a:avLst>
          </a:prstGeom>
          <a:solidFill>
            <a:srgbClr val="F1F5F8"/>
          </a:solidFill>
          <a:ln/>
          <a:effectLst>
            <a:outerShdw blurRad="88900" dist="25400" dir="5400000" algn="bl" rotWithShape="0">
              <a:srgbClr val="B9C7D1">
                <a:alpha val="40000"/>
              </a:srgbClr>
            </a:outerShdw>
          </a:effectLst>
        </p:spPr>
      </p:sp>
      <p:sp>
        <p:nvSpPr>
          <p:cNvPr id="24" name="Shape 22"/>
          <p:cNvSpPr/>
          <p:nvPr/>
        </p:nvSpPr>
        <p:spPr>
          <a:xfrm>
            <a:off x="822960" y="3520440"/>
            <a:ext cx="566928" cy="566928"/>
          </a:xfrm>
          <a:prstGeom prst="roundRect">
            <a:avLst>
              <a:gd name="adj" fmla="val 50000"/>
            </a:avLst>
          </a:prstGeom>
          <a:solidFill>
            <a:srgbClr val="EFA13C"/>
          </a:solidFill>
          <a:ln/>
        </p:spPr>
      </p:sp>
      <p:pic>
        <p:nvPicPr>
          <p:cNvPr id="25" name="Image 0" descr="preencoded.png"/>
          <p:cNvPicPr>
            <a:picLocks noChangeAspect="1"/>
          </p:cNvPicPr>
          <p:nvPr/>
        </p:nvPicPr>
        <p:blipFill>
          <a:blip r:embed="rId3"/>
          <a:stretch>
            <a:fillRect/>
          </a:stretch>
        </p:blipFill>
        <p:spPr>
          <a:xfrm>
            <a:off x="959023" y="3656503"/>
            <a:ext cx="294803" cy="294803"/>
          </a:xfrm>
          <a:prstGeom prst="rect">
            <a:avLst/>
          </a:prstGeom>
        </p:spPr>
      </p:pic>
      <p:sp>
        <p:nvSpPr>
          <p:cNvPr id="26" name="Text 23"/>
          <p:cNvSpPr/>
          <p:nvPr/>
        </p:nvSpPr>
        <p:spPr>
          <a:xfrm>
            <a:off x="1508760" y="3566160"/>
            <a:ext cx="4297680" cy="41148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Khấu hao 3 phương pháp</a:t>
            </a:r>
            <a:endParaRPr lang="en-US" sz="1600" dirty="0"/>
          </a:p>
        </p:txBody>
      </p:sp>
      <p:sp>
        <p:nvSpPr>
          <p:cNvPr id="27" name="Text 24"/>
          <p:cNvSpPr/>
          <p:nvPr/>
        </p:nvSpPr>
        <p:spPr>
          <a:xfrm>
            <a:off x="822960" y="4206240"/>
            <a:ext cx="5029200" cy="1005840"/>
          </a:xfrm>
          <a:prstGeom prst="rect">
            <a:avLst/>
          </a:prstGeom>
          <a:noFill/>
          <a:ln/>
        </p:spPr>
        <p:txBody>
          <a:bodyPr wrap="square" lIns="0" tIns="0" rIns="0" bIns="0" rtlCol="0" anchor="t"/>
          <a:lstStyle/>
          <a:p>
            <a:pPr marL="177800" indent="-177800">
              <a:lnSpc>
                <a:spcPct val="102000"/>
              </a:lnSpc>
              <a:spcAft>
                <a:spcPts val="600"/>
              </a:spcAft>
              <a:buSzPct val="100000"/>
              <a:buChar char="•"/>
            </a:pPr>
            <a:r>
              <a:rPr lang="en-US" sz="1250" dirty="0">
                <a:solidFill>
                  <a:srgbClr val="22303C"/>
                </a:solidFill>
                <a:latin typeface="Calibri" pitchFamily="34" charset="0"/>
                <a:ea typeface="Calibri" pitchFamily="34" charset="-122"/>
                <a:cs typeface="Calibri" pitchFamily="34" charset="-120"/>
              </a:rPr>
              <a:t>Đường thẳng — nguyên giá / số tháng khấu hao</a:t>
            </a:r>
            <a:endParaRPr lang="en-US" sz="1250" dirty="0"/>
          </a:p>
          <a:p>
            <a:pPr marL="177800" indent="-177800">
              <a:lnSpc>
                <a:spcPct val="102000"/>
              </a:lnSpc>
              <a:spcAft>
                <a:spcPts val="600"/>
              </a:spcAft>
              <a:buSzPct val="100000"/>
              <a:buChar char="•"/>
            </a:pPr>
            <a:r>
              <a:rPr lang="en-US" sz="1250" dirty="0">
                <a:solidFill>
                  <a:srgbClr val="22303C"/>
                </a:solidFill>
                <a:latin typeface="Calibri" pitchFamily="34" charset="0"/>
                <a:ea typeface="Calibri" pitchFamily="34" charset="-122"/>
                <a:cs typeface="Calibri" pitchFamily="34" charset="-120"/>
              </a:rPr>
              <a:t>Số dư giảm dần — khấu hao nhanh giai đoạn đầu</a:t>
            </a:r>
            <a:endParaRPr lang="en-US" sz="1250" dirty="0"/>
          </a:p>
          <a:p>
            <a:pPr marL="177800" indent="-177800">
              <a:lnSpc>
                <a:spcPct val="102000"/>
              </a:lnSpc>
              <a:spcAft>
                <a:spcPts val="600"/>
              </a:spcAft>
              <a:buSzPct val="100000"/>
              <a:buChar char="•"/>
            </a:pPr>
            <a:r>
              <a:rPr lang="en-US" sz="1250" dirty="0">
                <a:solidFill>
                  <a:srgbClr val="22303C"/>
                </a:solidFill>
                <a:latin typeface="Calibri" pitchFamily="34" charset="0"/>
                <a:ea typeface="Calibri" pitchFamily="34" charset="-122"/>
                <a:cs typeface="Calibri" pitchFamily="34" charset="-120"/>
              </a:rPr>
              <a:t>Tổng số năm — phân bổ theo số năm còn lại</a:t>
            </a:r>
            <a:endParaRPr lang="en-US" sz="1250" dirty="0"/>
          </a:p>
        </p:txBody>
      </p:sp>
      <p:sp>
        <p:nvSpPr>
          <p:cNvPr id="28" name="Text 25"/>
          <p:cNvSpPr/>
          <p:nvPr/>
        </p:nvSpPr>
        <p:spPr>
          <a:xfrm>
            <a:off x="822960" y="5440680"/>
            <a:ext cx="5029200" cy="548640"/>
          </a:xfrm>
          <a:prstGeom prst="rect">
            <a:avLst/>
          </a:prstGeom>
          <a:noFill/>
          <a:ln/>
        </p:spPr>
        <p:txBody>
          <a:bodyPr wrap="square" lIns="0" tIns="0" rIns="0" bIns="0" rtlCol="0" anchor="t"/>
          <a:lstStyle/>
          <a:p>
            <a:pPr marL="0" indent="0">
              <a:buNone/>
            </a:pPr>
            <a:r>
              <a:rPr lang="en-US" sz="1250" b="1" dirty="0">
                <a:solidFill>
                  <a:srgbClr val="0E2A47"/>
                </a:solidFill>
                <a:latin typeface="Calibri" pitchFamily="34" charset="0"/>
                <a:ea typeface="Calibri" pitchFamily="34" charset="-122"/>
                <a:cs typeface="Calibri" pitchFamily="34" charset="-120"/>
              </a:rPr>
              <a:t>Mã QR tự sinh  </a:t>
            </a:r>
            <a:r>
              <a:rPr lang="en-US" sz="1250" dirty="0">
                <a:solidFill>
                  <a:srgbClr val="22303C"/>
                </a:solidFill>
                <a:latin typeface="Calibri" pitchFamily="34" charset="0"/>
                <a:ea typeface="Calibri" pitchFamily="34" charset="-122"/>
                <a:cs typeface="Calibri" pitchFamily="34" charset="-120"/>
              </a:rPr>
              <a:t>cho mỗi tài sản — quét bằng camera để check-in &amp; kiểm kê hiện trường.</a:t>
            </a:r>
            <a:endParaRPr lang="en-US" sz="1250" dirty="0"/>
          </a:p>
        </p:txBody>
      </p:sp>
      <p:sp>
        <p:nvSpPr>
          <p:cNvPr id="29" name="Shape 26"/>
          <p:cNvSpPr/>
          <p:nvPr/>
        </p:nvSpPr>
        <p:spPr>
          <a:xfrm>
            <a:off x="6254496" y="3291840"/>
            <a:ext cx="5376672" cy="2788920"/>
          </a:xfrm>
          <a:prstGeom prst="roundRect">
            <a:avLst>
              <a:gd name="adj" fmla="val 3279"/>
            </a:avLst>
          </a:prstGeom>
          <a:solidFill>
            <a:srgbClr val="FFFFFF"/>
          </a:solidFill>
          <a:ln/>
          <a:effectLst>
            <a:outerShdw blurRad="88900" dist="25400" dir="5400000" algn="bl" rotWithShape="0">
              <a:srgbClr val="B9C7D1">
                <a:alpha val="40000"/>
              </a:srgbClr>
            </a:outerShdw>
          </a:effectLst>
        </p:spPr>
      </p:sp>
      <p:pic>
        <p:nvPicPr>
          <p:cNvPr id="30" name="Image 1" descr="D:/DATN/TownHub/latex/images/img17.png"/>
          <p:cNvPicPr>
            <a:picLocks noChangeAspect="1"/>
          </p:cNvPicPr>
          <p:nvPr/>
        </p:nvPicPr>
        <p:blipFill>
          <a:blip r:embed="rId4"/>
          <a:srcRect/>
          <a:stretch/>
        </p:blipFill>
        <p:spPr>
          <a:xfrm>
            <a:off x="6336792" y="3374136"/>
            <a:ext cx="5212080" cy="2624328"/>
          </a:xfrm>
          <a:prstGeom prst="rect">
            <a:avLst/>
          </a:prstGeom>
        </p:spPr>
      </p:pic>
      <p:sp>
        <p:nvSpPr>
          <p:cNvPr id="31" name="Text 27"/>
          <p:cNvSpPr/>
          <p:nvPr/>
        </p:nvSpPr>
        <p:spPr>
          <a:xfrm>
            <a:off x="6254496" y="6108192"/>
            <a:ext cx="5376672"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Giao diện Danh sách tài sản (dữ liệu thật)</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TÀI SẢN · CƠ SỞ NGHIỆP VỤ</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Luồng nghiệp vụ kế thừa chuẩn nào?</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17</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Text 6"/>
          <p:cNvSpPr/>
          <p:nvPr/>
        </p:nvSpPr>
        <p:spPr>
          <a:xfrm>
            <a:off x="566928" y="1572768"/>
            <a:ext cx="11064240" cy="365760"/>
          </a:xfrm>
          <a:prstGeom prst="rect">
            <a:avLst/>
          </a:prstGeom>
          <a:noFill/>
          <a:ln/>
        </p:spPr>
        <p:txBody>
          <a:bodyPr wrap="square" lIns="0" tIns="0" rIns="0" bIns="0" rtlCol="0" anchor="ctr"/>
          <a:lstStyle/>
          <a:p>
            <a:pPr marL="0" indent="0">
              <a:buNone/>
            </a:pPr>
            <a:r>
              <a:rPr lang="en-US" sz="1300" b="1" dirty="0">
                <a:solidFill>
                  <a:srgbClr val="0E2A47"/>
                </a:solidFill>
                <a:latin typeface="Calibri" pitchFamily="34" charset="0"/>
                <a:ea typeface="Calibri" pitchFamily="34" charset="-122"/>
                <a:cs typeface="Calibri" pitchFamily="34" charset="-120"/>
              </a:rPr>
              <a:t>Không “phát minh lại bánh xe”: </a:t>
            </a:r>
            <a:r>
              <a:rPr lang="en-US" sz="1300" dirty="0">
                <a:solidFill>
                  <a:srgbClr val="22303C"/>
                </a:solidFill>
                <a:latin typeface="Calibri" pitchFamily="34" charset="0"/>
                <a:ea typeface="Calibri" pitchFamily="34" charset="-122"/>
                <a:cs typeface="Calibri" pitchFamily="34" charset="-120"/>
              </a:rPr>
              <a:t>kế thừa mô hình quy trình đã chuẩn hóa &amp; kiểm chứng (Odoo ERP, ITIL/ITSM), rồi tùy biến cho vận hành tòa nhà Việt Nam.</a:t>
            </a:r>
            <a:endParaRPr lang="en-US" sz="1300" dirty="0"/>
          </a:p>
        </p:txBody>
      </p:sp>
      <p:sp>
        <p:nvSpPr>
          <p:cNvPr id="9" name="Shape 7"/>
          <p:cNvSpPr/>
          <p:nvPr/>
        </p:nvSpPr>
        <p:spPr>
          <a:xfrm>
            <a:off x="566928" y="2057400"/>
            <a:ext cx="1417320" cy="457200"/>
          </a:xfrm>
          <a:prstGeom prst="rect">
            <a:avLst/>
          </a:prstGeom>
          <a:solidFill>
            <a:srgbClr val="0E2A47"/>
          </a:solidFill>
          <a:ln w="15240">
            <a:solidFill>
              <a:srgbClr val="FFFFFF"/>
            </a:solidFill>
            <a:prstDash val="solid"/>
          </a:ln>
        </p:spPr>
      </p:sp>
      <p:sp>
        <p:nvSpPr>
          <p:cNvPr id="10" name="Text 8"/>
          <p:cNvSpPr/>
          <p:nvPr/>
        </p:nvSpPr>
        <p:spPr>
          <a:xfrm>
            <a:off x="676656" y="2057400"/>
            <a:ext cx="1234440" cy="457200"/>
          </a:xfrm>
          <a:prstGeom prst="rect">
            <a:avLst/>
          </a:prstGeom>
          <a:noFill/>
          <a:ln/>
        </p:spPr>
        <p:txBody>
          <a:bodyPr wrap="square" lIns="0" tIns="0" rIns="0" bIns="0" rtlCol="0" anchor="ctr"/>
          <a:lstStyle/>
          <a:p>
            <a:pPr marL="0" indent="0" algn="l">
              <a:lnSpc>
                <a:spcPct val="95000"/>
              </a:lnSpc>
              <a:buNone/>
            </a:pPr>
            <a:r>
              <a:rPr lang="en-US" sz="1200" b="1" dirty="0">
                <a:solidFill>
                  <a:srgbClr val="FFFFFF"/>
                </a:solidFill>
                <a:latin typeface="Calibri" pitchFamily="34" charset="0"/>
                <a:ea typeface="Calibri" pitchFamily="34" charset="-122"/>
                <a:cs typeface="Calibri" pitchFamily="34" charset="-120"/>
              </a:rPr>
              <a:t>Luồng</a:t>
            </a:r>
            <a:endParaRPr lang="en-US" sz="1200" dirty="0"/>
          </a:p>
        </p:txBody>
      </p:sp>
      <p:sp>
        <p:nvSpPr>
          <p:cNvPr id="11" name="Shape 9"/>
          <p:cNvSpPr/>
          <p:nvPr/>
        </p:nvSpPr>
        <p:spPr>
          <a:xfrm>
            <a:off x="1984248" y="2057400"/>
            <a:ext cx="2148840" cy="457200"/>
          </a:xfrm>
          <a:prstGeom prst="rect">
            <a:avLst/>
          </a:prstGeom>
          <a:solidFill>
            <a:srgbClr val="0E2A47"/>
          </a:solidFill>
          <a:ln w="15240">
            <a:solidFill>
              <a:srgbClr val="FFFFFF"/>
            </a:solidFill>
            <a:prstDash val="solid"/>
          </a:ln>
        </p:spPr>
      </p:sp>
      <p:sp>
        <p:nvSpPr>
          <p:cNvPr id="12" name="Text 10"/>
          <p:cNvSpPr/>
          <p:nvPr/>
        </p:nvSpPr>
        <p:spPr>
          <a:xfrm>
            <a:off x="2093976" y="2057400"/>
            <a:ext cx="1965960" cy="457200"/>
          </a:xfrm>
          <a:prstGeom prst="rect">
            <a:avLst/>
          </a:prstGeom>
          <a:noFill/>
          <a:ln/>
        </p:spPr>
        <p:txBody>
          <a:bodyPr wrap="square" lIns="0" tIns="0" rIns="0" bIns="0" rtlCol="0" anchor="ctr"/>
          <a:lstStyle/>
          <a:p>
            <a:pPr marL="0" indent="0" algn="l">
              <a:lnSpc>
                <a:spcPct val="95000"/>
              </a:lnSpc>
              <a:buNone/>
            </a:pPr>
            <a:r>
              <a:rPr lang="en-US" sz="1200" b="1" dirty="0">
                <a:solidFill>
                  <a:srgbClr val="FFFFFF"/>
                </a:solidFill>
                <a:latin typeface="Calibri" pitchFamily="34" charset="0"/>
                <a:ea typeface="Calibri" pitchFamily="34" charset="-122"/>
                <a:cs typeface="Calibri" pitchFamily="34" charset="-120"/>
              </a:rPr>
              <a:t>Kế thừa từ chuẩn</a:t>
            </a:r>
            <a:endParaRPr lang="en-US" sz="1200" dirty="0"/>
          </a:p>
        </p:txBody>
      </p:sp>
      <p:sp>
        <p:nvSpPr>
          <p:cNvPr id="13" name="Shape 11"/>
          <p:cNvSpPr/>
          <p:nvPr/>
        </p:nvSpPr>
        <p:spPr>
          <a:xfrm>
            <a:off x="4133088" y="2057400"/>
            <a:ext cx="3200400" cy="457200"/>
          </a:xfrm>
          <a:prstGeom prst="rect">
            <a:avLst/>
          </a:prstGeom>
          <a:solidFill>
            <a:srgbClr val="0E2A47"/>
          </a:solidFill>
          <a:ln w="15240">
            <a:solidFill>
              <a:srgbClr val="FFFFFF"/>
            </a:solidFill>
            <a:prstDash val="solid"/>
          </a:ln>
        </p:spPr>
      </p:sp>
      <p:sp>
        <p:nvSpPr>
          <p:cNvPr id="14" name="Text 12"/>
          <p:cNvSpPr/>
          <p:nvPr/>
        </p:nvSpPr>
        <p:spPr>
          <a:xfrm>
            <a:off x="4242816" y="2057400"/>
            <a:ext cx="3017520" cy="457200"/>
          </a:xfrm>
          <a:prstGeom prst="rect">
            <a:avLst/>
          </a:prstGeom>
          <a:noFill/>
          <a:ln/>
        </p:spPr>
        <p:txBody>
          <a:bodyPr wrap="square" lIns="0" tIns="0" rIns="0" bIns="0" rtlCol="0" anchor="ctr"/>
          <a:lstStyle/>
          <a:p>
            <a:pPr marL="0" indent="0" algn="l">
              <a:lnSpc>
                <a:spcPct val="95000"/>
              </a:lnSpc>
              <a:buNone/>
            </a:pPr>
            <a:r>
              <a:rPr lang="en-US" sz="1200" b="1" dirty="0">
                <a:solidFill>
                  <a:srgbClr val="FFFFFF"/>
                </a:solidFill>
                <a:latin typeface="Calibri" pitchFamily="34" charset="0"/>
                <a:ea typeface="Calibri" pitchFamily="34" charset="-122"/>
                <a:cs typeface="Calibri" pitchFamily="34" charset="-120"/>
              </a:rPr>
              <a:t>TownHub bổ sung</a:t>
            </a:r>
            <a:endParaRPr lang="en-US" sz="1200" dirty="0"/>
          </a:p>
        </p:txBody>
      </p:sp>
      <p:sp>
        <p:nvSpPr>
          <p:cNvPr id="15" name="Shape 13"/>
          <p:cNvSpPr/>
          <p:nvPr/>
        </p:nvSpPr>
        <p:spPr>
          <a:xfrm>
            <a:off x="566928" y="2514600"/>
            <a:ext cx="1417320" cy="868680"/>
          </a:xfrm>
          <a:prstGeom prst="rect">
            <a:avLst/>
          </a:prstGeom>
          <a:solidFill>
            <a:srgbClr val="FFFFFF"/>
          </a:solidFill>
          <a:ln w="15240">
            <a:solidFill>
              <a:srgbClr val="FFFFFF"/>
            </a:solidFill>
            <a:prstDash val="solid"/>
          </a:ln>
        </p:spPr>
      </p:sp>
      <p:sp>
        <p:nvSpPr>
          <p:cNvPr id="16" name="Text 14"/>
          <p:cNvSpPr/>
          <p:nvPr/>
        </p:nvSpPr>
        <p:spPr>
          <a:xfrm>
            <a:off x="676656" y="2514600"/>
            <a:ext cx="123444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2A47"/>
                </a:solidFill>
                <a:latin typeface="Calibri" pitchFamily="34" charset="0"/>
                <a:ea typeface="Calibri" pitchFamily="34" charset="-122"/>
                <a:cs typeface="Calibri" pitchFamily="34" charset="-120"/>
              </a:rPr>
              <a:t>Mua sắm</a:t>
            </a:r>
            <a:endParaRPr lang="en-US" sz="1150" dirty="0"/>
          </a:p>
          <a:p>
            <a:pPr marL="0" indent="0" algn="l">
              <a:lnSpc>
                <a:spcPct val="95000"/>
              </a:lnSpc>
              <a:buNone/>
            </a:pPr>
            <a:r>
              <a:rPr lang="en-US" sz="1150" b="1" dirty="0">
                <a:solidFill>
                  <a:srgbClr val="0E2A47"/>
                </a:solidFill>
                <a:latin typeface="Calibri" pitchFamily="34" charset="0"/>
                <a:ea typeface="Calibri" pitchFamily="34" charset="-122"/>
                <a:cs typeface="Calibri" pitchFamily="34" charset="-120"/>
              </a:rPr>
              <a:t>PR→PO→HĐ</a:t>
            </a:r>
            <a:endParaRPr lang="en-US" sz="1150" dirty="0"/>
          </a:p>
        </p:txBody>
      </p:sp>
      <p:sp>
        <p:nvSpPr>
          <p:cNvPr id="17" name="Shape 15"/>
          <p:cNvSpPr/>
          <p:nvPr/>
        </p:nvSpPr>
        <p:spPr>
          <a:xfrm>
            <a:off x="1984248" y="2514600"/>
            <a:ext cx="2148840" cy="868680"/>
          </a:xfrm>
          <a:prstGeom prst="rect">
            <a:avLst/>
          </a:prstGeom>
          <a:solidFill>
            <a:srgbClr val="FFFFFF"/>
          </a:solidFill>
          <a:ln w="15240">
            <a:solidFill>
              <a:srgbClr val="FFFFFF"/>
            </a:solidFill>
            <a:prstDash val="solid"/>
          </a:ln>
        </p:spPr>
      </p:sp>
      <p:sp>
        <p:nvSpPr>
          <p:cNvPr id="18" name="Text 16"/>
          <p:cNvSpPr/>
          <p:nvPr/>
        </p:nvSpPr>
        <p:spPr>
          <a:xfrm>
            <a:off x="2093976" y="2514600"/>
            <a:ext cx="196596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Odoo Purchase</a:t>
            </a:r>
            <a:endParaRPr lang="en-US" sz="1150" dirty="0"/>
          </a:p>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(Procure-to-Pay)</a:t>
            </a:r>
            <a:endParaRPr lang="en-US" sz="1150" dirty="0"/>
          </a:p>
        </p:txBody>
      </p:sp>
      <p:sp>
        <p:nvSpPr>
          <p:cNvPr id="19" name="Shape 17"/>
          <p:cNvSpPr/>
          <p:nvPr/>
        </p:nvSpPr>
        <p:spPr>
          <a:xfrm>
            <a:off x="4133088" y="2514600"/>
            <a:ext cx="3200400" cy="868680"/>
          </a:xfrm>
          <a:prstGeom prst="rect">
            <a:avLst/>
          </a:prstGeom>
          <a:solidFill>
            <a:srgbClr val="FFFFFF"/>
          </a:solidFill>
          <a:ln w="15240">
            <a:solidFill>
              <a:srgbClr val="FFFFFF"/>
            </a:solidFill>
            <a:prstDash val="solid"/>
          </a:ln>
        </p:spPr>
      </p:sp>
      <p:sp>
        <p:nvSpPr>
          <p:cNvPr id="20" name="Text 18"/>
          <p:cNvSpPr/>
          <p:nvPr/>
        </p:nvSpPr>
        <p:spPr>
          <a:xfrm>
            <a:off x="4242816" y="2514600"/>
            <a:ext cx="3017520" cy="868680"/>
          </a:xfrm>
          <a:prstGeom prst="rect">
            <a:avLst/>
          </a:prstGeom>
          <a:noFill/>
          <a:ln/>
        </p:spPr>
        <p:txBody>
          <a:bodyPr wrap="square" lIns="0" tIns="0" rIns="0" bIns="0" rtlCol="0" anchor="ctr"/>
          <a:lstStyle/>
          <a:p>
            <a:pPr marL="0" indent="0" algn="l">
              <a:lnSpc>
                <a:spcPct val="95000"/>
              </a:lnSpc>
              <a:buNone/>
            </a:pPr>
            <a:r>
              <a:rPr lang="en-US" sz="1100" dirty="0">
                <a:solidFill>
                  <a:srgbClr val="22303C"/>
                </a:solidFill>
                <a:latin typeface="Calibri" pitchFamily="34" charset="0"/>
                <a:ea typeface="Calibri" pitchFamily="34" charset="-122"/>
                <a:cs typeface="Calibri" pitchFamily="34" charset="-120"/>
              </a:rPr>
              <a:t>OCR hóa đơn VN + đối chiếu 3 chiều; HĐ → ghi tăng tài sản</a:t>
            </a:r>
            <a:endParaRPr lang="en-US" sz="1100" dirty="0"/>
          </a:p>
        </p:txBody>
      </p:sp>
      <p:sp>
        <p:nvSpPr>
          <p:cNvPr id="21" name="Shape 19"/>
          <p:cNvSpPr/>
          <p:nvPr/>
        </p:nvSpPr>
        <p:spPr>
          <a:xfrm>
            <a:off x="566928" y="3383280"/>
            <a:ext cx="1417320" cy="868680"/>
          </a:xfrm>
          <a:prstGeom prst="rect">
            <a:avLst/>
          </a:prstGeom>
          <a:solidFill>
            <a:srgbClr val="F1F5F8"/>
          </a:solidFill>
          <a:ln w="15240">
            <a:solidFill>
              <a:srgbClr val="FFFFFF"/>
            </a:solidFill>
            <a:prstDash val="solid"/>
          </a:ln>
        </p:spPr>
      </p:sp>
      <p:sp>
        <p:nvSpPr>
          <p:cNvPr id="22" name="Text 20"/>
          <p:cNvSpPr/>
          <p:nvPr/>
        </p:nvSpPr>
        <p:spPr>
          <a:xfrm>
            <a:off x="676656" y="3383280"/>
            <a:ext cx="123444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2A47"/>
                </a:solidFill>
                <a:latin typeface="Calibri" pitchFamily="34" charset="0"/>
                <a:ea typeface="Calibri" pitchFamily="34" charset="-122"/>
                <a:cs typeface="Calibri" pitchFamily="34" charset="-120"/>
              </a:rPr>
              <a:t>Bảo trì (WO)</a:t>
            </a:r>
            <a:endParaRPr lang="en-US" sz="1150" dirty="0"/>
          </a:p>
        </p:txBody>
      </p:sp>
      <p:sp>
        <p:nvSpPr>
          <p:cNvPr id="23" name="Shape 21"/>
          <p:cNvSpPr/>
          <p:nvPr/>
        </p:nvSpPr>
        <p:spPr>
          <a:xfrm>
            <a:off x="1984248" y="3383280"/>
            <a:ext cx="2148840" cy="868680"/>
          </a:xfrm>
          <a:prstGeom prst="rect">
            <a:avLst/>
          </a:prstGeom>
          <a:solidFill>
            <a:srgbClr val="F1F5F8"/>
          </a:solidFill>
          <a:ln w="15240">
            <a:solidFill>
              <a:srgbClr val="FFFFFF"/>
            </a:solidFill>
            <a:prstDash val="solid"/>
          </a:ln>
        </p:spPr>
      </p:sp>
      <p:sp>
        <p:nvSpPr>
          <p:cNvPr id="24" name="Text 22"/>
          <p:cNvSpPr/>
          <p:nvPr/>
        </p:nvSpPr>
        <p:spPr>
          <a:xfrm>
            <a:off x="2093976" y="3383280"/>
            <a:ext cx="196596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Odoo Maintenance</a:t>
            </a:r>
            <a:endParaRPr lang="en-US" sz="1150" dirty="0"/>
          </a:p>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(PM &amp; corrective)</a:t>
            </a:r>
            <a:endParaRPr lang="en-US" sz="1150" dirty="0"/>
          </a:p>
        </p:txBody>
      </p:sp>
      <p:sp>
        <p:nvSpPr>
          <p:cNvPr id="25" name="Shape 23"/>
          <p:cNvSpPr/>
          <p:nvPr/>
        </p:nvSpPr>
        <p:spPr>
          <a:xfrm>
            <a:off x="4133088" y="3383280"/>
            <a:ext cx="3200400" cy="868680"/>
          </a:xfrm>
          <a:prstGeom prst="rect">
            <a:avLst/>
          </a:prstGeom>
          <a:solidFill>
            <a:srgbClr val="F1F5F8"/>
          </a:solidFill>
          <a:ln w="15240">
            <a:solidFill>
              <a:srgbClr val="FFFFFF"/>
            </a:solidFill>
            <a:prstDash val="solid"/>
          </a:ln>
        </p:spPr>
      </p:sp>
      <p:sp>
        <p:nvSpPr>
          <p:cNvPr id="26" name="Text 24"/>
          <p:cNvSpPr/>
          <p:nvPr/>
        </p:nvSpPr>
        <p:spPr>
          <a:xfrm>
            <a:off x="4242816" y="3383280"/>
            <a:ext cx="3017520" cy="868680"/>
          </a:xfrm>
          <a:prstGeom prst="rect">
            <a:avLst/>
          </a:prstGeom>
          <a:noFill/>
          <a:ln/>
        </p:spPr>
        <p:txBody>
          <a:bodyPr wrap="square" lIns="0" tIns="0" rIns="0" bIns="0" rtlCol="0" anchor="ctr"/>
          <a:lstStyle/>
          <a:p>
            <a:pPr marL="0" indent="0" algn="l">
              <a:lnSpc>
                <a:spcPct val="95000"/>
              </a:lnSpc>
              <a:buNone/>
            </a:pPr>
            <a:r>
              <a:rPr lang="en-US" sz="1100" dirty="0">
                <a:solidFill>
                  <a:srgbClr val="22303C"/>
                </a:solidFill>
                <a:latin typeface="Calibri" pitchFamily="34" charset="0"/>
                <a:ea typeface="Calibri" pitchFamily="34" charset="-122"/>
                <a:cs typeface="Calibri" pitchFamily="34" charset="-120"/>
              </a:rPr>
              <a:t>Checklist + nghiệm thu, xuất kho, tự tạo PR khi thiếu vật tư</a:t>
            </a:r>
            <a:endParaRPr lang="en-US" sz="1100" dirty="0"/>
          </a:p>
        </p:txBody>
      </p:sp>
      <p:sp>
        <p:nvSpPr>
          <p:cNvPr id="27" name="Shape 25"/>
          <p:cNvSpPr/>
          <p:nvPr/>
        </p:nvSpPr>
        <p:spPr>
          <a:xfrm>
            <a:off x="566928" y="4251960"/>
            <a:ext cx="1417320" cy="868680"/>
          </a:xfrm>
          <a:prstGeom prst="rect">
            <a:avLst/>
          </a:prstGeom>
          <a:solidFill>
            <a:srgbClr val="FFFFFF"/>
          </a:solidFill>
          <a:ln w="15240">
            <a:solidFill>
              <a:srgbClr val="FFFFFF"/>
            </a:solidFill>
            <a:prstDash val="solid"/>
          </a:ln>
        </p:spPr>
      </p:sp>
      <p:sp>
        <p:nvSpPr>
          <p:cNvPr id="28" name="Text 26"/>
          <p:cNvSpPr/>
          <p:nvPr/>
        </p:nvSpPr>
        <p:spPr>
          <a:xfrm>
            <a:off x="676656" y="4251960"/>
            <a:ext cx="123444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2A47"/>
                </a:solidFill>
                <a:latin typeface="Calibri" pitchFamily="34" charset="0"/>
                <a:ea typeface="Calibri" pitchFamily="34" charset="-122"/>
                <a:cs typeface="Calibri" pitchFamily="34" charset="-120"/>
              </a:rPr>
              <a:t>Sự cố &amp; SLA</a:t>
            </a:r>
            <a:endParaRPr lang="en-US" sz="1150" dirty="0"/>
          </a:p>
        </p:txBody>
      </p:sp>
      <p:sp>
        <p:nvSpPr>
          <p:cNvPr id="29" name="Shape 27"/>
          <p:cNvSpPr/>
          <p:nvPr/>
        </p:nvSpPr>
        <p:spPr>
          <a:xfrm>
            <a:off x="1984248" y="4251960"/>
            <a:ext cx="2148840" cy="868680"/>
          </a:xfrm>
          <a:prstGeom prst="rect">
            <a:avLst/>
          </a:prstGeom>
          <a:solidFill>
            <a:srgbClr val="FFFFFF"/>
          </a:solidFill>
          <a:ln w="15240">
            <a:solidFill>
              <a:srgbClr val="FFFFFF"/>
            </a:solidFill>
            <a:prstDash val="solid"/>
          </a:ln>
        </p:spPr>
      </p:sp>
      <p:sp>
        <p:nvSpPr>
          <p:cNvPr id="30" name="Text 28"/>
          <p:cNvSpPr/>
          <p:nvPr/>
        </p:nvSpPr>
        <p:spPr>
          <a:xfrm>
            <a:off x="2093976" y="4251960"/>
            <a:ext cx="196596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ITIL Incident Mgmt</a:t>
            </a:r>
            <a:endParaRPr lang="en-US" sz="1150" dirty="0"/>
          </a:p>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(Atlassian ITSM)</a:t>
            </a:r>
            <a:endParaRPr lang="en-US" sz="1150" dirty="0"/>
          </a:p>
        </p:txBody>
      </p:sp>
      <p:sp>
        <p:nvSpPr>
          <p:cNvPr id="31" name="Shape 29"/>
          <p:cNvSpPr/>
          <p:nvPr/>
        </p:nvSpPr>
        <p:spPr>
          <a:xfrm>
            <a:off x="4133088" y="4251960"/>
            <a:ext cx="3200400" cy="868680"/>
          </a:xfrm>
          <a:prstGeom prst="rect">
            <a:avLst/>
          </a:prstGeom>
          <a:solidFill>
            <a:srgbClr val="FFFFFF"/>
          </a:solidFill>
          <a:ln w="15240">
            <a:solidFill>
              <a:srgbClr val="FFFFFF"/>
            </a:solidFill>
            <a:prstDash val="solid"/>
          </a:ln>
        </p:spPr>
      </p:sp>
      <p:sp>
        <p:nvSpPr>
          <p:cNvPr id="32" name="Text 30"/>
          <p:cNvSpPr/>
          <p:nvPr/>
        </p:nvSpPr>
        <p:spPr>
          <a:xfrm>
            <a:off x="4242816" y="4251960"/>
            <a:ext cx="3017520" cy="868680"/>
          </a:xfrm>
          <a:prstGeom prst="rect">
            <a:avLst/>
          </a:prstGeom>
          <a:noFill/>
          <a:ln/>
        </p:spPr>
        <p:txBody>
          <a:bodyPr wrap="square" lIns="0" tIns="0" rIns="0" bIns="0" rtlCol="0" anchor="ctr"/>
          <a:lstStyle/>
          <a:p>
            <a:pPr marL="0" indent="0" algn="l">
              <a:lnSpc>
                <a:spcPct val="95000"/>
              </a:lnSpc>
              <a:buNone/>
            </a:pPr>
            <a:r>
              <a:rPr lang="en-US" sz="1100" dirty="0">
                <a:solidFill>
                  <a:srgbClr val="22303C"/>
                </a:solidFill>
                <a:latin typeface="Calibri" pitchFamily="34" charset="0"/>
                <a:ea typeface="Calibri" pitchFamily="34" charset="-122"/>
                <a:cs typeface="Calibri" pitchFamily="34" charset="-120"/>
              </a:rPr>
              <a:t>Áp cho vận hành tòa nhà: leo thang tự động, ticket→PR, đánh giá</a:t>
            </a:r>
            <a:endParaRPr lang="en-US" sz="1100" dirty="0"/>
          </a:p>
        </p:txBody>
      </p:sp>
      <p:sp>
        <p:nvSpPr>
          <p:cNvPr id="33" name="Shape 31"/>
          <p:cNvSpPr/>
          <p:nvPr/>
        </p:nvSpPr>
        <p:spPr>
          <a:xfrm>
            <a:off x="566928" y="5120640"/>
            <a:ext cx="1417320" cy="868680"/>
          </a:xfrm>
          <a:prstGeom prst="rect">
            <a:avLst/>
          </a:prstGeom>
          <a:solidFill>
            <a:srgbClr val="F1F5F8"/>
          </a:solidFill>
          <a:ln w="15240">
            <a:solidFill>
              <a:srgbClr val="FFFFFF"/>
            </a:solidFill>
            <a:prstDash val="solid"/>
          </a:ln>
        </p:spPr>
      </p:sp>
      <p:sp>
        <p:nvSpPr>
          <p:cNvPr id="34" name="Text 32"/>
          <p:cNvSpPr/>
          <p:nvPr/>
        </p:nvSpPr>
        <p:spPr>
          <a:xfrm>
            <a:off x="676656" y="5120640"/>
            <a:ext cx="123444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2A47"/>
                </a:solidFill>
                <a:latin typeface="Calibri" pitchFamily="34" charset="0"/>
                <a:ea typeface="Calibri" pitchFamily="34" charset="-122"/>
                <a:cs typeface="Calibri" pitchFamily="34" charset="-120"/>
              </a:rPr>
              <a:t>Kiểm kê kho</a:t>
            </a:r>
            <a:endParaRPr lang="en-US" sz="1150" dirty="0"/>
          </a:p>
        </p:txBody>
      </p:sp>
      <p:sp>
        <p:nvSpPr>
          <p:cNvPr id="35" name="Shape 33"/>
          <p:cNvSpPr/>
          <p:nvPr/>
        </p:nvSpPr>
        <p:spPr>
          <a:xfrm>
            <a:off x="1984248" y="5120640"/>
            <a:ext cx="2148840" cy="868680"/>
          </a:xfrm>
          <a:prstGeom prst="rect">
            <a:avLst/>
          </a:prstGeom>
          <a:solidFill>
            <a:srgbClr val="F1F5F8"/>
          </a:solidFill>
          <a:ln w="15240">
            <a:solidFill>
              <a:srgbClr val="FFFFFF"/>
            </a:solidFill>
            <a:prstDash val="solid"/>
          </a:ln>
        </p:spPr>
      </p:sp>
      <p:sp>
        <p:nvSpPr>
          <p:cNvPr id="36" name="Text 34"/>
          <p:cNvSpPr/>
          <p:nvPr/>
        </p:nvSpPr>
        <p:spPr>
          <a:xfrm>
            <a:off x="2093976" y="5120640"/>
            <a:ext cx="1965960" cy="868680"/>
          </a:xfrm>
          <a:prstGeom prst="rect">
            <a:avLst/>
          </a:prstGeom>
          <a:noFill/>
          <a:ln/>
        </p:spPr>
        <p:txBody>
          <a:bodyPr wrap="square" lIns="0" tIns="0" rIns="0" bIns="0" rtlCol="0" anchor="ctr"/>
          <a:lstStyle/>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Odoo Inventory</a:t>
            </a:r>
            <a:endParaRPr lang="en-US" sz="1150" dirty="0"/>
          </a:p>
          <a:p>
            <a:pPr marL="0" indent="0" algn="l">
              <a:lnSpc>
                <a:spcPct val="95000"/>
              </a:lnSpc>
              <a:buNone/>
            </a:pPr>
            <a:r>
              <a:rPr lang="en-US" sz="1150" b="1" dirty="0">
                <a:solidFill>
                  <a:srgbClr val="0E7C86"/>
                </a:solidFill>
                <a:latin typeface="Calibri" pitchFamily="34" charset="0"/>
                <a:ea typeface="Calibri" pitchFamily="34" charset="-122"/>
                <a:cs typeface="Calibri" pitchFamily="34" charset="-120"/>
              </a:rPr>
              <a:t>(Cycle Count)</a:t>
            </a:r>
            <a:endParaRPr lang="en-US" sz="1150" dirty="0"/>
          </a:p>
        </p:txBody>
      </p:sp>
      <p:sp>
        <p:nvSpPr>
          <p:cNvPr id="37" name="Shape 35"/>
          <p:cNvSpPr/>
          <p:nvPr/>
        </p:nvSpPr>
        <p:spPr>
          <a:xfrm>
            <a:off x="4133088" y="5120640"/>
            <a:ext cx="3200400" cy="868680"/>
          </a:xfrm>
          <a:prstGeom prst="rect">
            <a:avLst/>
          </a:prstGeom>
          <a:solidFill>
            <a:srgbClr val="F1F5F8"/>
          </a:solidFill>
          <a:ln w="15240">
            <a:solidFill>
              <a:srgbClr val="FFFFFF"/>
            </a:solidFill>
            <a:prstDash val="solid"/>
          </a:ln>
        </p:spPr>
      </p:sp>
      <p:sp>
        <p:nvSpPr>
          <p:cNvPr id="38" name="Text 36"/>
          <p:cNvSpPr/>
          <p:nvPr/>
        </p:nvSpPr>
        <p:spPr>
          <a:xfrm>
            <a:off x="4242816" y="5120640"/>
            <a:ext cx="3017520" cy="868680"/>
          </a:xfrm>
          <a:prstGeom prst="rect">
            <a:avLst/>
          </a:prstGeom>
          <a:noFill/>
          <a:ln/>
        </p:spPr>
        <p:txBody>
          <a:bodyPr wrap="square" lIns="0" tIns="0" rIns="0" bIns="0" rtlCol="0" anchor="ctr"/>
          <a:lstStyle/>
          <a:p>
            <a:pPr marL="0" indent="0" algn="l">
              <a:lnSpc>
                <a:spcPct val="95000"/>
              </a:lnSpc>
              <a:buNone/>
            </a:pPr>
            <a:r>
              <a:rPr lang="en-US" sz="1100" dirty="0">
                <a:solidFill>
                  <a:srgbClr val="22303C"/>
                </a:solidFill>
                <a:latin typeface="Calibri" pitchFamily="34" charset="0"/>
                <a:ea typeface="Calibri" pitchFamily="34" charset="-122"/>
                <a:cs typeface="Calibri" pitchFamily="34" charset="-120"/>
              </a:rPr>
              <a:t>Phiếu có mã kỳ, chênh lệch SL &amp; giá trị, tự sinh điều chỉnh tồn</a:t>
            </a:r>
            <a:endParaRPr lang="en-US" sz="1100" dirty="0"/>
          </a:p>
        </p:txBody>
      </p:sp>
      <p:sp>
        <p:nvSpPr>
          <p:cNvPr id="39" name="Text 37"/>
          <p:cNvSpPr/>
          <p:nvPr/>
        </p:nvSpPr>
        <p:spPr>
          <a:xfrm>
            <a:off x="566928" y="6080760"/>
            <a:ext cx="6766560" cy="457200"/>
          </a:xfrm>
          <a:prstGeom prst="rect">
            <a:avLst/>
          </a:prstGeom>
          <a:noFill/>
          <a:ln/>
        </p:spPr>
        <p:txBody>
          <a:bodyPr wrap="square" lIns="0" tIns="0" rIns="0" bIns="0" rtlCol="0" anchor="t"/>
          <a:lstStyle/>
          <a:p>
            <a:pPr marL="0" indent="0">
              <a:buNone/>
            </a:pPr>
            <a:r>
              <a:rPr lang="en-US" sz="1000" i="1" dirty="0">
                <a:solidFill>
                  <a:srgbClr val="6B7A88"/>
                </a:solidFill>
                <a:latin typeface="Calibri" pitchFamily="34" charset="0"/>
                <a:ea typeface="Calibri" pitchFamily="34" charset="-122"/>
                <a:cs typeface="Calibri" pitchFamily="34" charset="-120"/>
              </a:rPr>
              <a:t>Nguồn tham chiếu: Odoo 18 Docs (Purchase, Maintenance, Inventory) · Atlassian ITSM Incident Management (truy cập 07/2026).</a:t>
            </a:r>
            <a:endParaRPr lang="en-US" sz="1000" dirty="0"/>
          </a:p>
        </p:txBody>
      </p:sp>
      <p:sp>
        <p:nvSpPr>
          <p:cNvPr id="40" name="Shape 38"/>
          <p:cNvSpPr/>
          <p:nvPr/>
        </p:nvSpPr>
        <p:spPr>
          <a:xfrm>
            <a:off x="7360920" y="2057400"/>
            <a:ext cx="4270248" cy="3520440"/>
          </a:xfrm>
          <a:prstGeom prst="roundRect">
            <a:avLst>
              <a:gd name="adj" fmla="val 2597"/>
            </a:avLst>
          </a:prstGeom>
          <a:solidFill>
            <a:srgbClr val="FFFFFF"/>
          </a:solidFill>
          <a:ln/>
          <a:effectLst>
            <a:outerShdw blurRad="88900" dist="25400" dir="5400000" algn="bl" rotWithShape="0">
              <a:srgbClr val="B9C7D1">
                <a:alpha val="40000"/>
              </a:srgbClr>
            </a:outerShdw>
          </a:effectLst>
        </p:spPr>
      </p:sp>
      <p:pic>
        <p:nvPicPr>
          <p:cNvPr id="41" name="Image 0" descr="D:/DATN/TownHub/latex/images/img21.png"/>
          <p:cNvPicPr>
            <a:picLocks noChangeAspect="1"/>
          </p:cNvPicPr>
          <p:nvPr/>
        </p:nvPicPr>
        <p:blipFill>
          <a:blip r:embed="rId3"/>
          <a:srcRect/>
          <a:stretch/>
        </p:blipFill>
        <p:spPr>
          <a:xfrm>
            <a:off x="7443216" y="2139696"/>
            <a:ext cx="4105656" cy="3355848"/>
          </a:xfrm>
          <a:prstGeom prst="rect">
            <a:avLst/>
          </a:prstGeom>
        </p:spPr>
      </p:pic>
      <p:sp>
        <p:nvSpPr>
          <p:cNvPr id="42" name="Text 39"/>
          <p:cNvSpPr/>
          <p:nvPr/>
        </p:nvSpPr>
        <p:spPr>
          <a:xfrm>
            <a:off x="7360920" y="5596128"/>
            <a:ext cx="4270248" cy="502920"/>
          </a:xfrm>
          <a:prstGeom prst="rect">
            <a:avLst/>
          </a:prstGeom>
          <a:noFill/>
          <a:ln/>
        </p:spPr>
        <p:txBody>
          <a:bodyPr wrap="square" lIns="0" tIns="0" rIns="0" bIns="0" rtlCol="0" anchor="t"/>
          <a:lstStyle/>
          <a:p>
            <a:pPr marL="0" indent="0" algn="ctr">
              <a:buNone/>
            </a:pPr>
            <a:r>
              <a:rPr lang="en-US" sz="950" i="1" dirty="0">
                <a:solidFill>
                  <a:srgbClr val="6B7A88"/>
                </a:solidFill>
                <a:latin typeface="Calibri" pitchFamily="34" charset="0"/>
                <a:ea typeface="Calibri" pitchFamily="34" charset="-122"/>
                <a:cs typeface="Calibri" pitchFamily="34" charset="-120"/>
              </a:rPr>
              <a:t>Lưu đồ thực thi: Mua sắm PR → PO → OCR hóa đơn → đối chiếu PO (thiết kế trong đồ án)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1 · KẾ TOÁN TÀI SẢN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Tích hợp kế toán — luôn khớp sổ (Thông tư 200)</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18</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Text 6"/>
          <p:cNvSpPr/>
          <p:nvPr/>
        </p:nvSpPr>
        <p:spPr>
          <a:xfrm>
            <a:off x="566928" y="1645920"/>
            <a:ext cx="5486400" cy="36576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Chứng từ &amp; bút toán tự động</a:t>
            </a:r>
            <a:endParaRPr lang="en-US" sz="1600" dirty="0"/>
          </a:p>
        </p:txBody>
      </p:sp>
      <p:sp>
        <p:nvSpPr>
          <p:cNvPr id="9" name="Shape 7"/>
          <p:cNvSpPr/>
          <p:nvPr/>
        </p:nvSpPr>
        <p:spPr>
          <a:xfrm>
            <a:off x="566928" y="2103120"/>
            <a:ext cx="3566160" cy="1371600"/>
          </a:xfrm>
          <a:prstGeom prst="roundRect">
            <a:avLst>
              <a:gd name="adj" fmla="val 8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0" name="Text 8"/>
          <p:cNvSpPr/>
          <p:nvPr/>
        </p:nvSpPr>
        <p:spPr>
          <a:xfrm>
            <a:off x="749808" y="2249424"/>
            <a:ext cx="3200400" cy="365760"/>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Ghi tăng</a:t>
            </a:r>
            <a:endParaRPr lang="en-US" sz="1500" dirty="0"/>
          </a:p>
        </p:txBody>
      </p:sp>
      <p:sp>
        <p:nvSpPr>
          <p:cNvPr id="11" name="Text 9"/>
          <p:cNvSpPr/>
          <p:nvPr/>
        </p:nvSpPr>
        <p:spPr>
          <a:xfrm>
            <a:off x="749808" y="2670048"/>
            <a:ext cx="3200400" cy="320040"/>
          </a:xfrm>
          <a:prstGeom prst="rect">
            <a:avLst/>
          </a:prstGeom>
          <a:noFill/>
          <a:ln/>
        </p:spPr>
        <p:txBody>
          <a:bodyPr wrap="square" lIns="0" tIns="0" rIns="0" bIns="0" rtlCol="0" anchor="ctr"/>
          <a:lstStyle/>
          <a:p>
            <a:pPr marL="0" indent="0">
              <a:buNone/>
            </a:pPr>
            <a:r>
              <a:rPr lang="en-US" sz="1350" b="1" dirty="0">
                <a:solidFill>
                  <a:srgbClr val="22303C"/>
                </a:solidFill>
                <a:latin typeface="Calibri" pitchFamily="34" charset="0"/>
                <a:ea typeface="Calibri" pitchFamily="34" charset="-122"/>
                <a:cs typeface="Calibri" pitchFamily="34" charset="-120"/>
              </a:rPr>
              <a:t>Nợ 211 / 213</a:t>
            </a:r>
            <a:endParaRPr lang="en-US" sz="1350" dirty="0"/>
          </a:p>
        </p:txBody>
      </p:sp>
      <p:sp>
        <p:nvSpPr>
          <p:cNvPr id="12" name="Text 10"/>
          <p:cNvSpPr/>
          <p:nvPr/>
        </p:nvSpPr>
        <p:spPr>
          <a:xfrm>
            <a:off x="749808" y="2999232"/>
            <a:ext cx="3200400" cy="320040"/>
          </a:xfrm>
          <a:prstGeom prst="rect">
            <a:avLst/>
          </a:prstGeom>
          <a:noFill/>
          <a:ln/>
        </p:spPr>
        <p:txBody>
          <a:bodyPr wrap="square" lIns="0" tIns="0" rIns="0" bIns="0" rtlCol="0" anchor="ctr"/>
          <a:lstStyle/>
          <a:p>
            <a:pPr marL="0" indent="0">
              <a:buNone/>
            </a:pPr>
            <a:r>
              <a:rPr lang="en-US" sz="1350" b="1" dirty="0">
                <a:solidFill>
                  <a:srgbClr val="6B7A88"/>
                </a:solidFill>
                <a:latin typeface="Calibri" pitchFamily="34" charset="0"/>
                <a:ea typeface="Calibri" pitchFamily="34" charset="-122"/>
                <a:cs typeface="Calibri" pitchFamily="34" charset="-120"/>
              </a:rPr>
              <a:t>Có 111 / 112</a:t>
            </a:r>
            <a:endParaRPr lang="en-US" sz="1350" dirty="0"/>
          </a:p>
        </p:txBody>
      </p:sp>
      <p:sp>
        <p:nvSpPr>
          <p:cNvPr id="13" name="Shape 11"/>
          <p:cNvSpPr/>
          <p:nvPr/>
        </p:nvSpPr>
        <p:spPr>
          <a:xfrm>
            <a:off x="4315968" y="2103120"/>
            <a:ext cx="3566160" cy="1371600"/>
          </a:xfrm>
          <a:prstGeom prst="roundRect">
            <a:avLst>
              <a:gd name="adj" fmla="val 8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4" name="Text 12"/>
          <p:cNvSpPr/>
          <p:nvPr/>
        </p:nvSpPr>
        <p:spPr>
          <a:xfrm>
            <a:off x="4498848" y="2249424"/>
            <a:ext cx="3200400" cy="365760"/>
          </a:xfrm>
          <a:prstGeom prst="rect">
            <a:avLst/>
          </a:prstGeom>
          <a:noFill/>
          <a:ln/>
        </p:spPr>
        <p:txBody>
          <a:bodyPr wrap="square" lIns="0" tIns="0" rIns="0" bIns="0" rtlCol="0" anchor="ctr"/>
          <a:lstStyle/>
          <a:p>
            <a:pPr marL="0" indent="0">
              <a:buNone/>
            </a:pPr>
            <a:r>
              <a:rPr lang="en-US" sz="1500" b="1" dirty="0">
                <a:solidFill>
                  <a:srgbClr val="23B5A6"/>
                </a:solidFill>
                <a:latin typeface="Calibri" pitchFamily="34" charset="0"/>
                <a:ea typeface="Calibri" pitchFamily="34" charset="-122"/>
                <a:cs typeface="Calibri" pitchFamily="34" charset="-120"/>
              </a:rPr>
              <a:t>Khấu hao kỳ</a:t>
            </a:r>
            <a:endParaRPr lang="en-US" sz="1500" dirty="0"/>
          </a:p>
        </p:txBody>
      </p:sp>
      <p:sp>
        <p:nvSpPr>
          <p:cNvPr id="15" name="Text 13"/>
          <p:cNvSpPr/>
          <p:nvPr/>
        </p:nvSpPr>
        <p:spPr>
          <a:xfrm>
            <a:off x="4498848" y="2670048"/>
            <a:ext cx="3200400" cy="320040"/>
          </a:xfrm>
          <a:prstGeom prst="rect">
            <a:avLst/>
          </a:prstGeom>
          <a:noFill/>
          <a:ln/>
        </p:spPr>
        <p:txBody>
          <a:bodyPr wrap="square" lIns="0" tIns="0" rIns="0" bIns="0" rtlCol="0" anchor="ctr"/>
          <a:lstStyle/>
          <a:p>
            <a:pPr marL="0" indent="0">
              <a:buNone/>
            </a:pPr>
            <a:r>
              <a:rPr lang="en-US" sz="1350" b="1" dirty="0">
                <a:solidFill>
                  <a:srgbClr val="22303C"/>
                </a:solidFill>
                <a:latin typeface="Calibri" pitchFamily="34" charset="0"/>
                <a:ea typeface="Calibri" pitchFamily="34" charset="-122"/>
                <a:cs typeface="Calibri" pitchFamily="34" charset="-120"/>
              </a:rPr>
              <a:t>Nợ 642</a:t>
            </a:r>
            <a:endParaRPr lang="en-US" sz="1350" dirty="0"/>
          </a:p>
        </p:txBody>
      </p:sp>
      <p:sp>
        <p:nvSpPr>
          <p:cNvPr id="16" name="Text 14"/>
          <p:cNvSpPr/>
          <p:nvPr/>
        </p:nvSpPr>
        <p:spPr>
          <a:xfrm>
            <a:off x="4498848" y="2999232"/>
            <a:ext cx="3200400" cy="320040"/>
          </a:xfrm>
          <a:prstGeom prst="rect">
            <a:avLst/>
          </a:prstGeom>
          <a:noFill/>
          <a:ln/>
        </p:spPr>
        <p:txBody>
          <a:bodyPr wrap="square" lIns="0" tIns="0" rIns="0" bIns="0" rtlCol="0" anchor="ctr"/>
          <a:lstStyle/>
          <a:p>
            <a:pPr marL="0" indent="0">
              <a:buNone/>
            </a:pPr>
            <a:r>
              <a:rPr lang="en-US" sz="1350" b="1" dirty="0">
                <a:solidFill>
                  <a:srgbClr val="6B7A88"/>
                </a:solidFill>
                <a:latin typeface="Calibri" pitchFamily="34" charset="0"/>
                <a:ea typeface="Calibri" pitchFamily="34" charset="-122"/>
                <a:cs typeface="Calibri" pitchFamily="34" charset="-120"/>
              </a:rPr>
              <a:t>Có 2141</a:t>
            </a:r>
            <a:endParaRPr lang="en-US" sz="1350" dirty="0"/>
          </a:p>
        </p:txBody>
      </p:sp>
      <p:sp>
        <p:nvSpPr>
          <p:cNvPr id="17" name="Shape 15"/>
          <p:cNvSpPr/>
          <p:nvPr/>
        </p:nvSpPr>
        <p:spPr>
          <a:xfrm>
            <a:off x="8065008" y="2103120"/>
            <a:ext cx="3566160" cy="1371600"/>
          </a:xfrm>
          <a:prstGeom prst="roundRect">
            <a:avLst>
              <a:gd name="adj" fmla="val 8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18" name="Text 16"/>
          <p:cNvSpPr/>
          <p:nvPr/>
        </p:nvSpPr>
        <p:spPr>
          <a:xfrm>
            <a:off x="8247888" y="2249424"/>
            <a:ext cx="3200400" cy="365760"/>
          </a:xfrm>
          <a:prstGeom prst="rect">
            <a:avLst/>
          </a:prstGeom>
          <a:noFill/>
          <a:ln/>
        </p:spPr>
        <p:txBody>
          <a:bodyPr wrap="square" lIns="0" tIns="0" rIns="0" bIns="0" rtlCol="0" anchor="ctr"/>
          <a:lstStyle/>
          <a:p>
            <a:pPr marL="0" indent="0">
              <a:buNone/>
            </a:pPr>
            <a:r>
              <a:rPr lang="en-US" sz="1500" b="1" dirty="0">
                <a:solidFill>
                  <a:srgbClr val="EFA13C"/>
                </a:solidFill>
                <a:latin typeface="Calibri" pitchFamily="34" charset="0"/>
                <a:ea typeface="Calibri" pitchFamily="34" charset="-122"/>
                <a:cs typeface="Calibri" pitchFamily="34" charset="-120"/>
              </a:rPr>
              <a:t>Thanh lý</a:t>
            </a:r>
            <a:endParaRPr lang="en-US" sz="1500" dirty="0"/>
          </a:p>
        </p:txBody>
      </p:sp>
      <p:sp>
        <p:nvSpPr>
          <p:cNvPr id="19" name="Text 17"/>
          <p:cNvSpPr/>
          <p:nvPr/>
        </p:nvSpPr>
        <p:spPr>
          <a:xfrm>
            <a:off x="8247888" y="2670048"/>
            <a:ext cx="3200400" cy="320040"/>
          </a:xfrm>
          <a:prstGeom prst="rect">
            <a:avLst/>
          </a:prstGeom>
          <a:noFill/>
          <a:ln/>
        </p:spPr>
        <p:txBody>
          <a:bodyPr wrap="square" lIns="0" tIns="0" rIns="0" bIns="0" rtlCol="0" anchor="ctr"/>
          <a:lstStyle/>
          <a:p>
            <a:pPr marL="0" indent="0">
              <a:buNone/>
            </a:pPr>
            <a:r>
              <a:rPr lang="en-US" sz="1350" b="1" dirty="0">
                <a:solidFill>
                  <a:srgbClr val="22303C"/>
                </a:solidFill>
                <a:latin typeface="Calibri" pitchFamily="34" charset="0"/>
                <a:ea typeface="Calibri" pitchFamily="34" charset="-122"/>
                <a:cs typeface="Calibri" pitchFamily="34" charset="-120"/>
              </a:rPr>
              <a:t>Nợ 2141 + 811</a:t>
            </a:r>
            <a:endParaRPr lang="en-US" sz="1350" dirty="0"/>
          </a:p>
        </p:txBody>
      </p:sp>
      <p:sp>
        <p:nvSpPr>
          <p:cNvPr id="20" name="Text 18"/>
          <p:cNvSpPr/>
          <p:nvPr/>
        </p:nvSpPr>
        <p:spPr>
          <a:xfrm>
            <a:off x="8247888" y="2999232"/>
            <a:ext cx="3200400" cy="320040"/>
          </a:xfrm>
          <a:prstGeom prst="rect">
            <a:avLst/>
          </a:prstGeom>
          <a:noFill/>
          <a:ln/>
        </p:spPr>
        <p:txBody>
          <a:bodyPr wrap="square" lIns="0" tIns="0" rIns="0" bIns="0" rtlCol="0" anchor="ctr"/>
          <a:lstStyle/>
          <a:p>
            <a:pPr marL="0" indent="0">
              <a:buNone/>
            </a:pPr>
            <a:r>
              <a:rPr lang="en-US" sz="1350" b="1" dirty="0">
                <a:solidFill>
                  <a:srgbClr val="6B7A88"/>
                </a:solidFill>
                <a:latin typeface="Calibri" pitchFamily="34" charset="0"/>
                <a:ea typeface="Calibri" pitchFamily="34" charset="-122"/>
                <a:cs typeface="Calibri" pitchFamily="34" charset="-120"/>
              </a:rPr>
              <a:t>Có 211</a:t>
            </a:r>
            <a:endParaRPr lang="en-US" sz="1350" dirty="0"/>
          </a:p>
        </p:txBody>
      </p:sp>
      <p:sp>
        <p:nvSpPr>
          <p:cNvPr id="21" name="Shape 19"/>
          <p:cNvSpPr/>
          <p:nvPr/>
        </p:nvSpPr>
        <p:spPr>
          <a:xfrm>
            <a:off x="566928" y="3749040"/>
            <a:ext cx="11064240" cy="2331720"/>
          </a:xfrm>
          <a:prstGeom prst="roundRect">
            <a:avLst>
              <a:gd name="adj" fmla="val 4706"/>
            </a:avLst>
          </a:prstGeom>
          <a:solidFill>
            <a:srgbClr val="0E2A47"/>
          </a:solidFill>
          <a:ln/>
        </p:spPr>
      </p:sp>
      <p:sp>
        <p:nvSpPr>
          <p:cNvPr id="22" name="Shape 20"/>
          <p:cNvSpPr/>
          <p:nvPr/>
        </p:nvSpPr>
        <p:spPr>
          <a:xfrm>
            <a:off x="822960" y="3977640"/>
            <a:ext cx="603504" cy="603504"/>
          </a:xfrm>
          <a:prstGeom prst="roundRect">
            <a:avLst>
              <a:gd name="adj" fmla="val 50000"/>
            </a:avLst>
          </a:prstGeom>
          <a:solidFill>
            <a:srgbClr val="23B5A6"/>
          </a:solidFill>
          <a:ln/>
        </p:spPr>
      </p:sp>
      <p:pic>
        <p:nvPicPr>
          <p:cNvPr id="23" name="Image 0" descr="preencoded.png"/>
          <p:cNvPicPr>
            <a:picLocks noChangeAspect="1"/>
          </p:cNvPicPr>
          <p:nvPr/>
        </p:nvPicPr>
        <p:blipFill>
          <a:blip r:embed="rId3"/>
          <a:stretch>
            <a:fillRect/>
          </a:stretch>
        </p:blipFill>
        <p:spPr>
          <a:xfrm>
            <a:off x="967801" y="4122481"/>
            <a:ext cx="313822" cy="313822"/>
          </a:xfrm>
          <a:prstGeom prst="rect">
            <a:avLst/>
          </a:prstGeom>
        </p:spPr>
      </p:pic>
      <p:sp>
        <p:nvSpPr>
          <p:cNvPr id="24" name="Text 21"/>
          <p:cNvSpPr/>
          <p:nvPr/>
        </p:nvSpPr>
        <p:spPr>
          <a:xfrm>
            <a:off x="1554480" y="4023360"/>
            <a:ext cx="9875520"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Hệ thống sổ sách &amp; báo cáo — dẫn xuất trực tiếp từ chứng từ</a:t>
            </a:r>
            <a:endParaRPr lang="en-US" sz="1600" dirty="0"/>
          </a:p>
        </p:txBody>
      </p:sp>
      <p:sp>
        <p:nvSpPr>
          <p:cNvPr id="25" name="Text 22"/>
          <p:cNvSpPr/>
          <p:nvPr/>
        </p:nvSpPr>
        <p:spPr>
          <a:xfrm>
            <a:off x="868680" y="4709160"/>
            <a:ext cx="5212080" cy="1280160"/>
          </a:xfrm>
          <a:prstGeom prst="rect">
            <a:avLst/>
          </a:prstGeom>
          <a:noFill/>
          <a:ln/>
        </p:spPr>
        <p:txBody>
          <a:bodyPr wrap="square" lIns="0" tIns="0" rIns="0" bIns="0" rtlCol="0" anchor="t"/>
          <a:lstStyle/>
          <a:p>
            <a:pPr marL="177800" indent="-177800">
              <a:lnSpc>
                <a:spcPct val="102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Nhật ký chung — toàn bộ bút toán theo thời gian</a:t>
            </a:r>
            <a:endParaRPr lang="en-US" sz="1250" dirty="0"/>
          </a:p>
          <a:p>
            <a:pPr marL="177800" indent="-177800">
              <a:lnSpc>
                <a:spcPct val="102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Sổ cái — phát sinh Nợ/Có &amp; số dư từng tài khoản</a:t>
            </a:r>
            <a:endParaRPr lang="en-US" sz="1250" dirty="0"/>
          </a:p>
          <a:p>
            <a:pPr marL="177800" indent="-177800">
              <a:lnSpc>
                <a:spcPct val="102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Bảng cân đối số phát sinh — đối chiếu ∑Nợ = ∑Có</a:t>
            </a:r>
            <a:endParaRPr lang="en-US" sz="1250" dirty="0"/>
          </a:p>
        </p:txBody>
      </p:sp>
      <p:sp>
        <p:nvSpPr>
          <p:cNvPr id="26" name="Text 23"/>
          <p:cNvSpPr/>
          <p:nvPr/>
        </p:nvSpPr>
        <p:spPr>
          <a:xfrm>
            <a:off x="6309360" y="4709160"/>
            <a:ext cx="5120640" cy="1280160"/>
          </a:xfrm>
          <a:prstGeom prst="rect">
            <a:avLst/>
          </a:prstGeom>
          <a:noFill/>
          <a:ln/>
        </p:spPr>
        <p:txBody>
          <a:bodyPr wrap="square" lIns="0" tIns="0" rIns="0" bIns="0" rtlCol="0" anchor="t"/>
          <a:lstStyle/>
          <a:p>
            <a:pPr marL="177800" indent="-177800">
              <a:lnSpc>
                <a:spcPct val="102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Sổ tài sản cố định — nguyên giá, hao mòn, còn lại</a:t>
            </a:r>
            <a:endParaRPr lang="en-US" sz="1250" dirty="0"/>
          </a:p>
          <a:p>
            <a:pPr marL="177800" indent="-177800">
              <a:lnSpc>
                <a:spcPct val="102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Báo cáo tăng/giảm tài sản — kèm lãi/lỗ thanh lý</a:t>
            </a:r>
            <a:endParaRPr lang="en-US" sz="1250" dirty="0"/>
          </a:p>
        </p:txBody>
      </p:sp>
      <p:sp>
        <p:nvSpPr>
          <p:cNvPr id="27" name="Text 24"/>
          <p:cNvSpPr/>
          <p:nvPr/>
        </p:nvSpPr>
        <p:spPr>
          <a:xfrm>
            <a:off x="7315200" y="1737360"/>
            <a:ext cx="4297680" cy="274320"/>
          </a:xfrm>
          <a:prstGeom prst="rect">
            <a:avLst/>
          </a:prstGeom>
          <a:noFill/>
          <a:ln/>
        </p:spPr>
        <p:txBody>
          <a:bodyPr wrap="square" lIns="0" tIns="0" rIns="0" bIns="0" rtlCol="0" anchor="ctr"/>
          <a:lstStyle/>
          <a:p>
            <a:pPr marL="0" indent="0" algn="r">
              <a:buNone/>
            </a:pPr>
            <a:r>
              <a:rPr lang="en-US" sz="1100" b="1" i="1" dirty="0">
                <a:solidFill>
                  <a:srgbClr val="EFA13C"/>
                </a:solidFill>
                <a:latin typeface="Calibri" pitchFamily="34" charset="0"/>
                <a:ea typeface="Calibri" pitchFamily="34" charset="-122"/>
                <a:cs typeface="Calibri" pitchFamily="34" charset="-120"/>
              </a:rPr>
              <a:t>Điểm khác biệt so với phần mềm thương mại</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1 · BẢO TRÌ PHÒNG NGỪA</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Quy trình PM / Work Order khép kín</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19</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786384" y="1911096"/>
            <a:ext cx="530352" cy="530352"/>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13668" y="2038380"/>
            <a:ext cx="275783" cy="275783"/>
          </a:xfrm>
          <a:prstGeom prst="rect">
            <a:avLst/>
          </a:prstGeom>
        </p:spPr>
      </p:pic>
      <p:sp>
        <p:nvSpPr>
          <p:cNvPr id="11" name="Shape 8"/>
          <p:cNvSpPr/>
          <p:nvPr/>
        </p:nvSpPr>
        <p:spPr>
          <a:xfrm>
            <a:off x="3474720" y="1874520"/>
            <a:ext cx="457200" cy="292608"/>
          </a:xfrm>
          <a:prstGeom prst="roundRect">
            <a:avLst>
              <a:gd name="adj" fmla="val 25000"/>
            </a:avLst>
          </a:prstGeom>
          <a:solidFill>
            <a:srgbClr val="F1F5F8"/>
          </a:solidFill>
          <a:ln/>
        </p:spPr>
      </p:sp>
      <p:sp>
        <p:nvSpPr>
          <p:cNvPr id="12" name="Text 9"/>
          <p:cNvSpPr/>
          <p:nvPr/>
        </p:nvSpPr>
        <p:spPr>
          <a:xfrm>
            <a:off x="3474720" y="1874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1</a:t>
            </a:r>
            <a:endParaRPr lang="en-US" sz="1200" dirty="0"/>
          </a:p>
        </p:txBody>
      </p:sp>
      <p:sp>
        <p:nvSpPr>
          <p:cNvPr id="13" name="Text 10"/>
          <p:cNvSpPr/>
          <p:nvPr/>
        </p:nvSpPr>
        <p:spPr>
          <a:xfrm>
            <a:off x="1408176" y="1892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Lịch bảo trì</a:t>
            </a:r>
            <a:endParaRPr lang="en-US" sz="1350" dirty="0"/>
          </a:p>
        </p:txBody>
      </p:sp>
      <p:sp>
        <p:nvSpPr>
          <p:cNvPr id="14" name="Text 11"/>
          <p:cNvSpPr/>
          <p:nvPr/>
        </p:nvSpPr>
        <p:spPr>
          <a:xfrm>
            <a:off x="1408176" y="2221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chu kỳ, lead time</a:t>
            </a:r>
            <a:endParaRPr lang="en-US" sz="1100" dirty="0"/>
          </a:p>
        </p:txBody>
      </p:sp>
      <p:sp>
        <p:nvSpPr>
          <p:cNvPr id="15" name="Shape 12"/>
          <p:cNvSpPr/>
          <p:nvPr/>
        </p:nvSpPr>
        <p:spPr>
          <a:xfrm>
            <a:off x="4315968" y="1691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6" name="Shape 13"/>
          <p:cNvSpPr/>
          <p:nvPr/>
        </p:nvSpPr>
        <p:spPr>
          <a:xfrm>
            <a:off x="4535424" y="1911096"/>
            <a:ext cx="530352" cy="530352"/>
          </a:xfrm>
          <a:prstGeom prst="roundRect">
            <a:avLst>
              <a:gd name="adj" fmla="val 50000"/>
            </a:avLst>
          </a:prstGeom>
          <a:solidFill>
            <a:srgbClr val="0E7C86"/>
          </a:solidFill>
          <a:ln/>
        </p:spPr>
      </p:sp>
      <p:pic>
        <p:nvPicPr>
          <p:cNvPr id="17" name="Image 1" descr="preencoded.png"/>
          <p:cNvPicPr>
            <a:picLocks noChangeAspect="1"/>
          </p:cNvPicPr>
          <p:nvPr/>
        </p:nvPicPr>
        <p:blipFill>
          <a:blip r:embed="rId4"/>
          <a:stretch>
            <a:fillRect/>
          </a:stretch>
        </p:blipFill>
        <p:spPr>
          <a:xfrm>
            <a:off x="4662708" y="2038380"/>
            <a:ext cx="275783" cy="275783"/>
          </a:xfrm>
          <a:prstGeom prst="rect">
            <a:avLst/>
          </a:prstGeom>
        </p:spPr>
      </p:pic>
      <p:sp>
        <p:nvSpPr>
          <p:cNvPr id="18" name="Shape 14"/>
          <p:cNvSpPr/>
          <p:nvPr/>
        </p:nvSpPr>
        <p:spPr>
          <a:xfrm>
            <a:off x="7223760" y="1874520"/>
            <a:ext cx="457200" cy="292608"/>
          </a:xfrm>
          <a:prstGeom prst="roundRect">
            <a:avLst>
              <a:gd name="adj" fmla="val 25000"/>
            </a:avLst>
          </a:prstGeom>
          <a:solidFill>
            <a:srgbClr val="F1F5F8"/>
          </a:solidFill>
          <a:ln/>
        </p:spPr>
      </p:sp>
      <p:sp>
        <p:nvSpPr>
          <p:cNvPr id="19" name="Text 15"/>
          <p:cNvSpPr/>
          <p:nvPr/>
        </p:nvSpPr>
        <p:spPr>
          <a:xfrm>
            <a:off x="7223760" y="1874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5157216" y="1892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Tự sinh WO</a:t>
            </a:r>
            <a:endParaRPr lang="en-US" sz="1350" dirty="0"/>
          </a:p>
        </p:txBody>
      </p:sp>
      <p:sp>
        <p:nvSpPr>
          <p:cNvPr id="21" name="Text 17"/>
          <p:cNvSpPr/>
          <p:nvPr/>
        </p:nvSpPr>
        <p:spPr>
          <a:xfrm>
            <a:off x="5157216" y="2221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khi tới hạn</a:t>
            </a:r>
            <a:endParaRPr lang="en-US" sz="1100" dirty="0"/>
          </a:p>
        </p:txBody>
      </p:sp>
      <p:sp>
        <p:nvSpPr>
          <p:cNvPr id="22" name="Shape 18"/>
          <p:cNvSpPr/>
          <p:nvPr/>
        </p:nvSpPr>
        <p:spPr>
          <a:xfrm>
            <a:off x="8065008" y="1691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3" name="Shape 19"/>
          <p:cNvSpPr/>
          <p:nvPr/>
        </p:nvSpPr>
        <p:spPr>
          <a:xfrm>
            <a:off x="8284464" y="1911096"/>
            <a:ext cx="530352" cy="530352"/>
          </a:xfrm>
          <a:prstGeom prst="roundRect">
            <a:avLst>
              <a:gd name="adj" fmla="val 50000"/>
            </a:avLst>
          </a:prstGeom>
          <a:solidFill>
            <a:srgbClr val="0E7C86"/>
          </a:solidFill>
          <a:ln/>
        </p:spPr>
      </p:sp>
      <p:pic>
        <p:nvPicPr>
          <p:cNvPr id="24" name="Image 2" descr="preencoded.png"/>
          <p:cNvPicPr>
            <a:picLocks noChangeAspect="1"/>
          </p:cNvPicPr>
          <p:nvPr/>
        </p:nvPicPr>
        <p:blipFill>
          <a:blip r:embed="rId5"/>
          <a:stretch>
            <a:fillRect/>
          </a:stretch>
        </p:blipFill>
        <p:spPr>
          <a:xfrm>
            <a:off x="8411748" y="2038380"/>
            <a:ext cx="275783" cy="275783"/>
          </a:xfrm>
          <a:prstGeom prst="rect">
            <a:avLst/>
          </a:prstGeom>
        </p:spPr>
      </p:pic>
      <p:sp>
        <p:nvSpPr>
          <p:cNvPr id="25" name="Shape 20"/>
          <p:cNvSpPr/>
          <p:nvPr/>
        </p:nvSpPr>
        <p:spPr>
          <a:xfrm>
            <a:off x="10972800" y="1874520"/>
            <a:ext cx="457200" cy="292608"/>
          </a:xfrm>
          <a:prstGeom prst="roundRect">
            <a:avLst>
              <a:gd name="adj" fmla="val 25000"/>
            </a:avLst>
          </a:prstGeom>
          <a:solidFill>
            <a:srgbClr val="F1F5F8"/>
          </a:solidFill>
          <a:ln/>
        </p:spPr>
      </p:sp>
      <p:sp>
        <p:nvSpPr>
          <p:cNvPr id="26" name="Text 21"/>
          <p:cNvSpPr/>
          <p:nvPr/>
        </p:nvSpPr>
        <p:spPr>
          <a:xfrm>
            <a:off x="10972800" y="1874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3</a:t>
            </a:r>
            <a:endParaRPr lang="en-US" sz="1200" dirty="0"/>
          </a:p>
        </p:txBody>
      </p:sp>
      <p:sp>
        <p:nvSpPr>
          <p:cNvPr id="27" name="Text 22"/>
          <p:cNvSpPr/>
          <p:nvPr/>
        </p:nvSpPr>
        <p:spPr>
          <a:xfrm>
            <a:off x="8906256" y="1892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Phân công KTV</a:t>
            </a:r>
            <a:endParaRPr lang="en-US" sz="1350" dirty="0"/>
          </a:p>
        </p:txBody>
      </p:sp>
      <p:sp>
        <p:nvSpPr>
          <p:cNvPr id="28" name="Text 23"/>
          <p:cNvSpPr/>
          <p:nvPr/>
        </p:nvSpPr>
        <p:spPr>
          <a:xfrm>
            <a:off x="8906256" y="2221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điều phối</a:t>
            </a:r>
            <a:endParaRPr lang="en-US" sz="1100" dirty="0"/>
          </a:p>
        </p:txBody>
      </p:sp>
      <p:sp>
        <p:nvSpPr>
          <p:cNvPr id="29" name="Shape 24"/>
          <p:cNvSpPr/>
          <p:nvPr/>
        </p:nvSpPr>
        <p:spPr>
          <a:xfrm>
            <a:off x="566928" y="2834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0" name="Shape 25"/>
          <p:cNvSpPr/>
          <p:nvPr/>
        </p:nvSpPr>
        <p:spPr>
          <a:xfrm>
            <a:off x="786384" y="3054096"/>
            <a:ext cx="530352" cy="530352"/>
          </a:xfrm>
          <a:prstGeom prst="roundRect">
            <a:avLst>
              <a:gd name="adj" fmla="val 50000"/>
            </a:avLst>
          </a:prstGeom>
          <a:solidFill>
            <a:srgbClr val="0E7C86"/>
          </a:solidFill>
          <a:ln/>
        </p:spPr>
      </p:sp>
      <p:pic>
        <p:nvPicPr>
          <p:cNvPr id="31" name="Image 3" descr="preencoded.png"/>
          <p:cNvPicPr>
            <a:picLocks noChangeAspect="1"/>
          </p:cNvPicPr>
          <p:nvPr/>
        </p:nvPicPr>
        <p:blipFill>
          <a:blip r:embed="rId6"/>
          <a:stretch>
            <a:fillRect/>
          </a:stretch>
        </p:blipFill>
        <p:spPr>
          <a:xfrm>
            <a:off x="913668" y="3181380"/>
            <a:ext cx="275783" cy="275783"/>
          </a:xfrm>
          <a:prstGeom prst="rect">
            <a:avLst/>
          </a:prstGeom>
        </p:spPr>
      </p:pic>
      <p:sp>
        <p:nvSpPr>
          <p:cNvPr id="32" name="Shape 26"/>
          <p:cNvSpPr/>
          <p:nvPr/>
        </p:nvSpPr>
        <p:spPr>
          <a:xfrm>
            <a:off x="3474720" y="3017520"/>
            <a:ext cx="457200" cy="292608"/>
          </a:xfrm>
          <a:prstGeom prst="roundRect">
            <a:avLst>
              <a:gd name="adj" fmla="val 25000"/>
            </a:avLst>
          </a:prstGeom>
          <a:solidFill>
            <a:srgbClr val="F1F5F8"/>
          </a:solidFill>
          <a:ln/>
        </p:spPr>
      </p:sp>
      <p:sp>
        <p:nvSpPr>
          <p:cNvPr id="33" name="Text 27"/>
          <p:cNvSpPr/>
          <p:nvPr/>
        </p:nvSpPr>
        <p:spPr>
          <a:xfrm>
            <a:off x="3474720" y="3017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4</a:t>
            </a:r>
            <a:endParaRPr lang="en-US" sz="1200" dirty="0"/>
          </a:p>
        </p:txBody>
      </p:sp>
      <p:sp>
        <p:nvSpPr>
          <p:cNvPr id="34" name="Text 28"/>
          <p:cNvSpPr/>
          <p:nvPr/>
        </p:nvSpPr>
        <p:spPr>
          <a:xfrm>
            <a:off x="1408176" y="3035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Check-in QR</a:t>
            </a:r>
            <a:endParaRPr lang="en-US" sz="1350" dirty="0"/>
          </a:p>
        </p:txBody>
      </p:sp>
      <p:sp>
        <p:nvSpPr>
          <p:cNvPr id="35" name="Text 29"/>
          <p:cNvSpPr/>
          <p:nvPr/>
        </p:nvSpPr>
        <p:spPr>
          <a:xfrm>
            <a:off x="1408176" y="3364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tại hiện trường</a:t>
            </a:r>
            <a:endParaRPr lang="en-US" sz="1100" dirty="0"/>
          </a:p>
        </p:txBody>
      </p:sp>
      <p:sp>
        <p:nvSpPr>
          <p:cNvPr id="36" name="Shape 30"/>
          <p:cNvSpPr/>
          <p:nvPr/>
        </p:nvSpPr>
        <p:spPr>
          <a:xfrm>
            <a:off x="4315968" y="2834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7" name="Shape 31"/>
          <p:cNvSpPr/>
          <p:nvPr/>
        </p:nvSpPr>
        <p:spPr>
          <a:xfrm>
            <a:off x="4535424" y="3054096"/>
            <a:ext cx="530352" cy="530352"/>
          </a:xfrm>
          <a:prstGeom prst="roundRect">
            <a:avLst>
              <a:gd name="adj" fmla="val 50000"/>
            </a:avLst>
          </a:prstGeom>
          <a:solidFill>
            <a:srgbClr val="0E7C86"/>
          </a:solidFill>
          <a:ln/>
        </p:spPr>
      </p:sp>
      <p:pic>
        <p:nvPicPr>
          <p:cNvPr id="38" name="Image 4" descr="preencoded.png"/>
          <p:cNvPicPr>
            <a:picLocks noChangeAspect="1"/>
          </p:cNvPicPr>
          <p:nvPr/>
        </p:nvPicPr>
        <p:blipFill>
          <a:blip r:embed="rId7"/>
          <a:stretch>
            <a:fillRect/>
          </a:stretch>
        </p:blipFill>
        <p:spPr>
          <a:xfrm>
            <a:off x="4662708" y="3181380"/>
            <a:ext cx="275783" cy="275783"/>
          </a:xfrm>
          <a:prstGeom prst="rect">
            <a:avLst/>
          </a:prstGeom>
        </p:spPr>
      </p:pic>
      <p:sp>
        <p:nvSpPr>
          <p:cNvPr id="39" name="Shape 32"/>
          <p:cNvSpPr/>
          <p:nvPr/>
        </p:nvSpPr>
        <p:spPr>
          <a:xfrm>
            <a:off x="7223760" y="3017520"/>
            <a:ext cx="457200" cy="292608"/>
          </a:xfrm>
          <a:prstGeom prst="roundRect">
            <a:avLst>
              <a:gd name="adj" fmla="val 25000"/>
            </a:avLst>
          </a:prstGeom>
          <a:solidFill>
            <a:srgbClr val="F1F5F8"/>
          </a:solidFill>
          <a:ln/>
        </p:spPr>
      </p:sp>
      <p:sp>
        <p:nvSpPr>
          <p:cNvPr id="40" name="Text 33"/>
          <p:cNvSpPr/>
          <p:nvPr/>
        </p:nvSpPr>
        <p:spPr>
          <a:xfrm>
            <a:off x="7223760" y="3017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5</a:t>
            </a:r>
            <a:endParaRPr lang="en-US" sz="1200" dirty="0"/>
          </a:p>
        </p:txBody>
      </p:sp>
      <p:sp>
        <p:nvSpPr>
          <p:cNvPr id="41" name="Text 34"/>
          <p:cNvSpPr/>
          <p:nvPr/>
        </p:nvSpPr>
        <p:spPr>
          <a:xfrm>
            <a:off x="5157216" y="3035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Checklist + ảnh</a:t>
            </a:r>
            <a:endParaRPr lang="en-US" sz="1350" dirty="0"/>
          </a:p>
        </p:txBody>
      </p:sp>
      <p:sp>
        <p:nvSpPr>
          <p:cNvPr id="42" name="Text 35"/>
          <p:cNvSpPr/>
          <p:nvPr/>
        </p:nvSpPr>
        <p:spPr>
          <a:xfrm>
            <a:off x="5157216" y="3364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thực hiện</a:t>
            </a:r>
            <a:endParaRPr lang="en-US" sz="1100" dirty="0"/>
          </a:p>
        </p:txBody>
      </p:sp>
      <p:sp>
        <p:nvSpPr>
          <p:cNvPr id="43" name="Shape 36"/>
          <p:cNvSpPr/>
          <p:nvPr/>
        </p:nvSpPr>
        <p:spPr>
          <a:xfrm>
            <a:off x="8065008" y="2834640"/>
            <a:ext cx="3566160" cy="960120"/>
          </a:xfrm>
          <a:prstGeom prst="roundRect">
            <a:avLst>
              <a:gd name="adj" fmla="val 1047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44" name="Shape 37"/>
          <p:cNvSpPr/>
          <p:nvPr/>
        </p:nvSpPr>
        <p:spPr>
          <a:xfrm>
            <a:off x="8284464" y="3054096"/>
            <a:ext cx="530352" cy="530352"/>
          </a:xfrm>
          <a:prstGeom prst="roundRect">
            <a:avLst>
              <a:gd name="adj" fmla="val 50000"/>
            </a:avLst>
          </a:prstGeom>
          <a:solidFill>
            <a:srgbClr val="0E7C86"/>
          </a:solidFill>
          <a:ln/>
        </p:spPr>
      </p:sp>
      <p:pic>
        <p:nvPicPr>
          <p:cNvPr id="45" name="Image 5" descr="preencoded.png"/>
          <p:cNvPicPr>
            <a:picLocks noChangeAspect="1"/>
          </p:cNvPicPr>
          <p:nvPr/>
        </p:nvPicPr>
        <p:blipFill>
          <a:blip r:embed="rId8"/>
          <a:stretch>
            <a:fillRect/>
          </a:stretch>
        </p:blipFill>
        <p:spPr>
          <a:xfrm>
            <a:off x="8411748" y="3181380"/>
            <a:ext cx="275783" cy="275783"/>
          </a:xfrm>
          <a:prstGeom prst="rect">
            <a:avLst/>
          </a:prstGeom>
        </p:spPr>
      </p:pic>
      <p:sp>
        <p:nvSpPr>
          <p:cNvPr id="46" name="Shape 38"/>
          <p:cNvSpPr/>
          <p:nvPr/>
        </p:nvSpPr>
        <p:spPr>
          <a:xfrm>
            <a:off x="10972800" y="3017520"/>
            <a:ext cx="457200" cy="292608"/>
          </a:xfrm>
          <a:prstGeom prst="roundRect">
            <a:avLst>
              <a:gd name="adj" fmla="val 25000"/>
            </a:avLst>
          </a:prstGeom>
          <a:solidFill>
            <a:srgbClr val="F1F5F8"/>
          </a:solidFill>
          <a:ln/>
        </p:spPr>
      </p:sp>
      <p:sp>
        <p:nvSpPr>
          <p:cNvPr id="47" name="Text 39"/>
          <p:cNvSpPr/>
          <p:nvPr/>
        </p:nvSpPr>
        <p:spPr>
          <a:xfrm>
            <a:off x="10972800" y="3017520"/>
            <a:ext cx="457200" cy="292608"/>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6</a:t>
            </a:r>
            <a:endParaRPr lang="en-US" sz="1200" dirty="0"/>
          </a:p>
        </p:txBody>
      </p:sp>
      <p:sp>
        <p:nvSpPr>
          <p:cNvPr id="48" name="Text 40"/>
          <p:cNvSpPr/>
          <p:nvPr/>
        </p:nvSpPr>
        <p:spPr>
          <a:xfrm>
            <a:off x="8906256" y="3035808"/>
            <a:ext cx="2103120" cy="32004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Nghiệm thu</a:t>
            </a:r>
            <a:endParaRPr lang="en-US" sz="1350" dirty="0"/>
          </a:p>
        </p:txBody>
      </p:sp>
      <p:sp>
        <p:nvSpPr>
          <p:cNvPr id="49" name="Text 41"/>
          <p:cNvSpPr/>
          <p:nvPr/>
        </p:nvSpPr>
        <p:spPr>
          <a:xfrm>
            <a:off x="8906256" y="3364992"/>
            <a:ext cx="2514600" cy="274320"/>
          </a:xfrm>
          <a:prstGeom prst="rect">
            <a:avLst/>
          </a:prstGeom>
          <a:noFill/>
          <a:ln/>
        </p:spPr>
        <p:txBody>
          <a:bodyPr wrap="square" lIns="0" tIns="0" rIns="0" bIns="0" rtlCol="0" anchor="ctr"/>
          <a:lstStyle/>
          <a:p>
            <a:pPr marL="0" indent="0">
              <a:buNone/>
            </a:pPr>
            <a:r>
              <a:rPr lang="en-US" sz="1100" dirty="0">
                <a:solidFill>
                  <a:srgbClr val="6B7A88"/>
                </a:solidFill>
                <a:latin typeface="Calibri" pitchFamily="34" charset="0"/>
                <a:ea typeface="Calibri" pitchFamily="34" charset="-122"/>
                <a:cs typeface="Calibri" pitchFamily="34" charset="-120"/>
              </a:rPr>
              <a:t>duyệt / từ chối</a:t>
            </a:r>
            <a:endParaRPr lang="en-US" sz="1100" dirty="0"/>
          </a:p>
        </p:txBody>
      </p:sp>
      <p:sp>
        <p:nvSpPr>
          <p:cNvPr id="50" name="Shape 42"/>
          <p:cNvSpPr/>
          <p:nvPr/>
        </p:nvSpPr>
        <p:spPr>
          <a:xfrm>
            <a:off x="566928" y="3977640"/>
            <a:ext cx="6766560" cy="2148840"/>
          </a:xfrm>
          <a:prstGeom prst="roundRect">
            <a:avLst>
              <a:gd name="adj" fmla="val 4255"/>
            </a:avLst>
          </a:prstGeom>
          <a:solidFill>
            <a:srgbClr val="FFFFFF"/>
          </a:solidFill>
          <a:ln/>
          <a:effectLst>
            <a:outerShdw blurRad="88900" dist="25400" dir="5400000" algn="bl" rotWithShape="0">
              <a:srgbClr val="B9C7D1">
                <a:alpha val="40000"/>
              </a:srgbClr>
            </a:outerShdw>
          </a:effectLst>
        </p:spPr>
      </p:sp>
      <p:pic>
        <p:nvPicPr>
          <p:cNvPr id="51" name="Image 6" descr="D:/DATN/TownHub/latex/images/img19.png"/>
          <p:cNvPicPr>
            <a:picLocks noChangeAspect="1"/>
          </p:cNvPicPr>
          <p:nvPr/>
        </p:nvPicPr>
        <p:blipFill>
          <a:blip r:embed="rId9"/>
          <a:srcRect/>
          <a:stretch/>
        </p:blipFill>
        <p:spPr>
          <a:xfrm>
            <a:off x="649224" y="4059936"/>
            <a:ext cx="6601968" cy="1984248"/>
          </a:xfrm>
          <a:prstGeom prst="rect">
            <a:avLst/>
          </a:prstGeom>
        </p:spPr>
      </p:pic>
      <p:sp>
        <p:nvSpPr>
          <p:cNvPr id="52" name="Text 43"/>
          <p:cNvSpPr/>
          <p:nvPr/>
        </p:nvSpPr>
        <p:spPr>
          <a:xfrm>
            <a:off x="566928" y="6144768"/>
            <a:ext cx="6766560"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Giao diện Lệnh công việc bảo trì (Work Order)</a:t>
            </a:r>
            <a:endParaRPr lang="en-US" sz="950" dirty="0"/>
          </a:p>
        </p:txBody>
      </p:sp>
      <p:sp>
        <p:nvSpPr>
          <p:cNvPr id="53" name="Shape 44"/>
          <p:cNvSpPr/>
          <p:nvPr/>
        </p:nvSpPr>
        <p:spPr>
          <a:xfrm>
            <a:off x="7498080" y="3977640"/>
            <a:ext cx="4133088" cy="2148840"/>
          </a:xfrm>
          <a:prstGeom prst="roundRect">
            <a:avLst>
              <a:gd name="adj" fmla="val 5106"/>
            </a:avLst>
          </a:prstGeom>
          <a:solidFill>
            <a:srgbClr val="F1F5F8"/>
          </a:solidFill>
          <a:ln/>
          <a:effectLst>
            <a:outerShdw blurRad="88900" dist="25400" dir="5400000" algn="bl" rotWithShape="0">
              <a:srgbClr val="B9C7D1">
                <a:alpha val="40000"/>
              </a:srgbClr>
            </a:outerShdw>
          </a:effectLst>
        </p:spPr>
      </p:sp>
      <p:sp>
        <p:nvSpPr>
          <p:cNvPr id="54" name="Shape 45"/>
          <p:cNvSpPr/>
          <p:nvPr/>
        </p:nvSpPr>
        <p:spPr>
          <a:xfrm>
            <a:off x="7726680" y="4187952"/>
            <a:ext cx="548640" cy="548640"/>
          </a:xfrm>
          <a:prstGeom prst="roundRect">
            <a:avLst>
              <a:gd name="adj" fmla="val 50000"/>
            </a:avLst>
          </a:prstGeom>
          <a:solidFill>
            <a:srgbClr val="EFA13C"/>
          </a:solidFill>
          <a:ln/>
        </p:spPr>
      </p:sp>
      <p:pic>
        <p:nvPicPr>
          <p:cNvPr id="55" name="Image 7" descr="preencoded.png"/>
          <p:cNvPicPr>
            <a:picLocks noChangeAspect="1"/>
          </p:cNvPicPr>
          <p:nvPr/>
        </p:nvPicPr>
        <p:blipFill>
          <a:blip r:embed="rId10"/>
          <a:stretch>
            <a:fillRect/>
          </a:stretch>
        </p:blipFill>
        <p:spPr>
          <a:xfrm>
            <a:off x="7858354" y="4319626"/>
            <a:ext cx="285293" cy="285293"/>
          </a:xfrm>
          <a:prstGeom prst="rect">
            <a:avLst/>
          </a:prstGeom>
        </p:spPr>
      </p:pic>
      <p:sp>
        <p:nvSpPr>
          <p:cNvPr id="56" name="Text 46"/>
          <p:cNvSpPr/>
          <p:nvPr/>
        </p:nvSpPr>
        <p:spPr>
          <a:xfrm>
            <a:off x="8366760" y="4224528"/>
            <a:ext cx="3017520" cy="36576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Chi phí bảo trì</a:t>
            </a:r>
            <a:endParaRPr lang="en-US" sz="1500" dirty="0"/>
          </a:p>
        </p:txBody>
      </p:sp>
      <p:sp>
        <p:nvSpPr>
          <p:cNvPr id="57" name="Text 47"/>
          <p:cNvSpPr/>
          <p:nvPr/>
        </p:nvSpPr>
        <p:spPr>
          <a:xfrm>
            <a:off x="7726680" y="4800600"/>
            <a:ext cx="3703320" cy="1188720"/>
          </a:xfrm>
          <a:prstGeom prst="rect">
            <a:avLst/>
          </a:prstGeom>
          <a:noFill/>
          <a:ln/>
        </p:spPr>
        <p:txBody>
          <a:bodyPr wrap="square" lIns="0" tIns="0" rIns="0" bIns="0" rtlCol="0" anchor="t"/>
          <a:lstStyle/>
          <a:p>
            <a:pPr marL="177800" indent="-177800">
              <a:lnSpc>
                <a:spcPct val="102000"/>
              </a:lnSpc>
              <a:spcAft>
                <a:spcPts val="800"/>
              </a:spcAft>
              <a:buSzPct val="100000"/>
              <a:buChar char="•"/>
            </a:pPr>
            <a:r>
              <a:rPr lang="en-US" sz="1200" dirty="0">
                <a:solidFill>
                  <a:srgbClr val="22303C"/>
                </a:solidFill>
                <a:latin typeface="Calibri" pitchFamily="34" charset="0"/>
                <a:ea typeface="Calibri" pitchFamily="34" charset="-122"/>
                <a:cs typeface="Calibri" pitchFamily="34" charset="-120"/>
              </a:rPr>
              <a:t>Sửa chữa → hạch toán chi phí trong kỳ</a:t>
            </a:r>
            <a:endParaRPr lang="en-US" sz="1200" dirty="0"/>
          </a:p>
          <a:p>
            <a:pPr marL="177800" indent="-177800">
              <a:lnSpc>
                <a:spcPct val="102000"/>
              </a:lnSpc>
              <a:spcAft>
                <a:spcPts val="800"/>
              </a:spcAft>
              <a:buSzPct val="100000"/>
              <a:buChar char="•"/>
            </a:pPr>
            <a:r>
              <a:rPr lang="en-US" sz="1200" dirty="0">
                <a:solidFill>
                  <a:srgbClr val="22303C"/>
                </a:solidFill>
                <a:latin typeface="Calibri" pitchFamily="34" charset="0"/>
                <a:ea typeface="Calibri" pitchFamily="34" charset="-122"/>
                <a:cs typeface="Calibri" pitchFamily="34" charset="-120"/>
              </a:rPr>
              <a:t>Nâng cấp → cộng vào nguyên giá tài sản</a:t>
            </a:r>
            <a:endParaRPr lang="en-US" sz="1200" dirty="0"/>
          </a:p>
          <a:p>
            <a:pPr marL="177800" indent="-177800">
              <a:lnSpc>
                <a:spcPct val="102000"/>
              </a:lnSpc>
              <a:spcAft>
                <a:spcPts val="800"/>
              </a:spcAft>
              <a:buSzPct val="100000"/>
              <a:buChar char="•"/>
            </a:pPr>
            <a:r>
              <a:rPr lang="en-US" sz="1200" dirty="0">
                <a:solidFill>
                  <a:srgbClr val="22303C"/>
                </a:solidFill>
                <a:latin typeface="Calibri" pitchFamily="34" charset="0"/>
                <a:ea typeface="Calibri" pitchFamily="34" charset="-122"/>
                <a:cs typeface="Calibri" pitchFamily="34" charset="-120"/>
              </a:rPr>
              <a:t>Thiếu vật tư → xuất kho hoặc tự tạo PR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KHO – MUA SẮM – NCC</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Tồn kho, mua sắm và nhà cung cấp liên thông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20</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11064240" cy="1097280"/>
          </a:xfrm>
          <a:prstGeom prst="roundRect">
            <a:avLst>
              <a:gd name="adj" fmla="val 10000"/>
            </a:avLst>
          </a:prstGeom>
          <a:solidFill>
            <a:srgbClr val="0E2A47"/>
          </a:solidFill>
          <a:ln/>
        </p:spPr>
      </p:sp>
      <p:sp>
        <p:nvSpPr>
          <p:cNvPr id="9" name="Text 7"/>
          <p:cNvSpPr/>
          <p:nvPr/>
        </p:nvSpPr>
        <p:spPr>
          <a:xfrm>
            <a:off x="822960" y="1810512"/>
            <a:ext cx="5486400" cy="320040"/>
          </a:xfrm>
          <a:prstGeom prst="rect">
            <a:avLst/>
          </a:prstGeom>
          <a:noFill/>
          <a:ln/>
        </p:spPr>
        <p:txBody>
          <a:bodyPr wrap="square" lIns="0" tIns="0" rIns="0" bIns="0" rtlCol="0" anchor="ctr"/>
          <a:lstStyle/>
          <a:p>
            <a:pPr marL="0" indent="0">
              <a:buNone/>
            </a:pPr>
            <a:r>
              <a:rPr lang="en-US" sz="1250" b="1" dirty="0">
                <a:solidFill>
                  <a:srgbClr val="23B5A6"/>
                </a:solidFill>
                <a:latin typeface="Calibri" pitchFamily="34" charset="0"/>
                <a:ea typeface="Calibri" pitchFamily="34" charset="-122"/>
                <a:cs typeface="Calibri" pitchFamily="34" charset="-120"/>
              </a:rPr>
              <a:t>Quy trình mua sắm (Procure-to-Pay)</a:t>
            </a:r>
            <a:endParaRPr lang="en-US" sz="1250" dirty="0"/>
          </a:p>
        </p:txBody>
      </p:sp>
      <p:sp>
        <p:nvSpPr>
          <p:cNvPr id="10" name="Shape 8"/>
          <p:cNvSpPr/>
          <p:nvPr/>
        </p:nvSpPr>
        <p:spPr>
          <a:xfrm>
            <a:off x="822960" y="2194560"/>
            <a:ext cx="2487168" cy="457200"/>
          </a:xfrm>
          <a:prstGeom prst="roundRect">
            <a:avLst>
              <a:gd name="adj" fmla="val 16000"/>
            </a:avLst>
          </a:prstGeom>
          <a:solidFill>
            <a:srgbClr val="16385C"/>
          </a:solidFill>
          <a:ln/>
        </p:spPr>
      </p:sp>
      <p:sp>
        <p:nvSpPr>
          <p:cNvPr id="11" name="Text 9"/>
          <p:cNvSpPr/>
          <p:nvPr/>
        </p:nvSpPr>
        <p:spPr>
          <a:xfrm>
            <a:off x="877824"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PR — Đề xuất mua</a:t>
            </a:r>
            <a:endParaRPr lang="en-US" sz="1150" dirty="0"/>
          </a:p>
        </p:txBody>
      </p:sp>
      <p:sp>
        <p:nvSpPr>
          <p:cNvPr id="12" name="Shape 10"/>
          <p:cNvSpPr/>
          <p:nvPr/>
        </p:nvSpPr>
        <p:spPr>
          <a:xfrm>
            <a:off x="3328416" y="2322576"/>
            <a:ext cx="146304" cy="201168"/>
          </a:xfrm>
          <a:prstGeom prst="rightArrow">
            <a:avLst/>
          </a:prstGeom>
          <a:solidFill>
            <a:srgbClr val="23B5A6"/>
          </a:solidFill>
          <a:ln/>
        </p:spPr>
      </p:sp>
      <p:sp>
        <p:nvSpPr>
          <p:cNvPr id="13" name="Shape 11"/>
          <p:cNvSpPr/>
          <p:nvPr/>
        </p:nvSpPr>
        <p:spPr>
          <a:xfrm>
            <a:off x="3493008" y="2194560"/>
            <a:ext cx="2487168" cy="457200"/>
          </a:xfrm>
          <a:prstGeom prst="roundRect">
            <a:avLst>
              <a:gd name="adj" fmla="val 16000"/>
            </a:avLst>
          </a:prstGeom>
          <a:solidFill>
            <a:srgbClr val="16385C"/>
          </a:solidFill>
          <a:ln/>
        </p:spPr>
      </p:sp>
      <p:sp>
        <p:nvSpPr>
          <p:cNvPr id="14" name="Text 12"/>
          <p:cNvSpPr/>
          <p:nvPr/>
        </p:nvSpPr>
        <p:spPr>
          <a:xfrm>
            <a:off x="3547872"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Duyệt nhiều cấp</a:t>
            </a:r>
            <a:endParaRPr lang="en-US" sz="1150" dirty="0"/>
          </a:p>
        </p:txBody>
      </p:sp>
      <p:sp>
        <p:nvSpPr>
          <p:cNvPr id="15" name="Shape 13"/>
          <p:cNvSpPr/>
          <p:nvPr/>
        </p:nvSpPr>
        <p:spPr>
          <a:xfrm>
            <a:off x="5998464" y="2322576"/>
            <a:ext cx="146304" cy="201168"/>
          </a:xfrm>
          <a:prstGeom prst="rightArrow">
            <a:avLst/>
          </a:prstGeom>
          <a:solidFill>
            <a:srgbClr val="23B5A6"/>
          </a:solidFill>
          <a:ln/>
        </p:spPr>
      </p:sp>
      <p:sp>
        <p:nvSpPr>
          <p:cNvPr id="16" name="Shape 14"/>
          <p:cNvSpPr/>
          <p:nvPr/>
        </p:nvSpPr>
        <p:spPr>
          <a:xfrm>
            <a:off x="6163056" y="2194560"/>
            <a:ext cx="2487168" cy="457200"/>
          </a:xfrm>
          <a:prstGeom prst="roundRect">
            <a:avLst>
              <a:gd name="adj" fmla="val 16000"/>
            </a:avLst>
          </a:prstGeom>
          <a:solidFill>
            <a:srgbClr val="16385C"/>
          </a:solidFill>
          <a:ln/>
        </p:spPr>
      </p:sp>
      <p:sp>
        <p:nvSpPr>
          <p:cNvPr id="17" name="Text 15"/>
          <p:cNvSpPr/>
          <p:nvPr/>
        </p:nvSpPr>
        <p:spPr>
          <a:xfrm>
            <a:off x="6217920"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PO — Đơn mua</a:t>
            </a:r>
            <a:endParaRPr lang="en-US" sz="1150" dirty="0"/>
          </a:p>
        </p:txBody>
      </p:sp>
      <p:sp>
        <p:nvSpPr>
          <p:cNvPr id="18" name="Shape 16"/>
          <p:cNvSpPr/>
          <p:nvPr/>
        </p:nvSpPr>
        <p:spPr>
          <a:xfrm>
            <a:off x="8668512" y="2322576"/>
            <a:ext cx="146304" cy="201168"/>
          </a:xfrm>
          <a:prstGeom prst="rightArrow">
            <a:avLst/>
          </a:prstGeom>
          <a:solidFill>
            <a:srgbClr val="23B5A6"/>
          </a:solidFill>
          <a:ln/>
        </p:spPr>
      </p:sp>
      <p:sp>
        <p:nvSpPr>
          <p:cNvPr id="19" name="Shape 17"/>
          <p:cNvSpPr/>
          <p:nvPr/>
        </p:nvSpPr>
        <p:spPr>
          <a:xfrm>
            <a:off x="8833104" y="2194560"/>
            <a:ext cx="2487168" cy="457200"/>
          </a:xfrm>
          <a:prstGeom prst="roundRect">
            <a:avLst>
              <a:gd name="adj" fmla="val 16000"/>
            </a:avLst>
          </a:prstGeom>
          <a:solidFill>
            <a:srgbClr val="EFA13C"/>
          </a:solidFill>
          <a:ln/>
        </p:spPr>
      </p:sp>
      <p:sp>
        <p:nvSpPr>
          <p:cNvPr id="20" name="Text 18"/>
          <p:cNvSpPr/>
          <p:nvPr/>
        </p:nvSpPr>
        <p:spPr>
          <a:xfrm>
            <a:off x="8887968"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Invoice — Hóa đơn (OCR)</a:t>
            </a:r>
            <a:endParaRPr lang="en-US" sz="1150" dirty="0"/>
          </a:p>
        </p:txBody>
      </p:sp>
      <p:sp>
        <p:nvSpPr>
          <p:cNvPr id="21" name="Shape 19"/>
          <p:cNvSpPr/>
          <p:nvPr/>
        </p:nvSpPr>
        <p:spPr>
          <a:xfrm>
            <a:off x="56692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2" name="Shape 20"/>
          <p:cNvSpPr/>
          <p:nvPr/>
        </p:nvSpPr>
        <p:spPr>
          <a:xfrm>
            <a:off x="841248" y="3291840"/>
            <a:ext cx="713232" cy="713232"/>
          </a:xfrm>
          <a:prstGeom prst="roundRect">
            <a:avLst>
              <a:gd name="adj" fmla="val 50000"/>
            </a:avLst>
          </a:prstGeom>
          <a:solidFill>
            <a:srgbClr val="0E7C86"/>
          </a:solidFill>
          <a:ln/>
        </p:spPr>
      </p:sp>
      <p:pic>
        <p:nvPicPr>
          <p:cNvPr id="23" name="Image 0" descr="preencoded.png"/>
          <p:cNvPicPr>
            <a:picLocks noChangeAspect="1"/>
          </p:cNvPicPr>
          <p:nvPr/>
        </p:nvPicPr>
        <p:blipFill>
          <a:blip r:embed="rId3"/>
          <a:stretch>
            <a:fillRect/>
          </a:stretch>
        </p:blipFill>
        <p:spPr>
          <a:xfrm>
            <a:off x="1012424" y="3463016"/>
            <a:ext cx="370881" cy="370881"/>
          </a:xfrm>
          <a:prstGeom prst="rect">
            <a:avLst/>
          </a:prstGeom>
        </p:spPr>
      </p:pic>
      <p:sp>
        <p:nvSpPr>
          <p:cNvPr id="24" name="Text 21"/>
          <p:cNvSpPr/>
          <p:nvPr/>
        </p:nvSpPr>
        <p:spPr>
          <a:xfrm>
            <a:off x="168249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Kho &amp; vật tư</a:t>
            </a:r>
            <a:endParaRPr lang="en-US" sz="1650" dirty="0"/>
          </a:p>
        </p:txBody>
      </p:sp>
      <p:sp>
        <p:nvSpPr>
          <p:cNvPr id="25" name="Text 22"/>
          <p:cNvSpPr/>
          <p:nvPr/>
        </p:nvSpPr>
        <p:spPr>
          <a:xfrm>
            <a:off x="84124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Kho, danh mục vật tư, mức tồn</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Mọi biến động qua InventoryTransaction</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Cảnh báo tồn dưới ngưỡng (low-stock)</a:t>
            </a:r>
            <a:endParaRPr lang="en-US" sz="1250" dirty="0"/>
          </a:p>
        </p:txBody>
      </p:sp>
      <p:sp>
        <p:nvSpPr>
          <p:cNvPr id="26" name="Shape 23"/>
          <p:cNvSpPr/>
          <p:nvPr/>
        </p:nvSpPr>
        <p:spPr>
          <a:xfrm>
            <a:off x="431596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7" name="Shape 24"/>
          <p:cNvSpPr/>
          <p:nvPr/>
        </p:nvSpPr>
        <p:spPr>
          <a:xfrm>
            <a:off x="4590288" y="3291840"/>
            <a:ext cx="713232" cy="713232"/>
          </a:xfrm>
          <a:prstGeom prst="roundRect">
            <a:avLst>
              <a:gd name="adj" fmla="val 50000"/>
            </a:avLst>
          </a:prstGeom>
          <a:solidFill>
            <a:srgbClr val="1E3A57"/>
          </a:solidFill>
          <a:ln/>
        </p:spPr>
      </p:sp>
      <p:pic>
        <p:nvPicPr>
          <p:cNvPr id="28" name="Image 1" descr="preencoded.png"/>
          <p:cNvPicPr>
            <a:picLocks noChangeAspect="1"/>
          </p:cNvPicPr>
          <p:nvPr/>
        </p:nvPicPr>
        <p:blipFill>
          <a:blip r:embed="rId4"/>
          <a:stretch>
            <a:fillRect/>
          </a:stretch>
        </p:blipFill>
        <p:spPr>
          <a:xfrm>
            <a:off x="4761464" y="3463016"/>
            <a:ext cx="370881" cy="370881"/>
          </a:xfrm>
          <a:prstGeom prst="rect">
            <a:avLst/>
          </a:prstGeom>
        </p:spPr>
      </p:pic>
      <p:sp>
        <p:nvSpPr>
          <p:cNvPr id="29" name="Text 25"/>
          <p:cNvSpPr/>
          <p:nvPr/>
        </p:nvSpPr>
        <p:spPr>
          <a:xfrm>
            <a:off x="543153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Kiểm kê định kỳ</a:t>
            </a:r>
            <a:endParaRPr lang="en-US" sz="1650" dirty="0"/>
          </a:p>
        </p:txBody>
      </p:sp>
      <p:sp>
        <p:nvSpPr>
          <p:cNvPr id="30" name="Text 26"/>
          <p:cNvSpPr/>
          <p:nvPr/>
        </p:nvSpPr>
        <p:spPr>
          <a:xfrm>
            <a:off x="459028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Phiếu StockTake có mã kỳ</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Đối chiếu tồn sổ – thực đếm – chênh lệch</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Tự sinh giao dịch điều chỉnh (ADJUST)</a:t>
            </a:r>
            <a:endParaRPr lang="en-US" sz="1250" dirty="0"/>
          </a:p>
        </p:txBody>
      </p:sp>
      <p:sp>
        <p:nvSpPr>
          <p:cNvPr id="31" name="Shape 27"/>
          <p:cNvSpPr/>
          <p:nvPr/>
        </p:nvSpPr>
        <p:spPr>
          <a:xfrm>
            <a:off x="806500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2" name="Shape 28"/>
          <p:cNvSpPr/>
          <p:nvPr/>
        </p:nvSpPr>
        <p:spPr>
          <a:xfrm>
            <a:off x="8339328" y="3291840"/>
            <a:ext cx="713232" cy="713232"/>
          </a:xfrm>
          <a:prstGeom prst="roundRect">
            <a:avLst>
              <a:gd name="adj" fmla="val 50000"/>
            </a:avLst>
          </a:prstGeom>
          <a:solidFill>
            <a:srgbClr val="EFA13C"/>
          </a:solidFill>
          <a:ln/>
        </p:spPr>
      </p:sp>
      <p:pic>
        <p:nvPicPr>
          <p:cNvPr id="33" name="Image 2" descr="preencoded.png"/>
          <p:cNvPicPr>
            <a:picLocks noChangeAspect="1"/>
          </p:cNvPicPr>
          <p:nvPr/>
        </p:nvPicPr>
        <p:blipFill>
          <a:blip r:embed="rId5"/>
          <a:stretch>
            <a:fillRect/>
          </a:stretch>
        </p:blipFill>
        <p:spPr>
          <a:xfrm>
            <a:off x="8510504" y="3463016"/>
            <a:ext cx="370881" cy="370881"/>
          </a:xfrm>
          <a:prstGeom prst="rect">
            <a:avLst/>
          </a:prstGeom>
        </p:spPr>
      </p:pic>
      <p:sp>
        <p:nvSpPr>
          <p:cNvPr id="34" name="Text 29"/>
          <p:cNvSpPr/>
          <p:nvPr/>
        </p:nvSpPr>
        <p:spPr>
          <a:xfrm>
            <a:off x="918057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Nhà cung cấp</a:t>
            </a:r>
            <a:endParaRPr lang="en-US" sz="1650" dirty="0"/>
          </a:p>
        </p:txBody>
      </p:sp>
      <p:sp>
        <p:nvSpPr>
          <p:cNvPr id="35" name="Text 30"/>
          <p:cNvSpPr/>
          <p:nvPr/>
        </p:nvSpPr>
        <p:spPr>
          <a:xfrm>
            <a:off x="833932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Hồ sơ NCC, blacklist / kích hoạt</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Hợp đồng, cảnh báo sắp hết hạn</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Đánh giá hiệu suất định kỳ</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OCR HÓA ĐƠN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Số hóa hóa đơn tự động — kiến trúc đa engine</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21</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6903720" cy="2468880"/>
          </a:xfrm>
          <a:prstGeom prst="roundRect">
            <a:avLst>
              <a:gd name="adj" fmla="val 4444"/>
            </a:avLst>
          </a:prstGeom>
          <a:solidFill>
            <a:srgbClr val="F1F5F8"/>
          </a:solidFill>
          <a:ln/>
          <a:effectLst>
            <a:outerShdw blurRad="88900" dist="25400" dir="5400000" algn="bl" rotWithShape="0">
              <a:srgbClr val="B9C7D1">
                <a:alpha val="40000"/>
              </a:srgbClr>
            </a:outerShdw>
          </a:effectLst>
        </p:spPr>
      </p:sp>
      <p:sp>
        <p:nvSpPr>
          <p:cNvPr id="9" name="Text 7"/>
          <p:cNvSpPr/>
          <p:nvPr/>
        </p:nvSpPr>
        <p:spPr>
          <a:xfrm>
            <a:off x="777240" y="1828800"/>
            <a:ext cx="6400800" cy="32004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Xử lý bất đồng bộ (hàng đợi – worker)</a:t>
            </a:r>
            <a:endParaRPr lang="en-US" sz="1500" dirty="0"/>
          </a:p>
        </p:txBody>
      </p:sp>
      <p:sp>
        <p:nvSpPr>
          <p:cNvPr id="10" name="Shape 8"/>
          <p:cNvSpPr/>
          <p:nvPr/>
        </p:nvSpPr>
        <p:spPr>
          <a:xfrm>
            <a:off x="777240" y="2331720"/>
            <a:ext cx="1243584" cy="777240"/>
          </a:xfrm>
          <a:prstGeom prst="roundRect">
            <a:avLst>
              <a:gd name="adj" fmla="val 9412"/>
            </a:avLst>
          </a:prstGeom>
          <a:solidFill>
            <a:srgbClr val="0E2A47"/>
          </a:solidFill>
          <a:ln/>
        </p:spPr>
      </p:sp>
      <p:sp>
        <p:nvSpPr>
          <p:cNvPr id="11" name="Text 9"/>
          <p:cNvSpPr/>
          <p:nvPr/>
        </p:nvSpPr>
        <p:spPr>
          <a:xfrm>
            <a:off x="804672" y="2331720"/>
            <a:ext cx="1188720" cy="777240"/>
          </a:xfrm>
          <a:prstGeom prst="rect">
            <a:avLst/>
          </a:prstGeom>
          <a:noFill/>
          <a:ln/>
        </p:spPr>
        <p:txBody>
          <a:bodyPr wrap="square" lIns="0" tIns="0" rIns="0" bIns="0" rtlCol="0" anchor="ctr"/>
          <a:lstStyle/>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Tải ảnh HĐ</a:t>
            </a:r>
            <a:endParaRPr lang="en-US" sz="950" dirty="0"/>
          </a:p>
        </p:txBody>
      </p:sp>
      <p:sp>
        <p:nvSpPr>
          <p:cNvPr id="12" name="Shape 10"/>
          <p:cNvSpPr/>
          <p:nvPr/>
        </p:nvSpPr>
        <p:spPr>
          <a:xfrm>
            <a:off x="2011680" y="2615184"/>
            <a:ext cx="91440" cy="201168"/>
          </a:xfrm>
          <a:prstGeom prst="rightArrow">
            <a:avLst/>
          </a:prstGeom>
          <a:solidFill>
            <a:srgbClr val="0E7C86"/>
          </a:solidFill>
          <a:ln/>
        </p:spPr>
      </p:sp>
      <p:sp>
        <p:nvSpPr>
          <p:cNvPr id="13" name="Shape 11"/>
          <p:cNvSpPr/>
          <p:nvPr/>
        </p:nvSpPr>
        <p:spPr>
          <a:xfrm>
            <a:off x="2075688" y="2331720"/>
            <a:ext cx="1243584" cy="777240"/>
          </a:xfrm>
          <a:prstGeom prst="roundRect">
            <a:avLst>
              <a:gd name="adj" fmla="val 9412"/>
            </a:avLst>
          </a:prstGeom>
          <a:solidFill>
            <a:srgbClr val="0E2A47"/>
          </a:solidFill>
          <a:ln/>
        </p:spPr>
      </p:sp>
      <p:sp>
        <p:nvSpPr>
          <p:cNvPr id="14" name="Text 12"/>
          <p:cNvSpPr/>
          <p:nvPr/>
        </p:nvSpPr>
        <p:spPr>
          <a:xfrm>
            <a:off x="2103120" y="2331720"/>
            <a:ext cx="1188720" cy="777240"/>
          </a:xfrm>
          <a:prstGeom prst="rect">
            <a:avLst/>
          </a:prstGeom>
          <a:noFill/>
          <a:ln/>
        </p:spPr>
        <p:txBody>
          <a:bodyPr wrap="square" lIns="0" tIns="0" rIns="0" bIns="0" rtlCol="0" anchor="ctr"/>
          <a:lstStyle/>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OcrJobQueue</a:t>
            </a:r>
            <a:endParaRPr lang="en-US" sz="950" dirty="0"/>
          </a:p>
        </p:txBody>
      </p:sp>
      <p:sp>
        <p:nvSpPr>
          <p:cNvPr id="15" name="Shape 13"/>
          <p:cNvSpPr/>
          <p:nvPr/>
        </p:nvSpPr>
        <p:spPr>
          <a:xfrm>
            <a:off x="3310128" y="2615184"/>
            <a:ext cx="91440" cy="201168"/>
          </a:xfrm>
          <a:prstGeom prst="rightArrow">
            <a:avLst/>
          </a:prstGeom>
          <a:solidFill>
            <a:srgbClr val="0E7C86"/>
          </a:solidFill>
          <a:ln/>
        </p:spPr>
      </p:sp>
      <p:sp>
        <p:nvSpPr>
          <p:cNvPr id="16" name="Shape 14"/>
          <p:cNvSpPr/>
          <p:nvPr/>
        </p:nvSpPr>
        <p:spPr>
          <a:xfrm>
            <a:off x="3374136" y="2331720"/>
            <a:ext cx="1243584" cy="777240"/>
          </a:xfrm>
          <a:prstGeom prst="roundRect">
            <a:avLst>
              <a:gd name="adj" fmla="val 9412"/>
            </a:avLst>
          </a:prstGeom>
          <a:solidFill>
            <a:srgbClr val="0E2A47"/>
          </a:solidFill>
          <a:ln/>
        </p:spPr>
      </p:sp>
      <p:sp>
        <p:nvSpPr>
          <p:cNvPr id="17" name="Text 15"/>
          <p:cNvSpPr/>
          <p:nvPr/>
        </p:nvSpPr>
        <p:spPr>
          <a:xfrm>
            <a:off x="3401568" y="2331720"/>
            <a:ext cx="1188720" cy="777240"/>
          </a:xfrm>
          <a:prstGeom prst="rect">
            <a:avLst/>
          </a:prstGeom>
          <a:noFill/>
          <a:ln/>
        </p:spPr>
        <p:txBody>
          <a:bodyPr wrap="square" lIns="0" tIns="0" rIns="0" bIns="0" rtlCol="0" anchor="ctr"/>
          <a:lstStyle/>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OcrWorker</a:t>
            </a:r>
            <a:endParaRPr lang="en-US" sz="950" dirty="0"/>
          </a:p>
        </p:txBody>
      </p:sp>
      <p:sp>
        <p:nvSpPr>
          <p:cNvPr id="18" name="Shape 16"/>
          <p:cNvSpPr/>
          <p:nvPr/>
        </p:nvSpPr>
        <p:spPr>
          <a:xfrm>
            <a:off x="4608576" y="2615184"/>
            <a:ext cx="91440" cy="201168"/>
          </a:xfrm>
          <a:prstGeom prst="rightArrow">
            <a:avLst/>
          </a:prstGeom>
          <a:solidFill>
            <a:srgbClr val="0E7C86"/>
          </a:solidFill>
          <a:ln/>
        </p:spPr>
      </p:sp>
      <p:sp>
        <p:nvSpPr>
          <p:cNvPr id="19" name="Shape 17"/>
          <p:cNvSpPr/>
          <p:nvPr/>
        </p:nvSpPr>
        <p:spPr>
          <a:xfrm>
            <a:off x="4672584" y="2331720"/>
            <a:ext cx="1243584" cy="777240"/>
          </a:xfrm>
          <a:prstGeom prst="roundRect">
            <a:avLst>
              <a:gd name="adj" fmla="val 9412"/>
            </a:avLst>
          </a:prstGeom>
          <a:solidFill>
            <a:srgbClr val="EFA13C"/>
          </a:solidFill>
          <a:ln/>
        </p:spPr>
      </p:sp>
      <p:sp>
        <p:nvSpPr>
          <p:cNvPr id="20" name="Text 18"/>
          <p:cNvSpPr/>
          <p:nvPr/>
        </p:nvSpPr>
        <p:spPr>
          <a:xfrm>
            <a:off x="4700016" y="2331720"/>
            <a:ext cx="1188720" cy="777240"/>
          </a:xfrm>
          <a:prstGeom prst="rect">
            <a:avLst/>
          </a:prstGeom>
          <a:noFill/>
          <a:ln/>
        </p:spPr>
        <p:txBody>
          <a:bodyPr wrap="square" lIns="0" tIns="0" rIns="0" bIns="0" rtlCol="0" anchor="ctr"/>
          <a:lstStyle/>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OCR svc</a:t>
            </a:r>
            <a:endParaRPr lang="en-US" sz="950" dirty="0"/>
          </a:p>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(FastAPI)</a:t>
            </a:r>
            <a:endParaRPr lang="en-US" sz="950" dirty="0"/>
          </a:p>
        </p:txBody>
      </p:sp>
      <p:sp>
        <p:nvSpPr>
          <p:cNvPr id="21" name="Shape 19"/>
          <p:cNvSpPr/>
          <p:nvPr/>
        </p:nvSpPr>
        <p:spPr>
          <a:xfrm>
            <a:off x="5907024" y="2615184"/>
            <a:ext cx="91440" cy="201168"/>
          </a:xfrm>
          <a:prstGeom prst="rightArrow">
            <a:avLst/>
          </a:prstGeom>
          <a:solidFill>
            <a:srgbClr val="0E7C86"/>
          </a:solidFill>
          <a:ln/>
        </p:spPr>
      </p:sp>
      <p:sp>
        <p:nvSpPr>
          <p:cNvPr id="22" name="Shape 20"/>
          <p:cNvSpPr/>
          <p:nvPr/>
        </p:nvSpPr>
        <p:spPr>
          <a:xfrm>
            <a:off x="5971032" y="2331720"/>
            <a:ext cx="1243584" cy="777240"/>
          </a:xfrm>
          <a:prstGeom prst="roundRect">
            <a:avLst>
              <a:gd name="adj" fmla="val 9412"/>
            </a:avLst>
          </a:prstGeom>
          <a:solidFill>
            <a:srgbClr val="0E2A47"/>
          </a:solidFill>
          <a:ln/>
        </p:spPr>
      </p:sp>
      <p:sp>
        <p:nvSpPr>
          <p:cNvPr id="23" name="Text 21"/>
          <p:cNvSpPr/>
          <p:nvPr/>
        </p:nvSpPr>
        <p:spPr>
          <a:xfrm>
            <a:off x="5998464" y="2331720"/>
            <a:ext cx="1188720" cy="777240"/>
          </a:xfrm>
          <a:prstGeom prst="rect">
            <a:avLst/>
          </a:prstGeom>
          <a:noFill/>
          <a:ln/>
        </p:spPr>
        <p:txBody>
          <a:bodyPr wrap="square" lIns="0" tIns="0" rIns="0" bIns="0" rtlCol="0" anchor="ctr"/>
          <a:lstStyle/>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Invoice</a:t>
            </a:r>
            <a:endParaRPr lang="en-US" sz="950" dirty="0"/>
          </a:p>
          <a:p>
            <a:pPr marL="0" indent="0" algn="ctr">
              <a:lnSpc>
                <a:spcPct val="90000"/>
              </a:lnSpc>
              <a:buNone/>
            </a:pPr>
            <a:r>
              <a:rPr lang="en-US" sz="950" b="1" dirty="0">
                <a:solidFill>
                  <a:srgbClr val="FFFFFF"/>
                </a:solidFill>
                <a:latin typeface="Calibri" pitchFamily="34" charset="0"/>
                <a:ea typeface="Calibri" pitchFamily="34" charset="-122"/>
                <a:cs typeface="Calibri" pitchFamily="34" charset="-120"/>
              </a:rPr>
              <a:t>chờ xác nhận</a:t>
            </a:r>
            <a:endParaRPr lang="en-US" sz="950" dirty="0"/>
          </a:p>
        </p:txBody>
      </p:sp>
      <p:sp>
        <p:nvSpPr>
          <p:cNvPr id="24" name="Text 22"/>
          <p:cNvSpPr/>
          <p:nvPr/>
        </p:nvSpPr>
        <p:spPr>
          <a:xfrm>
            <a:off x="777240" y="3246120"/>
            <a:ext cx="6492240" cy="320040"/>
          </a:xfrm>
          <a:prstGeom prst="rect">
            <a:avLst/>
          </a:prstGeom>
          <a:noFill/>
          <a:ln/>
        </p:spPr>
        <p:txBody>
          <a:bodyPr wrap="square" lIns="0" tIns="0" rIns="0" bIns="0" rtlCol="0" anchor="ctr"/>
          <a:lstStyle/>
          <a:p>
            <a:pPr marL="0" indent="0">
              <a:buNone/>
            </a:pPr>
            <a:r>
              <a:rPr lang="en-US" sz="1150" i="1" dirty="0">
                <a:solidFill>
                  <a:srgbClr val="6B7A88"/>
                </a:solidFill>
                <a:latin typeface="Calibri" pitchFamily="34" charset="0"/>
                <a:ea typeface="Calibri" pitchFamily="34" charset="-122"/>
                <a:cs typeface="Calibri" pitchFamily="34" charset="-120"/>
              </a:rPr>
              <a:t>Backend trả jobId ngay (không chặn UI) · giao diện polling tới khi job hoàn tất.</a:t>
            </a:r>
            <a:endParaRPr lang="en-US" sz="1150" dirty="0"/>
          </a:p>
        </p:txBody>
      </p:sp>
      <p:sp>
        <p:nvSpPr>
          <p:cNvPr id="25" name="Text 23"/>
          <p:cNvSpPr/>
          <p:nvPr/>
        </p:nvSpPr>
        <p:spPr>
          <a:xfrm>
            <a:off x="777240" y="3611880"/>
            <a:ext cx="6492240" cy="457200"/>
          </a:xfrm>
          <a:prstGeom prst="rect">
            <a:avLst/>
          </a:prstGeom>
          <a:noFill/>
          <a:ln/>
        </p:spPr>
        <p:txBody>
          <a:bodyPr wrap="square" lIns="0" tIns="0" rIns="0" bIns="0" rtlCol="0" anchor="t"/>
          <a:lstStyle/>
          <a:p>
            <a:pPr marL="0" indent="0">
              <a:buNone/>
            </a:pPr>
            <a:r>
              <a:rPr lang="en-US" sz="1150" b="1" dirty="0">
                <a:solidFill>
                  <a:srgbClr val="0E2A47"/>
                </a:solidFill>
                <a:latin typeface="Calibri" pitchFamily="34" charset="0"/>
                <a:ea typeface="Calibri" pitchFamily="34" charset="-122"/>
                <a:cs typeface="Calibri" pitchFamily="34" charset="-120"/>
              </a:rPr>
              <a:t>3 engine tự chủ, chạy offline:  </a:t>
            </a:r>
            <a:r>
              <a:rPr lang="en-US" sz="1150" b="1" dirty="0">
                <a:solidFill>
                  <a:srgbClr val="0E7C86"/>
                </a:solidFill>
                <a:latin typeface="Calibri" pitchFamily="34" charset="0"/>
                <a:ea typeface="Calibri" pitchFamily="34" charset="-122"/>
                <a:cs typeface="Calibri" pitchFamily="34" charset="-120"/>
              </a:rPr>
              <a:t>paddleocr (mặc định) · vietocr · paddledet_viet (hybrid)</a:t>
            </a:r>
            <a:endParaRPr lang="en-US" sz="1150" dirty="0"/>
          </a:p>
        </p:txBody>
      </p:sp>
      <p:sp>
        <p:nvSpPr>
          <p:cNvPr id="26" name="Shape 24"/>
          <p:cNvSpPr/>
          <p:nvPr/>
        </p:nvSpPr>
        <p:spPr>
          <a:xfrm>
            <a:off x="7635240" y="1691640"/>
            <a:ext cx="3995928" cy="2468880"/>
          </a:xfrm>
          <a:prstGeom prst="roundRect">
            <a:avLst>
              <a:gd name="adj" fmla="val 4444"/>
            </a:avLst>
          </a:prstGeom>
          <a:solidFill>
            <a:srgbClr val="0E2A47"/>
          </a:solidFill>
          <a:ln/>
        </p:spPr>
      </p:sp>
      <p:sp>
        <p:nvSpPr>
          <p:cNvPr id="27" name="Shape 25"/>
          <p:cNvSpPr/>
          <p:nvPr/>
        </p:nvSpPr>
        <p:spPr>
          <a:xfrm>
            <a:off x="7863840" y="1874520"/>
            <a:ext cx="548640" cy="548640"/>
          </a:xfrm>
          <a:prstGeom prst="roundRect">
            <a:avLst>
              <a:gd name="adj" fmla="val 50000"/>
            </a:avLst>
          </a:prstGeom>
          <a:solidFill>
            <a:srgbClr val="23B5A6"/>
          </a:solidFill>
          <a:ln/>
        </p:spPr>
      </p:sp>
      <p:pic>
        <p:nvPicPr>
          <p:cNvPr id="28" name="Image 0" descr="preencoded.png"/>
          <p:cNvPicPr>
            <a:picLocks noChangeAspect="1"/>
          </p:cNvPicPr>
          <p:nvPr/>
        </p:nvPicPr>
        <p:blipFill>
          <a:blip r:embed="rId3"/>
          <a:stretch>
            <a:fillRect/>
          </a:stretch>
        </p:blipFill>
        <p:spPr>
          <a:xfrm>
            <a:off x="7995514" y="2006194"/>
            <a:ext cx="285293" cy="285293"/>
          </a:xfrm>
          <a:prstGeom prst="rect">
            <a:avLst/>
          </a:prstGeom>
        </p:spPr>
      </p:pic>
      <p:sp>
        <p:nvSpPr>
          <p:cNvPr id="29" name="Text 26"/>
          <p:cNvSpPr/>
          <p:nvPr/>
        </p:nvSpPr>
        <p:spPr>
          <a:xfrm>
            <a:off x="8503920" y="1901952"/>
            <a:ext cx="2926080" cy="50292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Đối chiếu 3 chiều với PO</a:t>
            </a:r>
            <a:endParaRPr lang="en-US" sz="1450" dirty="0"/>
          </a:p>
        </p:txBody>
      </p:sp>
      <p:sp>
        <p:nvSpPr>
          <p:cNvPr id="30" name="Text 27"/>
          <p:cNvSpPr/>
          <p:nvPr/>
        </p:nvSpPr>
        <p:spPr>
          <a:xfrm>
            <a:off x="7863840" y="2560320"/>
            <a:ext cx="3566160" cy="146304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FFFFFF"/>
                </a:solidFill>
                <a:latin typeface="Calibri" pitchFamily="34" charset="0"/>
                <a:ea typeface="Calibri" pitchFamily="34" charset="-122"/>
                <a:cs typeface="Calibri" pitchFamily="34" charset="-120"/>
              </a:rPr>
              <a:t>Nhà cung cấp — theo mã số thuế (fallback tên)</a:t>
            </a:r>
            <a:endParaRPr lang="en-US" sz="1200" dirty="0"/>
          </a:p>
          <a:p>
            <a:pPr marL="177800" indent="-177800">
              <a:lnSpc>
                <a:spcPct val="102000"/>
              </a:lnSpc>
              <a:spcAft>
                <a:spcPts val="900"/>
              </a:spcAft>
              <a:buSzPct val="100000"/>
              <a:buChar char="•"/>
            </a:pPr>
            <a:r>
              <a:rPr lang="en-US" sz="1200" dirty="0">
                <a:solidFill>
                  <a:srgbClr val="FFFFFF"/>
                </a:solidFill>
                <a:latin typeface="Calibri" pitchFamily="34" charset="0"/>
                <a:ea typeface="Calibri" pitchFamily="34" charset="-122"/>
                <a:cs typeface="Calibri" pitchFamily="34" charset="-120"/>
              </a:rPr>
              <a:t>Tổng tiền — tiền hàng + thuế so với PO</a:t>
            </a:r>
            <a:endParaRPr lang="en-US" sz="1200" dirty="0"/>
          </a:p>
          <a:p>
            <a:pPr marL="177800" indent="-177800">
              <a:lnSpc>
                <a:spcPct val="102000"/>
              </a:lnSpc>
              <a:spcAft>
                <a:spcPts val="900"/>
              </a:spcAft>
              <a:buSzPct val="100000"/>
              <a:buChar char="•"/>
            </a:pPr>
            <a:r>
              <a:rPr lang="en-US" sz="1200" dirty="0">
                <a:solidFill>
                  <a:srgbClr val="FFFFFF"/>
                </a:solidFill>
                <a:latin typeface="Calibri" pitchFamily="34" charset="0"/>
                <a:ea typeface="Calibri" pitchFamily="34" charset="-122"/>
                <a:cs typeface="Calibri" pitchFamily="34" charset="-120"/>
              </a:rPr>
              <a:t>Danh mục vật tư — phát hiện giao thiếu / giao sai</a:t>
            </a:r>
            <a:endParaRPr lang="en-US" sz="1200" dirty="0"/>
          </a:p>
        </p:txBody>
      </p:sp>
      <p:sp>
        <p:nvSpPr>
          <p:cNvPr id="31" name="Shape 28"/>
          <p:cNvSpPr/>
          <p:nvPr/>
        </p:nvSpPr>
        <p:spPr>
          <a:xfrm>
            <a:off x="566928" y="4343400"/>
            <a:ext cx="6903720" cy="1783080"/>
          </a:xfrm>
          <a:prstGeom prst="roundRect">
            <a:avLst>
              <a:gd name="adj" fmla="val 5128"/>
            </a:avLst>
          </a:prstGeom>
          <a:solidFill>
            <a:srgbClr val="FFFFFF"/>
          </a:solidFill>
          <a:ln/>
          <a:effectLst>
            <a:outerShdw blurRad="88900" dist="25400" dir="5400000" algn="bl" rotWithShape="0">
              <a:srgbClr val="B9C7D1">
                <a:alpha val="40000"/>
              </a:srgbClr>
            </a:outerShdw>
          </a:effectLst>
        </p:spPr>
      </p:sp>
      <p:pic>
        <p:nvPicPr>
          <p:cNvPr id="32" name="Image 1" descr="D:/DATN/TownHub/latex/images/tc_ui_proc_ocr_new.png"/>
          <p:cNvPicPr>
            <a:picLocks noChangeAspect="1"/>
          </p:cNvPicPr>
          <p:nvPr/>
        </p:nvPicPr>
        <p:blipFill>
          <a:blip r:embed="rId4"/>
          <a:srcRect/>
          <a:stretch/>
        </p:blipFill>
        <p:spPr>
          <a:xfrm>
            <a:off x="649224" y="4425696"/>
            <a:ext cx="6739128" cy="1618488"/>
          </a:xfrm>
          <a:prstGeom prst="rect">
            <a:avLst/>
          </a:prstGeom>
        </p:spPr>
      </p:pic>
      <p:sp>
        <p:nvSpPr>
          <p:cNvPr id="33" name="Text 29"/>
          <p:cNvSpPr/>
          <p:nvPr/>
        </p:nvSpPr>
        <p:spPr>
          <a:xfrm>
            <a:off x="566928" y="6144768"/>
            <a:ext cx="6903720"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Màn hình tải &amp; bóc tách hóa đơn</a:t>
            </a:r>
            <a:endParaRPr lang="en-US" sz="950" dirty="0"/>
          </a:p>
        </p:txBody>
      </p:sp>
      <p:sp>
        <p:nvSpPr>
          <p:cNvPr id="34" name="Shape 30"/>
          <p:cNvSpPr/>
          <p:nvPr/>
        </p:nvSpPr>
        <p:spPr>
          <a:xfrm>
            <a:off x="7635240" y="4343400"/>
            <a:ext cx="3995928" cy="1783080"/>
          </a:xfrm>
          <a:prstGeom prst="roundRect">
            <a:avLst>
              <a:gd name="adj" fmla="val 6154"/>
            </a:avLst>
          </a:prstGeom>
          <a:solidFill>
            <a:srgbClr val="E4EEF3"/>
          </a:solidFill>
          <a:ln/>
          <a:effectLst>
            <a:outerShdw blurRad="88900" dist="25400" dir="5400000" algn="bl" rotWithShape="0">
              <a:srgbClr val="B9C7D1">
                <a:alpha val="40000"/>
              </a:srgbClr>
            </a:outerShdw>
          </a:effectLst>
        </p:spPr>
      </p:sp>
      <p:sp>
        <p:nvSpPr>
          <p:cNvPr id="35" name="Text 31"/>
          <p:cNvSpPr/>
          <p:nvPr/>
        </p:nvSpPr>
        <p:spPr>
          <a:xfrm>
            <a:off x="7863840" y="4480560"/>
            <a:ext cx="3566160" cy="320040"/>
          </a:xfrm>
          <a:prstGeom prst="rect">
            <a:avLst/>
          </a:prstGeom>
          <a:noFill/>
          <a:ln/>
        </p:spPr>
        <p:txBody>
          <a:bodyPr wrap="square" lIns="0" tIns="0" rIns="0" bIns="0" rtlCol="0" anchor="ctr"/>
          <a:lstStyle/>
          <a:p>
            <a:pPr marL="0" indent="0">
              <a:buNone/>
            </a:pPr>
            <a:r>
              <a:rPr lang="en-US" sz="1250" b="1" dirty="0">
                <a:solidFill>
                  <a:srgbClr val="0E2A47"/>
                </a:solidFill>
                <a:latin typeface="Calibri" pitchFamily="34" charset="0"/>
                <a:ea typeface="Calibri" pitchFamily="34" charset="-122"/>
                <a:cs typeface="Calibri" pitchFamily="34" charset="-120"/>
              </a:rPr>
              <a:t>Vì sao cần đối chiếu vật tư?</a:t>
            </a:r>
            <a:endParaRPr lang="en-US" sz="1250" dirty="0"/>
          </a:p>
        </p:txBody>
      </p:sp>
      <p:sp>
        <p:nvSpPr>
          <p:cNvPr id="36" name="Text 32"/>
          <p:cNvSpPr/>
          <p:nvPr/>
        </p:nvSpPr>
        <p:spPr>
          <a:xfrm>
            <a:off x="7863840" y="4828032"/>
            <a:ext cx="3566160" cy="1234440"/>
          </a:xfrm>
          <a:prstGeom prst="rect">
            <a:avLst/>
          </a:prstGeom>
          <a:noFill/>
          <a:ln/>
        </p:spPr>
        <p:txBody>
          <a:bodyPr wrap="square" lIns="0" tIns="0" rIns="0" bIns="0" rtlCol="0" anchor="t"/>
          <a:lstStyle/>
          <a:p>
            <a:pPr marL="0" indent="0">
              <a:lnSpc>
                <a:spcPct val="103000"/>
              </a:lnSpc>
              <a:buNone/>
            </a:pPr>
            <a:r>
              <a:rPr lang="en-US" sz="1150" dirty="0">
                <a:solidFill>
                  <a:srgbClr val="22303C"/>
                </a:solidFill>
                <a:latin typeface="Calibri" pitchFamily="34" charset="0"/>
                <a:ea typeface="Calibri" pitchFamily="34" charset="-122"/>
                <a:cs typeface="Calibri" pitchFamily="34" charset="-120"/>
              </a:rPr>
              <a:t>Một hóa đơn đúng nhà cung cấp và đúng tổng tiền vẫn có thể chứa mặt hàng KHÁC với hàng đã đặt. Kế toán được phép xác nhận lệch nhưng phải xác nhận lại, có liệt kê rõ từng điểm lệch.</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OCR — KHẢO SÁT</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Vì sao tự xây engine thay vì dùng dịch vụ đám mây?</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22</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5349240" cy="4160520"/>
          </a:xfrm>
          <a:prstGeom prst="roundRect">
            <a:avLst>
              <a:gd name="adj" fmla="val 2637"/>
            </a:avLst>
          </a:prstGeom>
          <a:solidFill>
            <a:srgbClr val="F1F5F8"/>
          </a:solidFill>
          <a:ln/>
          <a:effectLst>
            <a:outerShdw blurRad="88900" dist="25400" dir="5400000" algn="bl" rotWithShape="0">
              <a:srgbClr val="B9C7D1">
                <a:alpha val="40000"/>
              </a:srgbClr>
            </a:outerShdw>
          </a:effectLst>
        </p:spPr>
      </p:sp>
      <p:sp>
        <p:nvSpPr>
          <p:cNvPr id="9" name="Text 7"/>
          <p:cNvSpPr/>
          <p:nvPr/>
        </p:nvSpPr>
        <p:spPr>
          <a:xfrm>
            <a:off x="777240" y="1783080"/>
            <a:ext cx="4937760" cy="32004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Nhóm 1 — Dịch vụ đám mây (API trả phí)</a:t>
            </a:r>
            <a:endParaRPr lang="en-US" sz="1450" dirty="0"/>
          </a:p>
        </p:txBody>
      </p:sp>
      <p:sp>
        <p:nvSpPr>
          <p:cNvPr id="10" name="Shape 8"/>
          <p:cNvSpPr/>
          <p:nvPr/>
        </p:nvSpPr>
        <p:spPr>
          <a:xfrm>
            <a:off x="777240" y="2212848"/>
            <a:ext cx="1417320" cy="786384"/>
          </a:xfrm>
          <a:prstGeom prst="roundRect">
            <a:avLst>
              <a:gd name="adj" fmla="val 11628"/>
            </a:avLst>
          </a:prstGeom>
          <a:solidFill>
            <a:srgbClr val="FFFFFF"/>
          </a:solidFill>
          <a:ln/>
          <a:effectLst>
            <a:outerShdw blurRad="88900" dist="25400" dir="5400000" algn="bl" rotWithShape="0">
              <a:srgbClr val="B9C7D1">
                <a:alpha val="40000"/>
              </a:srgbClr>
            </a:outerShdw>
          </a:effectLst>
        </p:spPr>
      </p:sp>
      <p:pic>
        <p:nvPicPr>
          <p:cNvPr id="11" name="Image 0" descr="D:/DATN/TownHub/latex/images/ocr_google.png"/>
          <p:cNvPicPr>
            <a:picLocks noChangeAspect="1"/>
          </p:cNvPicPr>
          <p:nvPr/>
        </p:nvPicPr>
        <p:blipFill>
          <a:blip r:embed="rId3"/>
          <a:srcRect/>
          <a:stretch/>
        </p:blipFill>
        <p:spPr>
          <a:xfrm>
            <a:off x="859536" y="2295144"/>
            <a:ext cx="1252728" cy="621792"/>
          </a:xfrm>
          <a:prstGeom prst="rect">
            <a:avLst/>
          </a:prstGeom>
        </p:spPr>
      </p:pic>
      <p:sp>
        <p:nvSpPr>
          <p:cNvPr id="12" name="Text 9"/>
          <p:cNvSpPr/>
          <p:nvPr/>
        </p:nvSpPr>
        <p:spPr>
          <a:xfrm>
            <a:off x="2331720" y="2267712"/>
            <a:ext cx="3429000" cy="320040"/>
          </a:xfrm>
          <a:prstGeom prst="rect">
            <a:avLst/>
          </a:prstGeom>
          <a:noFill/>
          <a:ln/>
        </p:spPr>
        <p:txBody>
          <a:bodyPr wrap="square" lIns="0" tIns="0" rIns="0" bIns="0" rtlCol="0" anchor="ctr"/>
          <a:lstStyle/>
          <a:p>
            <a:pPr marL="0" indent="0">
              <a:buNone/>
            </a:pPr>
            <a:r>
              <a:rPr lang="en-US" sz="1250" b="1" dirty="0">
                <a:solidFill>
                  <a:srgbClr val="0E2A47"/>
                </a:solidFill>
                <a:latin typeface="Calibri" pitchFamily="34" charset="0"/>
                <a:ea typeface="Calibri" pitchFamily="34" charset="-122"/>
                <a:cs typeface="Calibri" pitchFamily="34" charset="-120"/>
              </a:rPr>
              <a:t>Google Vision / Document AI</a:t>
            </a:r>
            <a:endParaRPr lang="en-US" sz="1250" dirty="0"/>
          </a:p>
        </p:txBody>
      </p:sp>
      <p:sp>
        <p:nvSpPr>
          <p:cNvPr id="13" name="Text 10"/>
          <p:cNvSpPr/>
          <p:nvPr/>
        </p:nvSpPr>
        <p:spPr>
          <a:xfrm>
            <a:off x="2331720" y="2596896"/>
            <a:ext cx="3429000" cy="320040"/>
          </a:xfrm>
          <a:prstGeom prst="rect">
            <a:avLst/>
          </a:prstGeom>
          <a:noFill/>
          <a:ln/>
        </p:spPr>
        <p:txBody>
          <a:bodyPr wrap="square" lIns="0" tIns="0" rIns="0" bIns="0" rtlCol="0" anchor="ctr"/>
          <a:lstStyle/>
          <a:p>
            <a:pPr marL="0" indent="0">
              <a:buNone/>
            </a:pPr>
            <a:r>
              <a:rPr lang="en-US" sz="1150" b="1" dirty="0">
                <a:solidFill>
                  <a:srgbClr val="E4572E"/>
                </a:solidFill>
                <a:latin typeface="Calibri" pitchFamily="34" charset="0"/>
                <a:ea typeface="Calibri" pitchFamily="34" charset="-122"/>
                <a:cs typeface="Calibri" pitchFamily="34" charset="-120"/>
              </a:rPr>
              <a:t>~1,5 USD / 1.000 trang</a:t>
            </a:r>
            <a:endParaRPr lang="en-US" sz="1150" dirty="0"/>
          </a:p>
        </p:txBody>
      </p:sp>
      <p:sp>
        <p:nvSpPr>
          <p:cNvPr id="14" name="Shape 11"/>
          <p:cNvSpPr/>
          <p:nvPr/>
        </p:nvSpPr>
        <p:spPr>
          <a:xfrm>
            <a:off x="777240" y="3127248"/>
            <a:ext cx="1417320" cy="786384"/>
          </a:xfrm>
          <a:prstGeom prst="roundRect">
            <a:avLst>
              <a:gd name="adj" fmla="val 11628"/>
            </a:avLst>
          </a:prstGeom>
          <a:solidFill>
            <a:srgbClr val="FFFFFF"/>
          </a:solidFill>
          <a:ln/>
          <a:effectLst>
            <a:outerShdw blurRad="88900" dist="25400" dir="5400000" algn="bl" rotWithShape="0">
              <a:srgbClr val="B9C7D1">
                <a:alpha val="40000"/>
              </a:srgbClr>
            </a:outerShdw>
          </a:effectLst>
        </p:spPr>
      </p:sp>
      <p:pic>
        <p:nvPicPr>
          <p:cNvPr id="15" name="Image 1" descr="D:/DATN/TownHub/latex/images/ocr_azure.png"/>
          <p:cNvPicPr>
            <a:picLocks noChangeAspect="1"/>
          </p:cNvPicPr>
          <p:nvPr/>
        </p:nvPicPr>
        <p:blipFill>
          <a:blip r:embed="rId4"/>
          <a:srcRect/>
          <a:stretch/>
        </p:blipFill>
        <p:spPr>
          <a:xfrm>
            <a:off x="859536" y="3209544"/>
            <a:ext cx="1252728" cy="621792"/>
          </a:xfrm>
          <a:prstGeom prst="rect">
            <a:avLst/>
          </a:prstGeom>
        </p:spPr>
      </p:pic>
      <p:sp>
        <p:nvSpPr>
          <p:cNvPr id="16" name="Text 12"/>
          <p:cNvSpPr/>
          <p:nvPr/>
        </p:nvSpPr>
        <p:spPr>
          <a:xfrm>
            <a:off x="2331720" y="3182112"/>
            <a:ext cx="3429000" cy="320040"/>
          </a:xfrm>
          <a:prstGeom prst="rect">
            <a:avLst/>
          </a:prstGeom>
          <a:noFill/>
          <a:ln/>
        </p:spPr>
        <p:txBody>
          <a:bodyPr wrap="square" lIns="0" tIns="0" rIns="0" bIns="0" rtlCol="0" anchor="ctr"/>
          <a:lstStyle/>
          <a:p>
            <a:pPr marL="0" indent="0">
              <a:buNone/>
            </a:pPr>
            <a:r>
              <a:rPr lang="en-US" sz="1250" b="1" dirty="0">
                <a:solidFill>
                  <a:srgbClr val="0E2A47"/>
                </a:solidFill>
                <a:latin typeface="Calibri" pitchFamily="34" charset="0"/>
                <a:ea typeface="Calibri" pitchFamily="34" charset="-122"/>
                <a:cs typeface="Calibri" pitchFamily="34" charset="-120"/>
              </a:rPr>
              <a:t>Azure Document Intelligence</a:t>
            </a:r>
            <a:endParaRPr lang="en-US" sz="1250" dirty="0"/>
          </a:p>
        </p:txBody>
      </p:sp>
      <p:sp>
        <p:nvSpPr>
          <p:cNvPr id="17" name="Text 13"/>
          <p:cNvSpPr/>
          <p:nvPr/>
        </p:nvSpPr>
        <p:spPr>
          <a:xfrm>
            <a:off x="2331720" y="3511296"/>
            <a:ext cx="3429000" cy="320040"/>
          </a:xfrm>
          <a:prstGeom prst="rect">
            <a:avLst/>
          </a:prstGeom>
          <a:noFill/>
          <a:ln/>
        </p:spPr>
        <p:txBody>
          <a:bodyPr wrap="square" lIns="0" tIns="0" rIns="0" bIns="0" rtlCol="0" anchor="ctr"/>
          <a:lstStyle/>
          <a:p>
            <a:pPr marL="0" indent="0">
              <a:buNone/>
            </a:pPr>
            <a:r>
              <a:rPr lang="en-US" sz="1150" b="1" dirty="0">
                <a:solidFill>
                  <a:srgbClr val="E4572E"/>
                </a:solidFill>
                <a:latin typeface="Calibri" pitchFamily="34" charset="0"/>
                <a:ea typeface="Calibri" pitchFamily="34" charset="-122"/>
                <a:cs typeface="Calibri" pitchFamily="34" charset="-120"/>
              </a:rPr>
              <a:t>~10 USD / 1.000 (prebuilt-invoice)</a:t>
            </a:r>
            <a:endParaRPr lang="en-US" sz="1150" dirty="0"/>
          </a:p>
        </p:txBody>
      </p:sp>
      <p:sp>
        <p:nvSpPr>
          <p:cNvPr id="18" name="Shape 14"/>
          <p:cNvSpPr/>
          <p:nvPr/>
        </p:nvSpPr>
        <p:spPr>
          <a:xfrm>
            <a:off x="777240" y="4041648"/>
            <a:ext cx="1417320" cy="786384"/>
          </a:xfrm>
          <a:prstGeom prst="roundRect">
            <a:avLst>
              <a:gd name="adj" fmla="val 11628"/>
            </a:avLst>
          </a:prstGeom>
          <a:solidFill>
            <a:srgbClr val="FFFFFF"/>
          </a:solidFill>
          <a:ln/>
          <a:effectLst>
            <a:outerShdw blurRad="88900" dist="25400" dir="5400000" algn="bl" rotWithShape="0">
              <a:srgbClr val="B9C7D1">
                <a:alpha val="40000"/>
              </a:srgbClr>
            </a:outerShdw>
          </a:effectLst>
        </p:spPr>
      </p:sp>
      <p:pic>
        <p:nvPicPr>
          <p:cNvPr id="19" name="Image 2" descr="D:/DATN/TownHub/latex/images/ocr_textract.png"/>
          <p:cNvPicPr>
            <a:picLocks noChangeAspect="1"/>
          </p:cNvPicPr>
          <p:nvPr/>
        </p:nvPicPr>
        <p:blipFill>
          <a:blip r:embed="rId5"/>
          <a:srcRect/>
          <a:stretch/>
        </p:blipFill>
        <p:spPr>
          <a:xfrm>
            <a:off x="859536" y="4123944"/>
            <a:ext cx="1252728" cy="621792"/>
          </a:xfrm>
          <a:prstGeom prst="rect">
            <a:avLst/>
          </a:prstGeom>
        </p:spPr>
      </p:pic>
      <p:sp>
        <p:nvSpPr>
          <p:cNvPr id="20" name="Text 15"/>
          <p:cNvSpPr/>
          <p:nvPr/>
        </p:nvSpPr>
        <p:spPr>
          <a:xfrm>
            <a:off x="2331720" y="4096512"/>
            <a:ext cx="3429000" cy="320040"/>
          </a:xfrm>
          <a:prstGeom prst="rect">
            <a:avLst/>
          </a:prstGeom>
          <a:noFill/>
          <a:ln/>
        </p:spPr>
        <p:txBody>
          <a:bodyPr wrap="square" lIns="0" tIns="0" rIns="0" bIns="0" rtlCol="0" anchor="ctr"/>
          <a:lstStyle/>
          <a:p>
            <a:pPr marL="0" indent="0">
              <a:buNone/>
            </a:pPr>
            <a:r>
              <a:rPr lang="en-US" sz="1250" b="1" dirty="0">
                <a:solidFill>
                  <a:srgbClr val="0E2A47"/>
                </a:solidFill>
                <a:latin typeface="Calibri" pitchFamily="34" charset="0"/>
                <a:ea typeface="Calibri" pitchFamily="34" charset="-122"/>
                <a:cs typeface="Calibri" pitchFamily="34" charset="-120"/>
              </a:rPr>
              <a:t>Amazon Textract</a:t>
            </a:r>
            <a:endParaRPr lang="en-US" sz="1250" dirty="0"/>
          </a:p>
        </p:txBody>
      </p:sp>
      <p:sp>
        <p:nvSpPr>
          <p:cNvPr id="21" name="Text 16"/>
          <p:cNvSpPr/>
          <p:nvPr/>
        </p:nvSpPr>
        <p:spPr>
          <a:xfrm>
            <a:off x="2331720" y="4425696"/>
            <a:ext cx="3429000" cy="320040"/>
          </a:xfrm>
          <a:prstGeom prst="rect">
            <a:avLst/>
          </a:prstGeom>
          <a:noFill/>
          <a:ln/>
        </p:spPr>
        <p:txBody>
          <a:bodyPr wrap="square" lIns="0" tIns="0" rIns="0" bIns="0" rtlCol="0" anchor="ctr"/>
          <a:lstStyle/>
          <a:p>
            <a:pPr marL="0" indent="0">
              <a:buNone/>
            </a:pPr>
            <a:r>
              <a:rPr lang="en-US" sz="1150" b="1" dirty="0">
                <a:solidFill>
                  <a:srgbClr val="E4572E"/>
                </a:solidFill>
                <a:latin typeface="Calibri" pitchFamily="34" charset="0"/>
                <a:ea typeface="Calibri" pitchFamily="34" charset="-122"/>
                <a:cs typeface="Calibri" pitchFamily="34" charset="-120"/>
              </a:rPr>
              <a:t>~65 USD / 1.000 (AnalyzeDocument)</a:t>
            </a:r>
            <a:endParaRPr lang="en-US" sz="1150" dirty="0"/>
          </a:p>
        </p:txBody>
      </p:sp>
      <p:sp>
        <p:nvSpPr>
          <p:cNvPr id="22" name="Text 17"/>
          <p:cNvSpPr/>
          <p:nvPr/>
        </p:nvSpPr>
        <p:spPr>
          <a:xfrm>
            <a:off x="777240" y="5029200"/>
            <a:ext cx="4937760" cy="685800"/>
          </a:xfrm>
          <a:prstGeom prst="rect">
            <a:avLst/>
          </a:prstGeom>
          <a:noFill/>
          <a:ln/>
        </p:spPr>
        <p:txBody>
          <a:bodyPr wrap="square" lIns="0" tIns="0" rIns="0" bIns="0" rtlCol="0" anchor="t"/>
          <a:lstStyle/>
          <a:p>
            <a:pPr marL="0" indent="0">
              <a:lnSpc>
                <a:spcPct val="103000"/>
              </a:lnSpc>
              <a:buNone/>
            </a:pPr>
            <a:r>
              <a:rPr lang="en-US" sz="1200" b="1" dirty="0">
                <a:solidFill>
                  <a:srgbClr val="E4572E"/>
                </a:solidFill>
                <a:latin typeface="Calibri" pitchFamily="34" charset="0"/>
                <a:ea typeface="Calibri" pitchFamily="34" charset="-122"/>
                <a:cs typeface="Calibri" pitchFamily="34" charset="-120"/>
              </a:rPr>
              <a:t>Nhược điểm:  </a:t>
            </a:r>
            <a:r>
              <a:rPr lang="en-US" sz="1200" dirty="0">
                <a:solidFill>
                  <a:srgbClr val="22303C"/>
                </a:solidFill>
                <a:latin typeface="Calibri" pitchFamily="34" charset="0"/>
                <a:ea typeface="Calibri" pitchFamily="34" charset="-122"/>
                <a:cs typeface="Calibri" pitchFamily="34" charset="-120"/>
              </a:rPr>
              <a:t>dữ liệu hóa đơn phải gửi ra máy chủ bên thứ ba; chi phí tăng theo sản lượng; không fine-tune được cho hóa đơn Việt.</a:t>
            </a:r>
            <a:endParaRPr lang="en-US" sz="1200" dirty="0"/>
          </a:p>
        </p:txBody>
      </p:sp>
      <p:sp>
        <p:nvSpPr>
          <p:cNvPr id="23" name="Text 18"/>
          <p:cNvSpPr/>
          <p:nvPr/>
        </p:nvSpPr>
        <p:spPr>
          <a:xfrm>
            <a:off x="6080760" y="1664208"/>
            <a:ext cx="5577840" cy="32004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Nhóm 2 — Mô hình mã nguồn mở (bảng xếp hạng công khai)</a:t>
            </a:r>
            <a:endParaRPr lang="en-US" sz="1450" dirty="0"/>
          </a:p>
        </p:txBody>
      </p:sp>
      <p:sp>
        <p:nvSpPr>
          <p:cNvPr id="24" name="Shape 19"/>
          <p:cNvSpPr/>
          <p:nvPr/>
        </p:nvSpPr>
        <p:spPr>
          <a:xfrm>
            <a:off x="6080760" y="2057400"/>
            <a:ext cx="5550408" cy="3200400"/>
          </a:xfrm>
          <a:prstGeom prst="roundRect">
            <a:avLst>
              <a:gd name="adj" fmla="val 2857"/>
            </a:avLst>
          </a:prstGeom>
          <a:solidFill>
            <a:srgbClr val="FFFFFF"/>
          </a:solidFill>
          <a:ln/>
          <a:effectLst>
            <a:outerShdw blurRad="88900" dist="25400" dir="5400000" algn="bl" rotWithShape="0">
              <a:srgbClr val="B9C7D1">
                <a:alpha val="40000"/>
              </a:srgbClr>
            </a:outerShdw>
          </a:effectLst>
        </p:spPr>
      </p:sp>
      <p:pic>
        <p:nvPicPr>
          <p:cNvPr id="25" name="Image 3" descr="D:/DATN/TownHub/latex/images/ocr_leaderboard_omnidocbench.png"/>
          <p:cNvPicPr>
            <a:picLocks noChangeAspect="1"/>
          </p:cNvPicPr>
          <p:nvPr/>
        </p:nvPicPr>
        <p:blipFill>
          <a:blip r:embed="rId6"/>
          <a:srcRect/>
          <a:stretch/>
        </p:blipFill>
        <p:spPr>
          <a:xfrm>
            <a:off x="6163056" y="2139696"/>
            <a:ext cx="5385816" cy="3035808"/>
          </a:xfrm>
          <a:prstGeom prst="rect">
            <a:avLst/>
          </a:prstGeom>
        </p:spPr>
      </p:pic>
      <p:sp>
        <p:nvSpPr>
          <p:cNvPr id="26" name="Text 20"/>
          <p:cNvSpPr/>
          <p:nvPr/>
        </p:nvSpPr>
        <p:spPr>
          <a:xfrm>
            <a:off x="6080760" y="5303520"/>
            <a:ext cx="5550408" cy="502920"/>
          </a:xfrm>
          <a:prstGeom prst="rect">
            <a:avLst/>
          </a:prstGeom>
          <a:noFill/>
          <a:ln/>
        </p:spPr>
        <p:txBody>
          <a:bodyPr wrap="square" lIns="0" tIns="0" rIns="0" bIns="0" rtlCol="0" anchor="t"/>
          <a:lstStyle/>
          <a:p>
            <a:pPr marL="0" indent="0">
              <a:buNone/>
            </a:pPr>
            <a:r>
              <a:rPr lang="en-US" sz="1100" i="1" dirty="0">
                <a:solidFill>
                  <a:srgbClr val="6B7A88"/>
                </a:solidFill>
                <a:latin typeface="Calibri" pitchFamily="34" charset="0"/>
                <a:ea typeface="Calibri" pitchFamily="34" charset="-122"/>
                <a:cs typeface="Calibri" pitchFamily="34" charset="-120"/>
              </a:rPr>
              <a:t>OmniDocBench (CVPR 2025): họ PaddleOCR-VL dẫn đầu bảng — cơ sở chọn hệ sinh thái PaddleOCR.</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OCR — PIPELINE</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Kiến trúc pipeline trích xuất hóa đơn (3 engine tự chủ)</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23</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27632"/>
            <a:ext cx="3977640" cy="4572000"/>
          </a:xfrm>
          <a:prstGeom prst="roundRect">
            <a:avLst>
              <a:gd name="adj" fmla="val 2299"/>
            </a:avLst>
          </a:prstGeom>
          <a:solidFill>
            <a:srgbClr val="FFFFFF"/>
          </a:solidFill>
          <a:ln/>
          <a:effectLst>
            <a:outerShdw blurRad="88900" dist="25400" dir="5400000" algn="bl" rotWithShape="0">
              <a:srgbClr val="B9C7D1">
                <a:alpha val="40000"/>
              </a:srgbClr>
            </a:outerShdw>
          </a:effectLst>
        </p:spPr>
      </p:sp>
      <p:pic>
        <p:nvPicPr>
          <p:cNvPr id="9" name="Image 0" descr="D:/DATN/TownHub/latex/images/img27.png"/>
          <p:cNvPicPr>
            <a:picLocks noChangeAspect="1"/>
          </p:cNvPicPr>
          <p:nvPr/>
        </p:nvPicPr>
        <p:blipFill>
          <a:blip r:embed="rId3"/>
          <a:srcRect/>
          <a:stretch/>
        </p:blipFill>
        <p:spPr>
          <a:xfrm>
            <a:off x="649224" y="1709928"/>
            <a:ext cx="3813048" cy="4407408"/>
          </a:xfrm>
          <a:prstGeom prst="rect">
            <a:avLst/>
          </a:prstGeom>
        </p:spPr>
      </p:pic>
      <p:sp>
        <p:nvSpPr>
          <p:cNvPr id="10" name="Text 7"/>
          <p:cNvSpPr/>
          <p:nvPr/>
        </p:nvSpPr>
        <p:spPr>
          <a:xfrm>
            <a:off x="566928" y="6217920"/>
            <a:ext cx="3977640" cy="219456"/>
          </a:xfrm>
          <a:prstGeom prst="rect">
            <a:avLst/>
          </a:prstGeom>
          <a:noFill/>
          <a:ln/>
        </p:spPr>
        <p:txBody>
          <a:bodyPr wrap="square" lIns="0" tIns="0" rIns="0" bIns="0" rtlCol="0" anchor="ctr"/>
          <a:lstStyle/>
          <a:p>
            <a:pPr marL="0" indent="0" algn="ctr">
              <a:buNone/>
            </a:pPr>
            <a:r>
              <a:rPr lang="en-US" sz="900" i="1" dirty="0">
                <a:solidFill>
                  <a:srgbClr val="6B7A88"/>
                </a:solidFill>
                <a:latin typeface="Calibri" pitchFamily="34" charset="0"/>
                <a:ea typeface="Calibri" pitchFamily="34" charset="-122"/>
                <a:cs typeface="Calibri" pitchFamily="34" charset="-120"/>
              </a:rPr>
              <a:t>Sơ đồ pipeline dịch vụ OCR (đồng bộ mã nguồn)</a:t>
            </a:r>
            <a:endParaRPr lang="en-US" sz="900" dirty="0"/>
          </a:p>
        </p:txBody>
      </p:sp>
      <p:sp>
        <p:nvSpPr>
          <p:cNvPr id="11" name="Shape 8"/>
          <p:cNvSpPr/>
          <p:nvPr/>
        </p:nvSpPr>
        <p:spPr>
          <a:xfrm>
            <a:off x="4754880" y="1737360"/>
            <a:ext cx="6858000" cy="932688"/>
          </a:xfrm>
          <a:prstGeom prst="roundRect">
            <a:avLst>
              <a:gd name="adj" fmla="val 11765"/>
            </a:avLst>
          </a:prstGeom>
          <a:solidFill>
            <a:srgbClr val="F1F5F8"/>
          </a:solidFill>
          <a:ln/>
          <a:effectLst>
            <a:outerShdw blurRad="88900" dist="25400" dir="5400000" algn="bl" rotWithShape="0">
              <a:srgbClr val="B9C7D1">
                <a:alpha val="40000"/>
              </a:srgbClr>
            </a:outerShdw>
          </a:effectLst>
        </p:spPr>
      </p:sp>
      <p:sp>
        <p:nvSpPr>
          <p:cNvPr id="12" name="Shape 9"/>
          <p:cNvSpPr/>
          <p:nvPr/>
        </p:nvSpPr>
        <p:spPr>
          <a:xfrm>
            <a:off x="4983480" y="1938528"/>
            <a:ext cx="530352" cy="530352"/>
          </a:xfrm>
          <a:prstGeom prst="roundRect">
            <a:avLst>
              <a:gd name="adj" fmla="val 50000"/>
            </a:avLst>
          </a:prstGeom>
          <a:solidFill>
            <a:srgbClr val="0E7C86"/>
          </a:solidFill>
          <a:ln/>
        </p:spPr>
      </p:sp>
      <p:pic>
        <p:nvPicPr>
          <p:cNvPr id="13" name="Image 1" descr="preencoded.png"/>
          <p:cNvPicPr>
            <a:picLocks noChangeAspect="1"/>
          </p:cNvPicPr>
          <p:nvPr/>
        </p:nvPicPr>
        <p:blipFill>
          <a:blip r:embed="rId4"/>
          <a:stretch>
            <a:fillRect/>
          </a:stretch>
        </p:blipFill>
        <p:spPr>
          <a:xfrm>
            <a:off x="5110764" y="2065812"/>
            <a:ext cx="275783" cy="275783"/>
          </a:xfrm>
          <a:prstGeom prst="rect">
            <a:avLst/>
          </a:prstGeom>
        </p:spPr>
      </p:pic>
      <p:sp>
        <p:nvSpPr>
          <p:cNvPr id="14" name="Text 10"/>
          <p:cNvSpPr/>
          <p:nvPr/>
        </p:nvSpPr>
        <p:spPr>
          <a:xfrm>
            <a:off x="5669280" y="1737360"/>
            <a:ext cx="5760720" cy="932688"/>
          </a:xfrm>
          <a:prstGeom prst="rect">
            <a:avLst/>
          </a:prstGeom>
          <a:noFill/>
          <a:ln/>
        </p:spPr>
        <p:txBody>
          <a:bodyPr wrap="square" lIns="0" tIns="0" rIns="0" bIns="0" rtlCol="0" anchor="ctr"/>
          <a:lstStyle/>
          <a:p>
            <a:pPr marL="0" indent="0">
              <a:lnSpc>
                <a:spcPct val="103000"/>
              </a:lnSpc>
              <a:buNone/>
            </a:pPr>
            <a:r>
              <a:rPr lang="en-US" sz="1350" b="1" dirty="0">
                <a:solidFill>
                  <a:srgbClr val="0E2A47"/>
                </a:solidFill>
                <a:latin typeface="Calibri" pitchFamily="34" charset="0"/>
                <a:ea typeface="Calibri" pitchFamily="34" charset="-122"/>
                <a:cs typeface="Calibri" pitchFamily="34" charset="-120"/>
              </a:rPr>
              <a:t>Đầu vào &amp; định tuyến
</a:t>
            </a:r>
            <a:r>
              <a:rPr lang="en-US" sz="1200" dirty="0">
                <a:solidFill>
                  <a:srgbClr val="22303C"/>
                </a:solidFill>
                <a:latin typeface="Calibri" pitchFamily="34" charset="0"/>
                <a:ea typeface="Calibri" pitchFamily="34" charset="-122"/>
                <a:cs typeface="Calibri" pitchFamily="34" charset="-120"/>
              </a:rPr>
              <a:t>Ảnh JPG/PNG (chuẩn hóa RGB) → API POST /extract { engine } → định tuyến theo engine</a:t>
            </a:r>
            <a:endParaRPr lang="en-US" sz="1350" dirty="0"/>
          </a:p>
        </p:txBody>
      </p:sp>
      <p:sp>
        <p:nvSpPr>
          <p:cNvPr id="15" name="Shape 11"/>
          <p:cNvSpPr/>
          <p:nvPr/>
        </p:nvSpPr>
        <p:spPr>
          <a:xfrm>
            <a:off x="4754880" y="2788920"/>
            <a:ext cx="6858000" cy="1737360"/>
          </a:xfrm>
          <a:prstGeom prst="roundRect">
            <a:avLst>
              <a:gd name="adj" fmla="val 6316"/>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6" name="Shape 12"/>
          <p:cNvSpPr/>
          <p:nvPr/>
        </p:nvSpPr>
        <p:spPr>
          <a:xfrm>
            <a:off x="4983480" y="2962656"/>
            <a:ext cx="530352" cy="530352"/>
          </a:xfrm>
          <a:prstGeom prst="roundRect">
            <a:avLst>
              <a:gd name="adj" fmla="val 50000"/>
            </a:avLst>
          </a:prstGeom>
          <a:solidFill>
            <a:srgbClr val="23B5A6"/>
          </a:solidFill>
          <a:ln/>
        </p:spPr>
      </p:sp>
      <p:pic>
        <p:nvPicPr>
          <p:cNvPr id="17" name="Image 2" descr="preencoded.png"/>
          <p:cNvPicPr>
            <a:picLocks noChangeAspect="1"/>
          </p:cNvPicPr>
          <p:nvPr/>
        </p:nvPicPr>
        <p:blipFill>
          <a:blip r:embed="rId5"/>
          <a:stretch>
            <a:fillRect/>
          </a:stretch>
        </p:blipFill>
        <p:spPr>
          <a:xfrm>
            <a:off x="5110764" y="3089940"/>
            <a:ext cx="275783" cy="275783"/>
          </a:xfrm>
          <a:prstGeom prst="rect">
            <a:avLst/>
          </a:prstGeom>
        </p:spPr>
      </p:pic>
      <p:sp>
        <p:nvSpPr>
          <p:cNvPr id="18" name="Text 13"/>
          <p:cNvSpPr/>
          <p:nvPr/>
        </p:nvSpPr>
        <p:spPr>
          <a:xfrm>
            <a:off x="5669280" y="2980944"/>
            <a:ext cx="5760720" cy="411480"/>
          </a:xfrm>
          <a:prstGeom prst="rect">
            <a:avLst/>
          </a:prstGeom>
          <a:noFill/>
          <a:ln/>
        </p:spPr>
        <p:txBody>
          <a:bodyPr wrap="square" lIns="0" tIns="0" rIns="0" bIns="0" rtlCol="0" anchor="ctr"/>
          <a:lstStyle/>
          <a:p>
            <a:pPr marL="0" indent="0">
              <a:buNone/>
            </a:pPr>
            <a:r>
              <a:rPr lang="en-US" sz="1350" b="1" dirty="0">
                <a:solidFill>
                  <a:srgbClr val="0E2A47"/>
                </a:solidFill>
                <a:latin typeface="Calibri" pitchFamily="34" charset="0"/>
                <a:ea typeface="Calibri" pitchFamily="34" charset="-122"/>
                <a:cs typeface="Calibri" pitchFamily="34" charset="-120"/>
              </a:rPr>
              <a:t>3 engine tự chủ — chọn qua ocr_jobs.ocrEngine</a:t>
            </a:r>
            <a:endParaRPr lang="en-US" sz="1350" dirty="0"/>
          </a:p>
        </p:txBody>
      </p:sp>
      <p:sp>
        <p:nvSpPr>
          <p:cNvPr id="19" name="Text 14"/>
          <p:cNvSpPr/>
          <p:nvPr/>
        </p:nvSpPr>
        <p:spPr>
          <a:xfrm>
            <a:off x="5029200" y="3456432"/>
            <a:ext cx="6309360" cy="1005840"/>
          </a:xfrm>
          <a:prstGeom prst="rect">
            <a:avLst/>
          </a:prstGeom>
          <a:noFill/>
          <a:ln/>
        </p:spPr>
        <p:txBody>
          <a:bodyPr wrap="square" lIns="0" tIns="0" rIns="0" bIns="0" rtlCol="0" anchor="t"/>
          <a:lstStyle/>
          <a:p>
            <a:pPr marL="0" indent="0">
              <a:lnSpc>
                <a:spcPct val="112000"/>
              </a:lnSpc>
              <a:spcAft>
                <a:spcPts val="400"/>
              </a:spcAft>
              <a:buNone/>
            </a:pPr>
            <a:r>
              <a:rPr lang="en-US" sz="1250" b="1" dirty="0">
                <a:solidFill>
                  <a:srgbClr val="EFA13C"/>
                </a:solidFill>
                <a:latin typeface="Calibri" pitchFamily="34" charset="0"/>
                <a:ea typeface="Calibri" pitchFamily="34" charset="-122"/>
                <a:cs typeface="Calibri" pitchFamily="34" charset="-120"/>
              </a:rPr>
              <a:t>vietocr</a:t>
            </a:r>
            <a:r>
              <a:rPr lang="en-US" sz="1200" dirty="0">
                <a:solidFill>
                  <a:srgbClr val="22303C"/>
                </a:solidFill>
                <a:latin typeface="Calibri" pitchFamily="34" charset="0"/>
                <a:ea typeface="Calibri" pitchFamily="34" charset="-122"/>
                <a:cs typeface="Calibri" pitchFamily="34" charset="-120"/>
              </a:rPr>
              <a:t> — EasyOCR (CRAFT) phát hiện → VietOCR (VGG19+Transformer) nhận dạng
</a:t>
            </a:r>
            <a:r>
              <a:rPr lang="en-US" sz="1250" b="1" dirty="0">
                <a:solidFill>
                  <a:srgbClr val="0E7C86"/>
                </a:solidFill>
                <a:latin typeface="Calibri" pitchFamily="34" charset="0"/>
                <a:ea typeface="Calibri" pitchFamily="34" charset="-122"/>
                <a:cs typeface="Calibri" pitchFamily="34" charset="-120"/>
              </a:rPr>
              <a:t>paddleocr ★ (mặc định)</a:t>
            </a:r>
            <a:r>
              <a:rPr lang="en-US" sz="1200" dirty="0">
                <a:solidFill>
                  <a:srgbClr val="22303C"/>
                </a:solidFill>
                <a:latin typeface="Calibri" pitchFamily="34" charset="0"/>
                <a:ea typeface="Calibri" pitchFamily="34" charset="-122"/>
                <a:cs typeface="Calibri" pitchFamily="34" charset="-120"/>
              </a:rPr>
              <a:t> — DBNet → angle-cls → SVTR_LCNet (PP-OCRv4)
</a:t>
            </a:r>
            <a:r>
              <a:rPr lang="en-US" sz="1250" b="1" dirty="0">
                <a:solidFill>
                  <a:srgbClr val="1E3A57"/>
                </a:solidFill>
                <a:latin typeface="Calibri" pitchFamily="34" charset="0"/>
                <a:ea typeface="Calibri" pitchFamily="34" charset="-122"/>
                <a:cs typeface="Calibri" pitchFamily="34" charset="-120"/>
              </a:rPr>
              <a:t>paddledet_viet</a:t>
            </a:r>
            <a:r>
              <a:rPr lang="en-US" sz="1200" dirty="0">
                <a:solidFill>
                  <a:srgbClr val="22303C"/>
                </a:solidFill>
                <a:latin typeface="Calibri" pitchFamily="34" charset="0"/>
                <a:ea typeface="Calibri" pitchFamily="34" charset="-122"/>
                <a:cs typeface="Calibri" pitchFamily="34" charset="-120"/>
              </a:rPr>
              <a:t> — DBNet (Paddle) phát hiện → VietOCR nhận dạng (biến thể lai)</a:t>
            </a:r>
            <a:endParaRPr lang="en-US" sz="1250" dirty="0"/>
          </a:p>
        </p:txBody>
      </p:sp>
      <p:sp>
        <p:nvSpPr>
          <p:cNvPr id="20" name="Shape 15"/>
          <p:cNvSpPr/>
          <p:nvPr/>
        </p:nvSpPr>
        <p:spPr>
          <a:xfrm>
            <a:off x="4754880" y="4645152"/>
            <a:ext cx="6858000" cy="1170432"/>
          </a:xfrm>
          <a:prstGeom prst="roundRect">
            <a:avLst>
              <a:gd name="adj" fmla="val 9375"/>
            </a:avLst>
          </a:prstGeom>
          <a:solidFill>
            <a:srgbClr val="F1F5F8"/>
          </a:solidFill>
          <a:ln/>
          <a:effectLst>
            <a:outerShdw blurRad="88900" dist="25400" dir="5400000" algn="bl" rotWithShape="0">
              <a:srgbClr val="B9C7D1">
                <a:alpha val="40000"/>
              </a:srgbClr>
            </a:outerShdw>
          </a:effectLst>
        </p:spPr>
      </p:sp>
      <p:sp>
        <p:nvSpPr>
          <p:cNvPr id="21" name="Shape 16"/>
          <p:cNvSpPr/>
          <p:nvPr/>
        </p:nvSpPr>
        <p:spPr>
          <a:xfrm>
            <a:off x="4983480" y="4828032"/>
            <a:ext cx="530352" cy="530352"/>
          </a:xfrm>
          <a:prstGeom prst="roundRect">
            <a:avLst>
              <a:gd name="adj" fmla="val 50000"/>
            </a:avLst>
          </a:prstGeom>
          <a:solidFill>
            <a:srgbClr val="EFA13C"/>
          </a:solidFill>
          <a:ln/>
        </p:spPr>
      </p:sp>
      <p:pic>
        <p:nvPicPr>
          <p:cNvPr id="22" name="Image 3" descr="preencoded.png"/>
          <p:cNvPicPr>
            <a:picLocks noChangeAspect="1"/>
          </p:cNvPicPr>
          <p:nvPr/>
        </p:nvPicPr>
        <p:blipFill>
          <a:blip r:embed="rId6"/>
          <a:stretch>
            <a:fillRect/>
          </a:stretch>
        </p:blipFill>
        <p:spPr>
          <a:xfrm>
            <a:off x="5110764" y="4955316"/>
            <a:ext cx="275783" cy="275783"/>
          </a:xfrm>
          <a:prstGeom prst="rect">
            <a:avLst/>
          </a:prstGeom>
        </p:spPr>
      </p:pic>
      <p:sp>
        <p:nvSpPr>
          <p:cNvPr id="23" name="Text 17"/>
          <p:cNvSpPr/>
          <p:nvPr/>
        </p:nvSpPr>
        <p:spPr>
          <a:xfrm>
            <a:off x="5669280" y="4645152"/>
            <a:ext cx="5760720" cy="1170432"/>
          </a:xfrm>
          <a:prstGeom prst="rect">
            <a:avLst/>
          </a:prstGeom>
          <a:noFill/>
          <a:ln/>
        </p:spPr>
        <p:txBody>
          <a:bodyPr wrap="square" lIns="0" tIns="0" rIns="0" bIns="0" rtlCol="0" anchor="ctr"/>
          <a:lstStyle/>
          <a:p>
            <a:pPr marL="0" indent="0">
              <a:lnSpc>
                <a:spcPct val="105000"/>
              </a:lnSpc>
              <a:buNone/>
            </a:pPr>
            <a:r>
              <a:rPr lang="en-US" sz="1350" b="1" dirty="0">
                <a:solidFill>
                  <a:srgbClr val="0E2A47"/>
                </a:solidFill>
                <a:latin typeface="Calibri" pitchFamily="34" charset="0"/>
                <a:ea typeface="Calibri" pitchFamily="34" charset="-122"/>
                <a:cs typeface="Calibri" pitchFamily="34" charset="-120"/>
              </a:rPr>
              <a:t>Hậu xử lý &amp; ghi
</a:t>
            </a:r>
            <a:r>
              <a:rPr lang="en-US" sz="1200" dirty="0">
                <a:solidFill>
                  <a:srgbClr val="22303C"/>
                </a:solidFill>
                <a:latin typeface="Calibri" pitchFamily="34" charset="0"/>
                <a:ea typeface="Calibri" pitchFamily="34" charset="-122"/>
                <a:cs typeface="Calibri" pitchFamily="34" charset="-120"/>
              </a:rPr>
              <a:t>Mọi engine → danh sách dòng chuẩn hóa [{ text, box, prob }] → parse (khử nghiêng + regex + vị trí) → trường HĐ → ghi Invoice / InvoiceItem, đối chiếu PO</a:t>
            </a:r>
            <a:endParaRPr lang="en-US" sz="1350" dirty="0"/>
          </a:p>
        </p:txBody>
      </p:sp>
      <p:sp>
        <p:nvSpPr>
          <p:cNvPr id="24" name="Shape 18"/>
          <p:cNvSpPr/>
          <p:nvPr/>
        </p:nvSpPr>
        <p:spPr>
          <a:xfrm>
            <a:off x="4754880" y="5925312"/>
            <a:ext cx="6858000" cy="457200"/>
          </a:xfrm>
          <a:prstGeom prst="roundRect">
            <a:avLst>
              <a:gd name="adj" fmla="val 20000"/>
            </a:avLst>
          </a:prstGeom>
          <a:solidFill>
            <a:srgbClr val="0E2A47"/>
          </a:solidFill>
          <a:ln/>
        </p:spPr>
      </p:sp>
      <p:sp>
        <p:nvSpPr>
          <p:cNvPr id="25" name="Text 19"/>
          <p:cNvSpPr/>
          <p:nvPr/>
        </p:nvSpPr>
        <p:spPr>
          <a:xfrm>
            <a:off x="4983480" y="5925312"/>
            <a:ext cx="6446520" cy="45720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Cả 3 engine tự chủ, chạy offline, fine-tune được — </a:t>
            </a:r>
            <a:r>
              <a:rPr lang="en-US" sz="1150" dirty="0">
                <a:solidFill>
                  <a:srgbClr val="BFD6DF"/>
                </a:solidFill>
                <a:latin typeface="Calibri" pitchFamily="34" charset="0"/>
                <a:ea typeface="Calibri" pitchFamily="34" charset="-122"/>
                <a:cs typeface="Calibri" pitchFamily="34" charset="-120"/>
              </a:rPr>
              <a:t>không gửi dữ liệu ra ngoài (khác dịch vụ đám mây).</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OCR — HUẤN LUYỆN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Dữ liệu, tham số huấn luyện &amp; đầu vào/đầu ra</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24</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600200" cy="438912"/>
          </a:xfrm>
          <a:prstGeom prst="rect">
            <a:avLst/>
          </a:prstGeom>
          <a:solidFill>
            <a:srgbClr val="0E2A47"/>
          </a:solidFill>
          <a:ln w="15240">
            <a:solidFill>
              <a:srgbClr val="FFFFFF"/>
            </a:solidFill>
            <a:prstDash val="solid"/>
          </a:ln>
        </p:spPr>
      </p:sp>
      <p:sp>
        <p:nvSpPr>
          <p:cNvPr id="9" name="Text 7"/>
          <p:cNvSpPr/>
          <p:nvPr/>
        </p:nvSpPr>
        <p:spPr>
          <a:xfrm>
            <a:off x="658368" y="1645920"/>
            <a:ext cx="1453896" cy="438912"/>
          </a:xfrm>
          <a:prstGeom prst="rect">
            <a:avLst/>
          </a:prstGeom>
          <a:noFill/>
          <a:ln/>
        </p:spPr>
        <p:txBody>
          <a:bodyPr wrap="square" lIns="0" tIns="0" rIns="0" bIns="0" rtlCol="0" anchor="ctr"/>
          <a:lstStyle/>
          <a:p>
            <a:pPr marL="0" indent="0" algn="l">
              <a:lnSpc>
                <a:spcPct val="92000"/>
              </a:lnSpc>
              <a:buNone/>
            </a:pPr>
            <a:r>
              <a:rPr lang="en-US" sz="1100" b="1" dirty="0">
                <a:solidFill>
                  <a:srgbClr val="FFFFFF"/>
                </a:solidFill>
                <a:latin typeface="Calibri" pitchFamily="34" charset="0"/>
                <a:ea typeface="Calibri" pitchFamily="34" charset="-122"/>
                <a:cs typeface="Calibri" pitchFamily="34" charset="-120"/>
              </a:rPr>
              <a:t>Mô hình</a:t>
            </a:r>
            <a:endParaRPr lang="en-US" sz="1100" dirty="0"/>
          </a:p>
        </p:txBody>
      </p:sp>
      <p:sp>
        <p:nvSpPr>
          <p:cNvPr id="10" name="Shape 8"/>
          <p:cNvSpPr/>
          <p:nvPr/>
        </p:nvSpPr>
        <p:spPr>
          <a:xfrm>
            <a:off x="2167128" y="1645920"/>
            <a:ext cx="2331720" cy="438912"/>
          </a:xfrm>
          <a:prstGeom prst="rect">
            <a:avLst/>
          </a:prstGeom>
          <a:solidFill>
            <a:srgbClr val="0E2A47"/>
          </a:solidFill>
          <a:ln w="15240">
            <a:solidFill>
              <a:srgbClr val="FFFFFF"/>
            </a:solidFill>
            <a:prstDash val="solid"/>
          </a:ln>
        </p:spPr>
      </p:sp>
      <p:sp>
        <p:nvSpPr>
          <p:cNvPr id="11" name="Text 9"/>
          <p:cNvSpPr/>
          <p:nvPr/>
        </p:nvSpPr>
        <p:spPr>
          <a:xfrm>
            <a:off x="2258568" y="1645920"/>
            <a:ext cx="2185416" cy="438912"/>
          </a:xfrm>
          <a:prstGeom prst="rect">
            <a:avLst/>
          </a:prstGeom>
          <a:noFill/>
          <a:ln/>
        </p:spPr>
        <p:txBody>
          <a:bodyPr wrap="square" lIns="0" tIns="0" rIns="0" bIns="0" rtlCol="0" anchor="ctr"/>
          <a:lstStyle/>
          <a:p>
            <a:pPr marL="0" indent="0" algn="l">
              <a:lnSpc>
                <a:spcPct val="92000"/>
              </a:lnSpc>
              <a:buNone/>
            </a:pPr>
            <a:r>
              <a:rPr lang="en-US" sz="1100" b="1" dirty="0">
                <a:solidFill>
                  <a:srgbClr val="FFFFFF"/>
                </a:solidFill>
                <a:latin typeface="Calibri" pitchFamily="34" charset="0"/>
                <a:ea typeface="Calibri" pitchFamily="34" charset="-122"/>
                <a:cs typeface="Calibri" pitchFamily="34" charset="-120"/>
              </a:rPr>
              <a:t>Khởi tạo (pretrained)</a:t>
            </a:r>
            <a:endParaRPr lang="en-US" sz="1100" dirty="0"/>
          </a:p>
        </p:txBody>
      </p:sp>
      <p:sp>
        <p:nvSpPr>
          <p:cNvPr id="12" name="Shape 10"/>
          <p:cNvSpPr/>
          <p:nvPr/>
        </p:nvSpPr>
        <p:spPr>
          <a:xfrm>
            <a:off x="4498848" y="1645920"/>
            <a:ext cx="1371600" cy="438912"/>
          </a:xfrm>
          <a:prstGeom prst="rect">
            <a:avLst/>
          </a:prstGeom>
          <a:solidFill>
            <a:srgbClr val="0E2A47"/>
          </a:solidFill>
          <a:ln w="15240">
            <a:solidFill>
              <a:srgbClr val="FFFFFF"/>
            </a:solidFill>
            <a:prstDash val="solid"/>
          </a:ln>
        </p:spPr>
      </p:sp>
      <p:sp>
        <p:nvSpPr>
          <p:cNvPr id="13" name="Text 11"/>
          <p:cNvSpPr/>
          <p:nvPr/>
        </p:nvSpPr>
        <p:spPr>
          <a:xfrm>
            <a:off x="4590288" y="1645920"/>
            <a:ext cx="1225296" cy="438912"/>
          </a:xfrm>
          <a:prstGeom prst="rect">
            <a:avLst/>
          </a:prstGeom>
          <a:noFill/>
          <a:ln/>
        </p:spPr>
        <p:txBody>
          <a:bodyPr wrap="square" lIns="0" tIns="0" rIns="0" bIns="0" rtlCol="0" anchor="ctr"/>
          <a:lstStyle/>
          <a:p>
            <a:pPr marL="0" indent="0" algn="l">
              <a:lnSpc>
                <a:spcPct val="92000"/>
              </a:lnSpc>
              <a:buNone/>
            </a:pPr>
            <a:r>
              <a:rPr lang="en-US" sz="1100" b="1" dirty="0">
                <a:solidFill>
                  <a:srgbClr val="FFFFFF"/>
                </a:solidFill>
                <a:latin typeface="Calibri" pitchFamily="34" charset="0"/>
                <a:ea typeface="Calibri" pitchFamily="34" charset="-122"/>
                <a:cs typeface="Calibri" pitchFamily="34" charset="-120"/>
              </a:rPr>
              <a:t>Epoch · Batch</a:t>
            </a:r>
            <a:endParaRPr lang="en-US" sz="1100" dirty="0"/>
          </a:p>
        </p:txBody>
      </p:sp>
      <p:sp>
        <p:nvSpPr>
          <p:cNvPr id="14" name="Shape 12"/>
          <p:cNvSpPr/>
          <p:nvPr/>
        </p:nvSpPr>
        <p:spPr>
          <a:xfrm>
            <a:off x="5870448" y="1645920"/>
            <a:ext cx="1737360" cy="438912"/>
          </a:xfrm>
          <a:prstGeom prst="rect">
            <a:avLst/>
          </a:prstGeom>
          <a:solidFill>
            <a:srgbClr val="0E2A47"/>
          </a:solidFill>
          <a:ln w="15240">
            <a:solidFill>
              <a:srgbClr val="FFFFFF"/>
            </a:solidFill>
            <a:prstDash val="solid"/>
          </a:ln>
        </p:spPr>
      </p:sp>
      <p:sp>
        <p:nvSpPr>
          <p:cNvPr id="15" name="Text 13"/>
          <p:cNvSpPr/>
          <p:nvPr/>
        </p:nvSpPr>
        <p:spPr>
          <a:xfrm>
            <a:off x="5961888" y="1645920"/>
            <a:ext cx="1591056" cy="438912"/>
          </a:xfrm>
          <a:prstGeom prst="rect">
            <a:avLst/>
          </a:prstGeom>
          <a:noFill/>
          <a:ln/>
        </p:spPr>
        <p:txBody>
          <a:bodyPr wrap="square" lIns="0" tIns="0" rIns="0" bIns="0" rtlCol="0" anchor="ctr"/>
          <a:lstStyle/>
          <a:p>
            <a:pPr marL="0" indent="0" algn="l">
              <a:lnSpc>
                <a:spcPct val="92000"/>
              </a:lnSpc>
              <a:buNone/>
            </a:pPr>
            <a:r>
              <a:rPr lang="en-US" sz="1100" b="1" dirty="0">
                <a:solidFill>
                  <a:srgbClr val="FFFFFF"/>
                </a:solidFill>
                <a:latin typeface="Calibri" pitchFamily="34" charset="0"/>
                <a:ea typeface="Calibri" pitchFamily="34" charset="-122"/>
                <a:cs typeface="Calibri" pitchFamily="34" charset="-120"/>
              </a:rPr>
              <a:t>Optimizer / LR</a:t>
            </a:r>
            <a:endParaRPr lang="en-US" sz="1100" dirty="0"/>
          </a:p>
        </p:txBody>
      </p:sp>
      <p:sp>
        <p:nvSpPr>
          <p:cNvPr id="16" name="Shape 14"/>
          <p:cNvSpPr/>
          <p:nvPr/>
        </p:nvSpPr>
        <p:spPr>
          <a:xfrm>
            <a:off x="566928" y="2084832"/>
            <a:ext cx="1600200" cy="640080"/>
          </a:xfrm>
          <a:prstGeom prst="rect">
            <a:avLst/>
          </a:prstGeom>
          <a:solidFill>
            <a:srgbClr val="FFFFFF"/>
          </a:solidFill>
          <a:ln w="15240">
            <a:solidFill>
              <a:srgbClr val="FFFFFF"/>
            </a:solidFill>
            <a:prstDash val="solid"/>
          </a:ln>
        </p:spPr>
      </p:sp>
      <p:sp>
        <p:nvSpPr>
          <p:cNvPr id="17" name="Text 15"/>
          <p:cNvSpPr/>
          <p:nvPr/>
        </p:nvSpPr>
        <p:spPr>
          <a:xfrm>
            <a:off x="658368" y="2084832"/>
            <a:ext cx="1453896" cy="640080"/>
          </a:xfrm>
          <a:prstGeom prst="rect">
            <a:avLst/>
          </a:prstGeom>
          <a:noFill/>
          <a:ln/>
        </p:spPr>
        <p:txBody>
          <a:bodyPr wrap="square" lIns="0" tIns="0" rIns="0" bIns="0" rtlCol="0" anchor="ctr"/>
          <a:lstStyle/>
          <a:p>
            <a:pPr marL="0" indent="0" algn="l">
              <a:lnSpc>
                <a:spcPct val="92000"/>
              </a:lnSpc>
              <a:buNone/>
            </a:pPr>
            <a:r>
              <a:rPr lang="en-US" sz="1100" b="1" dirty="0">
                <a:solidFill>
                  <a:srgbClr val="0E2A47"/>
                </a:solidFill>
                <a:latin typeface="Calibri" pitchFamily="34" charset="0"/>
                <a:ea typeface="Calibri" pitchFamily="34" charset="-122"/>
                <a:cs typeface="Calibri" pitchFamily="34" charset="-120"/>
              </a:rPr>
              <a:t>VietOCR (rec)</a:t>
            </a:r>
            <a:endParaRPr lang="en-US" sz="1100" dirty="0"/>
          </a:p>
        </p:txBody>
      </p:sp>
      <p:sp>
        <p:nvSpPr>
          <p:cNvPr id="18" name="Shape 16"/>
          <p:cNvSpPr/>
          <p:nvPr/>
        </p:nvSpPr>
        <p:spPr>
          <a:xfrm>
            <a:off x="2167128" y="2084832"/>
            <a:ext cx="2331720" cy="640080"/>
          </a:xfrm>
          <a:prstGeom prst="rect">
            <a:avLst/>
          </a:prstGeom>
          <a:solidFill>
            <a:srgbClr val="FFFFFF"/>
          </a:solidFill>
          <a:ln w="15240">
            <a:solidFill>
              <a:srgbClr val="FFFFFF"/>
            </a:solidFill>
            <a:prstDash val="solid"/>
          </a:ln>
        </p:spPr>
      </p:sp>
      <p:sp>
        <p:nvSpPr>
          <p:cNvPr id="19" name="Text 17"/>
          <p:cNvSpPr/>
          <p:nvPr/>
        </p:nvSpPr>
        <p:spPr>
          <a:xfrm>
            <a:off x="2258568" y="2084832"/>
            <a:ext cx="2185416" cy="640080"/>
          </a:xfrm>
          <a:prstGeom prst="rect">
            <a:avLst/>
          </a:prstGeom>
          <a:noFill/>
          <a:ln/>
        </p:spPr>
        <p:txBody>
          <a:bodyPr wrap="square" lIns="0" tIns="0" rIns="0" bIns="0" rtlCol="0" anchor="ctr"/>
          <a:lstStyle/>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VGG19 + Transformer</a:t>
            </a:r>
            <a:endParaRPr lang="en-US" sz="1050" dirty="0"/>
          </a:p>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(vgg_transformer)</a:t>
            </a:r>
            <a:endParaRPr lang="en-US" sz="1050" dirty="0"/>
          </a:p>
        </p:txBody>
      </p:sp>
      <p:sp>
        <p:nvSpPr>
          <p:cNvPr id="20" name="Shape 18"/>
          <p:cNvSpPr/>
          <p:nvPr/>
        </p:nvSpPr>
        <p:spPr>
          <a:xfrm>
            <a:off x="4498848" y="2084832"/>
            <a:ext cx="1371600" cy="640080"/>
          </a:xfrm>
          <a:prstGeom prst="rect">
            <a:avLst/>
          </a:prstGeom>
          <a:solidFill>
            <a:srgbClr val="FFFFFF"/>
          </a:solidFill>
          <a:ln w="15240">
            <a:solidFill>
              <a:srgbClr val="FFFFFF"/>
            </a:solidFill>
            <a:prstDash val="solid"/>
          </a:ln>
        </p:spPr>
      </p:sp>
      <p:sp>
        <p:nvSpPr>
          <p:cNvPr id="21" name="Text 19"/>
          <p:cNvSpPr/>
          <p:nvPr/>
        </p:nvSpPr>
        <p:spPr>
          <a:xfrm>
            <a:off x="4590288" y="2084832"/>
            <a:ext cx="122529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20.000 iters · 32</a:t>
            </a:r>
            <a:endParaRPr lang="en-US" sz="1100" dirty="0"/>
          </a:p>
        </p:txBody>
      </p:sp>
      <p:sp>
        <p:nvSpPr>
          <p:cNvPr id="22" name="Shape 20"/>
          <p:cNvSpPr/>
          <p:nvPr/>
        </p:nvSpPr>
        <p:spPr>
          <a:xfrm>
            <a:off x="5870448" y="2084832"/>
            <a:ext cx="1737360" cy="640080"/>
          </a:xfrm>
          <a:prstGeom prst="rect">
            <a:avLst/>
          </a:prstGeom>
          <a:solidFill>
            <a:srgbClr val="FFFFFF"/>
          </a:solidFill>
          <a:ln w="15240">
            <a:solidFill>
              <a:srgbClr val="FFFFFF"/>
            </a:solidFill>
            <a:prstDash val="solid"/>
          </a:ln>
        </p:spPr>
      </p:sp>
      <p:sp>
        <p:nvSpPr>
          <p:cNvPr id="23" name="Text 21"/>
          <p:cNvSpPr/>
          <p:nvPr/>
        </p:nvSpPr>
        <p:spPr>
          <a:xfrm>
            <a:off x="5961888" y="2084832"/>
            <a:ext cx="159105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mặc định VietOCR</a:t>
            </a:r>
            <a:endParaRPr lang="en-US" sz="1100" dirty="0"/>
          </a:p>
        </p:txBody>
      </p:sp>
      <p:sp>
        <p:nvSpPr>
          <p:cNvPr id="24" name="Shape 22"/>
          <p:cNvSpPr/>
          <p:nvPr/>
        </p:nvSpPr>
        <p:spPr>
          <a:xfrm>
            <a:off x="566928" y="2724912"/>
            <a:ext cx="1600200" cy="640080"/>
          </a:xfrm>
          <a:prstGeom prst="rect">
            <a:avLst/>
          </a:prstGeom>
          <a:solidFill>
            <a:srgbClr val="F1F5F8"/>
          </a:solidFill>
          <a:ln w="15240">
            <a:solidFill>
              <a:srgbClr val="FFFFFF"/>
            </a:solidFill>
            <a:prstDash val="solid"/>
          </a:ln>
        </p:spPr>
      </p:sp>
      <p:sp>
        <p:nvSpPr>
          <p:cNvPr id="25" name="Text 23"/>
          <p:cNvSpPr/>
          <p:nvPr/>
        </p:nvSpPr>
        <p:spPr>
          <a:xfrm>
            <a:off x="658368" y="2724912"/>
            <a:ext cx="1453896" cy="640080"/>
          </a:xfrm>
          <a:prstGeom prst="rect">
            <a:avLst/>
          </a:prstGeom>
          <a:noFill/>
          <a:ln/>
        </p:spPr>
        <p:txBody>
          <a:bodyPr wrap="square" lIns="0" tIns="0" rIns="0" bIns="0" rtlCol="0" anchor="ctr"/>
          <a:lstStyle/>
          <a:p>
            <a:pPr marL="0" indent="0" algn="l">
              <a:lnSpc>
                <a:spcPct val="92000"/>
              </a:lnSpc>
              <a:buNone/>
            </a:pPr>
            <a:r>
              <a:rPr lang="en-US" sz="1100" b="1" dirty="0">
                <a:solidFill>
                  <a:srgbClr val="0E2A47"/>
                </a:solidFill>
                <a:latin typeface="Calibri" pitchFamily="34" charset="0"/>
                <a:ea typeface="Calibri" pitchFamily="34" charset="-122"/>
                <a:cs typeface="Calibri" pitchFamily="34" charset="-120"/>
              </a:rPr>
              <a:t>PaddleOCR (rec)</a:t>
            </a:r>
            <a:endParaRPr lang="en-US" sz="1100" dirty="0"/>
          </a:p>
        </p:txBody>
      </p:sp>
      <p:sp>
        <p:nvSpPr>
          <p:cNvPr id="26" name="Shape 24"/>
          <p:cNvSpPr/>
          <p:nvPr/>
        </p:nvSpPr>
        <p:spPr>
          <a:xfrm>
            <a:off x="2167128" y="2724912"/>
            <a:ext cx="2331720" cy="640080"/>
          </a:xfrm>
          <a:prstGeom prst="rect">
            <a:avLst/>
          </a:prstGeom>
          <a:solidFill>
            <a:srgbClr val="F1F5F8"/>
          </a:solidFill>
          <a:ln w="15240">
            <a:solidFill>
              <a:srgbClr val="FFFFFF"/>
            </a:solidFill>
            <a:prstDash val="solid"/>
          </a:ln>
        </p:spPr>
      </p:sp>
      <p:sp>
        <p:nvSpPr>
          <p:cNvPr id="27" name="Text 25"/>
          <p:cNvSpPr/>
          <p:nvPr/>
        </p:nvSpPr>
        <p:spPr>
          <a:xfrm>
            <a:off x="2258568" y="2724912"/>
            <a:ext cx="2185416" cy="640080"/>
          </a:xfrm>
          <a:prstGeom prst="rect">
            <a:avLst/>
          </a:prstGeom>
          <a:noFill/>
          <a:ln/>
        </p:spPr>
        <p:txBody>
          <a:bodyPr wrap="square" lIns="0" tIns="0" rIns="0" bIns="0" rtlCol="0" anchor="ctr"/>
          <a:lstStyle/>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SVTR_LCNet + GTC</a:t>
            </a:r>
            <a:endParaRPr lang="en-US" sz="1050" dirty="0"/>
          </a:p>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(PP-OCRv4)</a:t>
            </a:r>
            <a:endParaRPr lang="en-US" sz="1050" dirty="0"/>
          </a:p>
        </p:txBody>
      </p:sp>
      <p:sp>
        <p:nvSpPr>
          <p:cNvPr id="28" name="Shape 26"/>
          <p:cNvSpPr/>
          <p:nvPr/>
        </p:nvSpPr>
        <p:spPr>
          <a:xfrm>
            <a:off x="4498848" y="2724912"/>
            <a:ext cx="1371600" cy="640080"/>
          </a:xfrm>
          <a:prstGeom prst="rect">
            <a:avLst/>
          </a:prstGeom>
          <a:solidFill>
            <a:srgbClr val="F1F5F8"/>
          </a:solidFill>
          <a:ln w="15240">
            <a:solidFill>
              <a:srgbClr val="FFFFFF"/>
            </a:solidFill>
            <a:prstDash val="solid"/>
          </a:ln>
        </p:spPr>
      </p:sp>
      <p:sp>
        <p:nvSpPr>
          <p:cNvPr id="29" name="Text 27"/>
          <p:cNvSpPr/>
          <p:nvPr/>
        </p:nvSpPr>
        <p:spPr>
          <a:xfrm>
            <a:off x="4590288" y="2724912"/>
            <a:ext cx="122529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80 · 64</a:t>
            </a:r>
            <a:endParaRPr lang="en-US" sz="1100" dirty="0"/>
          </a:p>
        </p:txBody>
      </p:sp>
      <p:sp>
        <p:nvSpPr>
          <p:cNvPr id="30" name="Shape 28"/>
          <p:cNvSpPr/>
          <p:nvPr/>
        </p:nvSpPr>
        <p:spPr>
          <a:xfrm>
            <a:off x="5870448" y="2724912"/>
            <a:ext cx="1737360" cy="640080"/>
          </a:xfrm>
          <a:prstGeom prst="rect">
            <a:avLst/>
          </a:prstGeom>
          <a:solidFill>
            <a:srgbClr val="F1F5F8"/>
          </a:solidFill>
          <a:ln w="15240">
            <a:solidFill>
              <a:srgbClr val="FFFFFF"/>
            </a:solidFill>
            <a:prstDash val="solid"/>
          </a:ln>
        </p:spPr>
      </p:sp>
      <p:sp>
        <p:nvSpPr>
          <p:cNvPr id="31" name="Text 29"/>
          <p:cNvSpPr/>
          <p:nvPr/>
        </p:nvSpPr>
        <p:spPr>
          <a:xfrm>
            <a:off x="5961888" y="2724912"/>
            <a:ext cx="159105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Adam + Cosine · 0,001</a:t>
            </a:r>
            <a:endParaRPr lang="en-US" sz="1100" dirty="0"/>
          </a:p>
        </p:txBody>
      </p:sp>
      <p:sp>
        <p:nvSpPr>
          <p:cNvPr id="32" name="Shape 30"/>
          <p:cNvSpPr/>
          <p:nvPr/>
        </p:nvSpPr>
        <p:spPr>
          <a:xfrm>
            <a:off x="566928" y="3364992"/>
            <a:ext cx="1600200" cy="640080"/>
          </a:xfrm>
          <a:prstGeom prst="rect">
            <a:avLst/>
          </a:prstGeom>
          <a:solidFill>
            <a:srgbClr val="FFFFFF"/>
          </a:solidFill>
          <a:ln w="15240">
            <a:solidFill>
              <a:srgbClr val="FFFFFF"/>
            </a:solidFill>
            <a:prstDash val="solid"/>
          </a:ln>
        </p:spPr>
      </p:sp>
      <p:sp>
        <p:nvSpPr>
          <p:cNvPr id="33" name="Text 31"/>
          <p:cNvSpPr/>
          <p:nvPr/>
        </p:nvSpPr>
        <p:spPr>
          <a:xfrm>
            <a:off x="658368" y="3364992"/>
            <a:ext cx="1453896" cy="640080"/>
          </a:xfrm>
          <a:prstGeom prst="rect">
            <a:avLst/>
          </a:prstGeom>
          <a:noFill/>
          <a:ln/>
        </p:spPr>
        <p:txBody>
          <a:bodyPr wrap="square" lIns="0" tIns="0" rIns="0" bIns="0" rtlCol="0" anchor="ctr"/>
          <a:lstStyle/>
          <a:p>
            <a:pPr marL="0" indent="0" algn="l">
              <a:lnSpc>
                <a:spcPct val="92000"/>
              </a:lnSpc>
              <a:buNone/>
            </a:pPr>
            <a:r>
              <a:rPr lang="en-US" sz="1100" b="1" dirty="0">
                <a:solidFill>
                  <a:srgbClr val="0E2A47"/>
                </a:solidFill>
                <a:latin typeface="Calibri" pitchFamily="34" charset="0"/>
                <a:ea typeface="Calibri" pitchFamily="34" charset="-122"/>
                <a:cs typeface="Calibri" pitchFamily="34" charset="-120"/>
              </a:rPr>
              <a:t>PaddleOCR (det)</a:t>
            </a:r>
            <a:endParaRPr lang="en-US" sz="1100" dirty="0"/>
          </a:p>
        </p:txBody>
      </p:sp>
      <p:sp>
        <p:nvSpPr>
          <p:cNvPr id="34" name="Shape 32"/>
          <p:cNvSpPr/>
          <p:nvPr/>
        </p:nvSpPr>
        <p:spPr>
          <a:xfrm>
            <a:off x="2167128" y="3364992"/>
            <a:ext cx="2331720" cy="640080"/>
          </a:xfrm>
          <a:prstGeom prst="rect">
            <a:avLst/>
          </a:prstGeom>
          <a:solidFill>
            <a:srgbClr val="FFFFFF"/>
          </a:solidFill>
          <a:ln w="15240">
            <a:solidFill>
              <a:srgbClr val="FFFFFF"/>
            </a:solidFill>
            <a:prstDash val="solid"/>
          </a:ln>
        </p:spPr>
      </p:sp>
      <p:sp>
        <p:nvSpPr>
          <p:cNvPr id="35" name="Text 33"/>
          <p:cNvSpPr/>
          <p:nvPr/>
        </p:nvSpPr>
        <p:spPr>
          <a:xfrm>
            <a:off x="2258568" y="3364992"/>
            <a:ext cx="2185416" cy="640080"/>
          </a:xfrm>
          <a:prstGeom prst="rect">
            <a:avLst/>
          </a:prstGeom>
          <a:noFill/>
          <a:ln/>
        </p:spPr>
        <p:txBody>
          <a:bodyPr wrap="square" lIns="0" tIns="0" rIns="0" bIns="0" rtlCol="0" anchor="ctr"/>
          <a:lstStyle/>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DBNet</a:t>
            </a:r>
            <a:endParaRPr lang="en-US" sz="1050" dirty="0"/>
          </a:p>
          <a:p>
            <a:pPr marL="0" indent="0" algn="l">
              <a:lnSpc>
                <a:spcPct val="92000"/>
              </a:lnSpc>
              <a:buNone/>
            </a:pPr>
            <a:r>
              <a:rPr lang="en-US" sz="1050" dirty="0">
                <a:solidFill>
                  <a:srgbClr val="22303C"/>
                </a:solidFill>
                <a:latin typeface="Calibri" pitchFamily="34" charset="0"/>
                <a:ea typeface="Calibri" pitchFamily="34" charset="-122"/>
                <a:cs typeface="Calibri" pitchFamily="34" charset="-120"/>
              </a:rPr>
              <a:t>(PP-OCRv4 det)</a:t>
            </a:r>
            <a:endParaRPr lang="en-US" sz="1050" dirty="0"/>
          </a:p>
        </p:txBody>
      </p:sp>
      <p:sp>
        <p:nvSpPr>
          <p:cNvPr id="36" name="Shape 34"/>
          <p:cNvSpPr/>
          <p:nvPr/>
        </p:nvSpPr>
        <p:spPr>
          <a:xfrm>
            <a:off x="4498848" y="3364992"/>
            <a:ext cx="1371600" cy="640080"/>
          </a:xfrm>
          <a:prstGeom prst="rect">
            <a:avLst/>
          </a:prstGeom>
          <a:solidFill>
            <a:srgbClr val="FFFFFF"/>
          </a:solidFill>
          <a:ln w="15240">
            <a:solidFill>
              <a:srgbClr val="FFFFFF"/>
            </a:solidFill>
            <a:prstDash val="solid"/>
          </a:ln>
        </p:spPr>
      </p:sp>
      <p:sp>
        <p:nvSpPr>
          <p:cNvPr id="37" name="Text 35"/>
          <p:cNvSpPr/>
          <p:nvPr/>
        </p:nvSpPr>
        <p:spPr>
          <a:xfrm>
            <a:off x="4590288" y="3364992"/>
            <a:ext cx="122529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150 · 8</a:t>
            </a:r>
            <a:endParaRPr lang="en-US" sz="1100" dirty="0"/>
          </a:p>
        </p:txBody>
      </p:sp>
      <p:sp>
        <p:nvSpPr>
          <p:cNvPr id="38" name="Shape 36"/>
          <p:cNvSpPr/>
          <p:nvPr/>
        </p:nvSpPr>
        <p:spPr>
          <a:xfrm>
            <a:off x="5870448" y="3364992"/>
            <a:ext cx="1737360" cy="640080"/>
          </a:xfrm>
          <a:prstGeom prst="rect">
            <a:avLst/>
          </a:prstGeom>
          <a:solidFill>
            <a:srgbClr val="FFFFFF"/>
          </a:solidFill>
          <a:ln w="15240">
            <a:solidFill>
              <a:srgbClr val="FFFFFF"/>
            </a:solidFill>
            <a:prstDash val="solid"/>
          </a:ln>
        </p:spPr>
      </p:sp>
      <p:sp>
        <p:nvSpPr>
          <p:cNvPr id="39" name="Text 37"/>
          <p:cNvSpPr/>
          <p:nvPr/>
        </p:nvSpPr>
        <p:spPr>
          <a:xfrm>
            <a:off x="5961888" y="3364992"/>
            <a:ext cx="1591056" cy="640080"/>
          </a:xfrm>
          <a:prstGeom prst="rect">
            <a:avLst/>
          </a:prstGeom>
          <a:noFill/>
          <a:ln/>
        </p:spPr>
        <p:txBody>
          <a:bodyPr wrap="square" lIns="0" tIns="0" rIns="0" bIns="0" rtlCol="0" anchor="ctr"/>
          <a:lstStyle/>
          <a:p>
            <a:pPr marL="0" indent="0" algn="l">
              <a:lnSpc>
                <a:spcPct val="92000"/>
              </a:lnSpc>
              <a:buNone/>
            </a:pPr>
            <a:r>
              <a:rPr lang="en-US" sz="1100" dirty="0">
                <a:solidFill>
                  <a:srgbClr val="22303C"/>
                </a:solidFill>
                <a:latin typeface="Calibri" pitchFamily="34" charset="0"/>
                <a:ea typeface="Calibri" pitchFamily="34" charset="-122"/>
                <a:cs typeface="Calibri" pitchFamily="34" charset="-120"/>
              </a:rPr>
              <a:t>lr 0,001</a:t>
            </a:r>
            <a:endParaRPr lang="en-US" sz="1100" dirty="0"/>
          </a:p>
        </p:txBody>
      </p:sp>
      <p:sp>
        <p:nvSpPr>
          <p:cNvPr id="40" name="Shape 38"/>
          <p:cNvSpPr/>
          <p:nvPr/>
        </p:nvSpPr>
        <p:spPr>
          <a:xfrm>
            <a:off x="7360920" y="1645920"/>
            <a:ext cx="4270248" cy="1691640"/>
          </a:xfrm>
          <a:prstGeom prst="roundRect">
            <a:avLst>
              <a:gd name="adj" fmla="val 6486"/>
            </a:avLst>
          </a:prstGeom>
          <a:solidFill>
            <a:srgbClr val="F1F5F8"/>
          </a:solidFill>
          <a:ln/>
          <a:effectLst>
            <a:outerShdw blurRad="88900" dist="25400" dir="5400000" algn="bl" rotWithShape="0">
              <a:srgbClr val="B9C7D1">
                <a:alpha val="40000"/>
              </a:srgbClr>
            </a:outerShdw>
          </a:effectLst>
        </p:spPr>
      </p:sp>
      <p:sp>
        <p:nvSpPr>
          <p:cNvPr id="41" name="Shape 39"/>
          <p:cNvSpPr/>
          <p:nvPr/>
        </p:nvSpPr>
        <p:spPr>
          <a:xfrm>
            <a:off x="7571232" y="1828800"/>
            <a:ext cx="502920" cy="502920"/>
          </a:xfrm>
          <a:prstGeom prst="roundRect">
            <a:avLst>
              <a:gd name="adj" fmla="val 50000"/>
            </a:avLst>
          </a:prstGeom>
          <a:solidFill>
            <a:srgbClr val="0E7C86"/>
          </a:solidFill>
          <a:ln/>
        </p:spPr>
      </p:sp>
      <p:pic>
        <p:nvPicPr>
          <p:cNvPr id="42" name="Image 0" descr="preencoded.png"/>
          <p:cNvPicPr>
            <a:picLocks noChangeAspect="1"/>
          </p:cNvPicPr>
          <p:nvPr/>
        </p:nvPicPr>
        <p:blipFill>
          <a:blip r:embed="rId3"/>
          <a:stretch>
            <a:fillRect/>
          </a:stretch>
        </p:blipFill>
        <p:spPr>
          <a:xfrm>
            <a:off x="7691933" y="1949501"/>
            <a:ext cx="261518" cy="261518"/>
          </a:xfrm>
          <a:prstGeom prst="rect">
            <a:avLst/>
          </a:prstGeom>
        </p:spPr>
      </p:pic>
      <p:sp>
        <p:nvSpPr>
          <p:cNvPr id="43" name="Text 40"/>
          <p:cNvSpPr/>
          <p:nvPr/>
        </p:nvSpPr>
        <p:spPr>
          <a:xfrm>
            <a:off x="8183880" y="1847088"/>
            <a:ext cx="3291840" cy="365760"/>
          </a:xfrm>
          <a:prstGeom prst="rect">
            <a:avLst/>
          </a:prstGeom>
          <a:noFill/>
          <a:ln/>
        </p:spPr>
        <p:txBody>
          <a:bodyPr wrap="square" lIns="0" tIns="0" rIns="0" bIns="0" rtlCol="0" anchor="ctr"/>
          <a:lstStyle/>
          <a:p>
            <a:pPr marL="0" indent="0">
              <a:buNone/>
            </a:pPr>
            <a:r>
              <a:rPr lang="en-US" sz="1300" b="1" dirty="0">
                <a:solidFill>
                  <a:srgbClr val="0E2A47"/>
                </a:solidFill>
                <a:latin typeface="Calibri" pitchFamily="34" charset="0"/>
                <a:ea typeface="Calibri" pitchFamily="34" charset="-122"/>
                <a:cs typeface="Calibri" pitchFamily="34" charset="-120"/>
              </a:rPr>
              <a:t>Đầu vào (chuẩn hóa)</a:t>
            </a:r>
            <a:endParaRPr lang="en-US" sz="1300" dirty="0"/>
          </a:p>
        </p:txBody>
      </p:sp>
      <p:sp>
        <p:nvSpPr>
          <p:cNvPr id="44" name="Text 41"/>
          <p:cNvSpPr/>
          <p:nvPr/>
        </p:nvSpPr>
        <p:spPr>
          <a:xfrm>
            <a:off x="7571232" y="2395728"/>
            <a:ext cx="3840480" cy="914400"/>
          </a:xfrm>
          <a:prstGeom prst="rect">
            <a:avLst/>
          </a:prstGeom>
          <a:noFill/>
          <a:ln/>
        </p:spPr>
        <p:txBody>
          <a:bodyPr wrap="square" lIns="0" tIns="0" rIns="0" bIns="0" rtlCol="0" anchor="t"/>
          <a:lstStyle/>
          <a:p>
            <a:pPr marL="0" indent="0">
              <a:lnSpc>
                <a:spcPct val="102000"/>
              </a:lnSpc>
              <a:buNone/>
            </a:pPr>
            <a:r>
              <a:rPr lang="en-US" sz="1050" dirty="0">
                <a:solidFill>
                  <a:srgbClr val="22303C"/>
                </a:solidFill>
                <a:latin typeface="Calibri" pitchFamily="34" charset="0"/>
                <a:ea typeface="Calibri" pitchFamily="34" charset="-122"/>
                <a:cs typeface="Calibri" pitchFamily="34" charset="-120"/>
              </a:rPr>
              <a:t>400–500 hóa đơn GTGT tổng hợp tự sinh · tự gán nhãn det+rec · dict_vi.txt (137 ký tự) · tăng cường: nghiêng/méo, nhiễu, JPEG, mộc đỏ, chữ ký · ảnh chuẩn hóa RGB · train/val 90/10 · transfer learning.</a:t>
            </a:r>
            <a:endParaRPr lang="en-US" sz="1050" dirty="0"/>
          </a:p>
        </p:txBody>
      </p:sp>
      <p:sp>
        <p:nvSpPr>
          <p:cNvPr id="45" name="Shape 42"/>
          <p:cNvSpPr/>
          <p:nvPr/>
        </p:nvSpPr>
        <p:spPr>
          <a:xfrm>
            <a:off x="7360920" y="3474720"/>
            <a:ext cx="4270248" cy="1600200"/>
          </a:xfrm>
          <a:prstGeom prst="roundRect">
            <a:avLst>
              <a:gd name="adj" fmla="val 6857"/>
            </a:avLst>
          </a:prstGeom>
          <a:solidFill>
            <a:srgbClr val="0E2A47"/>
          </a:solidFill>
          <a:ln/>
        </p:spPr>
      </p:sp>
      <p:sp>
        <p:nvSpPr>
          <p:cNvPr id="46" name="Shape 43"/>
          <p:cNvSpPr/>
          <p:nvPr/>
        </p:nvSpPr>
        <p:spPr>
          <a:xfrm>
            <a:off x="7571232" y="3657600"/>
            <a:ext cx="502920" cy="502920"/>
          </a:xfrm>
          <a:prstGeom prst="roundRect">
            <a:avLst>
              <a:gd name="adj" fmla="val 50000"/>
            </a:avLst>
          </a:prstGeom>
          <a:solidFill>
            <a:srgbClr val="23B5A6"/>
          </a:solidFill>
          <a:ln/>
        </p:spPr>
      </p:sp>
      <p:pic>
        <p:nvPicPr>
          <p:cNvPr id="47" name="Image 1" descr="preencoded.png"/>
          <p:cNvPicPr>
            <a:picLocks noChangeAspect="1"/>
          </p:cNvPicPr>
          <p:nvPr/>
        </p:nvPicPr>
        <p:blipFill>
          <a:blip r:embed="rId4"/>
          <a:stretch>
            <a:fillRect/>
          </a:stretch>
        </p:blipFill>
        <p:spPr>
          <a:xfrm>
            <a:off x="7691933" y="3778301"/>
            <a:ext cx="261518" cy="261518"/>
          </a:xfrm>
          <a:prstGeom prst="rect">
            <a:avLst/>
          </a:prstGeom>
        </p:spPr>
      </p:pic>
      <p:sp>
        <p:nvSpPr>
          <p:cNvPr id="48" name="Text 44"/>
          <p:cNvSpPr/>
          <p:nvPr/>
        </p:nvSpPr>
        <p:spPr>
          <a:xfrm>
            <a:off x="8183880" y="3675888"/>
            <a:ext cx="329184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Đầu ra</a:t>
            </a:r>
            <a:endParaRPr lang="en-US" sz="1300" dirty="0"/>
          </a:p>
        </p:txBody>
      </p:sp>
      <p:sp>
        <p:nvSpPr>
          <p:cNvPr id="49" name="Text 45"/>
          <p:cNvSpPr/>
          <p:nvPr/>
        </p:nvSpPr>
        <p:spPr>
          <a:xfrm>
            <a:off x="7571232" y="4206240"/>
            <a:ext cx="3840480" cy="822960"/>
          </a:xfrm>
          <a:prstGeom prst="rect">
            <a:avLst/>
          </a:prstGeom>
          <a:noFill/>
          <a:ln/>
        </p:spPr>
        <p:txBody>
          <a:bodyPr wrap="square" lIns="0" tIns="0" rIns="0" bIns="0" rtlCol="0" anchor="t"/>
          <a:lstStyle/>
          <a:p>
            <a:pPr marL="0" indent="0">
              <a:lnSpc>
                <a:spcPct val="103000"/>
              </a:lnSpc>
              <a:buNone/>
            </a:pPr>
            <a:r>
              <a:rPr lang="en-US" sz="1100" b="1" dirty="0">
                <a:solidFill>
                  <a:srgbClr val="23B5A6"/>
                </a:solidFill>
                <a:latin typeface="Calibri" pitchFamily="34" charset="0"/>
                <a:ea typeface="Calibri" pitchFamily="34" charset="-122"/>
                <a:cs typeface="Calibri" pitchFamily="34" charset="-120"/>
              </a:rPr>
              <a:t>JSON { fields, lineItems, confidence }
</a:t>
            </a:r>
            <a:r>
              <a:rPr lang="en-US" sz="1050" dirty="0">
                <a:solidFill>
                  <a:srgbClr val="BFD6DF"/>
                </a:solidFill>
                <a:latin typeface="Calibri" pitchFamily="34" charset="0"/>
                <a:ea typeface="Calibri" pitchFamily="34" charset="-122"/>
                <a:cs typeface="Calibri" pitchFamily="34" charset="-120"/>
              </a:rPr>
              <a:t>fields = MST · số HĐ · ngày · tiền hàng · thuế · tổng → ghi Invoice / InvoiceItem để đối chiếu PO.</a:t>
            </a:r>
            <a:endParaRPr lang="en-US" sz="1100" dirty="0"/>
          </a:p>
        </p:txBody>
      </p:sp>
      <p:sp>
        <p:nvSpPr>
          <p:cNvPr id="50" name="Shape 46"/>
          <p:cNvSpPr/>
          <p:nvPr/>
        </p:nvSpPr>
        <p:spPr>
          <a:xfrm>
            <a:off x="566928" y="4160520"/>
            <a:ext cx="4160520" cy="1755648"/>
          </a:xfrm>
          <a:prstGeom prst="roundRect">
            <a:avLst>
              <a:gd name="adj" fmla="val 5208"/>
            </a:avLst>
          </a:prstGeom>
          <a:solidFill>
            <a:srgbClr val="FFFFFF"/>
          </a:solidFill>
          <a:ln/>
          <a:effectLst>
            <a:outerShdw blurRad="88900" dist="25400" dir="5400000" algn="bl" rotWithShape="0">
              <a:srgbClr val="B9C7D1">
                <a:alpha val="40000"/>
              </a:srgbClr>
            </a:outerShdw>
          </a:effectLst>
        </p:spPr>
      </p:sp>
      <p:pic>
        <p:nvPicPr>
          <p:cNvPr id="51" name="Image 2" descr="D:/DATN/TownHub/latex/images/img29.png"/>
          <p:cNvPicPr>
            <a:picLocks noChangeAspect="1"/>
          </p:cNvPicPr>
          <p:nvPr/>
        </p:nvPicPr>
        <p:blipFill>
          <a:blip r:embed="rId5"/>
          <a:srcRect/>
          <a:stretch/>
        </p:blipFill>
        <p:spPr>
          <a:xfrm>
            <a:off x="649224" y="4242816"/>
            <a:ext cx="3995928" cy="1591056"/>
          </a:xfrm>
          <a:prstGeom prst="rect">
            <a:avLst/>
          </a:prstGeom>
        </p:spPr>
      </p:pic>
      <p:sp>
        <p:nvSpPr>
          <p:cNvPr id="52" name="Text 47"/>
          <p:cNvSpPr/>
          <p:nvPr/>
        </p:nvSpPr>
        <p:spPr>
          <a:xfrm>
            <a:off x="566928" y="5934456"/>
            <a:ext cx="4160520" cy="219456"/>
          </a:xfrm>
          <a:prstGeom prst="rect">
            <a:avLst/>
          </a:prstGeom>
          <a:noFill/>
          <a:ln/>
        </p:spPr>
        <p:txBody>
          <a:bodyPr wrap="square" lIns="0" tIns="0" rIns="0" bIns="0" rtlCol="0" anchor="ctr"/>
          <a:lstStyle/>
          <a:p>
            <a:pPr marL="0" indent="0" algn="ctr">
              <a:buNone/>
            </a:pPr>
            <a:r>
              <a:rPr lang="en-US" sz="900" i="1" dirty="0">
                <a:solidFill>
                  <a:srgbClr val="6B7A88"/>
                </a:solidFill>
                <a:latin typeface="Calibri" pitchFamily="34" charset="0"/>
                <a:ea typeface="Calibri" pitchFamily="34" charset="-122"/>
                <a:cs typeface="Calibri" pitchFamily="34" charset="-120"/>
              </a:rPr>
              <a:t>Đường cong huấn luyện PaddleOCR (rec)</a:t>
            </a:r>
            <a:endParaRPr lang="en-US" sz="900" dirty="0"/>
          </a:p>
        </p:txBody>
      </p:sp>
      <p:sp>
        <p:nvSpPr>
          <p:cNvPr id="53" name="Shape 48"/>
          <p:cNvSpPr/>
          <p:nvPr/>
        </p:nvSpPr>
        <p:spPr>
          <a:xfrm>
            <a:off x="4892040" y="4160520"/>
            <a:ext cx="2395728" cy="1755648"/>
          </a:xfrm>
          <a:prstGeom prst="roundRect">
            <a:avLst>
              <a:gd name="adj" fmla="val 6250"/>
            </a:avLst>
          </a:prstGeom>
          <a:solidFill>
            <a:srgbClr val="E4EEF3"/>
          </a:solidFill>
          <a:ln/>
          <a:effectLst>
            <a:outerShdw blurRad="88900" dist="25400" dir="5400000" algn="bl" rotWithShape="0">
              <a:srgbClr val="B9C7D1">
                <a:alpha val="40000"/>
              </a:srgbClr>
            </a:outerShdw>
          </a:effectLst>
        </p:spPr>
      </p:sp>
      <p:sp>
        <p:nvSpPr>
          <p:cNvPr id="54" name="Text 49"/>
          <p:cNvSpPr/>
          <p:nvPr/>
        </p:nvSpPr>
        <p:spPr>
          <a:xfrm>
            <a:off x="4892040" y="4160520"/>
            <a:ext cx="2395728" cy="1755648"/>
          </a:xfrm>
          <a:prstGeom prst="rect">
            <a:avLst/>
          </a:prstGeom>
          <a:noFill/>
          <a:ln/>
        </p:spPr>
        <p:txBody>
          <a:bodyPr wrap="square" lIns="0" tIns="0" rIns="0" bIns="0" rtlCol="0" anchor="ctr"/>
          <a:lstStyle/>
          <a:p>
            <a:pPr marL="0" indent="0" algn="ctr">
              <a:lnSpc>
                <a:spcPct val="100000"/>
              </a:lnSpc>
              <a:buNone/>
            </a:pPr>
            <a:r>
              <a:rPr lang="en-US" sz="2500" b="1" dirty="0">
                <a:solidFill>
                  <a:srgbClr val="0E7C86"/>
                </a:solidFill>
                <a:latin typeface="Cambria" pitchFamily="34" charset="0"/>
                <a:ea typeface="Cambria" pitchFamily="34" charset="-122"/>
                <a:cs typeface="Cambria" pitchFamily="34" charset="-120"/>
              </a:rPr>
              <a:t>99,64%</a:t>
            </a:r>
            <a:endParaRPr lang="en-US" sz="2500" dirty="0"/>
          </a:p>
          <a:p>
            <a:pPr marL="0" indent="0" algn="ctr">
              <a:lnSpc>
                <a:spcPct val="100000"/>
              </a:lnSpc>
              <a:buNone/>
            </a:pPr>
            <a:r>
              <a:rPr lang="en-US" sz="1200" b="1" dirty="0">
                <a:solidFill>
                  <a:srgbClr val="0E2A47"/>
                </a:solidFill>
                <a:latin typeface="Cambria" pitchFamily="34" charset="0"/>
                <a:ea typeface="Cambria" pitchFamily="34" charset="-122"/>
                <a:cs typeface="Cambria" pitchFamily="34" charset="-120"/>
              </a:rPr>
              <a:t>val accuracy (rec)</a:t>
            </a:r>
            <a:endParaRPr lang="en-US" sz="2500" dirty="0"/>
          </a:p>
          <a:p>
            <a:pPr marL="0" indent="0" algn="ctr">
              <a:lnSpc>
                <a:spcPct val="100000"/>
              </a:lnSpc>
              <a:buNone/>
            </a:pPr>
            <a:r>
              <a:rPr lang="en-US" sz="1200" b="1" dirty="0">
                <a:solidFill>
                  <a:srgbClr val="0E2A47"/>
                </a:solidFill>
                <a:latin typeface="Cambria" pitchFamily="34" charset="0"/>
                <a:ea typeface="Cambria" pitchFamily="34" charset="-122"/>
                <a:cs typeface="Cambria" pitchFamily="34" charset="-120"/>
              </a:rPr>
              <a:t>@ epoch 41</a:t>
            </a:r>
            <a:endParaRPr lang="en-US" sz="2500" dirty="0"/>
          </a:p>
          <a:p>
            <a:pPr marL="0" indent="0" algn="ctr">
              <a:lnSpc>
                <a:spcPct val="100000"/>
              </a:lnSpc>
              <a:buNone/>
            </a:pPr>
            <a:endParaRPr lang="en-US" sz="2500" dirty="0"/>
          </a:p>
          <a:p>
            <a:pPr marL="0" indent="0" algn="ctr">
              <a:lnSpc>
                <a:spcPct val="100000"/>
              </a:lnSpc>
              <a:buNone/>
            </a:pPr>
            <a:r>
              <a:rPr lang="en-US" sz="1050" dirty="0">
                <a:solidFill>
                  <a:srgbClr val="6B7A88"/>
                </a:solidFill>
                <a:latin typeface="Cambria" pitchFamily="34" charset="0"/>
                <a:ea typeface="Cambria" pitchFamily="34" charset="-122"/>
                <a:cs typeface="Cambria" pitchFamily="34" charset="-120"/>
              </a:rPr>
              <a:t>norm_edit_dis 0,9992</a:t>
            </a:r>
            <a:endParaRPr lang="en-US" sz="2500" dirty="0"/>
          </a:p>
        </p:txBody>
      </p:sp>
      <p:sp>
        <p:nvSpPr>
          <p:cNvPr id="55" name="Text 50"/>
          <p:cNvSpPr/>
          <p:nvPr/>
        </p:nvSpPr>
        <p:spPr>
          <a:xfrm>
            <a:off x="566928" y="6181344"/>
            <a:ext cx="6720840" cy="228600"/>
          </a:xfrm>
          <a:prstGeom prst="rect">
            <a:avLst/>
          </a:prstGeom>
          <a:noFill/>
          <a:ln/>
        </p:spPr>
        <p:txBody>
          <a:bodyPr wrap="square" lIns="0" tIns="0" rIns="0" bIns="0" rtlCol="0" anchor="ctr"/>
          <a:lstStyle/>
          <a:p>
            <a:pPr marL="0" indent="0">
              <a:buNone/>
            </a:pPr>
            <a:r>
              <a:rPr lang="en-US" sz="950" i="1" dirty="0">
                <a:solidFill>
                  <a:srgbClr val="6B7A88"/>
                </a:solidFill>
                <a:latin typeface="Calibri" pitchFamily="34" charset="0"/>
                <a:ea typeface="Calibri" pitchFamily="34" charset="-122"/>
                <a:cs typeface="Calibri" pitchFamily="34" charset="-120"/>
              </a:rPr>
              <a:t>Chi tiết huấn luyện đọc từ config.yml &amp; train.log thực tế của dự án.</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OCR — ĐÁNH GIÁ</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So sánh &amp; xếp hạng 3 engine (val 300 mẫu)</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25</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graphicFrame>
        <p:nvGraphicFramePr>
          <p:cNvPr id="8" name="Chart 0"/>
          <p:cNvGraphicFramePr/>
          <p:nvPr/>
        </p:nvGraphicFramePr>
        <p:xfrm>
          <a:off x="566928" y="1737360"/>
          <a:ext cx="548640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263640" y="1737360"/>
            <a:ext cx="5367528" cy="1371600"/>
          </a:xfrm>
          <a:prstGeom prst="roundRect">
            <a:avLst>
              <a:gd name="adj" fmla="val 8000"/>
            </a:avLst>
          </a:prstGeom>
          <a:solidFill>
            <a:srgbClr val="F1F5F8"/>
          </a:solidFill>
          <a:ln/>
          <a:effectLst>
            <a:outerShdw blurRad="88900" dist="25400" dir="5400000" algn="bl" rotWithShape="0">
              <a:srgbClr val="B9C7D1">
                <a:alpha val="40000"/>
              </a:srgbClr>
            </a:outerShdw>
          </a:effectLst>
        </p:spPr>
      </p:sp>
      <p:sp>
        <p:nvSpPr>
          <p:cNvPr id="10" name="Shape 7"/>
          <p:cNvSpPr/>
          <p:nvPr/>
        </p:nvSpPr>
        <p:spPr>
          <a:xfrm>
            <a:off x="6492240" y="1965960"/>
            <a:ext cx="566928" cy="566928"/>
          </a:xfrm>
          <a:prstGeom prst="roundRect">
            <a:avLst>
              <a:gd name="adj" fmla="val 50000"/>
            </a:avLst>
          </a:prstGeom>
          <a:solidFill>
            <a:srgbClr val="EFA13C"/>
          </a:solidFill>
          <a:ln/>
        </p:spPr>
      </p:sp>
      <p:pic>
        <p:nvPicPr>
          <p:cNvPr id="11" name="Image 0" descr="preencoded.png"/>
          <p:cNvPicPr>
            <a:picLocks noChangeAspect="1"/>
          </p:cNvPicPr>
          <p:nvPr/>
        </p:nvPicPr>
        <p:blipFill>
          <a:blip r:embed="rId4"/>
          <a:stretch>
            <a:fillRect/>
          </a:stretch>
        </p:blipFill>
        <p:spPr>
          <a:xfrm>
            <a:off x="6628303" y="2102023"/>
            <a:ext cx="294803" cy="294803"/>
          </a:xfrm>
          <a:prstGeom prst="rect">
            <a:avLst/>
          </a:prstGeom>
        </p:spPr>
      </p:pic>
      <p:sp>
        <p:nvSpPr>
          <p:cNvPr id="12" name="Text 8"/>
          <p:cNvSpPr/>
          <p:nvPr/>
        </p:nvSpPr>
        <p:spPr>
          <a:xfrm>
            <a:off x="7178040" y="1965960"/>
            <a:ext cx="4297680" cy="502920"/>
          </a:xfrm>
          <a:prstGeom prst="rect">
            <a:avLst/>
          </a:prstGeom>
          <a:noFill/>
          <a:ln/>
        </p:spPr>
        <p:txBody>
          <a:bodyPr wrap="square" lIns="0" tIns="0" rIns="0" bIns="0" rtlCol="0" anchor="ctr"/>
          <a:lstStyle/>
          <a:p>
            <a:pPr marL="0" indent="0">
              <a:buNone/>
            </a:pPr>
            <a:r>
              <a:rPr lang="en-US" sz="2200" b="1" dirty="0">
                <a:solidFill>
                  <a:srgbClr val="0E2A47"/>
                </a:solidFill>
                <a:latin typeface="Cambria" pitchFamily="34" charset="0"/>
                <a:ea typeface="Cambria" pitchFamily="34" charset="-122"/>
                <a:cs typeface="Cambria" pitchFamily="34" charset="-120"/>
              </a:rPr>
              <a:t>65 ms/ảnh</a:t>
            </a:r>
            <a:r>
              <a:rPr lang="en-US" sz="1250" dirty="0">
                <a:solidFill>
                  <a:srgbClr val="6B7A88"/>
                </a:solidFill>
                <a:latin typeface="Cambria" pitchFamily="34" charset="0"/>
                <a:ea typeface="Cambria" pitchFamily="34" charset="-122"/>
                <a:cs typeface="Cambria" pitchFamily="34" charset="-120"/>
              </a:rPr>
              <a:t>  · PaddleOCR nhanh nhất (≈4,9× VietOCR)</a:t>
            </a:r>
            <a:endParaRPr lang="en-US" sz="2200" dirty="0"/>
          </a:p>
        </p:txBody>
      </p:sp>
      <p:sp>
        <p:nvSpPr>
          <p:cNvPr id="13" name="Text 9"/>
          <p:cNvSpPr/>
          <p:nvPr/>
        </p:nvSpPr>
        <p:spPr>
          <a:xfrm>
            <a:off x="6492240" y="2606040"/>
            <a:ext cx="4937760" cy="365760"/>
          </a:xfrm>
          <a:prstGeom prst="rect">
            <a:avLst/>
          </a:prstGeom>
          <a:noFill/>
          <a:ln/>
        </p:spPr>
        <p:txBody>
          <a:bodyPr wrap="square" lIns="0" tIns="0" rIns="0" bIns="0" rtlCol="0" anchor="ctr"/>
          <a:lstStyle/>
          <a:p>
            <a:pPr marL="0" indent="0">
              <a:buNone/>
            </a:pPr>
            <a:r>
              <a:rPr lang="en-US" sz="1200" dirty="0">
                <a:solidFill>
                  <a:srgbClr val="22303C"/>
                </a:solidFill>
                <a:latin typeface="Calibri" pitchFamily="34" charset="0"/>
                <a:ea typeface="Calibri" pitchFamily="34" charset="-122"/>
                <a:cs typeface="Calibri" pitchFamily="34" charset="-120"/>
              </a:rPr>
              <a:t>VietOCR 317 ms · EasyOCR 156 ms · độ trễ đo trên CPU</a:t>
            </a:r>
            <a:endParaRPr lang="en-US" sz="1200" dirty="0"/>
          </a:p>
        </p:txBody>
      </p:sp>
      <p:sp>
        <p:nvSpPr>
          <p:cNvPr id="14" name="Shape 10"/>
          <p:cNvSpPr/>
          <p:nvPr/>
        </p:nvSpPr>
        <p:spPr>
          <a:xfrm>
            <a:off x="6263640" y="3246120"/>
            <a:ext cx="5367528" cy="1371600"/>
          </a:xfrm>
          <a:prstGeom prst="roundRect">
            <a:avLst>
              <a:gd name="adj" fmla="val 8000"/>
            </a:avLst>
          </a:prstGeom>
          <a:solidFill>
            <a:srgbClr val="0E2A47"/>
          </a:solidFill>
          <a:ln/>
        </p:spPr>
      </p:sp>
      <p:sp>
        <p:nvSpPr>
          <p:cNvPr id="15" name="Shape 11"/>
          <p:cNvSpPr/>
          <p:nvPr/>
        </p:nvSpPr>
        <p:spPr>
          <a:xfrm>
            <a:off x="6492240" y="3474720"/>
            <a:ext cx="566928" cy="566928"/>
          </a:xfrm>
          <a:prstGeom prst="roundRect">
            <a:avLst>
              <a:gd name="adj" fmla="val 50000"/>
            </a:avLst>
          </a:prstGeom>
          <a:solidFill>
            <a:srgbClr val="23B5A6"/>
          </a:solidFill>
          <a:ln/>
        </p:spPr>
      </p:sp>
      <p:pic>
        <p:nvPicPr>
          <p:cNvPr id="16" name="Image 1" descr="preencoded.png"/>
          <p:cNvPicPr>
            <a:picLocks noChangeAspect="1"/>
          </p:cNvPicPr>
          <p:nvPr/>
        </p:nvPicPr>
        <p:blipFill>
          <a:blip r:embed="rId5"/>
          <a:stretch>
            <a:fillRect/>
          </a:stretch>
        </p:blipFill>
        <p:spPr>
          <a:xfrm>
            <a:off x="6628303" y="3610783"/>
            <a:ext cx="294803" cy="294803"/>
          </a:xfrm>
          <a:prstGeom prst="rect">
            <a:avLst/>
          </a:prstGeom>
        </p:spPr>
      </p:pic>
      <p:sp>
        <p:nvSpPr>
          <p:cNvPr id="17" name="Text 12"/>
          <p:cNvSpPr/>
          <p:nvPr/>
        </p:nvSpPr>
        <p:spPr>
          <a:xfrm>
            <a:off x="7178040" y="3291840"/>
            <a:ext cx="4297680" cy="1280160"/>
          </a:xfrm>
          <a:prstGeom prst="rect">
            <a:avLst/>
          </a:prstGeom>
          <a:noFill/>
          <a:ln/>
        </p:spPr>
        <p:txBody>
          <a:bodyPr wrap="square" lIns="0" tIns="0" rIns="0" bIns="0" rtlCol="0" anchor="ctr"/>
          <a:lstStyle/>
          <a:p>
            <a:pPr marL="0" indent="0">
              <a:lnSpc>
                <a:spcPct val="102000"/>
              </a:lnSpc>
              <a:buNone/>
            </a:pPr>
            <a:r>
              <a:rPr lang="en-US" sz="1350" b="1" dirty="0">
                <a:solidFill>
                  <a:srgbClr val="FFFFFF"/>
                </a:solidFill>
                <a:latin typeface="Calibri" pitchFamily="34" charset="0"/>
                <a:ea typeface="Calibri" pitchFamily="34" charset="-122"/>
                <a:cs typeface="Calibri" pitchFamily="34" charset="-120"/>
              </a:rPr>
              <a:t>Chọn PaddleOCR làm engine mặc định
</a:t>
            </a:r>
            <a:r>
              <a:rPr lang="en-US" sz="1200" dirty="0">
                <a:solidFill>
                  <a:srgbClr val="BFD6DF"/>
                </a:solidFill>
                <a:latin typeface="Calibri" pitchFamily="34" charset="0"/>
                <a:ea typeface="Calibri" pitchFamily="34" charset="-122"/>
                <a:cs typeface="Calibri" pitchFamily="34" charset="-120"/>
              </a:rPr>
              <a:t>hợp nhất det+rec, nhẹ, fine-tune trọn gói; giữ VietOCR cho độ chính xác cao nhất.</a:t>
            </a:r>
            <a:endParaRPr lang="en-US" sz="1350" dirty="0"/>
          </a:p>
        </p:txBody>
      </p:sp>
      <p:sp>
        <p:nvSpPr>
          <p:cNvPr id="18" name="Shape 13"/>
          <p:cNvSpPr/>
          <p:nvPr/>
        </p:nvSpPr>
        <p:spPr>
          <a:xfrm>
            <a:off x="566928" y="4846320"/>
            <a:ext cx="3566160"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Text 14"/>
          <p:cNvSpPr/>
          <p:nvPr/>
        </p:nvSpPr>
        <p:spPr>
          <a:xfrm>
            <a:off x="768096" y="5010912"/>
            <a:ext cx="3200400" cy="45720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Fine-tune tác động lớn</a:t>
            </a:r>
            <a:endParaRPr lang="en-US" sz="1300" dirty="0"/>
          </a:p>
        </p:txBody>
      </p:sp>
      <p:sp>
        <p:nvSpPr>
          <p:cNvPr id="20" name="Text 15"/>
          <p:cNvSpPr/>
          <p:nvPr/>
        </p:nvSpPr>
        <p:spPr>
          <a:xfrm>
            <a:off x="768096" y="5468112"/>
            <a:ext cx="3200400" cy="548640"/>
          </a:xfrm>
          <a:prstGeom prst="rect">
            <a:avLst/>
          </a:prstGeom>
          <a:noFill/>
          <a:ln/>
        </p:spPr>
        <p:txBody>
          <a:bodyPr wrap="square" lIns="0" tIns="0" rIns="0" bIns="0" rtlCol="0" anchor="t"/>
          <a:lstStyle/>
          <a:p>
            <a:pPr marL="0" indent="0">
              <a:lnSpc>
                <a:spcPct val="102000"/>
              </a:lnSpc>
              <a:buNone/>
            </a:pPr>
            <a:r>
              <a:rPr lang="en-US" sz="1150" dirty="0">
                <a:solidFill>
                  <a:srgbClr val="22303C"/>
                </a:solidFill>
                <a:latin typeface="Calibri" pitchFamily="34" charset="0"/>
                <a:ea typeface="Calibri" pitchFamily="34" charset="-122"/>
                <a:cs typeface="Calibri" pitchFamily="34" charset="-120"/>
              </a:rPr>
              <a:t>VietOCR 0,87→1,00 · PaddleOCR 0,46→0,89</a:t>
            </a:r>
            <a:endParaRPr lang="en-US" sz="1150" dirty="0"/>
          </a:p>
        </p:txBody>
      </p:sp>
      <p:sp>
        <p:nvSpPr>
          <p:cNvPr id="21" name="Shape 16"/>
          <p:cNvSpPr/>
          <p:nvPr/>
        </p:nvSpPr>
        <p:spPr>
          <a:xfrm>
            <a:off x="4315968" y="4846320"/>
            <a:ext cx="3566160"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2" name="Text 17"/>
          <p:cNvSpPr/>
          <p:nvPr/>
        </p:nvSpPr>
        <p:spPr>
          <a:xfrm>
            <a:off x="4517136" y="5010912"/>
            <a:ext cx="3200400" cy="45720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Dữ liệu tự sinh (synthetic)</a:t>
            </a:r>
            <a:endParaRPr lang="en-US" sz="1300" dirty="0"/>
          </a:p>
        </p:txBody>
      </p:sp>
      <p:sp>
        <p:nvSpPr>
          <p:cNvPr id="23" name="Text 18"/>
          <p:cNvSpPr/>
          <p:nvPr/>
        </p:nvSpPr>
        <p:spPr>
          <a:xfrm>
            <a:off x="4517136" y="5468112"/>
            <a:ext cx="3200400" cy="548640"/>
          </a:xfrm>
          <a:prstGeom prst="rect">
            <a:avLst/>
          </a:prstGeom>
          <a:noFill/>
          <a:ln/>
        </p:spPr>
        <p:txBody>
          <a:bodyPr wrap="square" lIns="0" tIns="0" rIns="0" bIns="0" rtlCol="0" anchor="t"/>
          <a:lstStyle/>
          <a:p>
            <a:pPr marL="0" indent="0">
              <a:lnSpc>
                <a:spcPct val="102000"/>
              </a:lnSpc>
              <a:buNone/>
            </a:pPr>
            <a:r>
              <a:rPr lang="en-US" sz="1150" dirty="0">
                <a:solidFill>
                  <a:srgbClr val="22303C"/>
                </a:solidFill>
                <a:latin typeface="Calibri" pitchFamily="34" charset="0"/>
                <a:ea typeface="Calibri" pitchFamily="34" charset="-122"/>
                <a:cs typeface="Calibri" pitchFamily="34" charset="-120"/>
              </a:rPr>
              <a:t>400–500 HĐ GTGT VN · tự gán nhãn det+rec</a:t>
            </a:r>
            <a:endParaRPr lang="en-US" sz="1150" dirty="0"/>
          </a:p>
        </p:txBody>
      </p:sp>
      <p:sp>
        <p:nvSpPr>
          <p:cNvPr id="24" name="Shape 19"/>
          <p:cNvSpPr/>
          <p:nvPr/>
        </p:nvSpPr>
        <p:spPr>
          <a:xfrm>
            <a:off x="8065008" y="4846320"/>
            <a:ext cx="3566160" cy="1234440"/>
          </a:xfrm>
          <a:prstGeom prst="roundRect">
            <a:avLst>
              <a:gd name="adj" fmla="val 8148"/>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5" name="Text 20"/>
          <p:cNvSpPr/>
          <p:nvPr/>
        </p:nvSpPr>
        <p:spPr>
          <a:xfrm>
            <a:off x="8266176" y="5010912"/>
            <a:ext cx="3200400" cy="45720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Không bỏ phiếu 3 engine</a:t>
            </a:r>
            <a:endParaRPr lang="en-US" sz="1300" dirty="0"/>
          </a:p>
        </p:txBody>
      </p:sp>
      <p:sp>
        <p:nvSpPr>
          <p:cNvPr id="26" name="Text 21"/>
          <p:cNvSpPr/>
          <p:nvPr/>
        </p:nvSpPr>
        <p:spPr>
          <a:xfrm>
            <a:off x="8266176" y="5468112"/>
            <a:ext cx="3200400" cy="548640"/>
          </a:xfrm>
          <a:prstGeom prst="rect">
            <a:avLst/>
          </a:prstGeom>
          <a:noFill/>
          <a:ln/>
        </p:spPr>
        <p:txBody>
          <a:bodyPr wrap="square" lIns="0" tIns="0" rIns="0" bIns="0" rtlCol="0" anchor="t"/>
          <a:lstStyle/>
          <a:p>
            <a:pPr marL="0" indent="0">
              <a:lnSpc>
                <a:spcPct val="102000"/>
              </a:lnSpc>
              <a:buNone/>
            </a:pPr>
            <a:r>
              <a:rPr lang="en-US" sz="1150" dirty="0">
                <a:solidFill>
                  <a:srgbClr val="22303C"/>
                </a:solidFill>
                <a:latin typeface="Calibri" pitchFamily="34" charset="0"/>
                <a:ea typeface="Calibri" pitchFamily="34" charset="-122"/>
                <a:cs typeface="Calibri" pitchFamily="34" charset="-120"/>
              </a:rPr>
              <a:t>Ensemble 0,92 &lt; VietOCR 1,00 → dùng 1 engine mạnh</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2 · THUẬT TOÁN TỰ THIẾT KẾ</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Bóc tách bảng hóa đơn kháng nghiêng (deskew)</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26</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394960" cy="1417320"/>
          </a:xfrm>
          <a:prstGeom prst="roundRect">
            <a:avLst>
              <a:gd name="adj" fmla="val 7742"/>
            </a:avLst>
          </a:prstGeom>
          <a:solidFill>
            <a:srgbClr val="F1F5F8"/>
          </a:solidFill>
          <a:ln/>
          <a:effectLst>
            <a:outerShdw blurRad="88900" dist="25400" dir="5400000" algn="bl" rotWithShape="0">
              <a:srgbClr val="B9C7D1">
                <a:alpha val="40000"/>
              </a:srgbClr>
            </a:outerShdw>
          </a:effectLst>
        </p:spPr>
      </p:sp>
      <p:sp>
        <p:nvSpPr>
          <p:cNvPr id="9" name="Shape 7"/>
          <p:cNvSpPr/>
          <p:nvPr/>
        </p:nvSpPr>
        <p:spPr>
          <a:xfrm>
            <a:off x="822960" y="1938528"/>
            <a:ext cx="548640" cy="548640"/>
          </a:xfrm>
          <a:prstGeom prst="roundRect">
            <a:avLst>
              <a:gd name="adj" fmla="val 50000"/>
            </a:avLst>
          </a:prstGeom>
          <a:solidFill>
            <a:srgbClr val="E4572E"/>
          </a:solidFill>
          <a:ln/>
        </p:spPr>
      </p:sp>
      <p:pic>
        <p:nvPicPr>
          <p:cNvPr id="10" name="Image 0" descr="preencoded.png"/>
          <p:cNvPicPr>
            <a:picLocks noChangeAspect="1"/>
          </p:cNvPicPr>
          <p:nvPr/>
        </p:nvPicPr>
        <p:blipFill>
          <a:blip r:embed="rId3"/>
          <a:stretch>
            <a:fillRect/>
          </a:stretch>
        </p:blipFill>
        <p:spPr>
          <a:xfrm>
            <a:off x="954634" y="2070202"/>
            <a:ext cx="285293" cy="285293"/>
          </a:xfrm>
          <a:prstGeom prst="rect">
            <a:avLst/>
          </a:prstGeom>
        </p:spPr>
      </p:pic>
      <p:sp>
        <p:nvSpPr>
          <p:cNvPr id="11" name="Text 8"/>
          <p:cNvSpPr/>
          <p:nvPr/>
        </p:nvSpPr>
        <p:spPr>
          <a:xfrm>
            <a:off x="1508760" y="1965960"/>
            <a:ext cx="3657600" cy="36576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Vấn đề</a:t>
            </a:r>
            <a:endParaRPr lang="en-US" sz="1500" dirty="0"/>
          </a:p>
        </p:txBody>
      </p:sp>
      <p:sp>
        <p:nvSpPr>
          <p:cNvPr id="12" name="Text 9"/>
          <p:cNvSpPr/>
          <p:nvPr/>
        </p:nvSpPr>
        <p:spPr>
          <a:xfrm>
            <a:off x="822960" y="2423160"/>
            <a:ext cx="4937760" cy="640080"/>
          </a:xfrm>
          <a:prstGeom prst="rect">
            <a:avLst/>
          </a:prstGeom>
          <a:noFill/>
          <a:ln/>
        </p:spPr>
        <p:txBody>
          <a:bodyPr wrap="square" lIns="0" tIns="0" rIns="0" bIns="0" rtlCol="0" anchor="t"/>
          <a:lstStyle/>
          <a:p>
            <a:pPr marL="0" indent="0">
              <a:buNone/>
            </a:pPr>
            <a:r>
              <a:rPr lang="en-US" sz="1200" dirty="0">
                <a:solidFill>
                  <a:srgbClr val="22303C"/>
                </a:solidFill>
                <a:latin typeface="Calibri" pitchFamily="34" charset="0"/>
                <a:ea typeface="Calibri" pitchFamily="34" charset="-122"/>
                <a:cs typeface="Calibri" pitchFamily="34" charset="-120"/>
              </a:rPr>
              <a:t>Ảnh chụp điện thoại nghiêng vài độ → gom ô theo tung độ y gộp nhầm hai dòng sản phẩm liền kề vào cùng một hàng.</a:t>
            </a:r>
            <a:endParaRPr lang="en-US" sz="1200" dirty="0"/>
          </a:p>
        </p:txBody>
      </p:sp>
      <p:sp>
        <p:nvSpPr>
          <p:cNvPr id="13" name="Shape 10"/>
          <p:cNvSpPr/>
          <p:nvPr/>
        </p:nvSpPr>
        <p:spPr>
          <a:xfrm>
            <a:off x="566928" y="3246120"/>
            <a:ext cx="5394960" cy="1874520"/>
          </a:xfrm>
          <a:prstGeom prst="roundRect">
            <a:avLst>
              <a:gd name="adj" fmla="val 5854"/>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4" name="Shape 11"/>
          <p:cNvSpPr/>
          <p:nvPr/>
        </p:nvSpPr>
        <p:spPr>
          <a:xfrm>
            <a:off x="822960" y="3483864"/>
            <a:ext cx="640080" cy="640080"/>
          </a:xfrm>
          <a:prstGeom prst="roundRect">
            <a:avLst>
              <a:gd name="adj" fmla="val 50000"/>
            </a:avLst>
          </a:prstGeom>
          <a:solidFill>
            <a:srgbClr val="0E7C86"/>
          </a:solidFill>
          <a:ln/>
        </p:spPr>
      </p:sp>
      <p:pic>
        <p:nvPicPr>
          <p:cNvPr id="15" name="Image 1" descr="preencoded.png"/>
          <p:cNvPicPr>
            <a:picLocks noChangeAspect="1"/>
          </p:cNvPicPr>
          <p:nvPr/>
        </p:nvPicPr>
        <p:blipFill>
          <a:blip r:embed="rId4"/>
          <a:stretch>
            <a:fillRect/>
          </a:stretch>
        </p:blipFill>
        <p:spPr>
          <a:xfrm>
            <a:off x="976579" y="3637483"/>
            <a:ext cx="332842" cy="332842"/>
          </a:xfrm>
          <a:prstGeom prst="rect">
            <a:avLst/>
          </a:prstGeom>
        </p:spPr>
      </p:pic>
      <p:sp>
        <p:nvSpPr>
          <p:cNvPr id="16" name="Text 12"/>
          <p:cNvSpPr/>
          <p:nvPr/>
        </p:nvSpPr>
        <p:spPr>
          <a:xfrm>
            <a:off x="1618488"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Pha A — Khử nghiêng</a:t>
            </a:r>
            <a:endParaRPr lang="en-US" sz="1550" dirty="0"/>
          </a:p>
        </p:txBody>
      </p:sp>
      <p:sp>
        <p:nvSpPr>
          <p:cNvPr id="17" name="Text 13"/>
          <p:cNvSpPr/>
          <p:nvPr/>
        </p:nvSpPr>
        <p:spPr>
          <a:xfrm>
            <a:off x="822960"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Khớp đường thẳng bình phương tối thiểu qua hàng tiêu đề bảng → ước lượng góc nghiêng a → shear ngược:  y′ = y − a·x. Bỏ qua nếu |a| &lt; ε (ảnh vốn thẳng).</a:t>
            </a:r>
            <a:endParaRPr lang="en-US" sz="1200" dirty="0"/>
          </a:p>
        </p:txBody>
      </p:sp>
      <p:sp>
        <p:nvSpPr>
          <p:cNvPr id="18" name="Shape 14"/>
          <p:cNvSpPr/>
          <p:nvPr/>
        </p:nvSpPr>
        <p:spPr>
          <a:xfrm>
            <a:off x="6163056" y="3246120"/>
            <a:ext cx="5394960" cy="1874520"/>
          </a:xfrm>
          <a:prstGeom prst="roundRect">
            <a:avLst>
              <a:gd name="adj" fmla="val 5854"/>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9" name="Shape 15"/>
          <p:cNvSpPr/>
          <p:nvPr/>
        </p:nvSpPr>
        <p:spPr>
          <a:xfrm>
            <a:off x="6419088" y="3483864"/>
            <a:ext cx="640080" cy="640080"/>
          </a:xfrm>
          <a:prstGeom prst="roundRect">
            <a:avLst>
              <a:gd name="adj" fmla="val 50000"/>
            </a:avLst>
          </a:prstGeom>
          <a:solidFill>
            <a:srgbClr val="23B5A6"/>
          </a:solidFill>
          <a:ln/>
        </p:spPr>
      </p:sp>
      <p:pic>
        <p:nvPicPr>
          <p:cNvPr id="20" name="Image 2" descr="preencoded.png"/>
          <p:cNvPicPr>
            <a:picLocks noChangeAspect="1"/>
          </p:cNvPicPr>
          <p:nvPr/>
        </p:nvPicPr>
        <p:blipFill>
          <a:blip r:embed="rId5"/>
          <a:stretch>
            <a:fillRect/>
          </a:stretch>
        </p:blipFill>
        <p:spPr>
          <a:xfrm>
            <a:off x="6572707" y="3637483"/>
            <a:ext cx="332842" cy="332842"/>
          </a:xfrm>
          <a:prstGeom prst="rect">
            <a:avLst/>
          </a:prstGeom>
        </p:spPr>
      </p:pic>
      <p:sp>
        <p:nvSpPr>
          <p:cNvPr id="21" name="Text 16"/>
          <p:cNvSpPr/>
          <p:nvPr/>
        </p:nvSpPr>
        <p:spPr>
          <a:xfrm>
            <a:off x="7214616"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Pha B — Tái tạo bảng</a:t>
            </a:r>
            <a:endParaRPr lang="en-US" sz="1550" dirty="0"/>
          </a:p>
        </p:txBody>
      </p:sp>
      <p:sp>
        <p:nvSpPr>
          <p:cNvPr id="22" name="Text 17"/>
          <p:cNvSpPr/>
          <p:nvPr/>
        </p:nvSpPr>
        <p:spPr>
          <a:xfrm>
            <a:off x="6419088"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Trên tọa độ đã nắn: xác định biên bảng → phân cụm 1D theo y′ (ngưỡng 0,6× chiều cao dòng) → gán ô vào cột gần tâm nhất → ghép dòng, loại dòng rác.</a:t>
            </a:r>
            <a:endParaRPr lang="en-US" sz="1200" dirty="0"/>
          </a:p>
        </p:txBody>
      </p:sp>
      <p:sp>
        <p:nvSpPr>
          <p:cNvPr id="23" name="Shape 18"/>
          <p:cNvSpPr/>
          <p:nvPr/>
        </p:nvSpPr>
        <p:spPr>
          <a:xfrm>
            <a:off x="566928" y="5257800"/>
            <a:ext cx="3566160" cy="822960"/>
          </a:xfrm>
          <a:prstGeom prst="roundRect">
            <a:avLst>
              <a:gd name="adj" fmla="val 12222"/>
            </a:avLst>
          </a:prstGeom>
          <a:solidFill>
            <a:srgbClr val="0E2A47"/>
          </a:solidFill>
          <a:ln/>
        </p:spPr>
      </p:sp>
      <p:sp>
        <p:nvSpPr>
          <p:cNvPr id="24" name="Text 19"/>
          <p:cNvSpPr/>
          <p:nvPr/>
        </p:nvSpPr>
        <p:spPr>
          <a:xfrm>
            <a:off x="74980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O(n log n)</a:t>
            </a:r>
            <a:endParaRPr lang="en-US" sz="1800" dirty="0"/>
          </a:p>
        </p:txBody>
      </p:sp>
      <p:sp>
        <p:nvSpPr>
          <p:cNvPr id="25" name="Text 20"/>
          <p:cNvSpPr/>
          <p:nvPr/>
        </p:nvSpPr>
        <p:spPr>
          <a:xfrm>
            <a:off x="74980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độ phức tạp thời gian</a:t>
            </a:r>
            <a:endParaRPr lang="en-US" sz="1100" dirty="0"/>
          </a:p>
        </p:txBody>
      </p:sp>
      <p:sp>
        <p:nvSpPr>
          <p:cNvPr id="26" name="Shape 21"/>
          <p:cNvSpPr/>
          <p:nvPr/>
        </p:nvSpPr>
        <p:spPr>
          <a:xfrm>
            <a:off x="4315968" y="5257800"/>
            <a:ext cx="3566160" cy="822960"/>
          </a:xfrm>
          <a:prstGeom prst="roundRect">
            <a:avLst>
              <a:gd name="adj" fmla="val 12222"/>
            </a:avLst>
          </a:prstGeom>
          <a:solidFill>
            <a:srgbClr val="0E2A47"/>
          </a:solidFill>
          <a:ln/>
        </p:spPr>
      </p:sp>
      <p:sp>
        <p:nvSpPr>
          <p:cNvPr id="27" name="Text 22"/>
          <p:cNvSpPr/>
          <p:nvPr/>
        </p:nvSpPr>
        <p:spPr>
          <a:xfrm>
            <a:off x="449884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7 / 7</a:t>
            </a:r>
            <a:endParaRPr lang="en-US" sz="1800" dirty="0"/>
          </a:p>
        </p:txBody>
      </p:sp>
      <p:sp>
        <p:nvSpPr>
          <p:cNvPr id="28" name="Text 23"/>
          <p:cNvSpPr/>
          <p:nvPr/>
        </p:nvSpPr>
        <p:spPr>
          <a:xfrm>
            <a:off x="449884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dòng tách đúng (gom thô: 3/7)</a:t>
            </a:r>
            <a:endParaRPr lang="en-US" sz="1100" dirty="0"/>
          </a:p>
        </p:txBody>
      </p:sp>
      <p:sp>
        <p:nvSpPr>
          <p:cNvPr id="29" name="Shape 24"/>
          <p:cNvSpPr/>
          <p:nvPr/>
        </p:nvSpPr>
        <p:spPr>
          <a:xfrm>
            <a:off x="8065008" y="5257800"/>
            <a:ext cx="3566160" cy="822960"/>
          </a:xfrm>
          <a:prstGeom prst="roundRect">
            <a:avLst>
              <a:gd name="adj" fmla="val 12222"/>
            </a:avLst>
          </a:prstGeom>
          <a:solidFill>
            <a:srgbClr val="0E2A47"/>
          </a:solidFill>
          <a:ln/>
        </p:spPr>
      </p:sp>
      <p:sp>
        <p:nvSpPr>
          <p:cNvPr id="30" name="Text 25"/>
          <p:cNvSpPr/>
          <p:nvPr/>
        </p:nvSpPr>
        <p:spPr>
          <a:xfrm>
            <a:off x="824788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Không cần</a:t>
            </a:r>
            <a:endParaRPr lang="en-US" sz="1800" dirty="0"/>
          </a:p>
        </p:txBody>
      </p:sp>
      <p:sp>
        <p:nvSpPr>
          <p:cNvPr id="31" name="Text 26"/>
          <p:cNvSpPr/>
          <p:nvPr/>
        </p:nvSpPr>
        <p:spPr>
          <a:xfrm>
            <a:off x="824788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mạng nơ-ron — thuần hình học</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NGHIỆP VỤ 3 · SỰ CỐ &amp; SLA</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Xử lý sự cố khép kín, giám sát SLA &amp; leo thang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27</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828800"/>
            <a:ext cx="1764792" cy="548640"/>
          </a:xfrm>
          <a:prstGeom prst="roundRect">
            <a:avLst>
              <a:gd name="adj" fmla="val 13333"/>
            </a:avLst>
          </a:prstGeom>
          <a:solidFill>
            <a:srgbClr val="0E2A47"/>
          </a:solidFill>
          <a:ln/>
        </p:spPr>
      </p:sp>
      <p:sp>
        <p:nvSpPr>
          <p:cNvPr id="9" name="Text 7"/>
          <p:cNvSpPr/>
          <p:nvPr/>
        </p:nvSpPr>
        <p:spPr>
          <a:xfrm>
            <a:off x="603504"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Mới tiếp nhận</a:t>
            </a:r>
            <a:endParaRPr lang="en-US" sz="1050" dirty="0"/>
          </a:p>
        </p:txBody>
      </p:sp>
      <p:sp>
        <p:nvSpPr>
          <p:cNvPr id="10" name="Shape 8"/>
          <p:cNvSpPr/>
          <p:nvPr/>
        </p:nvSpPr>
        <p:spPr>
          <a:xfrm>
            <a:off x="2331720" y="2002536"/>
            <a:ext cx="100584" cy="201168"/>
          </a:xfrm>
          <a:prstGeom prst="rightArrow">
            <a:avLst/>
          </a:prstGeom>
          <a:solidFill>
            <a:srgbClr val="23B5A6"/>
          </a:solidFill>
          <a:ln/>
        </p:spPr>
      </p:sp>
      <p:sp>
        <p:nvSpPr>
          <p:cNvPr id="11" name="Shape 9"/>
          <p:cNvSpPr/>
          <p:nvPr/>
        </p:nvSpPr>
        <p:spPr>
          <a:xfrm>
            <a:off x="2432304" y="1828800"/>
            <a:ext cx="1764792" cy="548640"/>
          </a:xfrm>
          <a:prstGeom prst="roundRect">
            <a:avLst>
              <a:gd name="adj" fmla="val 13333"/>
            </a:avLst>
          </a:prstGeom>
          <a:solidFill>
            <a:srgbClr val="0E2A47"/>
          </a:solidFill>
          <a:ln/>
        </p:spPr>
      </p:sp>
      <p:sp>
        <p:nvSpPr>
          <p:cNvPr id="12" name="Text 10"/>
          <p:cNvSpPr/>
          <p:nvPr/>
        </p:nvSpPr>
        <p:spPr>
          <a:xfrm>
            <a:off x="2468880"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Đã phân công</a:t>
            </a:r>
            <a:endParaRPr lang="en-US" sz="1050" dirty="0"/>
          </a:p>
        </p:txBody>
      </p:sp>
      <p:sp>
        <p:nvSpPr>
          <p:cNvPr id="13" name="Shape 11"/>
          <p:cNvSpPr/>
          <p:nvPr/>
        </p:nvSpPr>
        <p:spPr>
          <a:xfrm>
            <a:off x="4197096" y="2002536"/>
            <a:ext cx="100584" cy="201168"/>
          </a:xfrm>
          <a:prstGeom prst="rightArrow">
            <a:avLst/>
          </a:prstGeom>
          <a:solidFill>
            <a:srgbClr val="23B5A6"/>
          </a:solidFill>
          <a:ln/>
        </p:spPr>
      </p:sp>
      <p:sp>
        <p:nvSpPr>
          <p:cNvPr id="14" name="Shape 12"/>
          <p:cNvSpPr/>
          <p:nvPr/>
        </p:nvSpPr>
        <p:spPr>
          <a:xfrm>
            <a:off x="4297680" y="1828800"/>
            <a:ext cx="1764792" cy="548640"/>
          </a:xfrm>
          <a:prstGeom prst="roundRect">
            <a:avLst>
              <a:gd name="adj" fmla="val 13333"/>
            </a:avLst>
          </a:prstGeom>
          <a:solidFill>
            <a:srgbClr val="0E2A47"/>
          </a:solidFill>
          <a:ln/>
        </p:spPr>
      </p:sp>
      <p:sp>
        <p:nvSpPr>
          <p:cNvPr id="15" name="Text 13"/>
          <p:cNvSpPr/>
          <p:nvPr/>
        </p:nvSpPr>
        <p:spPr>
          <a:xfrm>
            <a:off x="4334256"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Đang xử lý</a:t>
            </a:r>
            <a:endParaRPr lang="en-US" sz="1050" dirty="0"/>
          </a:p>
        </p:txBody>
      </p:sp>
      <p:sp>
        <p:nvSpPr>
          <p:cNvPr id="16" name="Shape 14"/>
          <p:cNvSpPr/>
          <p:nvPr/>
        </p:nvSpPr>
        <p:spPr>
          <a:xfrm>
            <a:off x="6062472" y="2002536"/>
            <a:ext cx="100584" cy="201168"/>
          </a:xfrm>
          <a:prstGeom prst="rightArrow">
            <a:avLst/>
          </a:prstGeom>
          <a:solidFill>
            <a:srgbClr val="23B5A6"/>
          </a:solidFill>
          <a:ln/>
        </p:spPr>
      </p:sp>
      <p:sp>
        <p:nvSpPr>
          <p:cNvPr id="17" name="Shape 15"/>
          <p:cNvSpPr/>
          <p:nvPr/>
        </p:nvSpPr>
        <p:spPr>
          <a:xfrm>
            <a:off x="6163056" y="1828800"/>
            <a:ext cx="1764792" cy="548640"/>
          </a:xfrm>
          <a:prstGeom prst="roundRect">
            <a:avLst>
              <a:gd name="adj" fmla="val 13333"/>
            </a:avLst>
          </a:prstGeom>
          <a:solidFill>
            <a:srgbClr val="EFA13C"/>
          </a:solidFill>
          <a:ln/>
        </p:spPr>
      </p:sp>
      <p:sp>
        <p:nvSpPr>
          <p:cNvPr id="18" name="Text 16"/>
          <p:cNvSpPr/>
          <p:nvPr/>
        </p:nvSpPr>
        <p:spPr>
          <a:xfrm>
            <a:off x="6199632"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Chờ vật tư</a:t>
            </a:r>
            <a:endParaRPr lang="en-US" sz="1050" dirty="0"/>
          </a:p>
        </p:txBody>
      </p:sp>
      <p:sp>
        <p:nvSpPr>
          <p:cNvPr id="19" name="Shape 17"/>
          <p:cNvSpPr/>
          <p:nvPr/>
        </p:nvSpPr>
        <p:spPr>
          <a:xfrm>
            <a:off x="7927848" y="2002536"/>
            <a:ext cx="100584" cy="201168"/>
          </a:xfrm>
          <a:prstGeom prst="rightArrow">
            <a:avLst/>
          </a:prstGeom>
          <a:solidFill>
            <a:srgbClr val="23B5A6"/>
          </a:solidFill>
          <a:ln/>
        </p:spPr>
      </p:sp>
      <p:sp>
        <p:nvSpPr>
          <p:cNvPr id="20" name="Shape 18"/>
          <p:cNvSpPr/>
          <p:nvPr/>
        </p:nvSpPr>
        <p:spPr>
          <a:xfrm>
            <a:off x="8028432" y="1828800"/>
            <a:ext cx="1764792" cy="548640"/>
          </a:xfrm>
          <a:prstGeom prst="roundRect">
            <a:avLst>
              <a:gd name="adj" fmla="val 13333"/>
            </a:avLst>
          </a:prstGeom>
          <a:solidFill>
            <a:srgbClr val="0E2A47"/>
          </a:solidFill>
          <a:ln/>
        </p:spPr>
      </p:sp>
      <p:sp>
        <p:nvSpPr>
          <p:cNvPr id="21" name="Text 19"/>
          <p:cNvSpPr/>
          <p:nvPr/>
        </p:nvSpPr>
        <p:spPr>
          <a:xfrm>
            <a:off x="8065008"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Đã xử lý</a:t>
            </a:r>
            <a:endParaRPr lang="en-US" sz="1050" dirty="0"/>
          </a:p>
        </p:txBody>
      </p:sp>
      <p:sp>
        <p:nvSpPr>
          <p:cNvPr id="22" name="Shape 20"/>
          <p:cNvSpPr/>
          <p:nvPr/>
        </p:nvSpPr>
        <p:spPr>
          <a:xfrm>
            <a:off x="9793224" y="2002536"/>
            <a:ext cx="100584" cy="201168"/>
          </a:xfrm>
          <a:prstGeom prst="rightArrow">
            <a:avLst/>
          </a:prstGeom>
          <a:solidFill>
            <a:srgbClr val="23B5A6"/>
          </a:solidFill>
          <a:ln/>
        </p:spPr>
      </p:sp>
      <p:sp>
        <p:nvSpPr>
          <p:cNvPr id="23" name="Shape 21"/>
          <p:cNvSpPr/>
          <p:nvPr/>
        </p:nvSpPr>
        <p:spPr>
          <a:xfrm>
            <a:off x="9893808" y="1828800"/>
            <a:ext cx="1764792" cy="548640"/>
          </a:xfrm>
          <a:prstGeom prst="roundRect">
            <a:avLst>
              <a:gd name="adj" fmla="val 13333"/>
            </a:avLst>
          </a:prstGeom>
          <a:solidFill>
            <a:srgbClr val="0E2A47"/>
          </a:solidFill>
          <a:ln/>
        </p:spPr>
      </p:sp>
      <p:sp>
        <p:nvSpPr>
          <p:cNvPr id="24" name="Text 22"/>
          <p:cNvSpPr/>
          <p:nvPr/>
        </p:nvSpPr>
        <p:spPr>
          <a:xfrm>
            <a:off x="9930384"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Đã đóng</a:t>
            </a:r>
            <a:endParaRPr lang="en-US" sz="1050" dirty="0"/>
          </a:p>
        </p:txBody>
      </p:sp>
      <p:sp>
        <p:nvSpPr>
          <p:cNvPr id="25" name="Text 23"/>
          <p:cNvSpPr/>
          <p:nvPr/>
        </p:nvSpPr>
        <p:spPr>
          <a:xfrm>
            <a:off x="566928" y="2450592"/>
            <a:ext cx="11064240" cy="274320"/>
          </a:xfrm>
          <a:prstGeom prst="rect">
            <a:avLst/>
          </a:prstGeom>
          <a:noFill/>
          <a:ln/>
        </p:spPr>
        <p:txBody>
          <a:bodyPr wrap="square" lIns="0" tIns="0" rIns="0" bIns="0" rtlCol="0" anchor="ctr"/>
          <a:lstStyle/>
          <a:p>
            <a:pPr marL="0" indent="0" algn="ctr">
              <a:buNone/>
            </a:pPr>
            <a:r>
              <a:rPr lang="en-US" sz="1100" i="1" dirty="0">
                <a:solidFill>
                  <a:srgbClr val="6B7A88"/>
                </a:solidFill>
                <a:latin typeface="Calibri" pitchFamily="34" charset="0"/>
                <a:ea typeface="Calibri" pitchFamily="34" charset="-122"/>
                <a:cs typeface="Calibri" pitchFamily="34" charset="-120"/>
              </a:rPr>
              <a:t>Mỗi lần đổi trạng thái được ghi vào TicketStatusHistory · “Chờ vật tư” có thể quay lại “Đang xử lý”</a:t>
            </a:r>
            <a:endParaRPr lang="en-US" sz="1100" dirty="0"/>
          </a:p>
        </p:txBody>
      </p:sp>
      <p:sp>
        <p:nvSpPr>
          <p:cNvPr id="26" name="Shape 24"/>
          <p:cNvSpPr/>
          <p:nvPr/>
        </p:nvSpPr>
        <p:spPr>
          <a:xfrm>
            <a:off x="56692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7" name="Shape 25"/>
          <p:cNvSpPr/>
          <p:nvPr/>
        </p:nvSpPr>
        <p:spPr>
          <a:xfrm>
            <a:off x="822960" y="3200400"/>
            <a:ext cx="621792" cy="621792"/>
          </a:xfrm>
          <a:prstGeom prst="roundRect">
            <a:avLst>
              <a:gd name="adj" fmla="val 50000"/>
            </a:avLst>
          </a:prstGeom>
          <a:solidFill>
            <a:srgbClr val="0E7C86"/>
          </a:solidFill>
          <a:ln/>
        </p:spPr>
      </p:sp>
      <p:pic>
        <p:nvPicPr>
          <p:cNvPr id="28" name="Image 0" descr="preencoded.png"/>
          <p:cNvPicPr>
            <a:picLocks noChangeAspect="1"/>
          </p:cNvPicPr>
          <p:nvPr/>
        </p:nvPicPr>
        <p:blipFill>
          <a:blip r:embed="rId3"/>
          <a:stretch>
            <a:fillRect/>
          </a:stretch>
        </p:blipFill>
        <p:spPr>
          <a:xfrm>
            <a:off x="972190" y="3349630"/>
            <a:ext cx="323332" cy="323332"/>
          </a:xfrm>
          <a:prstGeom prst="rect">
            <a:avLst/>
          </a:prstGeom>
        </p:spPr>
      </p:pic>
      <p:sp>
        <p:nvSpPr>
          <p:cNvPr id="29" name="Text 26"/>
          <p:cNvSpPr/>
          <p:nvPr/>
        </p:nvSpPr>
        <p:spPr>
          <a:xfrm>
            <a:off x="157276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Tiếp nhận &amp; phân công</a:t>
            </a:r>
            <a:endParaRPr lang="en-US" sz="1450" dirty="0"/>
          </a:p>
        </p:txBody>
      </p:sp>
      <p:sp>
        <p:nvSpPr>
          <p:cNvPr id="30" name="Text 27"/>
          <p:cNvSpPr/>
          <p:nvPr/>
        </p:nvSpPr>
        <p:spPr>
          <a:xfrm>
            <a:off x="82296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Cư dân/KTV báo sự cố (điện, nước, HVAC, thang máy, PCCC…)</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Phân công KTV, ảnh trước/sau, xuất vật tư / tạo PR nếu thiếu</a:t>
            </a:r>
            <a:endParaRPr lang="en-US" sz="1200" dirty="0"/>
          </a:p>
        </p:txBody>
      </p:sp>
      <p:sp>
        <p:nvSpPr>
          <p:cNvPr id="31" name="Shape 28"/>
          <p:cNvSpPr/>
          <p:nvPr/>
        </p:nvSpPr>
        <p:spPr>
          <a:xfrm>
            <a:off x="431596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2" name="Shape 29"/>
          <p:cNvSpPr/>
          <p:nvPr/>
        </p:nvSpPr>
        <p:spPr>
          <a:xfrm>
            <a:off x="4572000" y="3200400"/>
            <a:ext cx="621792" cy="621792"/>
          </a:xfrm>
          <a:prstGeom prst="roundRect">
            <a:avLst>
              <a:gd name="adj" fmla="val 50000"/>
            </a:avLst>
          </a:prstGeom>
          <a:solidFill>
            <a:srgbClr val="E4572E"/>
          </a:solidFill>
          <a:ln/>
        </p:spPr>
      </p:sp>
      <p:pic>
        <p:nvPicPr>
          <p:cNvPr id="33" name="Image 1" descr="preencoded.png"/>
          <p:cNvPicPr>
            <a:picLocks noChangeAspect="1"/>
          </p:cNvPicPr>
          <p:nvPr/>
        </p:nvPicPr>
        <p:blipFill>
          <a:blip r:embed="rId4"/>
          <a:stretch>
            <a:fillRect/>
          </a:stretch>
        </p:blipFill>
        <p:spPr>
          <a:xfrm>
            <a:off x="4721230" y="3349630"/>
            <a:ext cx="323332" cy="323332"/>
          </a:xfrm>
          <a:prstGeom prst="rect">
            <a:avLst/>
          </a:prstGeom>
        </p:spPr>
      </p:pic>
      <p:sp>
        <p:nvSpPr>
          <p:cNvPr id="34" name="Text 30"/>
          <p:cNvSpPr/>
          <p:nvPr/>
        </p:nvSpPr>
        <p:spPr>
          <a:xfrm>
            <a:off x="532180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SLA &amp; leo thang</a:t>
            </a:r>
            <a:endParaRPr lang="en-US" sz="1450" dirty="0"/>
          </a:p>
        </p:txBody>
      </p:sp>
      <p:sp>
        <p:nvSpPr>
          <p:cNvPr id="35" name="Text 31"/>
          <p:cNvSpPr/>
          <p:nvPr/>
        </p:nvSpPr>
        <p:spPr>
          <a:xfrm>
            <a:off x="457200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SlaConfig: thời gian phản hồi &amp; giải quyết theo mức ưu tiên</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Tự leo thang khi sắp/đã quá hạn, ghi SlaEscalationLog</a:t>
            </a:r>
            <a:endParaRPr lang="en-US" sz="1200" dirty="0"/>
          </a:p>
        </p:txBody>
      </p:sp>
      <p:sp>
        <p:nvSpPr>
          <p:cNvPr id="36" name="Shape 32"/>
          <p:cNvSpPr/>
          <p:nvPr/>
        </p:nvSpPr>
        <p:spPr>
          <a:xfrm>
            <a:off x="806500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7" name="Shape 33"/>
          <p:cNvSpPr/>
          <p:nvPr/>
        </p:nvSpPr>
        <p:spPr>
          <a:xfrm>
            <a:off x="8321040" y="3200400"/>
            <a:ext cx="621792" cy="621792"/>
          </a:xfrm>
          <a:prstGeom prst="roundRect">
            <a:avLst>
              <a:gd name="adj" fmla="val 50000"/>
            </a:avLst>
          </a:prstGeom>
          <a:solidFill>
            <a:srgbClr val="EFA13C"/>
          </a:solidFill>
          <a:ln/>
        </p:spPr>
      </p:sp>
      <p:pic>
        <p:nvPicPr>
          <p:cNvPr id="38" name="Image 2" descr="preencoded.png"/>
          <p:cNvPicPr>
            <a:picLocks noChangeAspect="1"/>
          </p:cNvPicPr>
          <p:nvPr/>
        </p:nvPicPr>
        <p:blipFill>
          <a:blip r:embed="rId5"/>
          <a:stretch>
            <a:fillRect/>
          </a:stretch>
        </p:blipFill>
        <p:spPr>
          <a:xfrm>
            <a:off x="8470270" y="3349630"/>
            <a:ext cx="323332" cy="323332"/>
          </a:xfrm>
          <a:prstGeom prst="rect">
            <a:avLst/>
          </a:prstGeom>
        </p:spPr>
      </p:pic>
      <p:sp>
        <p:nvSpPr>
          <p:cNvPr id="39" name="Text 34"/>
          <p:cNvSpPr/>
          <p:nvPr/>
        </p:nvSpPr>
        <p:spPr>
          <a:xfrm>
            <a:off x="907084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Đánh giá hài lòng</a:t>
            </a:r>
            <a:endParaRPr lang="en-US" sz="1450" dirty="0"/>
          </a:p>
        </p:txBody>
      </p:sp>
      <p:sp>
        <p:nvSpPr>
          <p:cNvPr id="40" name="Text 35"/>
          <p:cNvSpPr/>
          <p:nvPr/>
        </p:nvSpPr>
        <p:spPr>
          <a:xfrm>
            <a:off x="832104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Cư dân chấm sao sau khi đóng sự cố (TicketRating)</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SLA Dashboard: tỉ lệ tuân thủ, số ticket quá hạn</a:t>
            </a:r>
            <a:endParaRPr lang="en-US" sz="1200" dirty="0"/>
          </a:p>
        </p:txBody>
      </p:sp>
      <p:sp>
        <p:nvSpPr>
          <p:cNvPr id="41" name="Shape 36"/>
          <p:cNvSpPr/>
          <p:nvPr/>
        </p:nvSpPr>
        <p:spPr>
          <a:xfrm>
            <a:off x="566928" y="5440680"/>
            <a:ext cx="11064240" cy="749808"/>
          </a:xfrm>
          <a:prstGeom prst="roundRect">
            <a:avLst>
              <a:gd name="adj" fmla="val 14634"/>
            </a:avLst>
          </a:prstGeom>
          <a:solidFill>
            <a:srgbClr val="0E2A47"/>
          </a:solidFill>
          <a:ln/>
        </p:spPr>
      </p:sp>
      <p:sp>
        <p:nvSpPr>
          <p:cNvPr id="42" name="Shape 37"/>
          <p:cNvSpPr/>
          <p:nvPr/>
        </p:nvSpPr>
        <p:spPr>
          <a:xfrm>
            <a:off x="804672" y="5605272"/>
            <a:ext cx="420624" cy="420624"/>
          </a:xfrm>
          <a:prstGeom prst="roundRect">
            <a:avLst>
              <a:gd name="adj" fmla="val 50000"/>
            </a:avLst>
          </a:prstGeom>
          <a:solidFill>
            <a:srgbClr val="23B5A6"/>
          </a:solidFill>
          <a:ln/>
        </p:spPr>
      </p:sp>
      <p:pic>
        <p:nvPicPr>
          <p:cNvPr id="43" name="Image 3" descr="preencoded.png"/>
          <p:cNvPicPr>
            <a:picLocks noChangeAspect="1"/>
          </p:cNvPicPr>
          <p:nvPr/>
        </p:nvPicPr>
        <p:blipFill>
          <a:blip r:embed="rId6"/>
          <a:stretch>
            <a:fillRect/>
          </a:stretch>
        </p:blipFill>
        <p:spPr>
          <a:xfrm>
            <a:off x="905622" y="5706222"/>
            <a:ext cx="218724" cy="218724"/>
          </a:xfrm>
          <a:prstGeom prst="rect">
            <a:avLst/>
          </a:prstGeom>
        </p:spPr>
      </p:pic>
      <p:sp>
        <p:nvSpPr>
          <p:cNvPr id="44" name="Text 38"/>
          <p:cNvSpPr/>
          <p:nvPr/>
        </p:nvSpPr>
        <p:spPr>
          <a:xfrm>
            <a:off x="1371600" y="5440680"/>
            <a:ext cx="10058400" cy="749808"/>
          </a:xfrm>
          <a:prstGeom prst="rect">
            <a:avLst/>
          </a:prstGeom>
          <a:noFill/>
          <a:ln/>
        </p:spPr>
        <p:txBody>
          <a:bodyPr wrap="square" lIns="0" tIns="0" rIns="0" bIns="0" rtlCol="0" anchor="ctr"/>
          <a:lstStyle/>
          <a:p>
            <a:pPr marL="0" indent="0">
              <a:buNone/>
            </a:pPr>
            <a:r>
              <a:rPr lang="en-US" sz="1250" b="1" dirty="0">
                <a:solidFill>
                  <a:srgbClr val="23B5A6"/>
                </a:solidFill>
                <a:latin typeface="Calibri" pitchFamily="34" charset="0"/>
                <a:ea typeface="Calibri" pitchFamily="34" charset="-122"/>
                <a:cs typeface="Calibri" pitchFamily="34" charset="-120"/>
              </a:rPr>
              <a:t>Liên thông trực tiếp:  </a:t>
            </a:r>
            <a:r>
              <a:rPr lang="en-US" sz="1250" dirty="0">
                <a:solidFill>
                  <a:srgbClr val="FFFFFF"/>
                </a:solidFill>
                <a:latin typeface="Calibri" pitchFamily="34" charset="0"/>
                <a:ea typeface="Calibri" pitchFamily="34" charset="-122"/>
                <a:cs typeface="Calibri" pitchFamily="34" charset="-120"/>
              </a:rPr>
              <a:t>ticket gắn Tài sản (thiết bị hỏng) · xuất Kho hoặc tạo PR khi thiếu vật tư · gửi thông báo qua Base — khép kín chuỗi nghiệp vụ phân hệ.</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8961120" y="-2194560"/>
            <a:ext cx="5486400" cy="5486400"/>
          </a:xfrm>
          <a:prstGeom prst="roundRect">
            <a:avLst>
              <a:gd name="adj" fmla="val 50000"/>
            </a:avLst>
          </a:prstGeom>
          <a:solidFill>
            <a:srgbClr val="16385C"/>
          </a:solidFill>
          <a:ln/>
        </p:spPr>
      </p:sp>
      <p:sp>
        <p:nvSpPr>
          <p:cNvPr id="3" name="Shape 1"/>
          <p:cNvSpPr/>
          <p:nvPr/>
        </p:nvSpPr>
        <p:spPr>
          <a:xfrm>
            <a:off x="-1645920" y="4206240"/>
            <a:ext cx="4206240" cy="4206240"/>
          </a:xfrm>
          <a:prstGeom prst="roundRect">
            <a:avLst>
              <a:gd name="adj" fmla="val 50000"/>
            </a:avLst>
          </a:prstGeom>
          <a:solidFill>
            <a:srgbClr val="16385C"/>
          </a:solidFill>
          <a:ln/>
        </p:spPr>
      </p:sp>
      <p:sp>
        <p:nvSpPr>
          <p:cNvPr id="4" name="Text 2"/>
          <p:cNvSpPr/>
          <p:nvPr/>
        </p:nvSpPr>
        <p:spPr>
          <a:xfrm>
            <a:off x="822960" y="1234440"/>
            <a:ext cx="9144000" cy="365760"/>
          </a:xfrm>
          <a:prstGeom prst="rect">
            <a:avLst/>
          </a:prstGeom>
          <a:noFill/>
          <a:ln/>
        </p:spPr>
        <p:txBody>
          <a:bodyPr wrap="square" lIns="0" tIns="0" rIns="0" bIns="0" rtlCol="0" anchor="ctr"/>
          <a:lstStyle/>
          <a:p>
            <a:pPr marL="0" indent="0">
              <a:buNone/>
            </a:pPr>
            <a:r>
              <a:rPr lang="en-US" sz="1400" b="1" kern="0" spc="300" dirty="0">
                <a:solidFill>
                  <a:srgbClr val="23B5A6"/>
                </a:solidFill>
                <a:latin typeface="Calibri" pitchFamily="34" charset="0"/>
                <a:ea typeface="Calibri" pitchFamily="34" charset="-122"/>
                <a:cs typeface="Calibri" pitchFamily="34" charset="-120"/>
              </a:rPr>
              <a:t>PHÂN HỆ NHÓM · THÀNH VIÊN KHÁC</a:t>
            </a:r>
            <a:endParaRPr lang="en-US" sz="1400" dirty="0"/>
          </a:p>
        </p:txBody>
      </p:sp>
      <p:sp>
        <p:nvSpPr>
          <p:cNvPr id="5" name="Text 3"/>
          <p:cNvSpPr/>
          <p:nvPr/>
        </p:nvSpPr>
        <p:spPr>
          <a:xfrm>
            <a:off x="777240" y="1691640"/>
            <a:ext cx="1051560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Phân hệ Quản lý dân cư</a:t>
            </a:r>
            <a:endParaRPr lang="en-US" sz="4600" dirty="0"/>
          </a:p>
        </p:txBody>
      </p:sp>
      <p:sp>
        <p:nvSpPr>
          <p:cNvPr id="6" name="Text 4"/>
          <p:cNvSpPr/>
          <p:nvPr/>
        </p:nvSpPr>
        <p:spPr>
          <a:xfrm>
            <a:off x="822960" y="2697480"/>
            <a:ext cx="10058400" cy="365760"/>
          </a:xfrm>
          <a:prstGeom prst="rect">
            <a:avLst/>
          </a:prstGeom>
          <a:noFill/>
          <a:ln/>
        </p:spPr>
        <p:txBody>
          <a:bodyPr wrap="square" lIns="0" tIns="0" rIns="0" bIns="0" rtlCol="0" anchor="ctr"/>
          <a:lstStyle/>
          <a:p>
            <a:pPr marL="0" indent="0">
              <a:buNone/>
            </a:pPr>
            <a:r>
              <a:rPr lang="en-US" sz="1500" i="1" dirty="0">
                <a:solidFill>
                  <a:srgbClr val="BFD6DF"/>
                </a:solidFill>
                <a:latin typeface="Calibri" pitchFamily="34" charset="0"/>
                <a:ea typeface="Calibri" pitchFamily="34" charset="-122"/>
                <a:cs typeface="Calibri" pitchFamily="34" charset="-120"/>
              </a:rPr>
              <a:t>Thành viên phụ trách — Lương Thanh Tài · nằm trong module Base, kế thừa nền tảng dùng chung</a:t>
            </a:r>
            <a:endParaRPr lang="en-US" sz="1500" dirty="0"/>
          </a:p>
        </p:txBody>
      </p:sp>
      <p:sp>
        <p:nvSpPr>
          <p:cNvPr id="7" name="Shape 5"/>
          <p:cNvSpPr/>
          <p:nvPr/>
        </p:nvSpPr>
        <p:spPr>
          <a:xfrm>
            <a:off x="566928" y="3611880"/>
            <a:ext cx="3566160" cy="2331720"/>
          </a:xfrm>
          <a:prstGeom prst="roundRect">
            <a:avLst>
              <a:gd name="adj" fmla="val 4706"/>
            </a:avLst>
          </a:prstGeom>
          <a:solidFill>
            <a:srgbClr val="16385C"/>
          </a:solidFill>
          <a:ln/>
        </p:spPr>
      </p:sp>
      <p:sp>
        <p:nvSpPr>
          <p:cNvPr id="8" name="Shape 6"/>
          <p:cNvSpPr/>
          <p:nvPr/>
        </p:nvSpPr>
        <p:spPr>
          <a:xfrm>
            <a:off x="841248" y="3886200"/>
            <a:ext cx="777240" cy="777240"/>
          </a:xfrm>
          <a:prstGeom prst="roundRect">
            <a:avLst>
              <a:gd name="adj" fmla="val 50000"/>
            </a:avLst>
          </a:prstGeom>
          <a:solidFill>
            <a:srgbClr val="0E7C86"/>
          </a:solidFill>
          <a:ln/>
        </p:spPr>
      </p:sp>
      <p:pic>
        <p:nvPicPr>
          <p:cNvPr id="9" name="Image 0" descr="preencoded.png"/>
          <p:cNvPicPr>
            <a:picLocks noChangeAspect="1"/>
          </p:cNvPicPr>
          <p:nvPr/>
        </p:nvPicPr>
        <p:blipFill>
          <a:blip r:embed="rId2"/>
          <a:stretch>
            <a:fillRect/>
          </a:stretch>
        </p:blipFill>
        <p:spPr>
          <a:xfrm>
            <a:off x="1027786" y="4072738"/>
            <a:ext cx="404165" cy="404165"/>
          </a:xfrm>
          <a:prstGeom prst="rect">
            <a:avLst/>
          </a:prstGeom>
        </p:spPr>
      </p:pic>
      <p:sp>
        <p:nvSpPr>
          <p:cNvPr id="10" name="Text 7"/>
          <p:cNvSpPr/>
          <p:nvPr/>
        </p:nvSpPr>
        <p:spPr>
          <a:xfrm>
            <a:off x="175564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1</a:t>
            </a:r>
            <a:endParaRPr lang="en-US" sz="1100" dirty="0"/>
          </a:p>
        </p:txBody>
      </p:sp>
      <p:sp>
        <p:nvSpPr>
          <p:cNvPr id="11" name="Text 8"/>
          <p:cNvSpPr/>
          <p:nvPr/>
        </p:nvSpPr>
        <p:spPr>
          <a:xfrm>
            <a:off x="175564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Tòa nhà &amp; Căn hộ</a:t>
            </a:r>
            <a:endParaRPr lang="en-US" sz="1550" dirty="0"/>
          </a:p>
        </p:txBody>
      </p:sp>
      <p:sp>
        <p:nvSpPr>
          <p:cNvPr id="12" name="Text 9"/>
          <p:cNvSpPr/>
          <p:nvPr/>
        </p:nvSpPr>
        <p:spPr>
          <a:xfrm>
            <a:off x="84124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Tòa nhà – tầng – căn hộ · trạng thái sử dụng · hồ sơ cư dân &amp; chủ hộ</a:t>
            </a:r>
            <a:endParaRPr lang="en-US" sz="1200" dirty="0"/>
          </a:p>
        </p:txBody>
      </p:sp>
      <p:sp>
        <p:nvSpPr>
          <p:cNvPr id="13" name="Shape 10"/>
          <p:cNvSpPr/>
          <p:nvPr/>
        </p:nvSpPr>
        <p:spPr>
          <a:xfrm>
            <a:off x="4315968" y="3611880"/>
            <a:ext cx="3566160" cy="2331720"/>
          </a:xfrm>
          <a:prstGeom prst="roundRect">
            <a:avLst>
              <a:gd name="adj" fmla="val 4706"/>
            </a:avLst>
          </a:prstGeom>
          <a:solidFill>
            <a:srgbClr val="16385C"/>
          </a:solidFill>
          <a:ln/>
        </p:spPr>
      </p:sp>
      <p:sp>
        <p:nvSpPr>
          <p:cNvPr id="14" name="Shape 11"/>
          <p:cNvSpPr/>
          <p:nvPr/>
        </p:nvSpPr>
        <p:spPr>
          <a:xfrm>
            <a:off x="4590288" y="3886200"/>
            <a:ext cx="777240" cy="777240"/>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4776826" y="4072738"/>
            <a:ext cx="404165" cy="404165"/>
          </a:xfrm>
          <a:prstGeom prst="rect">
            <a:avLst/>
          </a:prstGeom>
        </p:spPr>
      </p:pic>
      <p:sp>
        <p:nvSpPr>
          <p:cNvPr id="16" name="Text 12"/>
          <p:cNvSpPr/>
          <p:nvPr/>
        </p:nvSpPr>
        <p:spPr>
          <a:xfrm>
            <a:off x="550468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2</a:t>
            </a:r>
            <a:endParaRPr lang="en-US" sz="1100" dirty="0"/>
          </a:p>
        </p:txBody>
      </p:sp>
      <p:sp>
        <p:nvSpPr>
          <p:cNvPr id="17" name="Text 13"/>
          <p:cNvSpPr/>
          <p:nvPr/>
        </p:nvSpPr>
        <p:spPr>
          <a:xfrm>
            <a:off x="550468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Phí &amp; Thu phí</a:t>
            </a:r>
            <a:endParaRPr lang="en-US" sz="1550" dirty="0"/>
          </a:p>
        </p:txBody>
      </p:sp>
      <p:sp>
        <p:nvSpPr>
          <p:cNvPr id="18" name="Text 14"/>
          <p:cNvSpPr/>
          <p:nvPr/>
        </p:nvSpPr>
        <p:spPr>
          <a:xfrm>
            <a:off x="459028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Loại phí · phát sinh theo kỳ · theo dõi công nợ · nhắc hạn qua thông báo</a:t>
            </a:r>
            <a:endParaRPr lang="en-US" sz="1200" dirty="0"/>
          </a:p>
        </p:txBody>
      </p:sp>
      <p:sp>
        <p:nvSpPr>
          <p:cNvPr id="19" name="Shape 15"/>
          <p:cNvSpPr/>
          <p:nvPr/>
        </p:nvSpPr>
        <p:spPr>
          <a:xfrm>
            <a:off x="8065008" y="3611880"/>
            <a:ext cx="3566160" cy="2331720"/>
          </a:xfrm>
          <a:prstGeom prst="roundRect">
            <a:avLst>
              <a:gd name="adj" fmla="val 4706"/>
            </a:avLst>
          </a:prstGeom>
          <a:solidFill>
            <a:srgbClr val="16385C"/>
          </a:solidFill>
          <a:ln/>
        </p:spPr>
      </p:sp>
      <p:sp>
        <p:nvSpPr>
          <p:cNvPr id="20" name="Shape 16"/>
          <p:cNvSpPr/>
          <p:nvPr/>
        </p:nvSpPr>
        <p:spPr>
          <a:xfrm>
            <a:off x="8339328" y="3886200"/>
            <a:ext cx="777240" cy="777240"/>
          </a:xfrm>
          <a:prstGeom prst="roundRect">
            <a:avLst>
              <a:gd name="adj" fmla="val 50000"/>
            </a:avLst>
          </a:prstGeom>
          <a:solidFill>
            <a:srgbClr val="EFA13C"/>
          </a:solidFill>
          <a:ln/>
        </p:spPr>
      </p:sp>
      <p:pic>
        <p:nvPicPr>
          <p:cNvPr id="21" name="Image 2" descr="preencoded.png"/>
          <p:cNvPicPr>
            <a:picLocks noChangeAspect="1"/>
          </p:cNvPicPr>
          <p:nvPr/>
        </p:nvPicPr>
        <p:blipFill>
          <a:blip r:embed="rId4"/>
          <a:stretch>
            <a:fillRect/>
          </a:stretch>
        </p:blipFill>
        <p:spPr>
          <a:xfrm>
            <a:off x="8525866" y="4072738"/>
            <a:ext cx="404165" cy="404165"/>
          </a:xfrm>
          <a:prstGeom prst="rect">
            <a:avLst/>
          </a:prstGeom>
        </p:spPr>
      </p:pic>
      <p:sp>
        <p:nvSpPr>
          <p:cNvPr id="22" name="Text 17"/>
          <p:cNvSpPr/>
          <p:nvPr/>
        </p:nvSpPr>
        <p:spPr>
          <a:xfrm>
            <a:off x="925372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3</a:t>
            </a:r>
            <a:endParaRPr lang="en-US" sz="1100" dirty="0"/>
          </a:p>
        </p:txBody>
      </p:sp>
      <p:sp>
        <p:nvSpPr>
          <p:cNvPr id="23" name="Text 18"/>
          <p:cNvSpPr/>
          <p:nvPr/>
        </p:nvSpPr>
        <p:spPr>
          <a:xfrm>
            <a:off x="925372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An ninh AI khuôn mặt</a:t>
            </a:r>
            <a:endParaRPr lang="en-US" sz="1550" dirty="0"/>
          </a:p>
        </p:txBody>
      </p:sp>
      <p:sp>
        <p:nvSpPr>
          <p:cNvPr id="24" name="Text 19"/>
          <p:cNvSpPr/>
          <p:nvPr/>
        </p:nvSpPr>
        <p:spPr>
          <a:xfrm>
            <a:off x="833932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Đăng ký khuôn mặt · nhận diện qua camera · cảnh báo người lạ ra/vào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TỔNG QUAN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Số hóa cư dân, căn hộ, phí và an ninh</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29</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47672"/>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2"/>
          <a:stretch>
            <a:fillRect/>
          </a:stretch>
        </p:blipFill>
        <p:spPr>
          <a:xfrm>
            <a:off x="980968" y="2105680"/>
            <a:ext cx="342351" cy="342351"/>
          </a:xfrm>
          <a:prstGeom prst="rect">
            <a:avLst/>
          </a:prstGeom>
        </p:spPr>
      </p:pic>
      <p:sp>
        <p:nvSpPr>
          <p:cNvPr id="11" name="Text 8"/>
          <p:cNvSpPr/>
          <p:nvPr/>
        </p:nvSpPr>
        <p:spPr>
          <a:xfrm>
            <a:off x="164592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Tòa nhà &amp; Căn hộ</a:t>
            </a:r>
            <a:endParaRPr lang="en-US" sz="1800" dirty="0"/>
          </a:p>
        </p:txBody>
      </p:sp>
      <p:sp>
        <p:nvSpPr>
          <p:cNvPr id="12" name="Text 9"/>
          <p:cNvSpPr/>
          <p:nvPr/>
        </p:nvSpPr>
        <p:spPr>
          <a:xfrm>
            <a:off x="84124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Tòa nhà – tầng – căn hộ</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Trạng thái: ở / trống / thuê</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CRUD phân cấp không gian</a:t>
            </a:r>
            <a:endParaRPr lang="en-US" sz="1200" dirty="0"/>
          </a:p>
        </p:txBody>
      </p:sp>
      <p:sp>
        <p:nvSpPr>
          <p:cNvPr id="13" name="Shape 10"/>
          <p:cNvSpPr/>
          <p:nvPr/>
        </p:nvSpPr>
        <p:spPr>
          <a:xfrm>
            <a:off x="431596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4572000" y="1947672"/>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4730008" y="2105680"/>
            <a:ext cx="342351" cy="342351"/>
          </a:xfrm>
          <a:prstGeom prst="rect">
            <a:avLst/>
          </a:prstGeom>
        </p:spPr>
      </p:pic>
      <p:sp>
        <p:nvSpPr>
          <p:cNvPr id="16" name="Text 12"/>
          <p:cNvSpPr/>
          <p:nvPr/>
        </p:nvSpPr>
        <p:spPr>
          <a:xfrm>
            <a:off x="539496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Hồ sơ cư dân</a:t>
            </a:r>
            <a:endParaRPr lang="en-US" sz="1800" dirty="0"/>
          </a:p>
        </p:txBody>
      </p:sp>
      <p:sp>
        <p:nvSpPr>
          <p:cNvPr id="17" name="Text 13"/>
          <p:cNvSpPr/>
          <p:nvPr/>
        </p:nvSpPr>
        <p:spPr>
          <a:xfrm>
            <a:off x="459028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Chủ hộ &amp; thành viên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Ngày vào/ra ở (MoveIn/Out)</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Liên kết tài khoản đăng nhập</a:t>
            </a:r>
            <a:endParaRPr lang="en-US" sz="1200" dirty="0"/>
          </a:p>
        </p:txBody>
      </p:sp>
      <p:sp>
        <p:nvSpPr>
          <p:cNvPr id="18" name="Shape 14"/>
          <p:cNvSpPr/>
          <p:nvPr/>
        </p:nvSpPr>
        <p:spPr>
          <a:xfrm>
            <a:off x="806500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321040" y="1947672"/>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4"/>
          <a:stretch>
            <a:fillRect/>
          </a:stretch>
        </p:blipFill>
        <p:spPr>
          <a:xfrm>
            <a:off x="8479048" y="2105680"/>
            <a:ext cx="342351" cy="342351"/>
          </a:xfrm>
          <a:prstGeom prst="rect">
            <a:avLst/>
          </a:prstGeom>
        </p:spPr>
      </p:pic>
      <p:sp>
        <p:nvSpPr>
          <p:cNvPr id="21" name="Text 16"/>
          <p:cNvSpPr/>
          <p:nvPr/>
        </p:nvSpPr>
        <p:spPr>
          <a:xfrm>
            <a:off x="914400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Phí &amp; Thu phí</a:t>
            </a:r>
            <a:endParaRPr lang="en-US" sz="1800" dirty="0"/>
          </a:p>
        </p:txBody>
      </p:sp>
      <p:sp>
        <p:nvSpPr>
          <p:cNvPr id="22" name="Text 17"/>
          <p:cNvSpPr/>
          <p:nvPr/>
        </p:nvSpPr>
        <p:spPr>
          <a:xfrm>
            <a:off x="833932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Loại phí, đơn giá / m²</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Phát sinh theo kỳ</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Theo dõi công nợ</a:t>
            </a:r>
            <a:endParaRPr lang="en-US" sz="1200" dirty="0"/>
          </a:p>
        </p:txBody>
      </p:sp>
      <p:sp>
        <p:nvSpPr>
          <p:cNvPr id="23" name="Shape 18"/>
          <p:cNvSpPr/>
          <p:nvPr/>
        </p:nvSpPr>
        <p:spPr>
          <a:xfrm>
            <a:off x="56692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822960" y="4050792"/>
            <a:ext cx="658368" cy="658368"/>
          </a:xfrm>
          <a:prstGeom prst="roundRect">
            <a:avLst>
              <a:gd name="adj" fmla="val 50000"/>
            </a:avLst>
          </a:prstGeom>
          <a:solidFill>
            <a:srgbClr val="16385C"/>
          </a:solidFill>
          <a:ln/>
        </p:spPr>
      </p:sp>
      <p:pic>
        <p:nvPicPr>
          <p:cNvPr id="25" name="Image 3" descr="preencoded.png"/>
          <p:cNvPicPr>
            <a:picLocks noChangeAspect="1"/>
          </p:cNvPicPr>
          <p:nvPr/>
        </p:nvPicPr>
        <p:blipFill>
          <a:blip r:embed="rId5"/>
          <a:stretch>
            <a:fillRect/>
          </a:stretch>
        </p:blipFill>
        <p:spPr>
          <a:xfrm>
            <a:off x="980968" y="4208800"/>
            <a:ext cx="342351" cy="342351"/>
          </a:xfrm>
          <a:prstGeom prst="rect">
            <a:avLst/>
          </a:prstGeom>
        </p:spPr>
      </p:pic>
      <p:sp>
        <p:nvSpPr>
          <p:cNvPr id="26" name="Text 20"/>
          <p:cNvSpPr/>
          <p:nvPr/>
        </p:nvSpPr>
        <p:spPr>
          <a:xfrm>
            <a:off x="164592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An ninh AI</a:t>
            </a:r>
            <a:endParaRPr lang="en-US" sz="1800" dirty="0"/>
          </a:p>
        </p:txBody>
      </p:sp>
      <p:sp>
        <p:nvSpPr>
          <p:cNvPr id="27" name="Text 21"/>
          <p:cNvSpPr/>
          <p:nvPr/>
        </p:nvSpPr>
        <p:spPr>
          <a:xfrm>
            <a:off x="84124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Đăng ký khuôn mặt cư dân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Nhận diện qua camera</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Cảnh báo người lạ ra/vào</a:t>
            </a:r>
            <a:endParaRPr lang="en-US" sz="1200" dirty="0"/>
          </a:p>
        </p:txBody>
      </p:sp>
      <p:sp>
        <p:nvSpPr>
          <p:cNvPr id="28" name="Shape 22"/>
          <p:cNvSpPr/>
          <p:nvPr/>
        </p:nvSpPr>
        <p:spPr>
          <a:xfrm>
            <a:off x="431596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9" name="Shape 23"/>
          <p:cNvSpPr/>
          <p:nvPr/>
        </p:nvSpPr>
        <p:spPr>
          <a:xfrm>
            <a:off x="4572000" y="4050792"/>
            <a:ext cx="658368" cy="658368"/>
          </a:xfrm>
          <a:prstGeom prst="roundRect">
            <a:avLst>
              <a:gd name="adj" fmla="val 50000"/>
            </a:avLst>
          </a:prstGeom>
          <a:solidFill>
            <a:srgbClr val="EFA13C"/>
          </a:solidFill>
          <a:ln/>
        </p:spPr>
      </p:sp>
      <p:pic>
        <p:nvPicPr>
          <p:cNvPr id="30" name="Image 4" descr="preencoded.png"/>
          <p:cNvPicPr>
            <a:picLocks noChangeAspect="1"/>
          </p:cNvPicPr>
          <p:nvPr/>
        </p:nvPicPr>
        <p:blipFill>
          <a:blip r:embed="rId6"/>
          <a:stretch>
            <a:fillRect/>
          </a:stretch>
        </p:blipFill>
        <p:spPr>
          <a:xfrm>
            <a:off x="4730008" y="4208800"/>
            <a:ext cx="342351" cy="342351"/>
          </a:xfrm>
          <a:prstGeom prst="rect">
            <a:avLst/>
          </a:prstGeom>
        </p:spPr>
      </p:pic>
      <p:sp>
        <p:nvSpPr>
          <p:cNvPr id="31" name="Text 24"/>
          <p:cNvSpPr/>
          <p:nvPr/>
        </p:nvSpPr>
        <p:spPr>
          <a:xfrm>
            <a:off x="539496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Tác nhân</a:t>
            </a:r>
            <a:endParaRPr lang="en-US" sz="1800" dirty="0"/>
          </a:p>
        </p:txBody>
      </p:sp>
      <p:sp>
        <p:nvSpPr>
          <p:cNvPr id="32" name="Text 25"/>
          <p:cNvSpPr/>
          <p:nvPr/>
        </p:nvSpPr>
        <p:spPr>
          <a:xfrm>
            <a:off x="459028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Admin / BQL · Kế toán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NV an ninh</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Cư dân</a:t>
            </a:r>
            <a:endParaRPr lang="en-US" sz="1200" dirty="0"/>
          </a:p>
        </p:txBody>
      </p:sp>
      <p:sp>
        <p:nvSpPr>
          <p:cNvPr id="33" name="Shape 26"/>
          <p:cNvSpPr/>
          <p:nvPr/>
        </p:nvSpPr>
        <p:spPr>
          <a:xfrm>
            <a:off x="806500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4" name="Shape 27"/>
          <p:cNvSpPr/>
          <p:nvPr/>
        </p:nvSpPr>
        <p:spPr>
          <a:xfrm>
            <a:off x="8321040" y="4050792"/>
            <a:ext cx="658368" cy="658368"/>
          </a:xfrm>
          <a:prstGeom prst="roundRect">
            <a:avLst>
              <a:gd name="adj" fmla="val 50000"/>
            </a:avLst>
          </a:prstGeom>
          <a:solidFill>
            <a:srgbClr val="E4572E"/>
          </a:solidFill>
          <a:ln/>
        </p:spPr>
      </p:sp>
      <p:pic>
        <p:nvPicPr>
          <p:cNvPr id="35" name="Image 5" descr="preencoded.png"/>
          <p:cNvPicPr>
            <a:picLocks noChangeAspect="1"/>
          </p:cNvPicPr>
          <p:nvPr/>
        </p:nvPicPr>
        <p:blipFill>
          <a:blip r:embed="rId7"/>
          <a:stretch>
            <a:fillRect/>
          </a:stretch>
        </p:blipFill>
        <p:spPr>
          <a:xfrm>
            <a:off x="8479048" y="4208800"/>
            <a:ext cx="342351" cy="342351"/>
          </a:xfrm>
          <a:prstGeom prst="rect">
            <a:avLst/>
          </a:prstGeom>
        </p:spPr>
      </p:pic>
      <p:sp>
        <p:nvSpPr>
          <p:cNvPr id="36" name="Text 28"/>
          <p:cNvSpPr/>
          <p:nvPr/>
        </p:nvSpPr>
        <p:spPr>
          <a:xfrm>
            <a:off x="914400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Kế thừa Base</a:t>
            </a:r>
            <a:endParaRPr lang="en-US" sz="1800" dirty="0"/>
          </a:p>
        </p:txBody>
      </p:sp>
      <p:sp>
        <p:nvSpPr>
          <p:cNvPr id="37" name="Text 29"/>
          <p:cNvSpPr/>
          <p:nvPr/>
        </p:nvSpPr>
        <p:spPr>
          <a:xfrm>
            <a:off x="833932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Auth/RBAC · Cấu hình</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Thông báo · Audit Log</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Định danh dùng chung</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NGHIỆP VỤ</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Không gian, cư dân và phí — số hóa tập trung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30</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84248"/>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2"/>
          <a:stretch>
            <a:fillRect/>
          </a:stretch>
        </p:blipFill>
        <p:spPr>
          <a:xfrm>
            <a:off x="980968" y="2142256"/>
            <a:ext cx="342351" cy="342351"/>
          </a:xfrm>
          <a:prstGeom prst="rect">
            <a:avLst/>
          </a:prstGeom>
        </p:spPr>
      </p:pic>
      <p:sp>
        <p:nvSpPr>
          <p:cNvPr id="11" name="Text 8"/>
          <p:cNvSpPr/>
          <p:nvPr/>
        </p:nvSpPr>
        <p:spPr>
          <a:xfrm>
            <a:off x="1664208" y="1911096"/>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Tòa nhà – tầng – căn hộ</a:t>
            </a:r>
            <a:endParaRPr lang="en-US" sz="1450" dirty="0"/>
          </a:p>
        </p:txBody>
      </p:sp>
      <p:sp>
        <p:nvSpPr>
          <p:cNvPr id="12" name="Text 9"/>
          <p:cNvSpPr/>
          <p:nvPr/>
        </p:nvSpPr>
        <p:spPr>
          <a:xfrm>
            <a:off x="1664208" y="2313432"/>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Cấu trúc phân cấp; trạng thái căn hộ: đang ở / trống / cho thuê</a:t>
            </a:r>
            <a:endParaRPr lang="en-US" sz="1150" dirty="0"/>
          </a:p>
        </p:txBody>
      </p:sp>
      <p:sp>
        <p:nvSpPr>
          <p:cNvPr id="13" name="Shape 10"/>
          <p:cNvSpPr/>
          <p:nvPr/>
        </p:nvSpPr>
        <p:spPr>
          <a:xfrm>
            <a:off x="6254496" y="1691640"/>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6510528" y="1984248"/>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6668536" y="2142256"/>
            <a:ext cx="342351" cy="342351"/>
          </a:xfrm>
          <a:prstGeom prst="rect">
            <a:avLst/>
          </a:prstGeom>
        </p:spPr>
      </p:pic>
      <p:sp>
        <p:nvSpPr>
          <p:cNvPr id="16" name="Text 12"/>
          <p:cNvSpPr/>
          <p:nvPr/>
        </p:nvSpPr>
        <p:spPr>
          <a:xfrm>
            <a:off x="7351776" y="1911096"/>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Hồ sơ cư dân &amp; chủ hộ</a:t>
            </a:r>
            <a:endParaRPr lang="en-US" sz="1450" dirty="0"/>
          </a:p>
        </p:txBody>
      </p:sp>
      <p:sp>
        <p:nvSpPr>
          <p:cNvPr id="17" name="Text 13"/>
          <p:cNvSpPr/>
          <p:nvPr/>
        </p:nvSpPr>
        <p:spPr>
          <a:xfrm>
            <a:off x="7351776" y="2313432"/>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Họ tên, CCCD, ngày vào/ra ở; chuyển đi ghi MoveOutDate, không xóa</a:t>
            </a:r>
            <a:endParaRPr lang="en-US" sz="1150" dirty="0"/>
          </a:p>
        </p:txBody>
      </p:sp>
      <p:sp>
        <p:nvSpPr>
          <p:cNvPr id="18" name="Shape 14"/>
          <p:cNvSpPr/>
          <p:nvPr/>
        </p:nvSpPr>
        <p:spPr>
          <a:xfrm>
            <a:off x="566928" y="3127248"/>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22960" y="3419856"/>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4"/>
          <a:stretch>
            <a:fillRect/>
          </a:stretch>
        </p:blipFill>
        <p:spPr>
          <a:xfrm>
            <a:off x="980968" y="3577864"/>
            <a:ext cx="342351" cy="342351"/>
          </a:xfrm>
          <a:prstGeom prst="rect">
            <a:avLst/>
          </a:prstGeom>
        </p:spPr>
      </p:pic>
      <p:sp>
        <p:nvSpPr>
          <p:cNvPr id="21" name="Text 16"/>
          <p:cNvSpPr/>
          <p:nvPr/>
        </p:nvSpPr>
        <p:spPr>
          <a:xfrm>
            <a:off x="1664208" y="3346704"/>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Phí &amp; thu phí theo kỳ</a:t>
            </a:r>
            <a:endParaRPr lang="en-US" sz="1450" dirty="0"/>
          </a:p>
        </p:txBody>
      </p:sp>
      <p:sp>
        <p:nvSpPr>
          <p:cNvPr id="22" name="Text 17"/>
          <p:cNvSpPr/>
          <p:nvPr/>
        </p:nvSpPr>
        <p:spPr>
          <a:xfrm>
            <a:off x="1664208" y="3749040"/>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Loại phí (đơn giá / theo m²); phát sinh theo kỳ, theo dõi công nợ</a:t>
            </a:r>
            <a:endParaRPr lang="en-US" sz="1150" dirty="0"/>
          </a:p>
        </p:txBody>
      </p:sp>
      <p:sp>
        <p:nvSpPr>
          <p:cNvPr id="23" name="Shape 18"/>
          <p:cNvSpPr/>
          <p:nvPr/>
        </p:nvSpPr>
        <p:spPr>
          <a:xfrm>
            <a:off x="6254496" y="3127248"/>
            <a:ext cx="5486400" cy="1234440"/>
          </a:xfrm>
          <a:prstGeom prst="roundRect">
            <a:avLst>
              <a:gd name="adj" fmla="val 888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6510528" y="3419856"/>
            <a:ext cx="658368" cy="658368"/>
          </a:xfrm>
          <a:prstGeom prst="roundRect">
            <a:avLst>
              <a:gd name="adj" fmla="val 50000"/>
            </a:avLst>
          </a:prstGeom>
          <a:solidFill>
            <a:srgbClr val="EFA13C"/>
          </a:solidFill>
          <a:ln/>
        </p:spPr>
      </p:sp>
      <p:pic>
        <p:nvPicPr>
          <p:cNvPr id="25" name="Image 3" descr="preencoded.png"/>
          <p:cNvPicPr>
            <a:picLocks noChangeAspect="1"/>
          </p:cNvPicPr>
          <p:nvPr/>
        </p:nvPicPr>
        <p:blipFill>
          <a:blip r:embed="rId5"/>
          <a:stretch>
            <a:fillRect/>
          </a:stretch>
        </p:blipFill>
        <p:spPr>
          <a:xfrm>
            <a:off x="6668536" y="3577864"/>
            <a:ext cx="342351" cy="342351"/>
          </a:xfrm>
          <a:prstGeom prst="rect">
            <a:avLst/>
          </a:prstGeom>
        </p:spPr>
      </p:pic>
      <p:sp>
        <p:nvSpPr>
          <p:cNvPr id="26" name="Text 20"/>
          <p:cNvSpPr/>
          <p:nvPr/>
        </p:nvSpPr>
        <p:spPr>
          <a:xfrm>
            <a:off x="7351776" y="3346704"/>
            <a:ext cx="4206240" cy="365760"/>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Cộng đồng &amp; thông báo</a:t>
            </a:r>
            <a:endParaRPr lang="en-US" sz="1450" dirty="0"/>
          </a:p>
        </p:txBody>
      </p:sp>
      <p:sp>
        <p:nvSpPr>
          <p:cNvPr id="27" name="Text 21"/>
          <p:cNvSpPr/>
          <p:nvPr/>
        </p:nvSpPr>
        <p:spPr>
          <a:xfrm>
            <a:off x="7351776" y="3749040"/>
            <a:ext cx="4206240" cy="548640"/>
          </a:xfrm>
          <a:prstGeom prst="rect">
            <a:avLst/>
          </a:prstGeom>
          <a:noFill/>
          <a:ln/>
        </p:spPr>
        <p:txBody>
          <a:bodyPr wrap="square" lIns="0" tIns="0" rIns="0" bIns="0" rtlCol="0" anchor="t"/>
          <a:lstStyle/>
          <a:p>
            <a:pPr marL="0" indent="0">
              <a:buNone/>
            </a:pPr>
            <a:r>
              <a:rPr lang="en-US" sz="1150" dirty="0">
                <a:solidFill>
                  <a:srgbClr val="6B7A88"/>
                </a:solidFill>
                <a:latin typeface="Calibri" pitchFamily="34" charset="0"/>
                <a:ea typeface="Calibri" pitchFamily="34" charset="-122"/>
                <a:cs typeface="Calibri" pitchFamily="34" charset="-120"/>
              </a:rPr>
              <a:t>Khảo sát/bình chọn, thẻ ra vào, tiện ích; gửi thông báo cư dân</a:t>
            </a:r>
            <a:endParaRPr lang="en-US" sz="1150" dirty="0"/>
          </a:p>
        </p:txBody>
      </p:sp>
      <p:sp>
        <p:nvSpPr>
          <p:cNvPr id="28" name="Shape 22"/>
          <p:cNvSpPr/>
          <p:nvPr/>
        </p:nvSpPr>
        <p:spPr>
          <a:xfrm>
            <a:off x="566928" y="4434840"/>
            <a:ext cx="5486400" cy="1874520"/>
          </a:xfrm>
          <a:prstGeom prst="roundRect">
            <a:avLst>
              <a:gd name="adj" fmla="val 4878"/>
            </a:avLst>
          </a:prstGeom>
          <a:solidFill>
            <a:srgbClr val="FFFFFF"/>
          </a:solidFill>
          <a:ln/>
          <a:effectLst>
            <a:outerShdw blurRad="88900" dist="25400" dir="5400000" algn="bl" rotWithShape="0">
              <a:srgbClr val="B9C7D1">
                <a:alpha val="40000"/>
              </a:srgbClr>
            </a:outerShdw>
          </a:effectLst>
        </p:spPr>
      </p:sp>
      <p:sp>
        <p:nvSpPr>
          <p:cNvPr id="29" name="Text 29"/>
          <p:cNvSpPr/>
          <p:nvPr/>
        </p:nvSpPr>
        <p:spPr>
          <a:xfrm>
            <a:off x="822960" y="4617136"/>
            <a:ext cx="4974336" cy="1600200"/>
          </a:xfrm>
          <a:prstGeom prst="rect">
            <a:avLst/>
          </a:prstGeom>
          <a:noFill/>
          <a:ln/>
        </p:spPr>
        <p:txBody>
          <a:bodyPr wrap="square" lIns="0" tIns="0" rIns="0" bIns="0" rtlCol="0" anchor="t"/>
          <a:lstStyle/>
          <a:p>
            <a:pPr marL="0" indent="0">
              <a:buNone/>
            </a:pPr>
            <a:r>
              <a:rPr lang="en-US" sz="1350" b="1" dirty="0">
                <a:solidFill>
                  <a:srgbClr val="0E2A47"/>
                </a:solidFill>
                <a:latin typeface="Cambria" pitchFamily="34" charset="0"/>
                <a:cs typeface="Cambria" pitchFamily="34" charset="-120"/>
              </a:rPr>
              <a:t>Công thức tính phí</a:t>
            </a:r>
          </a:p>
          <a:p>
            <a:pPr marL="0" indent="0">
              <a:spcBef>
                <a:spcPts val="500"/>
              </a:spcBef>
              <a:buNone/>
            </a:pPr>
            <a:r>
              <a:rPr lang="en-US" sz="1250" b="1" dirty="0">
                <a:solidFill>
                  <a:srgbClr val="0E7C86"/>
                </a:solidFill>
                <a:latin typeface="Calibri" pitchFamily="34" charset="0"/>
                <a:cs typeface="Calibri" pitchFamily="34" charset="-120"/>
              </a:rPr>
              <a:t>Amount = IsPerM2 ? UnitPrice × AreaM2 : UnitPrice</a:t>
            </a:r>
          </a:p>
          <a:p>
            <a:pPr marL="0" indent="0">
              <a:spcBef>
                <a:spcPts val="500"/>
              </a:spcBef>
              <a:buNone/>
            </a:pPr>
            <a:r>
              <a:rPr lang="en-US" sz="1100" dirty="0">
                <a:solidFill>
                  <a:srgbClr val="22303C"/>
                </a:solidFill>
                <a:latin typeface="Calibri" pitchFamily="34" charset="0"/>
                <a:cs typeface="Calibri" pitchFamily="34" charset="-120"/>
              </a:rPr>
              <a:t>Sinh phí theo kỳ cho từng căn hộ; loại phí khai báo dùng chung ở Cấu hình (Base). Trạng thái: chưa thu → đã thu (PaidAt, PaymentRef).</a:t>
            </a:r>
          </a:p>
        </p:txBody>
      </p:sp>
      <p:sp>
        <p:nvSpPr>
          <p:cNvPr id="30" name="Shape 23"/>
          <p:cNvSpPr/>
          <p:nvPr/>
        </p:nvSpPr>
        <p:spPr>
          <a:xfrm>
            <a:off x="6254496" y="4434840"/>
            <a:ext cx="5376672" cy="1874520"/>
          </a:xfrm>
          <a:prstGeom prst="roundRect">
            <a:avLst>
              <a:gd name="adj" fmla="val 4878"/>
            </a:avLst>
          </a:prstGeom>
          <a:solidFill>
            <a:srgbClr val="FFFFFF"/>
          </a:solidFill>
          <a:ln/>
          <a:effectLst>
            <a:outerShdw blurRad="88900" dist="25400" dir="5400000" algn="bl" rotWithShape="0">
              <a:srgbClr val="B9C7D1">
                <a:alpha val="40000"/>
              </a:srgbClr>
            </a:outerShdw>
          </a:effectLst>
        </p:spPr>
      </p:sp>
      <p:sp>
        <p:nvSpPr>
          <p:cNvPr id="31" name="Text 31"/>
          <p:cNvSpPr/>
          <p:nvPr/>
        </p:nvSpPr>
        <p:spPr>
          <a:xfrm>
            <a:off x="6510528" y="4617136"/>
            <a:ext cx="4864608" cy="1600200"/>
          </a:xfrm>
          <a:prstGeom prst="rect">
            <a:avLst/>
          </a:prstGeom>
          <a:noFill/>
          <a:ln/>
        </p:spPr>
        <p:txBody>
          <a:bodyPr wrap="square" lIns="0" tIns="0" rIns="0" bIns="0" rtlCol="0" anchor="t"/>
          <a:lstStyle/>
          <a:p>
            <a:pPr marL="0" indent="0">
              <a:buNone/>
            </a:pPr>
            <a:r>
              <a:rPr lang="en-US" sz="1350" b="1" dirty="0">
                <a:solidFill>
                  <a:srgbClr val="0E2A47"/>
                </a:solidFill>
                <a:latin typeface="Cambria" pitchFamily="34" charset="0"/>
                <a:cs typeface="Cambria" pitchFamily="34" charset="-120"/>
              </a:rPr>
              <a:t>Ràng buộc &amp; liên thông</a:t>
            </a:r>
          </a:p>
          <a:p>
            <a:pPr marL="180000" indent="-180000">
              <a:spcBef>
                <a:spcPts val="400"/>
              </a:spcBef>
              <a:buChar char="•"/>
            </a:pPr>
            <a:r>
              <a:rPr lang="en-US" sz="1080" dirty="0">
                <a:solidFill>
                  <a:srgbClr val="22303C"/>
                </a:solidFill>
                <a:latin typeface="Calibri" pitchFamily="34" charset="0"/>
                <a:cs typeface="Calibri" pitchFamily="34" charset="-120"/>
              </a:rPr>
              <a:t>Mã căn hộ duy nhất; còn cư dân hoặc công nợ → không cho xóa</a:t>
            </a:r>
          </a:p>
          <a:p>
            <a:pPr marL="180000" indent="-180000">
              <a:buChar char="•"/>
            </a:pPr>
            <a:r>
              <a:rPr lang="en-US" sz="1080" dirty="0">
                <a:solidFill>
                  <a:srgbClr val="22303C"/>
                </a:solidFill>
                <a:latin typeface="Calibri" pitchFamily="34" charset="0"/>
                <a:cs typeface="Calibri" pitchFamily="34" charset="-120"/>
              </a:rPr>
              <a:t>Chuyển hộ ghi MoveOutDate để giữ lịch sử, không xóa cứng</a:t>
            </a:r>
          </a:p>
          <a:p>
            <a:pPr marL="180000" indent="-180000">
              <a:buChar char="•"/>
            </a:pPr>
            <a:r>
              <a:rPr lang="en-US" sz="1080" dirty="0">
                <a:solidFill>
                  <a:srgbClr val="22303C"/>
                </a:solidFill>
                <a:latin typeface="Calibri" pitchFamily="34" charset="0"/>
                <a:cs typeface="Calibri" pitchFamily="34" charset="-120"/>
              </a:rPr>
              <a:t>Cung cấp định danh cư dân/căn hộ cho các phân hệ khác</a:t>
            </a:r>
          </a:p>
        </p:txBody>
      </p:sp>
      <p:sp>
        <p:nvSpPr>
          <p:cNvPr id="32" name="Text 24"/>
          <p:cNvSpPr/>
          <p:nvPr/>
        </p:nvSpPr>
        <p:spPr>
          <a:xfrm>
            <a:off x="566928" y="6327648"/>
            <a:ext cx="5486400"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Phí theo m² lấy diện tích từ chính căn hộ</a:t>
            </a:r>
            <a:endParaRPr lang="en-US" sz="950" dirty="0"/>
          </a:p>
        </p:txBody>
      </p:sp>
      <p:sp>
        <p:nvSpPr>
          <p:cNvPr id="33" name="Text 25"/>
          <p:cNvSpPr/>
          <p:nvPr/>
        </p:nvSpPr>
        <p:spPr>
          <a:xfrm>
            <a:off x="6254496" y="6327648"/>
            <a:ext cx="5376672" cy="228600"/>
          </a:xfrm>
          <a:prstGeom prst="rect">
            <a:avLst/>
          </a:prstGeom>
          <a:noFill/>
          <a:ln/>
        </p:spPr>
        <p:txBody>
          <a:bodyPr wrap="square" lIns="0" tIns="0" rIns="0" bIns="0" rtlCol="0" anchor="ctr"/>
          <a:lstStyle/>
          <a:p>
            <a:pPr marL="0" indent="0" algn="ctr">
              <a:buNone/>
            </a:pPr>
            <a:r>
              <a:rPr lang="en-US" sz="950" i="1" dirty="0">
                <a:solidFill>
                  <a:srgbClr val="6B7A88"/>
                </a:solidFill>
                <a:latin typeface="Calibri" pitchFamily="34" charset="0"/>
                <a:ea typeface="Calibri" pitchFamily="34" charset="-122"/>
                <a:cs typeface="Calibri" pitchFamily="34" charset="-120"/>
              </a:rPr>
              <a:t>Nguồn định danh cư dân/căn hộ cho Tài sản · Sự cố · Dịch vụ</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PHÍ DỊCH VỤ</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Quản lý loại phí, phát sinh và thu phí theo kỳ</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31</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VÒNG ĐỜI KHOẢN PHÍ</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Chọn loại phí + căn hộ  →  tính Amount theo đơn giá/diện tích  →  tạo khoản phí (chưa thu)  →  cập nhật đã thu khi cư dân thanh toán</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2"/>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Loại phí</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fee_types: đơn giá, theo m² (IsPerM2), trạng thái áp dụng</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3"/>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Phát sinh theo kỳ</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Amount = IsPerM2 ? UnitPrice × AreaM2 : UnitPrice</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4"/>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Thu &amp; công nợ</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PaidAt · PaymentMethod · PaymentRef; nhắc hạn qua thông báo</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Loại phí dùng chung  </a:t>
            </a:r>
            <a:r>
              <a:rPr lang="en-US" sz="1250" b="1" dirty="0">
                <a:solidFill>
                  <a:srgbClr val="0E7C86"/>
                </a:solidFill>
                <a:latin typeface="Calibri" pitchFamily="34" charset="0"/>
                <a:ea typeface="Calibri" pitchFamily="34" charset="-122"/>
                <a:cs typeface="Calibri" pitchFamily="34" charset="-120"/>
              </a:rPr>
              <a:t>khai báo ở Cấu hình (Base)</a:t>
            </a:r>
            <a:r>
              <a:rPr lang="en-US" sz="1250" b="1" dirty="0">
                <a:solidFill>
                  <a:srgbClr val="0E2A47"/>
                </a:solidFill>
                <a:latin typeface="Calibri" pitchFamily="34" charset="0"/>
                <a:ea typeface="Calibri" pitchFamily="34" charset="-122"/>
                <a:cs typeface="Calibri" pitchFamily="34" charset="-120"/>
              </a:rPr>
              <a:t>   ~   Ràng buộc  </a:t>
            </a:r>
            <a:r>
              <a:rPr lang="en-US" sz="1250" b="1" dirty="0">
                <a:solidFill>
                  <a:srgbClr val="0E7C86"/>
                </a:solidFill>
                <a:latin typeface="Calibri" pitchFamily="34" charset="0"/>
                <a:ea typeface="Calibri" pitchFamily="34" charset="-122"/>
                <a:cs typeface="Calibri" pitchFamily="34" charset="-120"/>
              </a:rPr>
              <a:t>phí theo m² lấy diện tích từ căn hộ</a:t>
            </a:r>
            <a:r>
              <a:rPr lang="en-US" sz="1250" dirty="0">
                <a:solidFill>
                  <a:srgbClr val="22303C"/>
                </a:solidFill>
                <a:latin typeface="Calibri" pitchFamily="34" charset="0"/>
                <a:ea typeface="Calibri" pitchFamily="34" charset="-122"/>
                <a:cs typeface="Calibri" pitchFamily="34" charset="-120"/>
              </a:rPr>
              <a:t>   ·   tổng hợp công nợ và nhắc hạn tự động qua engine Thông báo.</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DỮ LIỆU</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Mô hình dữ liệu phân hệ dân cư</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32</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1064240" cy="932688"/>
          </a:xfrm>
          <a:prstGeom prst="roundRect">
            <a:avLst>
              <a:gd name="adj" fmla="val 11765"/>
            </a:avLst>
          </a:prstGeom>
          <a:solidFill>
            <a:srgbClr val="0E2A47"/>
          </a:solidFill>
          <a:ln/>
        </p:spPr>
      </p:sp>
      <p:sp>
        <p:nvSpPr>
          <p:cNvPr id="9" name="Shape 7"/>
          <p:cNvSpPr/>
          <p:nvPr/>
        </p:nvSpPr>
        <p:spPr>
          <a:xfrm>
            <a:off x="822960" y="1847088"/>
            <a:ext cx="548640" cy="548640"/>
          </a:xfrm>
          <a:prstGeom prst="roundRect">
            <a:avLst>
              <a:gd name="adj" fmla="val 50000"/>
            </a:avLst>
          </a:prstGeom>
          <a:solidFill>
            <a:srgbClr val="23B5A6"/>
          </a:solidFill>
          <a:ln/>
        </p:spPr>
      </p:sp>
      <p:pic>
        <p:nvPicPr>
          <p:cNvPr id="10" name="Image 0" descr="preencoded.png"/>
          <p:cNvPicPr>
            <a:picLocks noChangeAspect="1"/>
          </p:cNvPicPr>
          <p:nvPr/>
        </p:nvPicPr>
        <p:blipFill>
          <a:blip r:embed="rId2"/>
          <a:stretch>
            <a:fillRect/>
          </a:stretch>
        </p:blipFill>
        <p:spPr>
          <a:xfrm>
            <a:off x="954634" y="1978762"/>
            <a:ext cx="285293" cy="285293"/>
          </a:xfrm>
          <a:prstGeom prst="rect">
            <a:avLst/>
          </a:prstGeom>
        </p:spPr>
      </p:pic>
      <p:sp>
        <p:nvSpPr>
          <p:cNvPr id="11" name="Text 8"/>
          <p:cNvSpPr/>
          <p:nvPr/>
        </p:nvSpPr>
        <p:spPr>
          <a:xfrm>
            <a:off x="1508760" y="1737360"/>
            <a:ext cx="9966960" cy="777240"/>
          </a:xfrm>
          <a:prstGeom prst="rect">
            <a:avLst/>
          </a:prstGeom>
          <a:noFill/>
          <a:ln/>
        </p:spPr>
        <p:txBody>
          <a:bodyPr wrap="square" lIns="0" tIns="0" rIns="0" bIns="0" rtlCol="0" anchor="ctr"/>
          <a:lstStyle/>
          <a:p>
            <a:pPr marL="0" indent="0">
              <a:lnSpc>
                <a:spcPct val="105000"/>
              </a:lnSpc>
              <a:buNone/>
            </a:pPr>
            <a:r>
              <a:rPr lang="en-US" sz="1500" b="1" dirty="0">
                <a:solidFill>
                  <a:srgbClr val="FFFFFF"/>
                </a:solidFill>
                <a:latin typeface="Calibri" pitchFamily="34" charset="0"/>
                <a:ea typeface="Calibri" pitchFamily="34" charset="-122"/>
                <a:cs typeface="Calibri" pitchFamily="34" charset="-120"/>
              </a:rPr>
              <a:t>Dữ liệu nền cư dân — tham chiếu bởi mọi phân hệ
</a:t>
            </a:r>
            <a:r>
              <a:rPr lang="en-US" sz="1250" dirty="0">
                <a:solidFill>
                  <a:srgbClr val="BFD6DF"/>
                </a:solidFill>
                <a:latin typeface="Calibri" pitchFamily="34" charset="0"/>
                <a:ea typeface="Calibri" pitchFamily="34" charset="-122"/>
                <a:cs typeface="Calibri" pitchFamily="34" charset="-120"/>
              </a:rPr>
              <a:t>buildings · floors · apartments · residents · fee_types · fees · face_profiles · access_events</a:t>
            </a:r>
            <a:endParaRPr lang="en-US" sz="1500" dirty="0"/>
          </a:p>
        </p:txBody>
      </p:sp>
      <p:sp>
        <p:nvSpPr>
          <p:cNvPr id="12" name="Shape 9"/>
          <p:cNvSpPr/>
          <p:nvPr/>
        </p:nvSpPr>
        <p:spPr>
          <a:xfrm>
            <a:off x="566928" y="2788920"/>
            <a:ext cx="3675888" cy="2148840"/>
          </a:xfrm>
          <a:prstGeom prst="roundRect">
            <a:avLst>
              <a:gd name="adj" fmla="val 5106"/>
            </a:avLst>
          </a:prstGeom>
          <a:solidFill>
            <a:srgbClr val="E4EEF3"/>
          </a:solidFill>
          <a:ln w="25400">
            <a:solidFill>
              <a:srgbClr val="0E7C86"/>
            </a:solidFill>
            <a:prstDash val="solid"/>
          </a:ln>
          <a:effectLst>
            <a:outerShdw blurRad="88900" dist="25400" dir="5400000" algn="bl" rotWithShape="0">
              <a:srgbClr val="B9C7D1">
                <a:alpha val="40000"/>
              </a:srgbClr>
            </a:outerShdw>
          </a:effectLst>
        </p:spPr>
      </p:sp>
      <p:sp>
        <p:nvSpPr>
          <p:cNvPr id="13" name="Shape 10"/>
          <p:cNvSpPr/>
          <p:nvPr/>
        </p:nvSpPr>
        <p:spPr>
          <a:xfrm>
            <a:off x="841248" y="3063240"/>
            <a:ext cx="731520" cy="731520"/>
          </a:xfrm>
          <a:prstGeom prst="roundRect">
            <a:avLst>
              <a:gd name="adj" fmla="val 50000"/>
            </a:avLst>
          </a:prstGeom>
          <a:solidFill>
            <a:srgbClr val="0E7C86"/>
          </a:solidFill>
          <a:ln/>
        </p:spPr>
      </p:sp>
      <p:pic>
        <p:nvPicPr>
          <p:cNvPr id="14" name="Image 1" descr="preencoded.png"/>
          <p:cNvPicPr>
            <a:picLocks noChangeAspect="1"/>
          </p:cNvPicPr>
          <p:nvPr/>
        </p:nvPicPr>
        <p:blipFill>
          <a:blip r:embed="rId3"/>
          <a:stretch>
            <a:fillRect/>
          </a:stretch>
        </p:blipFill>
        <p:spPr>
          <a:xfrm>
            <a:off x="1016813" y="3238805"/>
            <a:ext cx="380390" cy="380390"/>
          </a:xfrm>
          <a:prstGeom prst="rect">
            <a:avLst/>
          </a:prstGeom>
        </p:spPr>
      </p:pic>
      <p:sp>
        <p:nvSpPr>
          <p:cNvPr id="15" name="Text 11"/>
          <p:cNvSpPr/>
          <p:nvPr/>
        </p:nvSpPr>
        <p:spPr>
          <a:xfrm>
            <a:off x="170992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Không gian</a:t>
            </a:r>
            <a:endParaRPr lang="en-US" sz="1700" dirty="0"/>
          </a:p>
        </p:txBody>
      </p:sp>
      <p:sp>
        <p:nvSpPr>
          <p:cNvPr id="16" name="Text 12"/>
          <p:cNvSpPr/>
          <p:nvPr/>
        </p:nvSpPr>
        <p:spPr>
          <a:xfrm>
            <a:off x="1709928" y="3502152"/>
            <a:ext cx="2395728" cy="32004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buildings · floors · apartments</a:t>
            </a:r>
            <a:endParaRPr lang="en-US" sz="1200" dirty="0"/>
          </a:p>
        </p:txBody>
      </p:sp>
      <p:sp>
        <p:nvSpPr>
          <p:cNvPr id="17" name="Text 13"/>
          <p:cNvSpPr/>
          <p:nvPr/>
        </p:nvSpPr>
        <p:spPr>
          <a:xfrm>
            <a:off x="84124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Toà nhà (số tầng) – tầng – căn hộ (mã, AreaM2, trạng thái); mã căn hộ duy nhất.</a:t>
            </a:r>
            <a:endParaRPr lang="en-US" sz="1200" dirty="0"/>
          </a:p>
        </p:txBody>
      </p:sp>
      <p:sp>
        <p:nvSpPr>
          <p:cNvPr id="18" name="Text 14"/>
          <p:cNvSpPr/>
          <p:nvPr/>
        </p:nvSpPr>
        <p:spPr>
          <a:xfrm>
            <a:off x="841248" y="4617720"/>
            <a:ext cx="3172968" cy="274320"/>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THỰC THỂ</a:t>
            </a:r>
            <a:endParaRPr lang="en-US" sz="1000" dirty="0"/>
          </a:p>
        </p:txBody>
      </p:sp>
      <p:sp>
        <p:nvSpPr>
          <p:cNvPr id="19" name="Shape 15"/>
          <p:cNvSpPr/>
          <p:nvPr/>
        </p:nvSpPr>
        <p:spPr>
          <a:xfrm>
            <a:off x="449884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0" name="Shape 16"/>
          <p:cNvSpPr/>
          <p:nvPr/>
        </p:nvSpPr>
        <p:spPr>
          <a:xfrm>
            <a:off x="4773168" y="3063240"/>
            <a:ext cx="731520" cy="731520"/>
          </a:xfrm>
          <a:prstGeom prst="roundRect">
            <a:avLst>
              <a:gd name="adj" fmla="val 50000"/>
            </a:avLst>
          </a:prstGeom>
          <a:solidFill>
            <a:srgbClr val="6B7A88"/>
          </a:solidFill>
          <a:ln/>
        </p:spPr>
      </p:sp>
      <p:pic>
        <p:nvPicPr>
          <p:cNvPr id="21" name="Image 2" descr="preencoded.png"/>
          <p:cNvPicPr>
            <a:picLocks noChangeAspect="1"/>
          </p:cNvPicPr>
          <p:nvPr/>
        </p:nvPicPr>
        <p:blipFill>
          <a:blip r:embed="rId4"/>
          <a:stretch>
            <a:fillRect/>
          </a:stretch>
        </p:blipFill>
        <p:spPr>
          <a:xfrm>
            <a:off x="4948733" y="3238805"/>
            <a:ext cx="380390" cy="380390"/>
          </a:xfrm>
          <a:prstGeom prst="rect">
            <a:avLst/>
          </a:prstGeom>
        </p:spPr>
      </p:pic>
      <p:sp>
        <p:nvSpPr>
          <p:cNvPr id="22" name="Text 17"/>
          <p:cNvSpPr/>
          <p:nvPr/>
        </p:nvSpPr>
        <p:spPr>
          <a:xfrm>
            <a:off x="564184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Cư dân &amp; phí</a:t>
            </a:r>
            <a:endParaRPr lang="en-US" sz="1700" dirty="0"/>
          </a:p>
        </p:txBody>
      </p:sp>
      <p:sp>
        <p:nvSpPr>
          <p:cNvPr id="23" name="Text 18"/>
          <p:cNvSpPr/>
          <p:nvPr/>
        </p:nvSpPr>
        <p:spPr>
          <a:xfrm>
            <a:off x="564184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residents · fee_types · fees</a:t>
            </a:r>
            <a:endParaRPr lang="en-US" sz="1200" dirty="0"/>
          </a:p>
        </p:txBody>
      </p:sp>
      <p:sp>
        <p:nvSpPr>
          <p:cNvPr id="24" name="Text 19"/>
          <p:cNvSpPr/>
          <p:nvPr/>
        </p:nvSpPr>
        <p:spPr>
          <a:xfrm>
            <a:off x="477316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Cư dân theo căn hộ (IsOwner, MoveIn/Out); khoản phí gắn căn hộ &amp; loại phí.</a:t>
            </a:r>
            <a:endParaRPr lang="en-US" sz="1200" dirty="0"/>
          </a:p>
        </p:txBody>
      </p:sp>
      <p:sp>
        <p:nvSpPr>
          <p:cNvPr id="25" name="Shape 20"/>
          <p:cNvSpPr/>
          <p:nvPr/>
        </p:nvSpPr>
        <p:spPr>
          <a:xfrm>
            <a:off x="843076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6" name="Shape 21"/>
          <p:cNvSpPr/>
          <p:nvPr/>
        </p:nvSpPr>
        <p:spPr>
          <a:xfrm>
            <a:off x="8705088" y="3063240"/>
            <a:ext cx="731520" cy="731520"/>
          </a:xfrm>
          <a:prstGeom prst="roundRect">
            <a:avLst>
              <a:gd name="adj" fmla="val 50000"/>
            </a:avLst>
          </a:prstGeom>
          <a:solidFill>
            <a:srgbClr val="6B7A88"/>
          </a:solidFill>
          <a:ln/>
        </p:spPr>
      </p:sp>
      <p:pic>
        <p:nvPicPr>
          <p:cNvPr id="27" name="Image 3" descr="preencoded.png"/>
          <p:cNvPicPr>
            <a:picLocks noChangeAspect="1"/>
          </p:cNvPicPr>
          <p:nvPr/>
        </p:nvPicPr>
        <p:blipFill>
          <a:blip r:embed="rId5"/>
          <a:stretch>
            <a:fillRect/>
          </a:stretch>
        </p:blipFill>
        <p:spPr>
          <a:xfrm>
            <a:off x="8880653" y="3238805"/>
            <a:ext cx="380390" cy="380390"/>
          </a:xfrm>
          <a:prstGeom prst="rect">
            <a:avLst/>
          </a:prstGeom>
        </p:spPr>
      </p:pic>
      <p:sp>
        <p:nvSpPr>
          <p:cNvPr id="28" name="Text 22"/>
          <p:cNvSpPr/>
          <p:nvPr/>
        </p:nvSpPr>
        <p:spPr>
          <a:xfrm>
            <a:off x="957376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An ninh</a:t>
            </a:r>
            <a:endParaRPr lang="en-US" sz="1700" dirty="0"/>
          </a:p>
        </p:txBody>
      </p:sp>
      <p:sp>
        <p:nvSpPr>
          <p:cNvPr id="29" name="Text 23"/>
          <p:cNvSpPr/>
          <p:nvPr/>
        </p:nvSpPr>
        <p:spPr>
          <a:xfrm>
            <a:off x="957376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face_profiles · access_events</a:t>
            </a:r>
            <a:endParaRPr lang="en-US" sz="1200" dirty="0"/>
          </a:p>
        </p:txBody>
      </p:sp>
      <p:sp>
        <p:nvSpPr>
          <p:cNvPr id="30" name="Text 24"/>
          <p:cNvSpPr/>
          <p:nvPr/>
        </p:nvSpPr>
        <p:spPr>
          <a:xfrm>
            <a:off x="870508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Hồ sơ khuôn mặt (EmbeddingRef, AiStatus); sự kiện ra/vào (ảnh, độ tin cậy).</a:t>
            </a:r>
            <a:endParaRPr lang="en-US" sz="1200" dirty="0"/>
          </a:p>
        </p:txBody>
      </p:sp>
      <p:sp>
        <p:nvSpPr>
          <p:cNvPr id="31" name="Text 25"/>
          <p:cNvSpPr/>
          <p:nvPr/>
        </p:nvSpPr>
        <p:spPr>
          <a:xfrm>
            <a:off x="566928" y="5138928"/>
            <a:ext cx="11064240" cy="640080"/>
          </a:xfrm>
          <a:prstGeom prst="rect">
            <a:avLst/>
          </a:prstGeom>
          <a:noFill/>
          <a:ln/>
        </p:spPr>
        <p:txBody>
          <a:bodyPr wrap="square" lIns="0" tIns="0" rIns="0" bIns="0" rtlCol="0" anchor="ctr"/>
          <a:lstStyle/>
          <a:p>
            <a:pPr marL="0" indent="0">
              <a:buNone/>
            </a:pPr>
            <a:r>
              <a:rPr lang="en-US" sz="1250" i="1" dirty="0">
                <a:solidFill>
                  <a:srgbClr val="6B7A88"/>
                </a:solidFill>
                <a:latin typeface="Calibri" pitchFamily="34" charset="0"/>
                <a:ea typeface="Calibri" pitchFamily="34" charset="-122"/>
                <a:cs typeface="Calibri" pitchFamily="34" charset="-120"/>
              </a:rPr>
              <a:t>Ràng buộc: căn hộ còn cư dân/công nợ → không xóa; cư dân chuyển đi ghi MoveOutDate để giữ lịch sử. Là nguồn định danh cư dân/căn hộ cho Tài sản · Sự cố · Dịch vụ.</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AN NINH AI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Nhận diện khuôn mặt — kiểm soát ra/vào</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33</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394960" cy="1417320"/>
          </a:xfrm>
          <a:prstGeom prst="roundRect">
            <a:avLst>
              <a:gd name="adj" fmla="val 7742"/>
            </a:avLst>
          </a:prstGeom>
          <a:solidFill>
            <a:srgbClr val="F1F5F8"/>
          </a:solidFill>
          <a:ln/>
          <a:effectLst>
            <a:outerShdw blurRad="88900" dist="25400" dir="5400000" algn="bl" rotWithShape="0">
              <a:srgbClr val="B9C7D1">
                <a:alpha val="40000"/>
              </a:srgbClr>
            </a:outerShdw>
          </a:effectLst>
        </p:spPr>
      </p:sp>
      <p:sp>
        <p:nvSpPr>
          <p:cNvPr id="9" name="Shape 7"/>
          <p:cNvSpPr/>
          <p:nvPr/>
        </p:nvSpPr>
        <p:spPr>
          <a:xfrm>
            <a:off x="822960" y="1938528"/>
            <a:ext cx="548640" cy="548640"/>
          </a:xfrm>
          <a:prstGeom prst="roundRect">
            <a:avLst>
              <a:gd name="adj" fmla="val 50000"/>
            </a:avLst>
          </a:prstGeom>
          <a:solidFill>
            <a:srgbClr val="E4572E"/>
          </a:solidFill>
          <a:ln/>
        </p:spPr>
      </p:sp>
      <p:pic>
        <p:nvPicPr>
          <p:cNvPr id="10" name="Image 0" descr="preencoded.png"/>
          <p:cNvPicPr>
            <a:picLocks noChangeAspect="1"/>
          </p:cNvPicPr>
          <p:nvPr/>
        </p:nvPicPr>
        <p:blipFill>
          <a:blip r:embed="rId2"/>
          <a:stretch>
            <a:fillRect/>
          </a:stretch>
        </p:blipFill>
        <p:spPr>
          <a:xfrm>
            <a:off x="954634" y="2070202"/>
            <a:ext cx="285293" cy="285293"/>
          </a:xfrm>
          <a:prstGeom prst="rect">
            <a:avLst/>
          </a:prstGeom>
        </p:spPr>
      </p:pic>
      <p:sp>
        <p:nvSpPr>
          <p:cNvPr id="11" name="Text 8"/>
          <p:cNvSpPr/>
          <p:nvPr/>
        </p:nvSpPr>
        <p:spPr>
          <a:xfrm>
            <a:off x="1508760" y="1965960"/>
            <a:ext cx="3657600" cy="36576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Bài toán</a:t>
            </a:r>
            <a:endParaRPr lang="en-US" sz="1500" dirty="0"/>
          </a:p>
        </p:txBody>
      </p:sp>
      <p:sp>
        <p:nvSpPr>
          <p:cNvPr id="12" name="Text 9"/>
          <p:cNvSpPr/>
          <p:nvPr/>
        </p:nvSpPr>
        <p:spPr>
          <a:xfrm>
            <a:off x="822960" y="2423160"/>
            <a:ext cx="4937760" cy="640080"/>
          </a:xfrm>
          <a:prstGeom prst="rect">
            <a:avLst/>
          </a:prstGeom>
          <a:noFill/>
          <a:ln/>
        </p:spPr>
        <p:txBody>
          <a:bodyPr wrap="square" lIns="0" tIns="0" rIns="0" bIns="0" rtlCol="0" anchor="t"/>
          <a:lstStyle/>
          <a:p>
            <a:pPr marL="0" indent="0">
              <a:buNone/>
            </a:pPr>
            <a:r>
              <a:rPr lang="en-US" sz="1200" dirty="0">
                <a:solidFill>
                  <a:srgbClr val="22303C"/>
                </a:solidFill>
                <a:latin typeface="Calibri" pitchFamily="34" charset="0"/>
                <a:ea typeface="Calibri" pitchFamily="34" charset="-122"/>
                <a:cs typeface="Calibri" pitchFamily="34" charset="-120"/>
              </a:rPr>
              <a:t>Hai giai đoạn nối tiếp: (1) phát hiện khuôn mặt trong khung hình camera; (2) trích đặc trưng và so khớp với hồ sơ cư dân đã đăng ký (face_profiles).</a:t>
            </a:r>
            <a:endParaRPr lang="en-US" sz="1200" dirty="0"/>
          </a:p>
        </p:txBody>
      </p:sp>
      <p:sp>
        <p:nvSpPr>
          <p:cNvPr id="13" name="Shape 10"/>
          <p:cNvSpPr/>
          <p:nvPr/>
        </p:nvSpPr>
        <p:spPr>
          <a:xfrm>
            <a:off x="566928" y="3246120"/>
            <a:ext cx="5394960" cy="1874520"/>
          </a:xfrm>
          <a:prstGeom prst="roundRect">
            <a:avLst>
              <a:gd name="adj" fmla="val 5854"/>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4" name="Shape 11"/>
          <p:cNvSpPr/>
          <p:nvPr/>
        </p:nvSpPr>
        <p:spPr>
          <a:xfrm>
            <a:off x="822960" y="3483864"/>
            <a:ext cx="640080" cy="640080"/>
          </a:xfrm>
          <a:prstGeom prst="roundRect">
            <a:avLst>
              <a:gd name="adj" fmla="val 50000"/>
            </a:avLst>
          </a:prstGeom>
          <a:solidFill>
            <a:srgbClr val="0E7C86"/>
          </a:solidFill>
          <a:ln/>
        </p:spPr>
      </p:sp>
      <p:pic>
        <p:nvPicPr>
          <p:cNvPr id="15" name="Image 1" descr="preencoded.png"/>
          <p:cNvPicPr>
            <a:picLocks noChangeAspect="1"/>
          </p:cNvPicPr>
          <p:nvPr/>
        </p:nvPicPr>
        <p:blipFill>
          <a:blip r:embed="rId3"/>
          <a:stretch>
            <a:fillRect/>
          </a:stretch>
        </p:blipFill>
        <p:spPr>
          <a:xfrm>
            <a:off x="976579" y="3637483"/>
            <a:ext cx="332842" cy="332842"/>
          </a:xfrm>
          <a:prstGeom prst="rect">
            <a:avLst/>
          </a:prstGeom>
        </p:spPr>
      </p:pic>
      <p:sp>
        <p:nvSpPr>
          <p:cNvPr id="16" name="Text 12"/>
          <p:cNvSpPr/>
          <p:nvPr/>
        </p:nvSpPr>
        <p:spPr>
          <a:xfrm>
            <a:off x="1618488"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Phát hiện — YuNet</a:t>
            </a:r>
            <a:endParaRPr lang="en-US" sz="1550" dirty="0"/>
          </a:p>
        </p:txBody>
      </p:sp>
      <p:sp>
        <p:nvSpPr>
          <p:cNvPr id="17" name="Text 13"/>
          <p:cNvSpPr/>
          <p:nvPr/>
        </p:nvSpPr>
        <p:spPr>
          <a:xfrm>
            <a:off x="822960"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YuNet (OpenCV FaceDetectorYN, ONNX) xác định vị trí và điểm mốc khuôn mặt; alignCrop căn chỉnh khuôn mặt trước khi trích đặc trưng.</a:t>
            </a:r>
            <a:endParaRPr lang="en-US" sz="1200" dirty="0"/>
          </a:p>
        </p:txBody>
      </p:sp>
      <p:sp>
        <p:nvSpPr>
          <p:cNvPr id="18" name="Shape 14"/>
          <p:cNvSpPr/>
          <p:nvPr/>
        </p:nvSpPr>
        <p:spPr>
          <a:xfrm>
            <a:off x="6163056" y="3246120"/>
            <a:ext cx="5394960" cy="1874520"/>
          </a:xfrm>
          <a:prstGeom prst="roundRect">
            <a:avLst>
              <a:gd name="adj" fmla="val 5854"/>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9" name="Shape 15"/>
          <p:cNvSpPr/>
          <p:nvPr/>
        </p:nvSpPr>
        <p:spPr>
          <a:xfrm>
            <a:off x="6419088" y="3483864"/>
            <a:ext cx="640080" cy="640080"/>
          </a:xfrm>
          <a:prstGeom prst="roundRect">
            <a:avLst>
              <a:gd name="adj" fmla="val 50000"/>
            </a:avLst>
          </a:prstGeom>
          <a:solidFill>
            <a:srgbClr val="23B5A6"/>
          </a:solidFill>
          <a:ln/>
        </p:spPr>
      </p:sp>
      <p:pic>
        <p:nvPicPr>
          <p:cNvPr id="20" name="Image 2" descr="preencoded.png"/>
          <p:cNvPicPr>
            <a:picLocks noChangeAspect="1"/>
          </p:cNvPicPr>
          <p:nvPr/>
        </p:nvPicPr>
        <p:blipFill>
          <a:blip r:embed="rId4"/>
          <a:stretch>
            <a:fillRect/>
          </a:stretch>
        </p:blipFill>
        <p:spPr>
          <a:xfrm>
            <a:off x="6572707" y="3637483"/>
            <a:ext cx="332842" cy="332842"/>
          </a:xfrm>
          <a:prstGeom prst="rect">
            <a:avLst/>
          </a:prstGeom>
        </p:spPr>
      </p:pic>
      <p:sp>
        <p:nvSpPr>
          <p:cNvPr id="21" name="Text 16"/>
          <p:cNvSpPr/>
          <p:nvPr/>
        </p:nvSpPr>
        <p:spPr>
          <a:xfrm>
            <a:off x="7214616"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Nhận diện — SFace</a:t>
            </a:r>
            <a:endParaRPr lang="en-US" sz="1550" dirty="0"/>
          </a:p>
        </p:txBody>
      </p:sp>
      <p:sp>
        <p:nvSpPr>
          <p:cNvPr id="22" name="Text 17"/>
          <p:cNvSpPr/>
          <p:nvPr/>
        </p:nvSpPr>
        <p:spPr>
          <a:xfrm>
            <a:off x="6419088"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SFace (OpenCV FaceRecognizerSF, ONNX) trích vector đặc trưng (embedding); so khớp cosine với embedding cư dân, chọn best_score và so với ngưỡng.</a:t>
            </a:r>
            <a:endParaRPr lang="en-US" sz="1200" dirty="0"/>
          </a:p>
        </p:txBody>
      </p:sp>
      <p:sp>
        <p:nvSpPr>
          <p:cNvPr id="23" name="Shape 18"/>
          <p:cNvSpPr/>
          <p:nvPr/>
        </p:nvSpPr>
        <p:spPr>
          <a:xfrm>
            <a:off x="566928" y="5257800"/>
            <a:ext cx="3566160" cy="822960"/>
          </a:xfrm>
          <a:prstGeom prst="roundRect">
            <a:avLst>
              <a:gd name="adj" fmla="val 12222"/>
            </a:avLst>
          </a:prstGeom>
          <a:solidFill>
            <a:srgbClr val="0E2A47"/>
          </a:solidFill>
          <a:ln/>
        </p:spPr>
      </p:sp>
      <p:sp>
        <p:nvSpPr>
          <p:cNvPr id="24" name="Text 19"/>
          <p:cNvSpPr/>
          <p:nvPr/>
        </p:nvSpPr>
        <p:spPr>
          <a:xfrm>
            <a:off x="74980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0,948</a:t>
            </a:r>
            <a:endParaRPr lang="en-US" sz="1800" dirty="0"/>
          </a:p>
        </p:txBody>
      </p:sp>
      <p:sp>
        <p:nvSpPr>
          <p:cNvPr id="25" name="Text 20"/>
          <p:cNvSpPr/>
          <p:nvPr/>
        </p:nvSpPr>
        <p:spPr>
          <a:xfrm>
            <a:off x="74980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Accuracy tại ngưỡng cosine 0,363</a:t>
            </a:r>
            <a:endParaRPr lang="en-US" sz="1100" dirty="0"/>
          </a:p>
        </p:txBody>
      </p:sp>
      <p:sp>
        <p:nvSpPr>
          <p:cNvPr id="26" name="Shape 21"/>
          <p:cNvSpPr/>
          <p:nvPr/>
        </p:nvSpPr>
        <p:spPr>
          <a:xfrm>
            <a:off x="4315968" y="5257800"/>
            <a:ext cx="3566160" cy="822960"/>
          </a:xfrm>
          <a:prstGeom prst="roundRect">
            <a:avLst>
              <a:gd name="adj" fmla="val 12222"/>
            </a:avLst>
          </a:prstGeom>
          <a:solidFill>
            <a:srgbClr val="0E2A47"/>
          </a:solidFill>
          <a:ln/>
        </p:spPr>
      </p:sp>
      <p:sp>
        <p:nvSpPr>
          <p:cNvPr id="27" name="Text 22"/>
          <p:cNvSpPr/>
          <p:nvPr/>
        </p:nvSpPr>
        <p:spPr>
          <a:xfrm>
            <a:off x="449884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Offline</a:t>
            </a:r>
            <a:endParaRPr lang="en-US" sz="1800" dirty="0"/>
          </a:p>
        </p:txBody>
      </p:sp>
      <p:sp>
        <p:nvSpPr>
          <p:cNvPr id="28" name="Text 23"/>
          <p:cNvSpPr/>
          <p:nvPr/>
        </p:nvSpPr>
        <p:spPr>
          <a:xfrm>
            <a:off x="449884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YuNet + SFace (ONNX) qua FastAPI cục bộ</a:t>
            </a:r>
            <a:endParaRPr lang="en-US" sz="1100" dirty="0"/>
          </a:p>
        </p:txBody>
      </p:sp>
      <p:sp>
        <p:nvSpPr>
          <p:cNvPr id="29" name="Shape 24"/>
          <p:cNvSpPr/>
          <p:nvPr/>
        </p:nvSpPr>
        <p:spPr>
          <a:xfrm>
            <a:off x="8065008" y="5257800"/>
            <a:ext cx="3566160" cy="822960"/>
          </a:xfrm>
          <a:prstGeom prst="roundRect">
            <a:avLst>
              <a:gd name="adj" fmla="val 12222"/>
            </a:avLst>
          </a:prstGeom>
          <a:solidFill>
            <a:srgbClr val="0E2A47"/>
          </a:solidFill>
          <a:ln/>
        </p:spPr>
      </p:sp>
      <p:sp>
        <p:nvSpPr>
          <p:cNvPr id="30" name="Text 25"/>
          <p:cNvSpPr/>
          <p:nvPr/>
        </p:nvSpPr>
        <p:spPr>
          <a:xfrm>
            <a:off x="824788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Người trực</a:t>
            </a:r>
            <a:endParaRPr lang="en-US" sz="1800" dirty="0"/>
          </a:p>
        </p:txBody>
      </p:sp>
      <p:sp>
        <p:nvSpPr>
          <p:cNvPr id="31" name="Text 26"/>
          <p:cNvSpPr/>
          <p:nvPr/>
        </p:nvSpPr>
        <p:spPr>
          <a:xfrm>
            <a:off x="824788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kết quả dưới ngưỡng phải xác nhận lại</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ĐÁNH GIÁ AI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Dữ liệu, phương pháp và kết quả đánh giá</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34</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394960" cy="1417320"/>
          </a:xfrm>
          <a:prstGeom prst="roundRect">
            <a:avLst>
              <a:gd name="adj" fmla="val 7742"/>
            </a:avLst>
          </a:prstGeom>
          <a:solidFill>
            <a:srgbClr val="F1F5F8"/>
          </a:solidFill>
          <a:ln/>
          <a:effectLst>
            <a:outerShdw blurRad="88900" dist="25400" dir="5400000" algn="bl" rotWithShape="0">
              <a:srgbClr val="B9C7D1">
                <a:alpha val="40000"/>
              </a:srgbClr>
            </a:outerShdw>
          </a:effectLst>
        </p:spPr>
      </p:sp>
      <p:sp>
        <p:nvSpPr>
          <p:cNvPr id="9" name="Shape 7"/>
          <p:cNvSpPr/>
          <p:nvPr/>
        </p:nvSpPr>
        <p:spPr>
          <a:xfrm>
            <a:off x="822960" y="1938528"/>
            <a:ext cx="548640" cy="548640"/>
          </a:xfrm>
          <a:prstGeom prst="roundRect">
            <a:avLst>
              <a:gd name="adj" fmla="val 50000"/>
            </a:avLst>
          </a:prstGeom>
          <a:solidFill>
            <a:srgbClr val="E4572E"/>
          </a:solidFill>
          <a:ln/>
        </p:spPr>
      </p:sp>
      <p:pic>
        <p:nvPicPr>
          <p:cNvPr id="10" name="Image 0" descr="preencoded.png"/>
          <p:cNvPicPr>
            <a:picLocks noChangeAspect="1"/>
          </p:cNvPicPr>
          <p:nvPr/>
        </p:nvPicPr>
        <p:blipFill>
          <a:blip r:embed="rId2"/>
          <a:stretch>
            <a:fillRect/>
          </a:stretch>
        </p:blipFill>
        <p:spPr>
          <a:xfrm>
            <a:off x="954634" y="2070202"/>
            <a:ext cx="285293" cy="285293"/>
          </a:xfrm>
          <a:prstGeom prst="rect">
            <a:avLst/>
          </a:prstGeom>
        </p:spPr>
      </p:pic>
      <p:sp>
        <p:nvSpPr>
          <p:cNvPr id="11" name="Text 8"/>
          <p:cNvSpPr/>
          <p:nvPr/>
        </p:nvSpPr>
        <p:spPr>
          <a:xfrm>
            <a:off x="1508760" y="1965960"/>
            <a:ext cx="3657600" cy="36576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Dữ liệu thử nghiệm</a:t>
            </a:r>
            <a:endParaRPr lang="en-US" sz="1500" dirty="0"/>
          </a:p>
        </p:txBody>
      </p:sp>
      <p:sp>
        <p:nvSpPr>
          <p:cNvPr id="12" name="Text 9"/>
          <p:cNvSpPr/>
          <p:nvPr/>
        </p:nvSpPr>
        <p:spPr>
          <a:xfrm>
            <a:off x="822960" y="2423160"/>
            <a:ext cx="4937760" cy="640080"/>
          </a:xfrm>
          <a:prstGeom prst="rect">
            <a:avLst/>
          </a:prstGeom>
          <a:noFill/>
          <a:ln/>
        </p:spPr>
        <p:txBody>
          <a:bodyPr wrap="square" lIns="0" tIns="0" rIns="0" bIns="0" rtlCol="0" anchor="t"/>
          <a:lstStyle/>
          <a:p>
            <a:pPr marL="0" indent="0">
              <a:buNone/>
            </a:pPr>
            <a:r>
              <a:rPr lang="en-US" sz="1200" dirty="0">
                <a:solidFill>
                  <a:srgbClr val="22303C"/>
                </a:solidFill>
                <a:latin typeface="Calibri" pitchFamily="34" charset="0"/>
                <a:ea typeface="Calibri" pitchFamily="34" charset="-122"/>
                <a:cs typeface="Calibri" pitchFamily="34" charset="-120"/>
              </a:rPr>
              <a:t>≈ 500 lượt nhận diện: ảnh cư dân đã đăng ký (positive) và người lạ (negative), trong nhiều điều kiện ánh sáng và góc chụp khác nhau.</a:t>
            </a:r>
            <a:endParaRPr lang="en-US" sz="1200" dirty="0"/>
          </a:p>
        </p:txBody>
      </p:sp>
      <p:sp>
        <p:nvSpPr>
          <p:cNvPr id="13" name="Shape 10"/>
          <p:cNvSpPr/>
          <p:nvPr/>
        </p:nvSpPr>
        <p:spPr>
          <a:xfrm>
            <a:off x="566928" y="3246120"/>
            <a:ext cx="5394960" cy="1874520"/>
          </a:xfrm>
          <a:prstGeom prst="roundRect">
            <a:avLst>
              <a:gd name="adj" fmla="val 5854"/>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4" name="Shape 11"/>
          <p:cNvSpPr/>
          <p:nvPr/>
        </p:nvSpPr>
        <p:spPr>
          <a:xfrm>
            <a:off x="822960" y="3483864"/>
            <a:ext cx="640080" cy="640080"/>
          </a:xfrm>
          <a:prstGeom prst="roundRect">
            <a:avLst>
              <a:gd name="adj" fmla="val 50000"/>
            </a:avLst>
          </a:prstGeom>
          <a:solidFill>
            <a:srgbClr val="0E7C86"/>
          </a:solidFill>
          <a:ln/>
        </p:spPr>
      </p:sp>
      <p:pic>
        <p:nvPicPr>
          <p:cNvPr id="15" name="Image 1" descr="preencoded.png"/>
          <p:cNvPicPr>
            <a:picLocks noChangeAspect="1"/>
          </p:cNvPicPr>
          <p:nvPr/>
        </p:nvPicPr>
        <p:blipFill>
          <a:blip r:embed="rId3"/>
          <a:stretch>
            <a:fillRect/>
          </a:stretch>
        </p:blipFill>
        <p:spPr>
          <a:xfrm>
            <a:off x="976579" y="3637483"/>
            <a:ext cx="332842" cy="332842"/>
          </a:xfrm>
          <a:prstGeom prst="rect">
            <a:avLst/>
          </a:prstGeom>
        </p:spPr>
      </p:pic>
      <p:sp>
        <p:nvSpPr>
          <p:cNvPr id="16" name="Text 12"/>
          <p:cNvSpPr/>
          <p:nvPr/>
        </p:nvSpPr>
        <p:spPr>
          <a:xfrm>
            <a:off x="1618488"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Độ đo</a:t>
            </a:r>
            <a:endParaRPr lang="en-US" sz="1550" dirty="0"/>
          </a:p>
        </p:txBody>
      </p:sp>
      <p:sp>
        <p:nvSpPr>
          <p:cNvPr id="17" name="Text 13"/>
          <p:cNvSpPr/>
          <p:nvPr/>
        </p:nvSpPr>
        <p:spPr>
          <a:xfrm>
            <a:off x="822960"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Accuracy · Precision · Recall (TPR) · F1-score · FAR (tỉ lệ báo nhầm người lạ thành cư dân); quét ngưỡng cosine 0,30 → 0,45.</a:t>
            </a:r>
            <a:endParaRPr lang="en-US" sz="1200" dirty="0"/>
          </a:p>
        </p:txBody>
      </p:sp>
      <p:sp>
        <p:nvSpPr>
          <p:cNvPr id="18" name="Shape 14"/>
          <p:cNvSpPr/>
          <p:nvPr/>
        </p:nvSpPr>
        <p:spPr>
          <a:xfrm>
            <a:off x="6163056" y="3246120"/>
            <a:ext cx="5394960" cy="1874520"/>
          </a:xfrm>
          <a:prstGeom prst="roundRect">
            <a:avLst>
              <a:gd name="adj" fmla="val 5854"/>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9" name="Shape 15"/>
          <p:cNvSpPr/>
          <p:nvPr/>
        </p:nvSpPr>
        <p:spPr>
          <a:xfrm>
            <a:off x="6419088" y="3483864"/>
            <a:ext cx="640080" cy="640080"/>
          </a:xfrm>
          <a:prstGeom prst="roundRect">
            <a:avLst>
              <a:gd name="adj" fmla="val 50000"/>
            </a:avLst>
          </a:prstGeom>
          <a:solidFill>
            <a:srgbClr val="23B5A6"/>
          </a:solidFill>
          <a:ln/>
        </p:spPr>
      </p:sp>
      <p:pic>
        <p:nvPicPr>
          <p:cNvPr id="20" name="Image 2" descr="preencoded.png"/>
          <p:cNvPicPr>
            <a:picLocks noChangeAspect="1"/>
          </p:cNvPicPr>
          <p:nvPr/>
        </p:nvPicPr>
        <p:blipFill>
          <a:blip r:embed="rId4"/>
          <a:stretch>
            <a:fillRect/>
          </a:stretch>
        </p:blipFill>
        <p:spPr>
          <a:xfrm>
            <a:off x="6572707" y="3637483"/>
            <a:ext cx="332842" cy="332842"/>
          </a:xfrm>
          <a:prstGeom prst="rect">
            <a:avLst/>
          </a:prstGeom>
        </p:spPr>
      </p:pic>
      <p:sp>
        <p:nvSpPr>
          <p:cNvPr id="21" name="Text 16"/>
          <p:cNvSpPr/>
          <p:nvPr/>
        </p:nvSpPr>
        <p:spPr>
          <a:xfrm>
            <a:off x="7214616"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Chọn ngưỡng</a:t>
            </a:r>
            <a:endParaRPr lang="en-US" sz="1550" dirty="0"/>
          </a:p>
        </p:txBody>
      </p:sp>
      <p:sp>
        <p:nvSpPr>
          <p:cNvPr id="22" name="Text 17"/>
          <p:cNvSpPr/>
          <p:nvPr/>
        </p:nvSpPr>
        <p:spPr>
          <a:xfrm>
            <a:off x="6419088"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Tăng ngưỡng: Precision tăng, Recall giảm (đánh đổi bỏ sót ↔ báo nhầm); chọn 0,363 làm điểm cân bằng cho bài toán an ninh.</a:t>
            </a:r>
            <a:endParaRPr lang="en-US" sz="1200" dirty="0"/>
          </a:p>
        </p:txBody>
      </p:sp>
      <p:sp>
        <p:nvSpPr>
          <p:cNvPr id="23" name="Shape 18"/>
          <p:cNvSpPr/>
          <p:nvPr/>
        </p:nvSpPr>
        <p:spPr>
          <a:xfrm>
            <a:off x="566928" y="5257800"/>
            <a:ext cx="3566160" cy="822960"/>
          </a:xfrm>
          <a:prstGeom prst="roundRect">
            <a:avLst>
              <a:gd name="adj" fmla="val 12222"/>
            </a:avLst>
          </a:prstGeom>
          <a:solidFill>
            <a:srgbClr val="0E2A47"/>
          </a:solidFill>
          <a:ln/>
        </p:spPr>
      </p:sp>
      <p:sp>
        <p:nvSpPr>
          <p:cNvPr id="24" name="Text 19"/>
          <p:cNvSpPr/>
          <p:nvPr/>
        </p:nvSpPr>
        <p:spPr>
          <a:xfrm>
            <a:off x="74980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0,948</a:t>
            </a:r>
            <a:endParaRPr lang="en-US" sz="1800" dirty="0"/>
          </a:p>
        </p:txBody>
      </p:sp>
      <p:sp>
        <p:nvSpPr>
          <p:cNvPr id="25" name="Text 20"/>
          <p:cNvSpPr/>
          <p:nvPr/>
        </p:nvSpPr>
        <p:spPr>
          <a:xfrm>
            <a:off x="74980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Accuracy @ ngưỡng 0,363</a:t>
            </a:r>
            <a:endParaRPr lang="en-US" sz="1100" dirty="0"/>
          </a:p>
        </p:txBody>
      </p:sp>
      <p:sp>
        <p:nvSpPr>
          <p:cNvPr id="26" name="Shape 21"/>
          <p:cNvSpPr/>
          <p:nvPr/>
        </p:nvSpPr>
        <p:spPr>
          <a:xfrm>
            <a:off x="4315968" y="5257800"/>
            <a:ext cx="3566160" cy="822960"/>
          </a:xfrm>
          <a:prstGeom prst="roundRect">
            <a:avLst>
              <a:gd name="adj" fmla="val 12222"/>
            </a:avLst>
          </a:prstGeom>
          <a:solidFill>
            <a:srgbClr val="0E2A47"/>
          </a:solidFill>
          <a:ln/>
        </p:spPr>
      </p:sp>
      <p:sp>
        <p:nvSpPr>
          <p:cNvPr id="27" name="Text 22"/>
          <p:cNvSpPr/>
          <p:nvPr/>
        </p:nvSpPr>
        <p:spPr>
          <a:xfrm>
            <a:off x="449884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Realtime</a:t>
            </a:r>
            <a:endParaRPr lang="en-US" sz="1800" dirty="0"/>
          </a:p>
        </p:txBody>
      </p:sp>
      <p:sp>
        <p:nvSpPr>
          <p:cNvPr id="28" name="Text 23"/>
          <p:cNvSpPr/>
          <p:nvPr/>
        </p:nvSpPr>
        <p:spPr>
          <a:xfrm>
            <a:off x="449884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xử lý khung hình gần thời gian thực</a:t>
            </a:r>
            <a:endParaRPr lang="en-US" sz="1100" dirty="0"/>
          </a:p>
        </p:txBody>
      </p:sp>
      <p:sp>
        <p:nvSpPr>
          <p:cNvPr id="29" name="Shape 24"/>
          <p:cNvSpPr/>
          <p:nvPr/>
        </p:nvSpPr>
        <p:spPr>
          <a:xfrm>
            <a:off x="8065008" y="5257800"/>
            <a:ext cx="3566160" cy="822960"/>
          </a:xfrm>
          <a:prstGeom prst="roundRect">
            <a:avLst>
              <a:gd name="adj" fmla="val 12222"/>
            </a:avLst>
          </a:prstGeom>
          <a:solidFill>
            <a:srgbClr val="0E2A47"/>
          </a:solidFill>
          <a:ln/>
        </p:spPr>
      </p:sp>
      <p:sp>
        <p:nvSpPr>
          <p:cNvPr id="30" name="Text 25"/>
          <p:cNvSpPr/>
          <p:nvPr/>
        </p:nvSpPr>
        <p:spPr>
          <a:xfrm>
            <a:off x="824788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Người trực</a:t>
            </a:r>
            <a:endParaRPr lang="en-US" sz="1800" dirty="0"/>
          </a:p>
        </p:txBody>
      </p:sp>
      <p:sp>
        <p:nvSpPr>
          <p:cNvPr id="31" name="Text 26"/>
          <p:cNvSpPr/>
          <p:nvPr/>
        </p:nvSpPr>
        <p:spPr>
          <a:xfrm>
            <a:off x="824788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kết quả dưới ngưỡng phải xác nhận</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DÂN CƯ · NHẬN XÉT</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Hạn chế, hướng cải tiến và liên thông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35</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LIÊN THÔNG &amp; QUYỀN RIÊNG TƯ</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Cư dân/căn hộ là nguồn định danh cho Tài sản · Sự cố · Dịch vụ  ·  dữ liệu sinh trắc được phân quyền tối thiểu và lưu vết qua Audit Log</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2"/>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Hạn chế</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Độ chính xác giảm khi ánh sáng yếu, che mặt, góc nghiêng lớn</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3"/>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Chưa có liveness</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Chưa chống giả mạo bằng ảnh in / màn hình</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4"/>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Hướng cải tiến</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Ảnh đăng ký đa góc; thêm liveness; cân nhắc ArcFace</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Dữ liệu khuôn mặt  </a:t>
            </a:r>
            <a:r>
              <a:rPr lang="en-US" sz="1250" b="1" dirty="0">
                <a:solidFill>
                  <a:srgbClr val="0E7C86"/>
                </a:solidFill>
                <a:latin typeface="Calibri" pitchFamily="34" charset="0"/>
                <a:ea typeface="Calibri" pitchFamily="34" charset="-122"/>
                <a:cs typeface="Calibri" pitchFamily="34" charset="-120"/>
              </a:rPr>
              <a:t>bảo vệ &amp; phân quyền tối thiểu</a:t>
            </a:r>
            <a:r>
              <a:rPr lang="en-US" sz="1250" b="1" dirty="0">
                <a:solidFill>
                  <a:srgbClr val="0E2A47"/>
                </a:solidFill>
                <a:latin typeface="Calibri" pitchFamily="34" charset="0"/>
                <a:ea typeface="Calibri" pitchFamily="34" charset="-122"/>
                <a:cs typeface="Calibri" pitchFamily="34" charset="-120"/>
              </a:rPr>
              <a:t>   ~   Cảnh báo  </a:t>
            </a:r>
            <a:r>
              <a:rPr lang="en-US" sz="1250" b="1" dirty="0">
                <a:solidFill>
                  <a:srgbClr val="0E7C86"/>
                </a:solidFill>
                <a:latin typeface="Calibri" pitchFamily="34" charset="0"/>
                <a:ea typeface="Calibri" pitchFamily="34" charset="-122"/>
                <a:cs typeface="Calibri" pitchFamily="34" charset="-120"/>
              </a:rPr>
              <a:t>gửi qua engine Thông báo (Base)</a:t>
            </a:r>
            <a:r>
              <a:rPr lang="en-US" sz="1250" dirty="0">
                <a:solidFill>
                  <a:srgbClr val="22303C"/>
                </a:solidFill>
                <a:latin typeface="Calibri" pitchFamily="34" charset="0"/>
                <a:ea typeface="Calibri" pitchFamily="34" charset="-122"/>
                <a:cs typeface="Calibri" pitchFamily="34" charset="-120"/>
              </a:rPr>
              <a:t>   ·   sự kiện ra/vào ghi access_events; người lạ phát cảnh báo tới NV an ninh.</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8961120" y="-2194560"/>
            <a:ext cx="5486400" cy="5486400"/>
          </a:xfrm>
          <a:prstGeom prst="roundRect">
            <a:avLst>
              <a:gd name="adj" fmla="val 50000"/>
            </a:avLst>
          </a:prstGeom>
          <a:solidFill>
            <a:srgbClr val="16385C"/>
          </a:solidFill>
          <a:ln/>
        </p:spPr>
      </p:sp>
      <p:sp>
        <p:nvSpPr>
          <p:cNvPr id="3" name="Shape 1"/>
          <p:cNvSpPr/>
          <p:nvPr/>
        </p:nvSpPr>
        <p:spPr>
          <a:xfrm>
            <a:off x="-1645920" y="4206240"/>
            <a:ext cx="4206240" cy="4206240"/>
          </a:xfrm>
          <a:prstGeom prst="roundRect">
            <a:avLst>
              <a:gd name="adj" fmla="val 50000"/>
            </a:avLst>
          </a:prstGeom>
          <a:solidFill>
            <a:srgbClr val="16385C"/>
          </a:solidFill>
          <a:ln/>
        </p:spPr>
      </p:sp>
      <p:sp>
        <p:nvSpPr>
          <p:cNvPr id="4" name="Text 2"/>
          <p:cNvSpPr/>
          <p:nvPr/>
        </p:nvSpPr>
        <p:spPr>
          <a:xfrm>
            <a:off x="822960" y="1234440"/>
            <a:ext cx="9144000" cy="365760"/>
          </a:xfrm>
          <a:prstGeom prst="rect">
            <a:avLst/>
          </a:prstGeom>
          <a:noFill/>
          <a:ln/>
        </p:spPr>
        <p:txBody>
          <a:bodyPr wrap="square" lIns="0" tIns="0" rIns="0" bIns="0" rtlCol="0" anchor="ctr"/>
          <a:lstStyle/>
          <a:p>
            <a:pPr marL="0" indent="0">
              <a:buNone/>
            </a:pPr>
            <a:r>
              <a:rPr lang="en-US" sz="1400" b="1" kern="0" spc="300" dirty="0">
                <a:solidFill>
                  <a:srgbClr val="23B5A6"/>
                </a:solidFill>
                <a:latin typeface="Calibri" pitchFamily="34" charset="0"/>
                <a:ea typeface="Calibri" pitchFamily="34" charset="-122"/>
                <a:cs typeface="Calibri" pitchFamily="34" charset="-120"/>
              </a:rPr>
              <a:t>PHÂN HỆ NHÓM · THÀNH VIÊN KHÁC</a:t>
            </a:r>
            <a:endParaRPr lang="en-US" sz="1400" dirty="0"/>
          </a:p>
        </p:txBody>
      </p:sp>
      <p:sp>
        <p:nvSpPr>
          <p:cNvPr id="5" name="Text 3"/>
          <p:cNvSpPr/>
          <p:nvPr/>
        </p:nvSpPr>
        <p:spPr>
          <a:xfrm>
            <a:off x="777240" y="1691640"/>
            <a:ext cx="1051560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Phân hệ Quản lý dịch vụ</a:t>
            </a:r>
            <a:endParaRPr lang="en-US" sz="4600" dirty="0"/>
          </a:p>
        </p:txBody>
      </p:sp>
      <p:sp>
        <p:nvSpPr>
          <p:cNvPr id="6" name="Text 4"/>
          <p:cNvSpPr/>
          <p:nvPr/>
        </p:nvSpPr>
        <p:spPr>
          <a:xfrm>
            <a:off x="822960" y="2697480"/>
            <a:ext cx="10058400" cy="365760"/>
          </a:xfrm>
          <a:prstGeom prst="rect">
            <a:avLst/>
          </a:prstGeom>
          <a:noFill/>
          <a:ln/>
        </p:spPr>
        <p:txBody>
          <a:bodyPr wrap="square" lIns="0" tIns="0" rIns="0" bIns="0" rtlCol="0" anchor="ctr"/>
          <a:lstStyle/>
          <a:p>
            <a:pPr marL="0" indent="0">
              <a:buNone/>
            </a:pPr>
            <a:r>
              <a:rPr lang="en-US" sz="1500" i="1" dirty="0">
                <a:solidFill>
                  <a:srgbClr val="BFD6DF"/>
                </a:solidFill>
                <a:latin typeface="Calibri" pitchFamily="34" charset="0"/>
                <a:ea typeface="Calibri" pitchFamily="34" charset="-122"/>
                <a:cs typeface="Calibri" pitchFamily="34" charset="-120"/>
              </a:rPr>
              <a:t>Thành viên phụ trách — Nguyễn Xuân Khải · nằm trong module Base, kế thừa nền tảng dùng chung</a:t>
            </a:r>
            <a:endParaRPr lang="en-US" sz="1500" dirty="0"/>
          </a:p>
        </p:txBody>
      </p:sp>
      <p:sp>
        <p:nvSpPr>
          <p:cNvPr id="7" name="Shape 5"/>
          <p:cNvSpPr/>
          <p:nvPr/>
        </p:nvSpPr>
        <p:spPr>
          <a:xfrm>
            <a:off x="566928" y="3611880"/>
            <a:ext cx="3566160" cy="2331720"/>
          </a:xfrm>
          <a:prstGeom prst="roundRect">
            <a:avLst>
              <a:gd name="adj" fmla="val 4706"/>
            </a:avLst>
          </a:prstGeom>
          <a:solidFill>
            <a:srgbClr val="16385C"/>
          </a:solidFill>
          <a:ln/>
        </p:spPr>
      </p:sp>
      <p:sp>
        <p:nvSpPr>
          <p:cNvPr id="8" name="Shape 6"/>
          <p:cNvSpPr/>
          <p:nvPr/>
        </p:nvSpPr>
        <p:spPr>
          <a:xfrm>
            <a:off x="841248" y="3886200"/>
            <a:ext cx="777240" cy="777240"/>
          </a:xfrm>
          <a:prstGeom prst="roundRect">
            <a:avLst>
              <a:gd name="adj" fmla="val 50000"/>
            </a:avLst>
          </a:prstGeom>
          <a:solidFill>
            <a:srgbClr val="0E7C86"/>
          </a:solidFill>
          <a:ln/>
        </p:spPr>
      </p:sp>
      <p:pic>
        <p:nvPicPr>
          <p:cNvPr id="9" name="Image 0" descr="preencoded.png"/>
          <p:cNvPicPr>
            <a:picLocks noChangeAspect="1"/>
          </p:cNvPicPr>
          <p:nvPr/>
        </p:nvPicPr>
        <p:blipFill>
          <a:blip r:embed="rId2"/>
          <a:stretch>
            <a:fillRect/>
          </a:stretch>
        </p:blipFill>
        <p:spPr>
          <a:xfrm>
            <a:off x="1027786" y="4072738"/>
            <a:ext cx="404165" cy="404165"/>
          </a:xfrm>
          <a:prstGeom prst="rect">
            <a:avLst/>
          </a:prstGeom>
        </p:spPr>
      </p:pic>
      <p:sp>
        <p:nvSpPr>
          <p:cNvPr id="10" name="Text 7"/>
          <p:cNvSpPr/>
          <p:nvPr/>
        </p:nvSpPr>
        <p:spPr>
          <a:xfrm>
            <a:off x="175564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1</a:t>
            </a:r>
            <a:endParaRPr lang="en-US" sz="1100" dirty="0"/>
          </a:p>
        </p:txBody>
      </p:sp>
      <p:sp>
        <p:nvSpPr>
          <p:cNvPr id="11" name="Text 8"/>
          <p:cNvSpPr/>
          <p:nvPr/>
        </p:nvSpPr>
        <p:spPr>
          <a:xfrm>
            <a:off x="175564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Dịch vụ tiện ích &amp; bảng giá</a:t>
            </a:r>
            <a:endParaRPr lang="en-US" sz="1550" dirty="0"/>
          </a:p>
        </p:txBody>
      </p:sp>
      <p:sp>
        <p:nvSpPr>
          <p:cNvPr id="12" name="Text 9"/>
          <p:cNvSpPr/>
          <p:nvPr/>
        </p:nvSpPr>
        <p:spPr>
          <a:xfrm>
            <a:off x="84124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Danh mục dịch vụ · giờ mở cửa, vị trí, đánh giá · thực đơn/bảng giá</a:t>
            </a:r>
            <a:endParaRPr lang="en-US" sz="1200" dirty="0"/>
          </a:p>
        </p:txBody>
      </p:sp>
      <p:sp>
        <p:nvSpPr>
          <p:cNvPr id="13" name="Shape 10"/>
          <p:cNvSpPr/>
          <p:nvPr/>
        </p:nvSpPr>
        <p:spPr>
          <a:xfrm>
            <a:off x="4315968" y="3611880"/>
            <a:ext cx="3566160" cy="2331720"/>
          </a:xfrm>
          <a:prstGeom prst="roundRect">
            <a:avLst>
              <a:gd name="adj" fmla="val 4706"/>
            </a:avLst>
          </a:prstGeom>
          <a:solidFill>
            <a:srgbClr val="16385C"/>
          </a:solidFill>
          <a:ln/>
        </p:spPr>
      </p:sp>
      <p:sp>
        <p:nvSpPr>
          <p:cNvPr id="14" name="Shape 11"/>
          <p:cNvSpPr/>
          <p:nvPr/>
        </p:nvSpPr>
        <p:spPr>
          <a:xfrm>
            <a:off x="4590288" y="3886200"/>
            <a:ext cx="777240" cy="777240"/>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4776826" y="4072738"/>
            <a:ext cx="404165" cy="404165"/>
          </a:xfrm>
          <a:prstGeom prst="rect">
            <a:avLst/>
          </a:prstGeom>
        </p:spPr>
      </p:pic>
      <p:sp>
        <p:nvSpPr>
          <p:cNvPr id="16" name="Text 12"/>
          <p:cNvSpPr/>
          <p:nvPr/>
        </p:nvSpPr>
        <p:spPr>
          <a:xfrm>
            <a:off x="550468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2</a:t>
            </a:r>
            <a:endParaRPr lang="en-US" sz="1100" dirty="0"/>
          </a:p>
        </p:txBody>
      </p:sp>
      <p:sp>
        <p:nvSpPr>
          <p:cNvPr id="17" name="Text 13"/>
          <p:cNvSpPr/>
          <p:nvPr/>
        </p:nvSpPr>
        <p:spPr>
          <a:xfrm>
            <a:off x="550468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Nhà cung cấp (marketplace)</a:t>
            </a:r>
            <a:endParaRPr lang="en-US" sz="1550" dirty="0"/>
          </a:p>
        </p:txBody>
      </p:sp>
      <p:sp>
        <p:nvSpPr>
          <p:cNvPr id="18" name="Text 14"/>
          <p:cNvSpPr/>
          <p:nvPr/>
        </p:nvSpPr>
        <p:spPr>
          <a:xfrm>
            <a:off x="459028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Đăng ký (kể cả cư dân) · BQL duyệt/từ chối · hạng mục dịch vụ (listing)</a:t>
            </a:r>
            <a:endParaRPr lang="en-US" sz="1200" dirty="0"/>
          </a:p>
        </p:txBody>
      </p:sp>
      <p:sp>
        <p:nvSpPr>
          <p:cNvPr id="19" name="Shape 15"/>
          <p:cNvSpPr/>
          <p:nvPr/>
        </p:nvSpPr>
        <p:spPr>
          <a:xfrm>
            <a:off x="8065008" y="3611880"/>
            <a:ext cx="3566160" cy="2331720"/>
          </a:xfrm>
          <a:prstGeom prst="roundRect">
            <a:avLst>
              <a:gd name="adj" fmla="val 4706"/>
            </a:avLst>
          </a:prstGeom>
          <a:solidFill>
            <a:srgbClr val="16385C"/>
          </a:solidFill>
          <a:ln/>
        </p:spPr>
      </p:sp>
      <p:sp>
        <p:nvSpPr>
          <p:cNvPr id="20" name="Shape 16"/>
          <p:cNvSpPr/>
          <p:nvPr/>
        </p:nvSpPr>
        <p:spPr>
          <a:xfrm>
            <a:off x="8339328" y="3886200"/>
            <a:ext cx="777240" cy="777240"/>
          </a:xfrm>
          <a:prstGeom prst="roundRect">
            <a:avLst>
              <a:gd name="adj" fmla="val 50000"/>
            </a:avLst>
          </a:prstGeom>
          <a:solidFill>
            <a:srgbClr val="EFA13C"/>
          </a:solidFill>
          <a:ln/>
        </p:spPr>
      </p:sp>
      <p:pic>
        <p:nvPicPr>
          <p:cNvPr id="21" name="Image 2" descr="preencoded.png"/>
          <p:cNvPicPr>
            <a:picLocks noChangeAspect="1"/>
          </p:cNvPicPr>
          <p:nvPr/>
        </p:nvPicPr>
        <p:blipFill>
          <a:blip r:embed="rId4"/>
          <a:stretch>
            <a:fillRect/>
          </a:stretch>
        </p:blipFill>
        <p:spPr>
          <a:xfrm>
            <a:off x="8525866" y="4072738"/>
            <a:ext cx="404165" cy="404165"/>
          </a:xfrm>
          <a:prstGeom prst="rect">
            <a:avLst/>
          </a:prstGeom>
        </p:spPr>
      </p:pic>
      <p:sp>
        <p:nvSpPr>
          <p:cNvPr id="22" name="Text 17"/>
          <p:cNvSpPr/>
          <p:nvPr/>
        </p:nvSpPr>
        <p:spPr>
          <a:xfrm>
            <a:off x="9253728" y="3922776"/>
            <a:ext cx="2194560" cy="274320"/>
          </a:xfrm>
          <a:prstGeom prst="rect">
            <a:avLst/>
          </a:prstGeom>
          <a:noFill/>
          <a:ln/>
        </p:spPr>
        <p:txBody>
          <a:bodyPr wrap="square" lIns="0" tIns="0" rIns="0" bIns="0" rtlCol="0" anchor="ctr"/>
          <a:lstStyle/>
          <a:p>
            <a:pPr marL="0" indent="0">
              <a:buNone/>
            </a:pPr>
            <a:r>
              <a:rPr lang="en-US" sz="1100" b="1" kern="0" spc="100" dirty="0">
                <a:solidFill>
                  <a:srgbClr val="23B5A6"/>
                </a:solidFill>
                <a:latin typeface="Calibri" pitchFamily="34" charset="0"/>
                <a:ea typeface="Calibri" pitchFamily="34" charset="-122"/>
                <a:cs typeface="Calibri" pitchFamily="34" charset="-120"/>
              </a:rPr>
              <a:t>Nhóm 3</a:t>
            </a:r>
            <a:endParaRPr lang="en-US" sz="1100" dirty="0"/>
          </a:p>
        </p:txBody>
      </p:sp>
      <p:sp>
        <p:nvSpPr>
          <p:cNvPr id="23" name="Text 18"/>
          <p:cNvSpPr/>
          <p:nvPr/>
        </p:nvSpPr>
        <p:spPr>
          <a:xfrm>
            <a:off x="9253728" y="4178808"/>
            <a:ext cx="2194560" cy="502920"/>
          </a:xfrm>
          <a:prstGeom prst="rect">
            <a:avLst/>
          </a:prstGeom>
          <a:noFill/>
          <a:ln/>
        </p:spPr>
        <p:txBody>
          <a:bodyPr wrap="square" lIns="0" tIns="0" rIns="0" bIns="0" rtlCol="0" anchor="t"/>
          <a:lstStyle/>
          <a:p>
            <a:pPr marL="0" indent="0">
              <a:buNone/>
            </a:pPr>
            <a:r>
              <a:rPr lang="en-US" sz="1550" b="1" dirty="0">
                <a:solidFill>
                  <a:srgbClr val="FFFFFF"/>
                </a:solidFill>
                <a:latin typeface="Cambria" pitchFamily="34" charset="0"/>
                <a:ea typeface="Cambria" pitchFamily="34" charset="-122"/>
                <a:cs typeface="Cambria" pitchFamily="34" charset="-120"/>
              </a:rPr>
              <a:t>Yêu cầu dịch vụ</a:t>
            </a:r>
            <a:endParaRPr lang="en-US" sz="1550" dirty="0"/>
          </a:p>
        </p:txBody>
      </p:sp>
      <p:sp>
        <p:nvSpPr>
          <p:cNvPr id="24" name="Text 19"/>
          <p:cNvSpPr/>
          <p:nvPr/>
        </p:nvSpPr>
        <p:spPr>
          <a:xfrm>
            <a:off x="8339328" y="4892040"/>
            <a:ext cx="3063240" cy="914400"/>
          </a:xfrm>
          <a:prstGeom prst="rect">
            <a:avLst/>
          </a:prstGeom>
          <a:noFill/>
          <a:ln/>
        </p:spPr>
        <p:txBody>
          <a:bodyPr wrap="square" lIns="0" tIns="0" rIns="0" bIns="0" rtlCol="0" anchor="t"/>
          <a:lstStyle/>
          <a:p>
            <a:pPr marL="0" indent="0">
              <a:lnSpc>
                <a:spcPct val="105000"/>
              </a:lnSpc>
              <a:buNone/>
            </a:pPr>
            <a:r>
              <a:rPr lang="en-US" sz="1200" dirty="0">
                <a:solidFill>
                  <a:srgbClr val="BFD6DF"/>
                </a:solidFill>
                <a:latin typeface="Calibri" pitchFamily="34" charset="0"/>
                <a:ea typeface="Calibri" pitchFamily="34" charset="-122"/>
                <a:cs typeface="Calibri" pitchFamily="34" charset="-120"/>
              </a:rPr>
              <a:t>Máy trạng thái nhiều bước · BQL duyệt · NCC tiếp nhận · đánh giá</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TỔNG QUAN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Kết nối cư dân với dịch vụ tiện ích khu đô thị</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37</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47672"/>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2"/>
          <a:stretch>
            <a:fillRect/>
          </a:stretch>
        </p:blipFill>
        <p:spPr>
          <a:xfrm>
            <a:off x="980968" y="2105680"/>
            <a:ext cx="342351" cy="342351"/>
          </a:xfrm>
          <a:prstGeom prst="rect">
            <a:avLst/>
          </a:prstGeom>
        </p:spPr>
      </p:pic>
      <p:sp>
        <p:nvSpPr>
          <p:cNvPr id="11" name="Text 8"/>
          <p:cNvSpPr/>
          <p:nvPr/>
        </p:nvSpPr>
        <p:spPr>
          <a:xfrm>
            <a:off x="164592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Dịch vụ tiện ích</a:t>
            </a:r>
            <a:endParaRPr lang="en-US" sz="1800" dirty="0"/>
          </a:p>
        </p:txBody>
      </p:sp>
      <p:sp>
        <p:nvSpPr>
          <p:cNvPr id="12" name="Text 9"/>
          <p:cNvSpPr/>
          <p:nvPr/>
        </p:nvSpPr>
        <p:spPr>
          <a:xfrm>
            <a:off x="84124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Danh mục dịch vụ</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Giờ mở cửa, vị trí, đánh giá</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Trạng thái hoạt động</a:t>
            </a:r>
            <a:endParaRPr lang="en-US" sz="1200" dirty="0"/>
          </a:p>
        </p:txBody>
      </p:sp>
      <p:sp>
        <p:nvSpPr>
          <p:cNvPr id="13" name="Shape 10"/>
          <p:cNvSpPr/>
          <p:nvPr/>
        </p:nvSpPr>
        <p:spPr>
          <a:xfrm>
            <a:off x="431596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4572000" y="1947672"/>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3"/>
          <a:stretch>
            <a:fillRect/>
          </a:stretch>
        </p:blipFill>
        <p:spPr>
          <a:xfrm>
            <a:off x="4730008" y="2105680"/>
            <a:ext cx="342351" cy="342351"/>
          </a:xfrm>
          <a:prstGeom prst="rect">
            <a:avLst/>
          </a:prstGeom>
        </p:spPr>
      </p:pic>
      <p:sp>
        <p:nvSpPr>
          <p:cNvPr id="16" name="Text 12"/>
          <p:cNvSpPr/>
          <p:nvPr/>
        </p:nvSpPr>
        <p:spPr>
          <a:xfrm>
            <a:off x="539496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Thực đơn &amp; bảng giá</a:t>
            </a:r>
            <a:endParaRPr lang="en-US" sz="1800" dirty="0"/>
          </a:p>
        </p:txBody>
      </p:sp>
      <p:sp>
        <p:nvSpPr>
          <p:cNvPr id="17" name="Text 13"/>
          <p:cNvSpPr/>
          <p:nvPr/>
        </p:nvSpPr>
        <p:spPr>
          <a:xfrm>
            <a:off x="459028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Món / hạng mục, giá</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Đơn vị tính</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Còn phục vụ (isAvailable)</a:t>
            </a:r>
            <a:endParaRPr lang="en-US" sz="1200" dirty="0"/>
          </a:p>
        </p:txBody>
      </p:sp>
      <p:sp>
        <p:nvSpPr>
          <p:cNvPr id="18" name="Shape 14"/>
          <p:cNvSpPr/>
          <p:nvPr/>
        </p:nvSpPr>
        <p:spPr>
          <a:xfrm>
            <a:off x="8065008" y="169164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321040" y="1947672"/>
            <a:ext cx="658368" cy="65836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4"/>
          <a:stretch>
            <a:fillRect/>
          </a:stretch>
        </p:blipFill>
        <p:spPr>
          <a:xfrm>
            <a:off x="8479048" y="2105680"/>
            <a:ext cx="342351" cy="342351"/>
          </a:xfrm>
          <a:prstGeom prst="rect">
            <a:avLst/>
          </a:prstGeom>
        </p:spPr>
      </p:pic>
      <p:sp>
        <p:nvSpPr>
          <p:cNvPr id="21" name="Text 16"/>
          <p:cNvSpPr/>
          <p:nvPr/>
        </p:nvSpPr>
        <p:spPr>
          <a:xfrm>
            <a:off x="9144000" y="207568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Nhà cung cấp</a:t>
            </a:r>
            <a:endParaRPr lang="en-US" sz="1800" dirty="0"/>
          </a:p>
        </p:txBody>
      </p:sp>
      <p:sp>
        <p:nvSpPr>
          <p:cNvPr id="22" name="Text 17"/>
          <p:cNvSpPr/>
          <p:nvPr/>
        </p:nvSpPr>
        <p:spPr>
          <a:xfrm>
            <a:off x="8339328" y="277063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Hồ sơ NCC (marketplace)</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Cư dân tự đăng ký</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BQL duyệt / từ chối</a:t>
            </a:r>
            <a:endParaRPr lang="en-US" sz="1200" dirty="0"/>
          </a:p>
        </p:txBody>
      </p:sp>
      <p:sp>
        <p:nvSpPr>
          <p:cNvPr id="23" name="Shape 18"/>
          <p:cNvSpPr/>
          <p:nvPr/>
        </p:nvSpPr>
        <p:spPr>
          <a:xfrm>
            <a:off x="56692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822960" y="4050792"/>
            <a:ext cx="658368" cy="658368"/>
          </a:xfrm>
          <a:prstGeom prst="roundRect">
            <a:avLst>
              <a:gd name="adj" fmla="val 50000"/>
            </a:avLst>
          </a:prstGeom>
          <a:solidFill>
            <a:srgbClr val="16385C"/>
          </a:solidFill>
          <a:ln/>
        </p:spPr>
      </p:sp>
      <p:pic>
        <p:nvPicPr>
          <p:cNvPr id="25" name="Image 3" descr="preencoded.png"/>
          <p:cNvPicPr>
            <a:picLocks noChangeAspect="1"/>
          </p:cNvPicPr>
          <p:nvPr/>
        </p:nvPicPr>
        <p:blipFill>
          <a:blip r:embed="rId5"/>
          <a:stretch>
            <a:fillRect/>
          </a:stretch>
        </p:blipFill>
        <p:spPr>
          <a:xfrm>
            <a:off x="980968" y="4208800"/>
            <a:ext cx="342351" cy="342351"/>
          </a:xfrm>
          <a:prstGeom prst="rect">
            <a:avLst/>
          </a:prstGeom>
        </p:spPr>
      </p:pic>
      <p:sp>
        <p:nvSpPr>
          <p:cNvPr id="26" name="Text 20"/>
          <p:cNvSpPr/>
          <p:nvPr/>
        </p:nvSpPr>
        <p:spPr>
          <a:xfrm>
            <a:off x="164592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Yêu cầu dịch vụ</a:t>
            </a:r>
            <a:endParaRPr lang="en-US" sz="1800" dirty="0"/>
          </a:p>
        </p:txBody>
      </p:sp>
      <p:sp>
        <p:nvSpPr>
          <p:cNvPr id="27" name="Text 21"/>
          <p:cNvSpPr/>
          <p:nvPr/>
        </p:nvSpPr>
        <p:spPr>
          <a:xfrm>
            <a:off x="84124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Máy trạng thái nhiều bước</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BQL duyệt · NCC nhận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Đánh giá sau hoàn thành</a:t>
            </a:r>
            <a:endParaRPr lang="en-US" sz="1200" dirty="0"/>
          </a:p>
        </p:txBody>
      </p:sp>
      <p:sp>
        <p:nvSpPr>
          <p:cNvPr id="28" name="Shape 22"/>
          <p:cNvSpPr/>
          <p:nvPr/>
        </p:nvSpPr>
        <p:spPr>
          <a:xfrm>
            <a:off x="431596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9" name="Shape 23"/>
          <p:cNvSpPr/>
          <p:nvPr/>
        </p:nvSpPr>
        <p:spPr>
          <a:xfrm>
            <a:off x="4572000" y="4050792"/>
            <a:ext cx="658368" cy="658368"/>
          </a:xfrm>
          <a:prstGeom prst="roundRect">
            <a:avLst>
              <a:gd name="adj" fmla="val 50000"/>
            </a:avLst>
          </a:prstGeom>
          <a:solidFill>
            <a:srgbClr val="EFA13C"/>
          </a:solidFill>
          <a:ln/>
        </p:spPr>
      </p:sp>
      <p:pic>
        <p:nvPicPr>
          <p:cNvPr id="30" name="Image 4" descr="preencoded.png"/>
          <p:cNvPicPr>
            <a:picLocks noChangeAspect="1"/>
          </p:cNvPicPr>
          <p:nvPr/>
        </p:nvPicPr>
        <p:blipFill>
          <a:blip r:embed="rId6"/>
          <a:stretch>
            <a:fillRect/>
          </a:stretch>
        </p:blipFill>
        <p:spPr>
          <a:xfrm>
            <a:off x="4730008" y="4208800"/>
            <a:ext cx="342351" cy="342351"/>
          </a:xfrm>
          <a:prstGeom prst="rect">
            <a:avLst/>
          </a:prstGeom>
        </p:spPr>
      </p:pic>
      <p:sp>
        <p:nvSpPr>
          <p:cNvPr id="31" name="Text 24"/>
          <p:cNvSpPr/>
          <p:nvPr/>
        </p:nvSpPr>
        <p:spPr>
          <a:xfrm>
            <a:off x="539496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Tác nhân</a:t>
            </a:r>
            <a:endParaRPr lang="en-US" sz="1800" dirty="0"/>
          </a:p>
        </p:txBody>
      </p:sp>
      <p:sp>
        <p:nvSpPr>
          <p:cNvPr id="32" name="Text 25"/>
          <p:cNvSpPr/>
          <p:nvPr/>
        </p:nvSpPr>
        <p:spPr>
          <a:xfrm>
            <a:off x="459028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Admin / BQL</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Cư dân</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Nhà cung cấp</a:t>
            </a:r>
            <a:endParaRPr lang="en-US" sz="1200" dirty="0"/>
          </a:p>
        </p:txBody>
      </p:sp>
      <p:sp>
        <p:nvSpPr>
          <p:cNvPr id="33" name="Shape 26"/>
          <p:cNvSpPr/>
          <p:nvPr/>
        </p:nvSpPr>
        <p:spPr>
          <a:xfrm>
            <a:off x="8065008" y="3794760"/>
            <a:ext cx="3566160" cy="1874520"/>
          </a:xfrm>
          <a:prstGeom prst="roundRect">
            <a:avLst>
              <a:gd name="adj" fmla="val 5854"/>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4" name="Shape 27"/>
          <p:cNvSpPr/>
          <p:nvPr/>
        </p:nvSpPr>
        <p:spPr>
          <a:xfrm>
            <a:off x="8321040" y="4050792"/>
            <a:ext cx="658368" cy="658368"/>
          </a:xfrm>
          <a:prstGeom prst="roundRect">
            <a:avLst>
              <a:gd name="adj" fmla="val 50000"/>
            </a:avLst>
          </a:prstGeom>
          <a:solidFill>
            <a:srgbClr val="E4572E"/>
          </a:solidFill>
          <a:ln/>
        </p:spPr>
      </p:sp>
      <p:pic>
        <p:nvPicPr>
          <p:cNvPr id="35" name="Image 5" descr="preencoded.png"/>
          <p:cNvPicPr>
            <a:picLocks noChangeAspect="1"/>
          </p:cNvPicPr>
          <p:nvPr/>
        </p:nvPicPr>
        <p:blipFill>
          <a:blip r:embed="rId7"/>
          <a:stretch>
            <a:fillRect/>
          </a:stretch>
        </p:blipFill>
        <p:spPr>
          <a:xfrm>
            <a:off x="8479048" y="4208800"/>
            <a:ext cx="342351" cy="342351"/>
          </a:xfrm>
          <a:prstGeom prst="rect">
            <a:avLst/>
          </a:prstGeom>
        </p:spPr>
      </p:pic>
      <p:sp>
        <p:nvSpPr>
          <p:cNvPr id="36" name="Text 28"/>
          <p:cNvSpPr/>
          <p:nvPr/>
        </p:nvSpPr>
        <p:spPr>
          <a:xfrm>
            <a:off x="9144000" y="4178808"/>
            <a:ext cx="2377440" cy="457200"/>
          </a:xfrm>
          <a:prstGeom prst="rect">
            <a:avLst/>
          </a:prstGeom>
          <a:noFill/>
          <a:ln/>
        </p:spPr>
        <p:txBody>
          <a:bodyPr wrap="square" lIns="0" tIns="0" rIns="0" bIns="0" rtlCol="0" anchor="ctr"/>
          <a:lstStyle/>
          <a:p>
            <a:pPr marL="0" indent="0">
              <a:buNone/>
            </a:pPr>
            <a:r>
              <a:rPr lang="en-US" sz="1800" b="1" dirty="0">
                <a:solidFill>
                  <a:srgbClr val="0E2A47"/>
                </a:solidFill>
                <a:latin typeface="Cambria" pitchFamily="34" charset="0"/>
                <a:ea typeface="Cambria" pitchFamily="34" charset="-122"/>
                <a:cs typeface="Cambria" pitchFamily="34" charset="-120"/>
              </a:rPr>
              <a:t>Kế thừa Base</a:t>
            </a:r>
            <a:endParaRPr lang="en-US" sz="1800" dirty="0"/>
          </a:p>
        </p:txBody>
      </p:sp>
      <p:sp>
        <p:nvSpPr>
          <p:cNvPr id="37" name="Text 29"/>
          <p:cNvSpPr/>
          <p:nvPr/>
        </p:nvSpPr>
        <p:spPr>
          <a:xfrm>
            <a:off x="8339328" y="4873752"/>
            <a:ext cx="3063240" cy="777240"/>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Auth/RBAC</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Thông báo</a:t>
            </a:r>
            <a:endParaRPr lang="en-US" sz="1200" dirty="0"/>
          </a:p>
          <a:p>
            <a:pPr marL="177800" indent="-177800">
              <a:lnSpc>
                <a:spcPct val="102000"/>
              </a:lnSpc>
              <a:spcAft>
                <a:spcPts val="300"/>
              </a:spcAft>
              <a:buSzPct val="100000"/>
              <a:buChar char="•"/>
            </a:pPr>
            <a:r>
              <a:rPr lang="en-US" sz="1200" dirty="0">
                <a:solidFill>
                  <a:srgbClr val="22303C"/>
                </a:solidFill>
                <a:latin typeface="Calibri" pitchFamily="34" charset="0"/>
                <a:ea typeface="Calibri" pitchFamily="34" charset="-122"/>
                <a:cs typeface="Calibri" pitchFamily="34" charset="-120"/>
              </a:rPr>
              <a:t>Dân cư (căn hộ, cư dân)</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TIỆN ÍCH</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Danh mục, dịch vụ tiện ích và bảng giá</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38</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TRA CỨU &amp; LỌC THEO DANH MỤC</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Cư dân xem dịch vụ tiện ích theo danh mục và tham khảo bảng giá trước khi gửi yêu cầu; dịch vụ tạm ngưng (inactive) không nhận yêu cầu mới</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2"/>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Danh mục dịch vụ</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service_categories: phân loại kèm màu biểu tượng (colorKey)</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3"/>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Dịch vụ tiện ích</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services: giờ mở cửa, vị trí, rating; active / inactive / coming_soon</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4"/>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Thực đơn &amp; bảng giá</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service_menu_items: tên, giá, đơn vị, còn phục vụ</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Controller  </a:t>
            </a:r>
            <a:r>
              <a:rPr lang="en-US" sz="1250" b="1" dirty="0">
                <a:solidFill>
                  <a:srgbClr val="0E7C86"/>
                </a:solidFill>
                <a:latin typeface="Calibri" pitchFamily="34" charset="0"/>
                <a:ea typeface="Calibri" pitchFamily="34" charset="-122"/>
                <a:cs typeface="Calibri" pitchFamily="34" charset="-120"/>
              </a:rPr>
              <a:t>ServiceCategory · Service</a:t>
            </a:r>
            <a:r>
              <a:rPr lang="en-US" sz="1250" b="1" dirty="0">
                <a:solidFill>
                  <a:srgbClr val="0E2A47"/>
                </a:solidFill>
                <a:latin typeface="Calibri" pitchFamily="34" charset="0"/>
                <a:ea typeface="Calibri" pitchFamily="34" charset="-122"/>
                <a:cs typeface="Calibri" pitchFamily="34" charset="-120"/>
              </a:rPr>
              <a:t>   ~   Bảng giá  </a:t>
            </a:r>
            <a:r>
              <a:rPr lang="en-US" sz="1250" b="1" dirty="0">
                <a:solidFill>
                  <a:srgbClr val="0E7C86"/>
                </a:solidFill>
                <a:latin typeface="Calibri" pitchFamily="34" charset="0"/>
                <a:ea typeface="Calibri" pitchFamily="34" charset="-122"/>
                <a:cs typeface="Calibri" pitchFamily="34" charset="-120"/>
              </a:rPr>
              <a:t>ServiceMenuItem</a:t>
            </a:r>
            <a:r>
              <a:rPr lang="en-US" sz="1250" dirty="0">
                <a:solidFill>
                  <a:srgbClr val="22303C"/>
                </a:solidFill>
                <a:latin typeface="Calibri" pitchFamily="34" charset="0"/>
                <a:ea typeface="Calibri" pitchFamily="34" charset="-122"/>
                <a:cs typeface="Calibri" pitchFamily="34" charset="-120"/>
              </a:rPr>
              <a:t>   ·   cho phép lọc dịch vụ theo danh mục, hiển thị công khai ở trang Portal.</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NHÀ CUNG CẤP</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Marketplace nhà cung cấp — đăng ký &amp; kiểm duyệt</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39</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11064240" cy="1097280"/>
          </a:xfrm>
          <a:prstGeom prst="roundRect">
            <a:avLst>
              <a:gd name="adj" fmla="val 10000"/>
            </a:avLst>
          </a:prstGeom>
          <a:solidFill>
            <a:srgbClr val="0E2A47"/>
          </a:solidFill>
          <a:ln/>
        </p:spPr>
      </p:sp>
      <p:sp>
        <p:nvSpPr>
          <p:cNvPr id="9" name="Text 7"/>
          <p:cNvSpPr/>
          <p:nvPr/>
        </p:nvSpPr>
        <p:spPr>
          <a:xfrm>
            <a:off x="822960" y="1810512"/>
            <a:ext cx="5486400" cy="320040"/>
          </a:xfrm>
          <a:prstGeom prst="rect">
            <a:avLst/>
          </a:prstGeom>
          <a:noFill/>
          <a:ln/>
        </p:spPr>
        <p:txBody>
          <a:bodyPr wrap="square" lIns="0" tIns="0" rIns="0" bIns="0" rtlCol="0" anchor="ctr"/>
          <a:lstStyle/>
          <a:p>
            <a:pPr marL="0" indent="0">
              <a:buNone/>
            </a:pPr>
            <a:r>
              <a:rPr lang="en-US" sz="1250" b="1" dirty="0">
                <a:solidFill>
                  <a:srgbClr val="23B5A6"/>
                </a:solidFill>
                <a:latin typeface="Calibri" pitchFamily="34" charset="0"/>
                <a:ea typeface="Calibri" pitchFamily="34" charset="-122"/>
                <a:cs typeface="Calibri" pitchFamily="34" charset="-120"/>
              </a:rPr>
              <a:t>Luồng đăng ký &amp; duyệt nhà cung cấp</a:t>
            </a:r>
            <a:endParaRPr lang="en-US" sz="1250" dirty="0"/>
          </a:p>
        </p:txBody>
      </p:sp>
      <p:sp>
        <p:nvSpPr>
          <p:cNvPr id="10" name="Shape 8"/>
          <p:cNvSpPr/>
          <p:nvPr/>
        </p:nvSpPr>
        <p:spPr>
          <a:xfrm>
            <a:off x="822960" y="2194560"/>
            <a:ext cx="2487168" cy="457200"/>
          </a:xfrm>
          <a:prstGeom prst="roundRect">
            <a:avLst>
              <a:gd name="adj" fmla="val 16000"/>
            </a:avLst>
          </a:prstGeom>
          <a:solidFill>
            <a:srgbClr val="16385C"/>
          </a:solidFill>
          <a:ln/>
        </p:spPr>
      </p:sp>
      <p:sp>
        <p:nvSpPr>
          <p:cNvPr id="11" name="Text 9"/>
          <p:cNvSpPr/>
          <p:nvPr/>
        </p:nvSpPr>
        <p:spPr>
          <a:xfrm>
            <a:off x="877824"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Đăng ký hồ sơ NCC</a:t>
            </a:r>
            <a:endParaRPr lang="en-US" sz="1150" dirty="0"/>
          </a:p>
        </p:txBody>
      </p:sp>
      <p:sp>
        <p:nvSpPr>
          <p:cNvPr id="12" name="Shape 10"/>
          <p:cNvSpPr/>
          <p:nvPr/>
        </p:nvSpPr>
        <p:spPr>
          <a:xfrm>
            <a:off x="3328416" y="2322576"/>
            <a:ext cx="146304" cy="201168"/>
          </a:xfrm>
          <a:prstGeom prst="rightArrow">
            <a:avLst/>
          </a:prstGeom>
          <a:solidFill>
            <a:srgbClr val="23B5A6"/>
          </a:solidFill>
          <a:ln/>
        </p:spPr>
      </p:sp>
      <p:sp>
        <p:nvSpPr>
          <p:cNvPr id="13" name="Shape 11"/>
          <p:cNvSpPr/>
          <p:nvPr/>
        </p:nvSpPr>
        <p:spPr>
          <a:xfrm>
            <a:off x="3493008" y="2194560"/>
            <a:ext cx="2487168" cy="457200"/>
          </a:xfrm>
          <a:prstGeom prst="roundRect">
            <a:avLst>
              <a:gd name="adj" fmla="val 16000"/>
            </a:avLst>
          </a:prstGeom>
          <a:solidFill>
            <a:srgbClr val="16385C"/>
          </a:solidFill>
          <a:ln/>
        </p:spPr>
      </p:sp>
      <p:sp>
        <p:nvSpPr>
          <p:cNvPr id="14" name="Text 12"/>
          <p:cNvSpPr/>
          <p:nvPr/>
        </p:nvSpPr>
        <p:spPr>
          <a:xfrm>
            <a:off x="3547872"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Khởi tạo pending</a:t>
            </a:r>
            <a:endParaRPr lang="en-US" sz="1150" dirty="0"/>
          </a:p>
        </p:txBody>
      </p:sp>
      <p:sp>
        <p:nvSpPr>
          <p:cNvPr id="15" name="Shape 13"/>
          <p:cNvSpPr/>
          <p:nvPr/>
        </p:nvSpPr>
        <p:spPr>
          <a:xfrm>
            <a:off x="5998464" y="2322576"/>
            <a:ext cx="146304" cy="201168"/>
          </a:xfrm>
          <a:prstGeom prst="rightArrow">
            <a:avLst/>
          </a:prstGeom>
          <a:solidFill>
            <a:srgbClr val="23B5A6"/>
          </a:solidFill>
          <a:ln/>
        </p:spPr>
      </p:sp>
      <p:sp>
        <p:nvSpPr>
          <p:cNvPr id="16" name="Shape 14"/>
          <p:cNvSpPr/>
          <p:nvPr/>
        </p:nvSpPr>
        <p:spPr>
          <a:xfrm>
            <a:off x="6163056" y="2194560"/>
            <a:ext cx="2487168" cy="457200"/>
          </a:xfrm>
          <a:prstGeom prst="roundRect">
            <a:avLst>
              <a:gd name="adj" fmla="val 16000"/>
            </a:avLst>
          </a:prstGeom>
          <a:solidFill>
            <a:srgbClr val="16385C"/>
          </a:solidFill>
          <a:ln/>
        </p:spPr>
      </p:sp>
      <p:sp>
        <p:nvSpPr>
          <p:cNvPr id="17" name="Text 15"/>
          <p:cNvSpPr/>
          <p:nvPr/>
        </p:nvSpPr>
        <p:spPr>
          <a:xfrm>
            <a:off x="6217920"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BQL duyệt / từ chối</a:t>
            </a:r>
            <a:endParaRPr lang="en-US" sz="1150" dirty="0"/>
          </a:p>
        </p:txBody>
      </p:sp>
      <p:sp>
        <p:nvSpPr>
          <p:cNvPr id="18" name="Shape 16"/>
          <p:cNvSpPr/>
          <p:nvPr/>
        </p:nvSpPr>
        <p:spPr>
          <a:xfrm>
            <a:off x="8668512" y="2322576"/>
            <a:ext cx="146304" cy="201168"/>
          </a:xfrm>
          <a:prstGeom prst="rightArrow">
            <a:avLst/>
          </a:prstGeom>
          <a:solidFill>
            <a:srgbClr val="23B5A6"/>
          </a:solidFill>
          <a:ln/>
        </p:spPr>
      </p:sp>
      <p:sp>
        <p:nvSpPr>
          <p:cNvPr id="19" name="Shape 17"/>
          <p:cNvSpPr/>
          <p:nvPr/>
        </p:nvSpPr>
        <p:spPr>
          <a:xfrm>
            <a:off x="8833104" y="2194560"/>
            <a:ext cx="2487168" cy="457200"/>
          </a:xfrm>
          <a:prstGeom prst="roundRect">
            <a:avLst>
              <a:gd name="adj" fmla="val 16000"/>
            </a:avLst>
          </a:prstGeom>
          <a:solidFill>
            <a:srgbClr val="EFA13C"/>
          </a:solidFill>
          <a:ln/>
        </p:spPr>
      </p:sp>
      <p:sp>
        <p:nvSpPr>
          <p:cNvPr id="20" name="Text 18"/>
          <p:cNvSpPr/>
          <p:nvPr/>
        </p:nvSpPr>
        <p:spPr>
          <a:xfrm>
            <a:off x="8887968" y="2194560"/>
            <a:ext cx="2377440" cy="4572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approved → hạng mục</a:t>
            </a:r>
            <a:endParaRPr lang="en-US" sz="1150" dirty="0"/>
          </a:p>
        </p:txBody>
      </p:sp>
      <p:sp>
        <p:nvSpPr>
          <p:cNvPr id="21" name="Shape 19"/>
          <p:cNvSpPr/>
          <p:nvPr/>
        </p:nvSpPr>
        <p:spPr>
          <a:xfrm>
            <a:off x="56692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2" name="Shape 20"/>
          <p:cNvSpPr/>
          <p:nvPr/>
        </p:nvSpPr>
        <p:spPr>
          <a:xfrm>
            <a:off x="841248" y="3291840"/>
            <a:ext cx="713232" cy="713232"/>
          </a:xfrm>
          <a:prstGeom prst="roundRect">
            <a:avLst>
              <a:gd name="adj" fmla="val 50000"/>
            </a:avLst>
          </a:prstGeom>
          <a:solidFill>
            <a:srgbClr val="0E7C86"/>
          </a:solidFill>
          <a:ln/>
        </p:spPr>
      </p:sp>
      <p:pic>
        <p:nvPicPr>
          <p:cNvPr id="23" name="Image 0" descr="preencoded.png"/>
          <p:cNvPicPr>
            <a:picLocks noChangeAspect="1"/>
          </p:cNvPicPr>
          <p:nvPr/>
        </p:nvPicPr>
        <p:blipFill>
          <a:blip r:embed="rId2"/>
          <a:stretch>
            <a:fillRect/>
          </a:stretch>
        </p:blipFill>
        <p:spPr>
          <a:xfrm>
            <a:off x="1012424" y="3463016"/>
            <a:ext cx="370881" cy="370881"/>
          </a:xfrm>
          <a:prstGeom prst="rect">
            <a:avLst/>
          </a:prstGeom>
        </p:spPr>
      </p:pic>
      <p:sp>
        <p:nvSpPr>
          <p:cNvPr id="24" name="Text 21"/>
          <p:cNvSpPr/>
          <p:nvPr/>
        </p:nvSpPr>
        <p:spPr>
          <a:xfrm>
            <a:off x="168249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Tạo hồ sơ</a:t>
            </a:r>
            <a:endParaRPr lang="en-US" sz="1650" dirty="0"/>
          </a:p>
        </p:txBody>
      </p:sp>
      <p:sp>
        <p:nvSpPr>
          <p:cNvPr id="25" name="Text 22"/>
          <p:cNvSpPr/>
          <p:nvPr/>
        </p:nvSpPr>
        <p:spPr>
          <a:xfrm>
            <a:off x="84124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BQL tạo hộ (RegisterAsync)</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Cư dân tự đăng ký (SelfRegisterAsync)</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Kiểm tra trùng SĐT; IsBusinessOwner = true</a:t>
            </a:r>
            <a:endParaRPr lang="en-US" sz="1250" dirty="0"/>
          </a:p>
        </p:txBody>
      </p:sp>
      <p:sp>
        <p:nvSpPr>
          <p:cNvPr id="26" name="Shape 23"/>
          <p:cNvSpPr/>
          <p:nvPr/>
        </p:nvSpPr>
        <p:spPr>
          <a:xfrm>
            <a:off x="431596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7" name="Shape 24"/>
          <p:cNvSpPr/>
          <p:nvPr/>
        </p:nvSpPr>
        <p:spPr>
          <a:xfrm>
            <a:off x="4590288" y="3291840"/>
            <a:ext cx="713232" cy="713232"/>
          </a:xfrm>
          <a:prstGeom prst="roundRect">
            <a:avLst>
              <a:gd name="adj" fmla="val 50000"/>
            </a:avLst>
          </a:prstGeom>
          <a:solidFill>
            <a:srgbClr val="1E3A57"/>
          </a:solidFill>
          <a:ln/>
        </p:spPr>
      </p:sp>
      <p:pic>
        <p:nvPicPr>
          <p:cNvPr id="28" name="Image 1" descr="preencoded.png"/>
          <p:cNvPicPr>
            <a:picLocks noChangeAspect="1"/>
          </p:cNvPicPr>
          <p:nvPr/>
        </p:nvPicPr>
        <p:blipFill>
          <a:blip r:embed="rId3"/>
          <a:stretch>
            <a:fillRect/>
          </a:stretch>
        </p:blipFill>
        <p:spPr>
          <a:xfrm>
            <a:off x="4761464" y="3463016"/>
            <a:ext cx="370881" cy="370881"/>
          </a:xfrm>
          <a:prstGeom prst="rect">
            <a:avLst/>
          </a:prstGeom>
        </p:spPr>
      </p:pic>
      <p:sp>
        <p:nvSpPr>
          <p:cNvPr id="29" name="Text 25"/>
          <p:cNvSpPr/>
          <p:nvPr/>
        </p:nvSpPr>
        <p:spPr>
          <a:xfrm>
            <a:off x="543153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Kiểm duyệt (BQL)</a:t>
            </a:r>
            <a:endParaRPr lang="en-US" sz="1650" dirty="0"/>
          </a:p>
        </p:txBody>
      </p:sp>
      <p:sp>
        <p:nvSpPr>
          <p:cNvPr id="30" name="Text 26"/>
          <p:cNvSpPr/>
          <p:nvPr/>
        </p:nvSpPr>
        <p:spPr>
          <a:xfrm>
            <a:off x="459028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ApproveAsync → approved (approvedBy, approvedAt)</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RejectAsync → rejected + lý do bắt buộc</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Chỉ NCC approved mới đăng ký dịch vụ</a:t>
            </a:r>
            <a:endParaRPr lang="en-US" sz="1250" dirty="0"/>
          </a:p>
        </p:txBody>
      </p:sp>
      <p:sp>
        <p:nvSpPr>
          <p:cNvPr id="31" name="Shape 27"/>
          <p:cNvSpPr/>
          <p:nvPr/>
        </p:nvSpPr>
        <p:spPr>
          <a:xfrm>
            <a:off x="8065008" y="3017520"/>
            <a:ext cx="3566160" cy="3063240"/>
          </a:xfrm>
          <a:prstGeom prst="roundRect">
            <a:avLst>
              <a:gd name="adj" fmla="val 3582"/>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2" name="Shape 28"/>
          <p:cNvSpPr/>
          <p:nvPr/>
        </p:nvSpPr>
        <p:spPr>
          <a:xfrm>
            <a:off x="8339328" y="3291840"/>
            <a:ext cx="713232" cy="713232"/>
          </a:xfrm>
          <a:prstGeom prst="roundRect">
            <a:avLst>
              <a:gd name="adj" fmla="val 50000"/>
            </a:avLst>
          </a:prstGeom>
          <a:solidFill>
            <a:srgbClr val="EFA13C"/>
          </a:solidFill>
          <a:ln/>
        </p:spPr>
      </p:sp>
      <p:pic>
        <p:nvPicPr>
          <p:cNvPr id="33" name="Image 2" descr="preencoded.png"/>
          <p:cNvPicPr>
            <a:picLocks noChangeAspect="1"/>
          </p:cNvPicPr>
          <p:nvPr/>
        </p:nvPicPr>
        <p:blipFill>
          <a:blip r:embed="rId4"/>
          <a:stretch>
            <a:fillRect/>
          </a:stretch>
        </p:blipFill>
        <p:spPr>
          <a:xfrm>
            <a:off x="8510504" y="3463016"/>
            <a:ext cx="370881" cy="370881"/>
          </a:xfrm>
          <a:prstGeom prst="rect">
            <a:avLst/>
          </a:prstGeom>
        </p:spPr>
      </p:pic>
      <p:sp>
        <p:nvSpPr>
          <p:cNvPr id="34" name="Text 29"/>
          <p:cNvSpPr/>
          <p:nvPr/>
        </p:nvSpPr>
        <p:spPr>
          <a:xfrm>
            <a:off x="9180576" y="3401568"/>
            <a:ext cx="2286000" cy="502920"/>
          </a:xfrm>
          <a:prstGeom prst="rect">
            <a:avLst/>
          </a:prstGeom>
          <a:noFill/>
          <a:ln/>
        </p:spPr>
        <p:txBody>
          <a:bodyPr wrap="square" lIns="0" tIns="0" rIns="0" bIns="0" rtlCol="0" anchor="ctr"/>
          <a:lstStyle/>
          <a:p>
            <a:pPr marL="0" indent="0">
              <a:buNone/>
            </a:pPr>
            <a:r>
              <a:rPr lang="en-US" sz="1650" b="1" dirty="0">
                <a:solidFill>
                  <a:srgbClr val="0E2A47"/>
                </a:solidFill>
                <a:latin typeface="Cambria" pitchFamily="34" charset="0"/>
                <a:ea typeface="Cambria" pitchFamily="34" charset="-122"/>
                <a:cs typeface="Cambria" pitchFamily="34" charset="-120"/>
              </a:rPr>
              <a:t>Hạng mục dịch vụ</a:t>
            </a:r>
            <a:endParaRPr lang="en-US" sz="1650" dirty="0"/>
          </a:p>
        </p:txBody>
      </p:sp>
      <p:sp>
        <p:nvSpPr>
          <p:cNvPr id="35" name="Text 30"/>
          <p:cNvSpPr/>
          <p:nvPr/>
        </p:nvSpPr>
        <p:spPr>
          <a:xfrm>
            <a:off x="8339328" y="4297680"/>
            <a:ext cx="3063240" cy="1645920"/>
          </a:xfrm>
          <a:prstGeom prst="rect">
            <a:avLst/>
          </a:prstGeom>
          <a:noFill/>
          <a:ln/>
        </p:spPr>
        <p:txBody>
          <a:bodyPr wrap="square" lIns="0" tIns="0" rIns="0" bIns="0" rtlCol="0" anchor="t"/>
          <a:lstStyle/>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provider_service_listings khởi tạo pending</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BQL duyệt/từ chối từng hạng mục</a:t>
            </a:r>
            <a:endParaRPr lang="en-US" sz="1250" dirty="0"/>
          </a:p>
          <a:p>
            <a:pPr marL="177800" indent="-177800">
              <a:lnSpc>
                <a:spcPct val="102000"/>
              </a:lnSpc>
              <a:spcAft>
                <a:spcPts val="1000"/>
              </a:spcAft>
              <a:buSzPct val="100000"/>
              <a:buChar char="•"/>
            </a:pPr>
            <a:r>
              <a:rPr lang="en-US" sz="1250" dirty="0">
                <a:solidFill>
                  <a:srgbClr val="22303C"/>
                </a:solidFill>
                <a:latin typeface="Calibri" pitchFamily="34" charset="0"/>
                <a:ea typeface="Calibri" pitchFamily="34" charset="-122"/>
                <a:cs typeface="Calibri" pitchFamily="34" charset="-120"/>
              </a:rPr>
              <a:t>Bị từ chối → sửa lại → tự động về pending</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QUY TRÌNH</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Yêu cầu dịch vụ nhiều bước — máy trạng thái</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40</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828800"/>
            <a:ext cx="1764792" cy="548640"/>
          </a:xfrm>
          <a:prstGeom prst="roundRect">
            <a:avLst>
              <a:gd name="adj" fmla="val 13333"/>
            </a:avLst>
          </a:prstGeom>
          <a:solidFill>
            <a:srgbClr val="0E2A47"/>
          </a:solidFill>
          <a:ln/>
        </p:spPr>
      </p:sp>
      <p:sp>
        <p:nvSpPr>
          <p:cNvPr id="9" name="Text 7"/>
          <p:cNvSpPr/>
          <p:nvPr/>
        </p:nvSpPr>
        <p:spPr>
          <a:xfrm>
            <a:off x="603504"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Chờ BQL duyệt</a:t>
            </a:r>
            <a:endParaRPr lang="en-US" sz="1050" dirty="0"/>
          </a:p>
        </p:txBody>
      </p:sp>
      <p:sp>
        <p:nvSpPr>
          <p:cNvPr id="10" name="Shape 8"/>
          <p:cNvSpPr/>
          <p:nvPr/>
        </p:nvSpPr>
        <p:spPr>
          <a:xfrm>
            <a:off x="2331720" y="2002536"/>
            <a:ext cx="100584" cy="201168"/>
          </a:xfrm>
          <a:prstGeom prst="rightArrow">
            <a:avLst/>
          </a:prstGeom>
          <a:solidFill>
            <a:srgbClr val="23B5A6"/>
          </a:solidFill>
          <a:ln/>
        </p:spPr>
      </p:sp>
      <p:sp>
        <p:nvSpPr>
          <p:cNvPr id="11" name="Shape 9"/>
          <p:cNvSpPr/>
          <p:nvPr/>
        </p:nvSpPr>
        <p:spPr>
          <a:xfrm>
            <a:off x="2432304" y="1828800"/>
            <a:ext cx="1764792" cy="548640"/>
          </a:xfrm>
          <a:prstGeom prst="roundRect">
            <a:avLst>
              <a:gd name="adj" fmla="val 13333"/>
            </a:avLst>
          </a:prstGeom>
          <a:solidFill>
            <a:srgbClr val="0E2A47"/>
          </a:solidFill>
          <a:ln/>
        </p:spPr>
      </p:sp>
      <p:sp>
        <p:nvSpPr>
          <p:cNvPr id="12" name="Text 10"/>
          <p:cNvSpPr/>
          <p:nvPr/>
        </p:nvSpPr>
        <p:spPr>
          <a:xfrm>
            <a:off x="2468880"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Chờ NCC nhận</a:t>
            </a:r>
            <a:endParaRPr lang="en-US" sz="1050" dirty="0"/>
          </a:p>
        </p:txBody>
      </p:sp>
      <p:sp>
        <p:nvSpPr>
          <p:cNvPr id="13" name="Shape 11"/>
          <p:cNvSpPr/>
          <p:nvPr/>
        </p:nvSpPr>
        <p:spPr>
          <a:xfrm>
            <a:off x="4197096" y="2002536"/>
            <a:ext cx="100584" cy="201168"/>
          </a:xfrm>
          <a:prstGeom prst="rightArrow">
            <a:avLst/>
          </a:prstGeom>
          <a:solidFill>
            <a:srgbClr val="23B5A6"/>
          </a:solidFill>
          <a:ln/>
        </p:spPr>
      </p:sp>
      <p:sp>
        <p:nvSpPr>
          <p:cNvPr id="14" name="Shape 12"/>
          <p:cNvSpPr/>
          <p:nvPr/>
        </p:nvSpPr>
        <p:spPr>
          <a:xfrm>
            <a:off x="4297680" y="1828800"/>
            <a:ext cx="1764792" cy="548640"/>
          </a:xfrm>
          <a:prstGeom prst="roundRect">
            <a:avLst>
              <a:gd name="adj" fmla="val 13333"/>
            </a:avLst>
          </a:prstGeom>
          <a:solidFill>
            <a:srgbClr val="0E2A47"/>
          </a:solidFill>
          <a:ln/>
        </p:spPr>
      </p:sp>
      <p:sp>
        <p:nvSpPr>
          <p:cNvPr id="15" name="Text 13"/>
          <p:cNvSpPr/>
          <p:nvPr/>
        </p:nvSpPr>
        <p:spPr>
          <a:xfrm>
            <a:off x="4334256"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NCC đã nhận</a:t>
            </a:r>
            <a:endParaRPr lang="en-US" sz="1050" dirty="0"/>
          </a:p>
        </p:txBody>
      </p:sp>
      <p:sp>
        <p:nvSpPr>
          <p:cNvPr id="16" name="Shape 14"/>
          <p:cNvSpPr/>
          <p:nvPr/>
        </p:nvSpPr>
        <p:spPr>
          <a:xfrm>
            <a:off x="6062472" y="2002536"/>
            <a:ext cx="100584" cy="201168"/>
          </a:xfrm>
          <a:prstGeom prst="rightArrow">
            <a:avLst/>
          </a:prstGeom>
          <a:solidFill>
            <a:srgbClr val="23B5A6"/>
          </a:solidFill>
          <a:ln/>
        </p:spPr>
      </p:sp>
      <p:sp>
        <p:nvSpPr>
          <p:cNvPr id="17" name="Shape 15"/>
          <p:cNvSpPr/>
          <p:nvPr/>
        </p:nvSpPr>
        <p:spPr>
          <a:xfrm>
            <a:off x="6163056" y="1828800"/>
            <a:ext cx="1764792" cy="548640"/>
          </a:xfrm>
          <a:prstGeom prst="roundRect">
            <a:avLst>
              <a:gd name="adj" fmla="val 13333"/>
            </a:avLst>
          </a:prstGeom>
          <a:solidFill>
            <a:srgbClr val="EFA13C"/>
          </a:solidFill>
          <a:ln/>
        </p:spPr>
      </p:sp>
      <p:sp>
        <p:nvSpPr>
          <p:cNvPr id="18" name="Text 16"/>
          <p:cNvSpPr/>
          <p:nvPr/>
        </p:nvSpPr>
        <p:spPr>
          <a:xfrm>
            <a:off x="6199632"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Đang thực hiện</a:t>
            </a:r>
            <a:endParaRPr lang="en-US" sz="1050" dirty="0"/>
          </a:p>
        </p:txBody>
      </p:sp>
      <p:sp>
        <p:nvSpPr>
          <p:cNvPr id="19" name="Shape 17"/>
          <p:cNvSpPr/>
          <p:nvPr/>
        </p:nvSpPr>
        <p:spPr>
          <a:xfrm>
            <a:off x="7927848" y="2002536"/>
            <a:ext cx="100584" cy="201168"/>
          </a:xfrm>
          <a:prstGeom prst="rightArrow">
            <a:avLst/>
          </a:prstGeom>
          <a:solidFill>
            <a:srgbClr val="23B5A6"/>
          </a:solidFill>
          <a:ln/>
        </p:spPr>
      </p:sp>
      <p:sp>
        <p:nvSpPr>
          <p:cNvPr id="20" name="Shape 18"/>
          <p:cNvSpPr/>
          <p:nvPr/>
        </p:nvSpPr>
        <p:spPr>
          <a:xfrm>
            <a:off x="8028432" y="1828800"/>
            <a:ext cx="1764792" cy="548640"/>
          </a:xfrm>
          <a:prstGeom prst="roundRect">
            <a:avLst>
              <a:gd name="adj" fmla="val 13333"/>
            </a:avLst>
          </a:prstGeom>
          <a:solidFill>
            <a:srgbClr val="0E2A47"/>
          </a:solidFill>
          <a:ln/>
        </p:spPr>
      </p:sp>
      <p:sp>
        <p:nvSpPr>
          <p:cNvPr id="21" name="Text 19"/>
          <p:cNvSpPr/>
          <p:nvPr/>
        </p:nvSpPr>
        <p:spPr>
          <a:xfrm>
            <a:off x="8065008"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Hoàn thành</a:t>
            </a:r>
            <a:endParaRPr lang="en-US" sz="1050" dirty="0"/>
          </a:p>
        </p:txBody>
      </p:sp>
      <p:sp>
        <p:nvSpPr>
          <p:cNvPr id="22" name="Shape 20"/>
          <p:cNvSpPr/>
          <p:nvPr/>
        </p:nvSpPr>
        <p:spPr>
          <a:xfrm>
            <a:off x="9793224" y="2002536"/>
            <a:ext cx="100584" cy="201168"/>
          </a:xfrm>
          <a:prstGeom prst="rightArrow">
            <a:avLst/>
          </a:prstGeom>
          <a:solidFill>
            <a:srgbClr val="23B5A6"/>
          </a:solidFill>
          <a:ln/>
        </p:spPr>
      </p:sp>
      <p:sp>
        <p:nvSpPr>
          <p:cNvPr id="23" name="Shape 21"/>
          <p:cNvSpPr/>
          <p:nvPr/>
        </p:nvSpPr>
        <p:spPr>
          <a:xfrm>
            <a:off x="9893808" y="1828800"/>
            <a:ext cx="1764792" cy="548640"/>
          </a:xfrm>
          <a:prstGeom prst="roundRect">
            <a:avLst>
              <a:gd name="adj" fmla="val 13333"/>
            </a:avLst>
          </a:prstGeom>
          <a:solidFill>
            <a:srgbClr val="0E2A47"/>
          </a:solidFill>
          <a:ln/>
        </p:spPr>
      </p:sp>
      <p:sp>
        <p:nvSpPr>
          <p:cNvPr id="24" name="Text 22"/>
          <p:cNvSpPr/>
          <p:nvPr/>
        </p:nvSpPr>
        <p:spPr>
          <a:xfrm>
            <a:off x="9930384" y="1828800"/>
            <a:ext cx="1691640" cy="5486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Đánh giá</a:t>
            </a:r>
            <a:endParaRPr lang="en-US" sz="1050" dirty="0"/>
          </a:p>
        </p:txBody>
      </p:sp>
      <p:sp>
        <p:nvSpPr>
          <p:cNvPr id="25" name="Text 23"/>
          <p:cNvSpPr/>
          <p:nvPr/>
        </p:nvSpPr>
        <p:spPr>
          <a:xfrm>
            <a:off x="566928" y="2450592"/>
            <a:ext cx="11064240" cy="274320"/>
          </a:xfrm>
          <a:prstGeom prst="rect">
            <a:avLst/>
          </a:prstGeom>
          <a:noFill/>
          <a:ln/>
        </p:spPr>
        <p:txBody>
          <a:bodyPr wrap="square" lIns="0" tIns="0" rIns="0" bIns="0" rtlCol="0" anchor="ctr"/>
          <a:lstStyle/>
          <a:p>
            <a:pPr marL="0" indent="0" algn="ctr">
              <a:buNone/>
            </a:pPr>
            <a:r>
              <a:rPr lang="en-US" sz="1100" i="1" dirty="0">
                <a:solidFill>
                  <a:srgbClr val="6B7A88"/>
                </a:solidFill>
                <a:latin typeface="Calibri" pitchFamily="34" charset="0"/>
                <a:ea typeface="Calibri" pitchFamily="34" charset="-122"/>
                <a:cs typeface="Calibri" pitchFamily="34" charset="-120"/>
              </a:rPr>
              <a:t>Tùy cấu hình requiresMgtApproval · mọi bước từ chối đều kèm lý do bắt buộc · chỉ NCC ở trạng thái đã duyệt mới được gán/tiếp nhận yêu cầu</a:t>
            </a:r>
            <a:endParaRPr lang="en-US" sz="1100" dirty="0"/>
          </a:p>
        </p:txBody>
      </p:sp>
      <p:sp>
        <p:nvSpPr>
          <p:cNvPr id="26" name="Shape 24"/>
          <p:cNvSpPr/>
          <p:nvPr/>
        </p:nvSpPr>
        <p:spPr>
          <a:xfrm>
            <a:off x="56692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7" name="Shape 25"/>
          <p:cNvSpPr/>
          <p:nvPr/>
        </p:nvSpPr>
        <p:spPr>
          <a:xfrm>
            <a:off x="822960" y="3200400"/>
            <a:ext cx="621792" cy="621792"/>
          </a:xfrm>
          <a:prstGeom prst="roundRect">
            <a:avLst>
              <a:gd name="adj" fmla="val 50000"/>
            </a:avLst>
          </a:prstGeom>
          <a:solidFill>
            <a:srgbClr val="0E7C86"/>
          </a:solidFill>
          <a:ln/>
        </p:spPr>
      </p:sp>
      <p:pic>
        <p:nvPicPr>
          <p:cNvPr id="28" name="Image 0" descr="preencoded.png"/>
          <p:cNvPicPr>
            <a:picLocks noChangeAspect="1"/>
          </p:cNvPicPr>
          <p:nvPr/>
        </p:nvPicPr>
        <p:blipFill>
          <a:blip r:embed="rId2"/>
          <a:stretch>
            <a:fillRect/>
          </a:stretch>
        </p:blipFill>
        <p:spPr>
          <a:xfrm>
            <a:off x="972190" y="3349630"/>
            <a:ext cx="323332" cy="323332"/>
          </a:xfrm>
          <a:prstGeom prst="rect">
            <a:avLst/>
          </a:prstGeom>
        </p:spPr>
      </p:pic>
      <p:sp>
        <p:nvSpPr>
          <p:cNvPr id="29" name="Text 26"/>
          <p:cNvSpPr/>
          <p:nvPr/>
        </p:nvSpPr>
        <p:spPr>
          <a:xfrm>
            <a:off x="157276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Dịch vụ &amp; bảng giá</a:t>
            </a:r>
            <a:endParaRPr lang="en-US" sz="1450" dirty="0"/>
          </a:p>
        </p:txBody>
      </p:sp>
      <p:sp>
        <p:nvSpPr>
          <p:cNvPr id="30" name="Text 27"/>
          <p:cNvSpPr/>
          <p:nvPr/>
        </p:nvSpPr>
        <p:spPr>
          <a:xfrm>
            <a:off x="82296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Danh mục dịch vụ; trạng thái active / inactive / coming_soon</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Thực đơn/bảng giá (giá, đơn vị, còn phục vụ) cho cư dân tham khảo</a:t>
            </a:r>
            <a:endParaRPr lang="en-US" sz="1200" dirty="0"/>
          </a:p>
        </p:txBody>
      </p:sp>
      <p:sp>
        <p:nvSpPr>
          <p:cNvPr id="31" name="Shape 28"/>
          <p:cNvSpPr/>
          <p:nvPr/>
        </p:nvSpPr>
        <p:spPr>
          <a:xfrm>
            <a:off x="431596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2" name="Shape 29"/>
          <p:cNvSpPr/>
          <p:nvPr/>
        </p:nvSpPr>
        <p:spPr>
          <a:xfrm>
            <a:off x="4572000" y="3200400"/>
            <a:ext cx="621792" cy="621792"/>
          </a:xfrm>
          <a:prstGeom prst="roundRect">
            <a:avLst>
              <a:gd name="adj" fmla="val 50000"/>
            </a:avLst>
          </a:prstGeom>
          <a:solidFill>
            <a:srgbClr val="E4572E"/>
          </a:solidFill>
          <a:ln/>
        </p:spPr>
      </p:sp>
      <p:pic>
        <p:nvPicPr>
          <p:cNvPr id="33" name="Image 1" descr="preencoded.png"/>
          <p:cNvPicPr>
            <a:picLocks noChangeAspect="1"/>
          </p:cNvPicPr>
          <p:nvPr/>
        </p:nvPicPr>
        <p:blipFill>
          <a:blip r:embed="rId3"/>
          <a:stretch>
            <a:fillRect/>
          </a:stretch>
        </p:blipFill>
        <p:spPr>
          <a:xfrm>
            <a:off x="4721230" y="3349630"/>
            <a:ext cx="323332" cy="323332"/>
          </a:xfrm>
          <a:prstGeom prst="rect">
            <a:avLst/>
          </a:prstGeom>
        </p:spPr>
      </p:pic>
      <p:sp>
        <p:nvSpPr>
          <p:cNvPr id="34" name="Text 30"/>
          <p:cNvSpPr/>
          <p:nvPr/>
        </p:nvSpPr>
        <p:spPr>
          <a:xfrm>
            <a:off x="532180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Đăng ký &amp; duyệt NCC</a:t>
            </a:r>
            <a:endParaRPr lang="en-US" sz="1450" dirty="0"/>
          </a:p>
        </p:txBody>
      </p:sp>
      <p:sp>
        <p:nvSpPr>
          <p:cNvPr id="35" name="Text 31"/>
          <p:cNvSpPr/>
          <p:nvPr/>
        </p:nvSpPr>
        <p:spPr>
          <a:xfrm>
            <a:off x="457200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BQL tạo hộ hoặc cư dân tự đăng ký (self-register, residentId)</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pending → approved/rejected; hạng mục (listing) cũng duyệt riêng</a:t>
            </a:r>
            <a:endParaRPr lang="en-US" sz="1200" dirty="0"/>
          </a:p>
        </p:txBody>
      </p:sp>
      <p:sp>
        <p:nvSpPr>
          <p:cNvPr id="36" name="Shape 32"/>
          <p:cNvSpPr/>
          <p:nvPr/>
        </p:nvSpPr>
        <p:spPr>
          <a:xfrm>
            <a:off x="8065008" y="2926080"/>
            <a:ext cx="3566160" cy="2331720"/>
          </a:xfrm>
          <a:prstGeom prst="roundRect">
            <a:avLst>
              <a:gd name="adj" fmla="val 47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37" name="Shape 33"/>
          <p:cNvSpPr/>
          <p:nvPr/>
        </p:nvSpPr>
        <p:spPr>
          <a:xfrm>
            <a:off x="8321040" y="3200400"/>
            <a:ext cx="621792" cy="621792"/>
          </a:xfrm>
          <a:prstGeom prst="roundRect">
            <a:avLst>
              <a:gd name="adj" fmla="val 50000"/>
            </a:avLst>
          </a:prstGeom>
          <a:solidFill>
            <a:srgbClr val="EFA13C"/>
          </a:solidFill>
          <a:ln/>
        </p:spPr>
      </p:sp>
      <p:pic>
        <p:nvPicPr>
          <p:cNvPr id="38" name="Image 2" descr="preencoded.png"/>
          <p:cNvPicPr>
            <a:picLocks noChangeAspect="1"/>
          </p:cNvPicPr>
          <p:nvPr/>
        </p:nvPicPr>
        <p:blipFill>
          <a:blip r:embed="rId4"/>
          <a:stretch>
            <a:fillRect/>
          </a:stretch>
        </p:blipFill>
        <p:spPr>
          <a:xfrm>
            <a:off x="8470270" y="3349630"/>
            <a:ext cx="323332" cy="323332"/>
          </a:xfrm>
          <a:prstGeom prst="rect">
            <a:avLst/>
          </a:prstGeom>
        </p:spPr>
      </p:pic>
      <p:sp>
        <p:nvSpPr>
          <p:cNvPr id="39" name="Text 34"/>
          <p:cNvSpPr/>
          <p:nvPr/>
        </p:nvSpPr>
        <p:spPr>
          <a:xfrm>
            <a:off x="9070848" y="3273552"/>
            <a:ext cx="2377440" cy="457200"/>
          </a:xfrm>
          <a:prstGeom prst="rect">
            <a:avLst/>
          </a:prstGeom>
          <a:noFill/>
          <a:ln/>
        </p:spPr>
        <p:txBody>
          <a:bodyPr wrap="square" lIns="0" tIns="0" rIns="0" bIns="0" rtlCol="0" anchor="ctr"/>
          <a:lstStyle/>
          <a:p>
            <a:pPr marL="0" indent="0">
              <a:buNone/>
            </a:pPr>
            <a:r>
              <a:rPr lang="en-US" sz="1450" b="1" dirty="0">
                <a:solidFill>
                  <a:srgbClr val="0E2A47"/>
                </a:solidFill>
                <a:latin typeface="Cambria" pitchFamily="34" charset="0"/>
                <a:ea typeface="Cambria" pitchFamily="34" charset="-122"/>
                <a:cs typeface="Cambria" pitchFamily="34" charset="-120"/>
              </a:rPr>
              <a:t>Tạo &amp; điều phối yêu cầu</a:t>
            </a:r>
            <a:endParaRPr lang="en-US" sz="1450" dirty="0"/>
          </a:p>
        </p:txBody>
      </p:sp>
      <p:sp>
        <p:nvSpPr>
          <p:cNvPr id="40" name="Text 35"/>
          <p:cNvSpPr/>
          <p:nvPr/>
        </p:nvSpPr>
        <p:spPr>
          <a:xfrm>
            <a:off x="8321040" y="4069080"/>
            <a:ext cx="3108960" cy="1051560"/>
          </a:xfrm>
          <a:prstGeom prst="rect">
            <a:avLst/>
          </a:prstGeom>
          <a:noFill/>
          <a:ln/>
        </p:spPr>
        <p:txBody>
          <a:bodyPr wrap="square" lIns="0" tIns="0" rIns="0" bIns="0" rtlCol="0" anchor="t"/>
          <a:lstStyle/>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Cư dân/BQL tạo yêu cầu, gắn căn hộ (apartmentId), hẹn lịch</a:t>
            </a:r>
            <a:endParaRPr lang="en-US" sz="1200" dirty="0"/>
          </a:p>
          <a:p>
            <a:pPr marL="177800" indent="-177800">
              <a:lnSpc>
                <a:spcPct val="102000"/>
              </a:lnSpc>
              <a:spcAft>
                <a:spcPts val="900"/>
              </a:spcAft>
              <a:buSzPct val="100000"/>
              <a:buChar char="•"/>
            </a:pPr>
            <a:r>
              <a:rPr lang="en-US" sz="1200" dirty="0">
                <a:solidFill>
                  <a:srgbClr val="22303C"/>
                </a:solidFill>
                <a:latin typeface="Calibri" pitchFamily="34" charset="0"/>
                <a:ea typeface="Calibri" pitchFamily="34" charset="-122"/>
                <a:cs typeface="Calibri" pitchFamily="34" charset="-120"/>
              </a:rPr>
              <a:t>Cư dân chỉ được đánh giá sau khi yêu cầu hoàn thành</a:t>
            </a:r>
            <a:endParaRPr lang="en-US" sz="1200" dirty="0"/>
          </a:p>
        </p:txBody>
      </p:sp>
      <p:sp>
        <p:nvSpPr>
          <p:cNvPr id="41" name="Shape 36"/>
          <p:cNvSpPr/>
          <p:nvPr/>
        </p:nvSpPr>
        <p:spPr>
          <a:xfrm>
            <a:off x="566928" y="5440680"/>
            <a:ext cx="11064240" cy="749808"/>
          </a:xfrm>
          <a:prstGeom prst="roundRect">
            <a:avLst>
              <a:gd name="adj" fmla="val 14634"/>
            </a:avLst>
          </a:prstGeom>
          <a:solidFill>
            <a:srgbClr val="0E2A47"/>
          </a:solidFill>
          <a:ln/>
        </p:spPr>
      </p:sp>
      <p:sp>
        <p:nvSpPr>
          <p:cNvPr id="42" name="Shape 37"/>
          <p:cNvSpPr/>
          <p:nvPr/>
        </p:nvSpPr>
        <p:spPr>
          <a:xfrm>
            <a:off x="804672" y="5605272"/>
            <a:ext cx="420624" cy="420624"/>
          </a:xfrm>
          <a:prstGeom prst="roundRect">
            <a:avLst>
              <a:gd name="adj" fmla="val 50000"/>
            </a:avLst>
          </a:prstGeom>
          <a:solidFill>
            <a:srgbClr val="23B5A6"/>
          </a:solidFill>
          <a:ln/>
        </p:spPr>
      </p:sp>
      <p:pic>
        <p:nvPicPr>
          <p:cNvPr id="43" name="Image 3" descr="preencoded.png"/>
          <p:cNvPicPr>
            <a:picLocks noChangeAspect="1"/>
          </p:cNvPicPr>
          <p:nvPr/>
        </p:nvPicPr>
        <p:blipFill>
          <a:blip r:embed="rId5"/>
          <a:stretch>
            <a:fillRect/>
          </a:stretch>
        </p:blipFill>
        <p:spPr>
          <a:xfrm>
            <a:off x="905622" y="5706222"/>
            <a:ext cx="218724" cy="218724"/>
          </a:xfrm>
          <a:prstGeom prst="rect">
            <a:avLst/>
          </a:prstGeom>
        </p:spPr>
      </p:pic>
      <p:sp>
        <p:nvSpPr>
          <p:cNvPr id="44" name="Text 38"/>
          <p:cNvSpPr/>
          <p:nvPr/>
        </p:nvSpPr>
        <p:spPr>
          <a:xfrm>
            <a:off x="1371600" y="5440680"/>
            <a:ext cx="10058400" cy="749808"/>
          </a:xfrm>
          <a:prstGeom prst="rect">
            <a:avLst/>
          </a:prstGeom>
          <a:noFill/>
          <a:ln/>
        </p:spPr>
        <p:txBody>
          <a:bodyPr wrap="square" lIns="0" tIns="0" rIns="0" bIns="0" rtlCol="0" anchor="ctr"/>
          <a:lstStyle/>
          <a:p>
            <a:pPr marL="0" indent="0">
              <a:buNone/>
            </a:pPr>
            <a:r>
              <a:rPr lang="en-US" sz="1250" b="1" dirty="0">
                <a:solidFill>
                  <a:srgbClr val="23B5A6"/>
                </a:solidFill>
                <a:latin typeface="Calibri" pitchFamily="34" charset="0"/>
                <a:ea typeface="Calibri" pitchFamily="34" charset="-122"/>
                <a:cs typeface="Calibri" pitchFamily="34" charset="-120"/>
              </a:rPr>
              <a:t>Liên thông trực tiếp:  </a:t>
            </a:r>
            <a:r>
              <a:rPr lang="en-US" sz="1250" dirty="0">
                <a:solidFill>
                  <a:srgbClr val="FFFFFF"/>
                </a:solidFill>
                <a:latin typeface="Calibri" pitchFamily="34" charset="0"/>
                <a:ea typeface="Calibri" pitchFamily="34" charset="-122"/>
                <a:cs typeface="Calibri" pitchFamily="34" charset="-120"/>
              </a:rPr>
              <a:t>kế thừa Auth/RBAC &amp; Thông báo từ Base · yêu cầu gắn căn hộ/cư dân từ phân hệ Dân cư · thông báo tới các bên khi đổi trạng thái.</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DỮ LIỆU &amp; API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Sáu bảng dữ liệu và thiết kế API</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41</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45920"/>
            <a:ext cx="11064240" cy="932688"/>
          </a:xfrm>
          <a:prstGeom prst="roundRect">
            <a:avLst>
              <a:gd name="adj" fmla="val 11765"/>
            </a:avLst>
          </a:prstGeom>
          <a:solidFill>
            <a:srgbClr val="0E2A47"/>
          </a:solidFill>
          <a:ln/>
        </p:spPr>
      </p:sp>
      <p:sp>
        <p:nvSpPr>
          <p:cNvPr id="9" name="Shape 7"/>
          <p:cNvSpPr/>
          <p:nvPr/>
        </p:nvSpPr>
        <p:spPr>
          <a:xfrm>
            <a:off x="822960" y="1847088"/>
            <a:ext cx="548640" cy="548640"/>
          </a:xfrm>
          <a:prstGeom prst="roundRect">
            <a:avLst>
              <a:gd name="adj" fmla="val 50000"/>
            </a:avLst>
          </a:prstGeom>
          <a:solidFill>
            <a:srgbClr val="23B5A6"/>
          </a:solidFill>
          <a:ln/>
        </p:spPr>
      </p:sp>
      <p:pic>
        <p:nvPicPr>
          <p:cNvPr id="10" name="Image 0" descr="preencoded.png"/>
          <p:cNvPicPr>
            <a:picLocks noChangeAspect="1"/>
          </p:cNvPicPr>
          <p:nvPr/>
        </p:nvPicPr>
        <p:blipFill>
          <a:blip r:embed="rId2"/>
          <a:stretch>
            <a:fillRect/>
          </a:stretch>
        </p:blipFill>
        <p:spPr>
          <a:xfrm>
            <a:off x="954634" y="1978762"/>
            <a:ext cx="285293" cy="285293"/>
          </a:xfrm>
          <a:prstGeom prst="rect">
            <a:avLst/>
          </a:prstGeom>
        </p:spPr>
      </p:pic>
      <p:sp>
        <p:nvSpPr>
          <p:cNvPr id="11" name="Text 8"/>
          <p:cNvSpPr/>
          <p:nvPr/>
        </p:nvSpPr>
        <p:spPr>
          <a:xfrm>
            <a:off x="1508760" y="1737360"/>
            <a:ext cx="9966960" cy="777240"/>
          </a:xfrm>
          <a:prstGeom prst="rect">
            <a:avLst/>
          </a:prstGeom>
          <a:noFill/>
          <a:ln/>
        </p:spPr>
        <p:txBody>
          <a:bodyPr wrap="square" lIns="0" tIns="0" rIns="0" bIns="0" rtlCol="0" anchor="ctr"/>
          <a:lstStyle/>
          <a:p>
            <a:pPr marL="0" indent="0">
              <a:lnSpc>
                <a:spcPct val="105000"/>
              </a:lnSpc>
              <a:buNone/>
            </a:pPr>
            <a:r>
              <a:rPr lang="en-US" sz="1500" b="1" dirty="0">
                <a:solidFill>
                  <a:srgbClr val="FFFFFF"/>
                </a:solidFill>
                <a:latin typeface="Calibri" pitchFamily="34" charset="0"/>
                <a:ea typeface="Calibri" pitchFamily="34" charset="-122"/>
                <a:cs typeface="Calibri" pitchFamily="34" charset="-120"/>
              </a:rPr>
              <a:t>6 bảng trung tâm — danh mục ⇄ dịch vụ ⇄ NCC ⇄ yêu cầu
</a:t>
            </a:r>
            <a:r>
              <a:rPr lang="en-US" sz="1250" dirty="0">
                <a:solidFill>
                  <a:srgbClr val="BFD6DF"/>
                </a:solidFill>
                <a:latin typeface="Calibri" pitchFamily="34" charset="0"/>
                <a:ea typeface="Calibri" pitchFamily="34" charset="-122"/>
                <a:cs typeface="Calibri" pitchFamily="34" charset="-120"/>
              </a:rPr>
              <a:t>service_categories · services · service_menu_items · providers · provider_service_listings · service_requests</a:t>
            </a:r>
            <a:endParaRPr lang="en-US" sz="1500" dirty="0"/>
          </a:p>
        </p:txBody>
      </p:sp>
      <p:sp>
        <p:nvSpPr>
          <p:cNvPr id="12" name="Shape 9"/>
          <p:cNvSpPr/>
          <p:nvPr/>
        </p:nvSpPr>
        <p:spPr>
          <a:xfrm>
            <a:off x="566928" y="2788920"/>
            <a:ext cx="3675888" cy="2148840"/>
          </a:xfrm>
          <a:prstGeom prst="roundRect">
            <a:avLst>
              <a:gd name="adj" fmla="val 5106"/>
            </a:avLst>
          </a:prstGeom>
          <a:solidFill>
            <a:srgbClr val="E4EEF3"/>
          </a:solidFill>
          <a:ln w="25400">
            <a:solidFill>
              <a:srgbClr val="0E7C86"/>
            </a:solidFill>
            <a:prstDash val="solid"/>
          </a:ln>
          <a:effectLst>
            <a:outerShdw blurRad="88900" dist="25400" dir="5400000" algn="bl" rotWithShape="0">
              <a:srgbClr val="B9C7D1">
                <a:alpha val="40000"/>
              </a:srgbClr>
            </a:outerShdw>
          </a:effectLst>
        </p:spPr>
      </p:sp>
      <p:sp>
        <p:nvSpPr>
          <p:cNvPr id="13" name="Shape 10"/>
          <p:cNvSpPr/>
          <p:nvPr/>
        </p:nvSpPr>
        <p:spPr>
          <a:xfrm>
            <a:off x="841248" y="3063240"/>
            <a:ext cx="731520" cy="731520"/>
          </a:xfrm>
          <a:prstGeom prst="roundRect">
            <a:avLst>
              <a:gd name="adj" fmla="val 50000"/>
            </a:avLst>
          </a:prstGeom>
          <a:solidFill>
            <a:srgbClr val="0E7C86"/>
          </a:solidFill>
          <a:ln/>
        </p:spPr>
      </p:sp>
      <p:pic>
        <p:nvPicPr>
          <p:cNvPr id="14" name="Image 1" descr="preencoded.png"/>
          <p:cNvPicPr>
            <a:picLocks noChangeAspect="1"/>
          </p:cNvPicPr>
          <p:nvPr/>
        </p:nvPicPr>
        <p:blipFill>
          <a:blip r:embed="rId3"/>
          <a:stretch>
            <a:fillRect/>
          </a:stretch>
        </p:blipFill>
        <p:spPr>
          <a:xfrm>
            <a:off x="1016813" y="3238805"/>
            <a:ext cx="380390" cy="380390"/>
          </a:xfrm>
          <a:prstGeom prst="rect">
            <a:avLst/>
          </a:prstGeom>
        </p:spPr>
      </p:pic>
      <p:sp>
        <p:nvSpPr>
          <p:cNvPr id="15" name="Text 11"/>
          <p:cNvSpPr/>
          <p:nvPr/>
        </p:nvSpPr>
        <p:spPr>
          <a:xfrm>
            <a:off x="170992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Dịch vụ tiện ích</a:t>
            </a:r>
            <a:endParaRPr lang="en-US" sz="1700" dirty="0"/>
          </a:p>
        </p:txBody>
      </p:sp>
      <p:sp>
        <p:nvSpPr>
          <p:cNvPr id="16" name="Text 12"/>
          <p:cNvSpPr/>
          <p:nvPr/>
        </p:nvSpPr>
        <p:spPr>
          <a:xfrm>
            <a:off x="1709928" y="3502152"/>
            <a:ext cx="2395728" cy="32004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categories · services · menu_items</a:t>
            </a:r>
            <a:endParaRPr lang="en-US" sz="1200" dirty="0"/>
          </a:p>
        </p:txBody>
      </p:sp>
      <p:sp>
        <p:nvSpPr>
          <p:cNvPr id="17" name="Text 13"/>
          <p:cNvSpPr/>
          <p:nvPr/>
        </p:nvSpPr>
        <p:spPr>
          <a:xfrm>
            <a:off x="84124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Danh mục 1–N dịch vụ; mỗi dịch vụ 1–N mục thực đơn/bảng giá.</a:t>
            </a:r>
            <a:endParaRPr lang="en-US" sz="1200" dirty="0"/>
          </a:p>
        </p:txBody>
      </p:sp>
      <p:sp>
        <p:nvSpPr>
          <p:cNvPr id="18" name="Text 14"/>
          <p:cNvSpPr/>
          <p:nvPr/>
        </p:nvSpPr>
        <p:spPr>
          <a:xfrm>
            <a:off x="841248" y="4617720"/>
            <a:ext cx="3172968" cy="274320"/>
          </a:xfrm>
          <a:prstGeom prst="rect">
            <a:avLst/>
          </a:prstGeom>
          <a:noFill/>
          <a:ln/>
        </p:spPr>
        <p:txBody>
          <a:bodyPr wrap="square" lIns="0" tIns="0" rIns="0" bIns="0" rtlCol="0" anchor="ctr"/>
          <a:lstStyle/>
          <a:p>
            <a:pPr marL="0" indent="0">
              <a:buNone/>
            </a:pPr>
            <a:r>
              <a:rPr lang="en-US" sz="1000" b="1" kern="0" spc="100" dirty="0">
                <a:solidFill>
                  <a:srgbClr val="0E7C86"/>
                </a:solidFill>
                <a:latin typeface="Calibri" pitchFamily="34" charset="0"/>
                <a:ea typeface="Calibri" pitchFamily="34" charset="-122"/>
                <a:cs typeface="Calibri" pitchFamily="34" charset="-120"/>
              </a:rPr>
              <a:t>THỰC THỂ</a:t>
            </a:r>
            <a:endParaRPr lang="en-US" sz="1000" dirty="0"/>
          </a:p>
        </p:txBody>
      </p:sp>
      <p:sp>
        <p:nvSpPr>
          <p:cNvPr id="19" name="Shape 15"/>
          <p:cNvSpPr/>
          <p:nvPr/>
        </p:nvSpPr>
        <p:spPr>
          <a:xfrm>
            <a:off x="449884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0" name="Shape 16"/>
          <p:cNvSpPr/>
          <p:nvPr/>
        </p:nvSpPr>
        <p:spPr>
          <a:xfrm>
            <a:off x="4773168" y="3063240"/>
            <a:ext cx="731520" cy="731520"/>
          </a:xfrm>
          <a:prstGeom prst="roundRect">
            <a:avLst>
              <a:gd name="adj" fmla="val 50000"/>
            </a:avLst>
          </a:prstGeom>
          <a:solidFill>
            <a:srgbClr val="6B7A88"/>
          </a:solidFill>
          <a:ln/>
        </p:spPr>
      </p:sp>
      <p:pic>
        <p:nvPicPr>
          <p:cNvPr id="21" name="Image 2" descr="preencoded.png"/>
          <p:cNvPicPr>
            <a:picLocks noChangeAspect="1"/>
          </p:cNvPicPr>
          <p:nvPr/>
        </p:nvPicPr>
        <p:blipFill>
          <a:blip r:embed="rId4"/>
          <a:stretch>
            <a:fillRect/>
          </a:stretch>
        </p:blipFill>
        <p:spPr>
          <a:xfrm>
            <a:off x="4948733" y="3238805"/>
            <a:ext cx="380390" cy="380390"/>
          </a:xfrm>
          <a:prstGeom prst="rect">
            <a:avLst/>
          </a:prstGeom>
        </p:spPr>
      </p:pic>
      <p:sp>
        <p:nvSpPr>
          <p:cNvPr id="22" name="Text 17"/>
          <p:cNvSpPr/>
          <p:nvPr/>
        </p:nvSpPr>
        <p:spPr>
          <a:xfrm>
            <a:off x="564184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Nhà cung cấp</a:t>
            </a:r>
            <a:endParaRPr lang="en-US" sz="1700" dirty="0"/>
          </a:p>
        </p:txBody>
      </p:sp>
      <p:sp>
        <p:nvSpPr>
          <p:cNvPr id="23" name="Text 18"/>
          <p:cNvSpPr/>
          <p:nvPr/>
        </p:nvSpPr>
        <p:spPr>
          <a:xfrm>
            <a:off x="564184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providers · listings</a:t>
            </a:r>
            <a:endParaRPr lang="en-US" sz="1200" dirty="0"/>
          </a:p>
        </p:txBody>
      </p:sp>
      <p:sp>
        <p:nvSpPr>
          <p:cNvPr id="24" name="Text 19"/>
          <p:cNvSpPr/>
          <p:nvPr/>
        </p:nvSpPr>
        <p:spPr>
          <a:xfrm>
            <a:off x="477316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NCC 1–N hạng mục dịch vụ; residentId khi cư dân tự đăng ký.</a:t>
            </a:r>
            <a:endParaRPr lang="en-US" sz="1200" dirty="0"/>
          </a:p>
        </p:txBody>
      </p:sp>
      <p:sp>
        <p:nvSpPr>
          <p:cNvPr id="25" name="Shape 20"/>
          <p:cNvSpPr/>
          <p:nvPr/>
        </p:nvSpPr>
        <p:spPr>
          <a:xfrm>
            <a:off x="8430768" y="2788920"/>
            <a:ext cx="3675888"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6" name="Shape 21"/>
          <p:cNvSpPr/>
          <p:nvPr/>
        </p:nvSpPr>
        <p:spPr>
          <a:xfrm>
            <a:off x="8705088" y="3063240"/>
            <a:ext cx="731520" cy="731520"/>
          </a:xfrm>
          <a:prstGeom prst="roundRect">
            <a:avLst>
              <a:gd name="adj" fmla="val 50000"/>
            </a:avLst>
          </a:prstGeom>
          <a:solidFill>
            <a:srgbClr val="6B7A88"/>
          </a:solidFill>
          <a:ln/>
        </p:spPr>
      </p:sp>
      <p:pic>
        <p:nvPicPr>
          <p:cNvPr id="27" name="Image 3" descr="preencoded.png"/>
          <p:cNvPicPr>
            <a:picLocks noChangeAspect="1"/>
          </p:cNvPicPr>
          <p:nvPr/>
        </p:nvPicPr>
        <p:blipFill>
          <a:blip r:embed="rId5"/>
          <a:stretch>
            <a:fillRect/>
          </a:stretch>
        </p:blipFill>
        <p:spPr>
          <a:xfrm>
            <a:off x="8880653" y="3238805"/>
            <a:ext cx="380390" cy="380390"/>
          </a:xfrm>
          <a:prstGeom prst="rect">
            <a:avLst/>
          </a:prstGeom>
        </p:spPr>
      </p:pic>
      <p:sp>
        <p:nvSpPr>
          <p:cNvPr id="28" name="Text 22"/>
          <p:cNvSpPr/>
          <p:nvPr/>
        </p:nvSpPr>
        <p:spPr>
          <a:xfrm>
            <a:off x="9573768" y="3099816"/>
            <a:ext cx="2395728" cy="384048"/>
          </a:xfrm>
          <a:prstGeom prst="rect">
            <a:avLst/>
          </a:prstGeom>
          <a:noFill/>
          <a:ln/>
        </p:spPr>
        <p:txBody>
          <a:bodyPr wrap="square" lIns="0" tIns="0" rIns="0" bIns="0" rtlCol="0" anchor="ctr"/>
          <a:lstStyle/>
          <a:p>
            <a:pPr marL="0" indent="0">
              <a:buNone/>
            </a:pPr>
            <a:r>
              <a:rPr lang="en-US" sz="1700" b="1" dirty="0">
                <a:solidFill>
                  <a:srgbClr val="0E2A47"/>
                </a:solidFill>
                <a:latin typeface="Cambria" pitchFamily="34" charset="0"/>
                <a:ea typeface="Cambria" pitchFamily="34" charset="-122"/>
                <a:cs typeface="Cambria" pitchFamily="34" charset="-120"/>
              </a:rPr>
              <a:t>Yêu cầu</a:t>
            </a:r>
            <a:endParaRPr lang="en-US" sz="1700" dirty="0"/>
          </a:p>
        </p:txBody>
      </p:sp>
      <p:sp>
        <p:nvSpPr>
          <p:cNvPr id="29" name="Text 23"/>
          <p:cNvSpPr/>
          <p:nvPr/>
        </p:nvSpPr>
        <p:spPr>
          <a:xfrm>
            <a:off x="9573768" y="3502152"/>
            <a:ext cx="2395728" cy="320040"/>
          </a:xfrm>
          <a:prstGeom prst="rect">
            <a:avLst/>
          </a:prstGeom>
          <a:noFill/>
          <a:ln/>
        </p:spPr>
        <p:txBody>
          <a:bodyPr wrap="square" lIns="0" tIns="0" rIns="0" bIns="0" rtlCol="0" anchor="ctr"/>
          <a:lstStyle/>
          <a:p>
            <a:pPr marL="0" indent="0">
              <a:buNone/>
            </a:pPr>
            <a:r>
              <a:rPr lang="en-US" sz="1200" b="1" dirty="0">
                <a:solidFill>
                  <a:srgbClr val="6B7A88"/>
                </a:solidFill>
                <a:latin typeface="Calibri" pitchFamily="34" charset="0"/>
                <a:ea typeface="Calibri" pitchFamily="34" charset="-122"/>
                <a:cs typeface="Calibri" pitchFamily="34" charset="-120"/>
              </a:rPr>
              <a:t>service_requests</a:t>
            </a:r>
            <a:endParaRPr lang="en-US" sz="1200" dirty="0"/>
          </a:p>
        </p:txBody>
      </p:sp>
      <p:sp>
        <p:nvSpPr>
          <p:cNvPr id="30" name="Text 24"/>
          <p:cNvSpPr/>
          <p:nvPr/>
        </p:nvSpPr>
        <p:spPr>
          <a:xfrm>
            <a:off x="8705088" y="3959352"/>
            <a:ext cx="3172968" cy="82296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Gắn providerId &amp; apartmentId; requestedBy, status, scheduledDate.</a:t>
            </a:r>
            <a:endParaRPr lang="en-US" sz="1200" dirty="0"/>
          </a:p>
        </p:txBody>
      </p:sp>
      <p:sp>
        <p:nvSpPr>
          <p:cNvPr id="31" name="Text 25"/>
          <p:cNvSpPr/>
          <p:nvPr/>
        </p:nvSpPr>
        <p:spPr>
          <a:xfrm>
            <a:off x="566928" y="5138928"/>
            <a:ext cx="11064240" cy="640080"/>
          </a:xfrm>
          <a:prstGeom prst="rect">
            <a:avLst/>
          </a:prstGeom>
          <a:noFill/>
          <a:ln/>
        </p:spPr>
        <p:txBody>
          <a:bodyPr wrap="square" lIns="0" tIns="0" rIns="0" bIns="0" rtlCol="0" anchor="ctr"/>
          <a:lstStyle/>
          <a:p>
            <a:pPr marL="0" indent="0">
              <a:buNone/>
            </a:pPr>
            <a:r>
              <a:rPr lang="en-US" sz="1250" i="1" dirty="0">
                <a:solidFill>
                  <a:srgbClr val="6B7A88"/>
                </a:solidFill>
                <a:latin typeface="Calibri" pitchFamily="34" charset="0"/>
                <a:ea typeface="Calibri" pitchFamily="34" charset="-122"/>
                <a:cs typeface="Calibri" pitchFamily="34" charset="-120"/>
              </a:rPr>
              <a:t>API theo quyền: service.view/manage · provider.view/approve · servicerequest.approve. Mỗi endpoint yêu cầu JWT + policy RBAC; tham chiếu apartmentId/residentId qua Guid cross-service.</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PHẦN AI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Nhận diện hư hỏng: bài toán và dữ liệu</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42</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BÀI TOÁN OBJECT DETECTION</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Với mỗi vùng hư hỏng: tọa độ khung bao (bounding box), nhãn phân loại và độ tin cậy — phục vụ gợi ý danh mục nhà cung cấp cho cư dân</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2"/>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5 lớp đối tượng</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wall_crack · floor_crack · tile_defect · electrical_damage · building_damage</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3"/>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Nguồn dữ liệu</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6 nguồn công khai · 143.244 ảnh gốc (giới hạn 3.000/nguồn)</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4"/>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Chuẩn hóa &amp; chia tách</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Nhãn YOLO (bbox) · 75% train / 15% val / 10% test → 16.788 ảnh</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Mô hình nền  </a:t>
            </a:r>
            <a:r>
              <a:rPr lang="en-US" sz="1250" b="1" dirty="0">
                <a:solidFill>
                  <a:srgbClr val="0E7C86"/>
                </a:solidFill>
                <a:latin typeface="Calibri" pitchFamily="34" charset="0"/>
                <a:ea typeface="Calibri" pitchFamily="34" charset="-122"/>
                <a:cs typeface="Calibri" pitchFamily="34" charset="-120"/>
              </a:rPr>
              <a:t>YOLOv8m (Ultralytics)</a:t>
            </a:r>
            <a:r>
              <a:rPr lang="en-US" sz="1250" b="1" dirty="0">
                <a:solidFill>
                  <a:srgbClr val="0E2A47"/>
                </a:solidFill>
                <a:latin typeface="Calibri" pitchFamily="34" charset="0"/>
                <a:ea typeface="Calibri" pitchFamily="34" charset="-122"/>
                <a:cs typeface="Calibri" pitchFamily="34" charset="-120"/>
              </a:rPr>
              <a:t>   ~   Tham số  </a:t>
            </a:r>
            <a:r>
              <a:rPr lang="en-US" sz="1250" b="1" dirty="0">
                <a:solidFill>
                  <a:srgbClr val="0E7C86"/>
                </a:solidFill>
                <a:latin typeface="Calibri" pitchFamily="34" charset="0"/>
                <a:ea typeface="Calibri" pitchFamily="34" charset="-122"/>
                <a:cs typeface="Calibri" pitchFamily="34" charset="-120"/>
              </a:rPr>
              <a:t>25,9 triệu</a:t>
            </a:r>
            <a:r>
              <a:rPr lang="en-US" sz="1250" dirty="0">
                <a:solidFill>
                  <a:srgbClr val="22303C"/>
                </a:solidFill>
                <a:latin typeface="Calibri" pitchFamily="34" charset="0"/>
                <a:ea typeface="Calibri" pitchFamily="34" charset="-122"/>
                <a:cs typeface="Calibri" pitchFamily="34" charset="-120"/>
              </a:rPr>
              <a:t>   ·   ảnh chỉ có nhãn phân loại được gán bbox phủ toàn ảnh khi chuẩn hóa.</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HUẤN LUYỆN &amp; KẾT QUẢ</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Cấu hình huấn luyện và kết quả trên tập test</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43</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691640"/>
            <a:ext cx="5394960" cy="1417320"/>
          </a:xfrm>
          <a:prstGeom prst="roundRect">
            <a:avLst>
              <a:gd name="adj" fmla="val 7742"/>
            </a:avLst>
          </a:prstGeom>
          <a:solidFill>
            <a:srgbClr val="F1F5F8"/>
          </a:solidFill>
          <a:ln/>
          <a:effectLst>
            <a:outerShdw blurRad="88900" dist="25400" dir="5400000" algn="bl" rotWithShape="0">
              <a:srgbClr val="B9C7D1">
                <a:alpha val="40000"/>
              </a:srgbClr>
            </a:outerShdw>
          </a:effectLst>
        </p:spPr>
      </p:sp>
      <p:sp>
        <p:nvSpPr>
          <p:cNvPr id="9" name="Shape 7"/>
          <p:cNvSpPr/>
          <p:nvPr/>
        </p:nvSpPr>
        <p:spPr>
          <a:xfrm>
            <a:off x="822960" y="1938528"/>
            <a:ext cx="548640" cy="548640"/>
          </a:xfrm>
          <a:prstGeom prst="roundRect">
            <a:avLst>
              <a:gd name="adj" fmla="val 50000"/>
            </a:avLst>
          </a:prstGeom>
          <a:solidFill>
            <a:srgbClr val="E4572E"/>
          </a:solidFill>
          <a:ln/>
        </p:spPr>
      </p:sp>
      <p:pic>
        <p:nvPicPr>
          <p:cNvPr id="10" name="Image 0" descr="preencoded.png"/>
          <p:cNvPicPr>
            <a:picLocks noChangeAspect="1"/>
          </p:cNvPicPr>
          <p:nvPr/>
        </p:nvPicPr>
        <p:blipFill>
          <a:blip r:embed="rId2"/>
          <a:stretch>
            <a:fillRect/>
          </a:stretch>
        </p:blipFill>
        <p:spPr>
          <a:xfrm>
            <a:off x="954634" y="2070202"/>
            <a:ext cx="285293" cy="285293"/>
          </a:xfrm>
          <a:prstGeom prst="rect">
            <a:avLst/>
          </a:prstGeom>
        </p:spPr>
      </p:pic>
      <p:sp>
        <p:nvSpPr>
          <p:cNvPr id="11" name="Text 8"/>
          <p:cNvSpPr/>
          <p:nvPr/>
        </p:nvSpPr>
        <p:spPr>
          <a:xfrm>
            <a:off x="1508760" y="1965960"/>
            <a:ext cx="3657600" cy="36576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Huấn luyện</a:t>
            </a:r>
            <a:endParaRPr lang="en-US" sz="1500" dirty="0"/>
          </a:p>
        </p:txBody>
      </p:sp>
      <p:sp>
        <p:nvSpPr>
          <p:cNvPr id="12" name="Text 9"/>
          <p:cNvSpPr/>
          <p:nvPr/>
        </p:nvSpPr>
        <p:spPr>
          <a:xfrm>
            <a:off x="822960" y="2423160"/>
            <a:ext cx="4937760" cy="640080"/>
          </a:xfrm>
          <a:prstGeom prst="rect">
            <a:avLst/>
          </a:prstGeom>
          <a:noFill/>
          <a:ln/>
        </p:spPr>
        <p:txBody>
          <a:bodyPr wrap="square" lIns="0" tIns="0" rIns="0" bIns="0" rtlCol="0" anchor="t"/>
          <a:lstStyle/>
          <a:p>
            <a:pPr marL="0" indent="0">
              <a:buNone/>
            </a:pPr>
            <a:r>
              <a:rPr lang="en-US" sz="1200" dirty="0">
                <a:solidFill>
                  <a:srgbClr val="22303C"/>
                </a:solidFill>
                <a:latin typeface="Calibri" pitchFamily="34" charset="0"/>
                <a:ea typeface="Calibri" pitchFamily="34" charset="-122"/>
                <a:cs typeface="Calibri" pitchFamily="34" charset="-120"/>
              </a:rPr>
              <a:t>YOLOv8m từ trọng số pretrained (RTX 3060); ảnh 640×640, batch 8, 100 epoch (early stopping 30); AdamW, lr 0,001, cosine, warmup 3.</a:t>
            </a:r>
            <a:endParaRPr lang="en-US" sz="1200" dirty="0"/>
          </a:p>
        </p:txBody>
      </p:sp>
      <p:sp>
        <p:nvSpPr>
          <p:cNvPr id="13" name="Shape 10"/>
          <p:cNvSpPr/>
          <p:nvPr/>
        </p:nvSpPr>
        <p:spPr>
          <a:xfrm>
            <a:off x="566928" y="3246120"/>
            <a:ext cx="5394960" cy="1874520"/>
          </a:xfrm>
          <a:prstGeom prst="roundRect">
            <a:avLst>
              <a:gd name="adj" fmla="val 5854"/>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4" name="Shape 11"/>
          <p:cNvSpPr/>
          <p:nvPr/>
        </p:nvSpPr>
        <p:spPr>
          <a:xfrm>
            <a:off x="822960" y="3483864"/>
            <a:ext cx="640080" cy="640080"/>
          </a:xfrm>
          <a:prstGeom prst="roundRect">
            <a:avLst>
              <a:gd name="adj" fmla="val 50000"/>
            </a:avLst>
          </a:prstGeom>
          <a:solidFill>
            <a:srgbClr val="0E7C86"/>
          </a:solidFill>
          <a:ln/>
        </p:spPr>
      </p:sp>
      <p:pic>
        <p:nvPicPr>
          <p:cNvPr id="15" name="Image 1" descr="preencoded.png"/>
          <p:cNvPicPr>
            <a:picLocks noChangeAspect="1"/>
          </p:cNvPicPr>
          <p:nvPr/>
        </p:nvPicPr>
        <p:blipFill>
          <a:blip r:embed="rId3"/>
          <a:stretch>
            <a:fillRect/>
          </a:stretch>
        </p:blipFill>
        <p:spPr>
          <a:xfrm>
            <a:off x="976579" y="3637483"/>
            <a:ext cx="332842" cy="332842"/>
          </a:xfrm>
          <a:prstGeom prst="rect">
            <a:avLst/>
          </a:prstGeom>
        </p:spPr>
      </p:pic>
      <p:sp>
        <p:nvSpPr>
          <p:cNvPr id="16" name="Text 12"/>
          <p:cNvSpPr/>
          <p:nvPr/>
        </p:nvSpPr>
        <p:spPr>
          <a:xfrm>
            <a:off x="1618488"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Tăng cường dữ liệu</a:t>
            </a:r>
            <a:endParaRPr lang="en-US" sz="1550" dirty="0"/>
          </a:p>
        </p:txBody>
      </p:sp>
      <p:sp>
        <p:nvSpPr>
          <p:cNvPr id="17" name="Text 13"/>
          <p:cNvSpPr/>
          <p:nvPr/>
        </p:nvSpPr>
        <p:spPr>
          <a:xfrm>
            <a:off x="822960"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Xoay, dịch, co giãn, phối cảnh, mosaic, mixup, HSV; tắt lật dọc (không đối xứng). Trọng số loss: box 7,5 · cls 0,5 · dfl 1,5; xuất ONNX.</a:t>
            </a:r>
            <a:endParaRPr lang="en-US" sz="1200" dirty="0"/>
          </a:p>
        </p:txBody>
      </p:sp>
      <p:sp>
        <p:nvSpPr>
          <p:cNvPr id="18" name="Shape 14"/>
          <p:cNvSpPr/>
          <p:nvPr/>
        </p:nvSpPr>
        <p:spPr>
          <a:xfrm>
            <a:off x="6163056" y="3246120"/>
            <a:ext cx="5394960" cy="1874520"/>
          </a:xfrm>
          <a:prstGeom prst="roundRect">
            <a:avLst>
              <a:gd name="adj" fmla="val 5854"/>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9" name="Shape 15"/>
          <p:cNvSpPr/>
          <p:nvPr/>
        </p:nvSpPr>
        <p:spPr>
          <a:xfrm>
            <a:off x="6419088" y="3483864"/>
            <a:ext cx="640080" cy="640080"/>
          </a:xfrm>
          <a:prstGeom prst="roundRect">
            <a:avLst>
              <a:gd name="adj" fmla="val 50000"/>
            </a:avLst>
          </a:prstGeom>
          <a:solidFill>
            <a:srgbClr val="23B5A6"/>
          </a:solidFill>
          <a:ln/>
        </p:spPr>
      </p:sp>
      <p:pic>
        <p:nvPicPr>
          <p:cNvPr id="20" name="Image 2" descr="preencoded.png"/>
          <p:cNvPicPr>
            <a:picLocks noChangeAspect="1"/>
          </p:cNvPicPr>
          <p:nvPr/>
        </p:nvPicPr>
        <p:blipFill>
          <a:blip r:embed="rId4"/>
          <a:stretch>
            <a:fillRect/>
          </a:stretch>
        </p:blipFill>
        <p:spPr>
          <a:xfrm>
            <a:off x="6572707" y="3637483"/>
            <a:ext cx="332842" cy="332842"/>
          </a:xfrm>
          <a:prstGeom prst="rect">
            <a:avLst/>
          </a:prstGeom>
        </p:spPr>
      </p:pic>
      <p:sp>
        <p:nvSpPr>
          <p:cNvPr id="21" name="Text 16"/>
          <p:cNvSpPr/>
          <p:nvPr/>
        </p:nvSpPr>
        <p:spPr>
          <a:xfrm>
            <a:off x="7214616" y="3557016"/>
            <a:ext cx="4206240" cy="457200"/>
          </a:xfrm>
          <a:prstGeom prst="rect">
            <a:avLst/>
          </a:prstGeom>
          <a:noFill/>
          <a:ln/>
        </p:spPr>
        <p:txBody>
          <a:bodyPr wrap="square" lIns="0" tIns="0" rIns="0" bIns="0" rtlCol="0" anchor="ctr"/>
          <a:lstStyle/>
          <a:p>
            <a:pPr marL="0" indent="0">
              <a:buNone/>
            </a:pPr>
            <a:r>
              <a:rPr lang="en-US" sz="1550" b="1" dirty="0">
                <a:solidFill>
                  <a:srgbClr val="0E2A47"/>
                </a:solidFill>
                <a:latin typeface="Cambria" pitchFamily="34" charset="0"/>
                <a:ea typeface="Cambria" pitchFamily="34" charset="-122"/>
                <a:cs typeface="Cambria" pitchFamily="34" charset="-120"/>
              </a:rPr>
              <a:t>Kết quả (test)</a:t>
            </a:r>
            <a:endParaRPr lang="en-US" sz="1550" dirty="0"/>
          </a:p>
        </p:txBody>
      </p:sp>
      <p:sp>
        <p:nvSpPr>
          <p:cNvPr id="22" name="Text 17"/>
          <p:cNvSpPr/>
          <p:nvPr/>
        </p:nvSpPr>
        <p:spPr>
          <a:xfrm>
            <a:off x="6419088" y="4343400"/>
            <a:ext cx="4937760" cy="685800"/>
          </a:xfrm>
          <a:prstGeom prst="rect">
            <a:avLst/>
          </a:prstGeom>
          <a:noFill/>
          <a:ln/>
        </p:spPr>
        <p:txBody>
          <a:bodyPr wrap="square" lIns="0" tIns="0" rIns="0" bIns="0" rtlCol="0" anchor="t"/>
          <a:lstStyle/>
          <a:p>
            <a:pPr marL="0" indent="0">
              <a:lnSpc>
                <a:spcPct val="103000"/>
              </a:lnSpc>
              <a:buNone/>
            </a:pPr>
            <a:r>
              <a:rPr lang="en-US" sz="1200" dirty="0">
                <a:solidFill>
                  <a:srgbClr val="22303C"/>
                </a:solidFill>
                <a:latin typeface="Calibri" pitchFamily="34" charset="0"/>
                <a:ea typeface="Calibri" pitchFamily="34" charset="-122"/>
                <a:cs typeface="Calibri" pitchFamily="34" charset="-120"/>
              </a:rPr>
              <a:t>1.678 ảnh (conf 0,25; IoU 0,6): 4/5 lớp mAP@50 ≥ 0,99; riêng electrical_damage thấp (recall 0,403) do dữ liệu nhỏ nhất.</a:t>
            </a:r>
            <a:endParaRPr lang="en-US" sz="1200" dirty="0"/>
          </a:p>
        </p:txBody>
      </p:sp>
      <p:sp>
        <p:nvSpPr>
          <p:cNvPr id="23" name="Shape 18"/>
          <p:cNvSpPr/>
          <p:nvPr/>
        </p:nvSpPr>
        <p:spPr>
          <a:xfrm>
            <a:off x="566928" y="5257800"/>
            <a:ext cx="3566160" cy="822960"/>
          </a:xfrm>
          <a:prstGeom prst="roundRect">
            <a:avLst>
              <a:gd name="adj" fmla="val 12222"/>
            </a:avLst>
          </a:prstGeom>
          <a:solidFill>
            <a:srgbClr val="0E2A47"/>
          </a:solidFill>
          <a:ln/>
        </p:spPr>
      </p:sp>
      <p:sp>
        <p:nvSpPr>
          <p:cNvPr id="24" name="Text 19"/>
          <p:cNvSpPr/>
          <p:nvPr/>
        </p:nvSpPr>
        <p:spPr>
          <a:xfrm>
            <a:off x="74980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0,917</a:t>
            </a:r>
            <a:endParaRPr lang="en-US" sz="1800" dirty="0"/>
          </a:p>
        </p:txBody>
      </p:sp>
      <p:sp>
        <p:nvSpPr>
          <p:cNvPr id="25" name="Text 20"/>
          <p:cNvSpPr/>
          <p:nvPr/>
        </p:nvSpPr>
        <p:spPr>
          <a:xfrm>
            <a:off x="74980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mAP@50 toàn tập (all)</a:t>
            </a:r>
            <a:endParaRPr lang="en-US" sz="1100" dirty="0"/>
          </a:p>
        </p:txBody>
      </p:sp>
      <p:sp>
        <p:nvSpPr>
          <p:cNvPr id="26" name="Shape 21"/>
          <p:cNvSpPr/>
          <p:nvPr/>
        </p:nvSpPr>
        <p:spPr>
          <a:xfrm>
            <a:off x="4315968" y="5257800"/>
            <a:ext cx="3566160" cy="822960"/>
          </a:xfrm>
          <a:prstGeom prst="roundRect">
            <a:avLst>
              <a:gd name="adj" fmla="val 12222"/>
            </a:avLst>
          </a:prstGeom>
          <a:solidFill>
            <a:srgbClr val="0E2A47"/>
          </a:solidFill>
          <a:ln/>
        </p:spPr>
      </p:sp>
      <p:sp>
        <p:nvSpPr>
          <p:cNvPr id="27" name="Text 22"/>
          <p:cNvSpPr/>
          <p:nvPr/>
        </p:nvSpPr>
        <p:spPr>
          <a:xfrm>
            <a:off x="449884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4 / 5 lớp</a:t>
            </a:r>
            <a:endParaRPr lang="en-US" sz="1800" dirty="0"/>
          </a:p>
        </p:txBody>
      </p:sp>
      <p:sp>
        <p:nvSpPr>
          <p:cNvPr id="28" name="Text 23"/>
          <p:cNvSpPr/>
          <p:nvPr/>
        </p:nvSpPr>
        <p:spPr>
          <a:xfrm>
            <a:off x="449884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mAP@50 ≥ 0,99</a:t>
            </a:r>
            <a:endParaRPr lang="en-US" sz="1100" dirty="0"/>
          </a:p>
        </p:txBody>
      </p:sp>
      <p:sp>
        <p:nvSpPr>
          <p:cNvPr id="29" name="Shape 24"/>
          <p:cNvSpPr/>
          <p:nvPr/>
        </p:nvSpPr>
        <p:spPr>
          <a:xfrm>
            <a:off x="8065008" y="5257800"/>
            <a:ext cx="3566160" cy="822960"/>
          </a:xfrm>
          <a:prstGeom prst="roundRect">
            <a:avLst>
              <a:gd name="adj" fmla="val 12222"/>
            </a:avLst>
          </a:prstGeom>
          <a:solidFill>
            <a:srgbClr val="0E2A47"/>
          </a:solidFill>
          <a:ln/>
        </p:spPr>
      </p:sp>
      <p:sp>
        <p:nvSpPr>
          <p:cNvPr id="30" name="Text 25"/>
          <p:cNvSpPr/>
          <p:nvPr/>
        </p:nvSpPr>
        <p:spPr>
          <a:xfrm>
            <a:off x="8247888" y="5367528"/>
            <a:ext cx="3200400" cy="411480"/>
          </a:xfrm>
          <a:prstGeom prst="rect">
            <a:avLst/>
          </a:prstGeom>
          <a:noFill/>
          <a:ln/>
        </p:spPr>
        <p:txBody>
          <a:bodyPr wrap="square" lIns="0" tIns="0" rIns="0" bIns="0" rtlCol="0" anchor="ctr"/>
          <a:lstStyle/>
          <a:p>
            <a:pPr marL="0" indent="0">
              <a:buNone/>
            </a:pPr>
            <a:r>
              <a:rPr lang="en-US" sz="1800" b="1" dirty="0">
                <a:solidFill>
                  <a:srgbClr val="23B5A6"/>
                </a:solidFill>
                <a:latin typeface="Cambria" pitchFamily="34" charset="0"/>
                <a:ea typeface="Cambria" pitchFamily="34" charset="-122"/>
                <a:cs typeface="Cambria" pitchFamily="34" charset="-120"/>
              </a:rPr>
              <a:t>0,859</a:t>
            </a:r>
            <a:endParaRPr lang="en-US" sz="1800" dirty="0"/>
          </a:p>
        </p:txBody>
      </p:sp>
      <p:sp>
        <p:nvSpPr>
          <p:cNvPr id="31" name="Text 26"/>
          <p:cNvSpPr/>
          <p:nvPr/>
        </p:nvSpPr>
        <p:spPr>
          <a:xfrm>
            <a:off x="8247888" y="5760720"/>
            <a:ext cx="3200400" cy="274320"/>
          </a:xfrm>
          <a:prstGeom prst="rect">
            <a:avLst/>
          </a:prstGeom>
          <a:noFill/>
          <a:ln/>
        </p:spPr>
        <p:txBody>
          <a:bodyPr wrap="square" lIns="0" tIns="0" rIns="0" bIns="0" rtlCol="0" anchor="ctr"/>
          <a:lstStyle/>
          <a:p>
            <a:pPr marL="0" indent="0">
              <a:buNone/>
            </a:pPr>
            <a:r>
              <a:rPr lang="en-US" sz="1100" dirty="0">
                <a:solidFill>
                  <a:srgbClr val="BFD6DF"/>
                </a:solidFill>
                <a:latin typeface="Calibri" pitchFamily="34" charset="0"/>
                <a:ea typeface="Calibri" pitchFamily="34" charset="-122"/>
                <a:cs typeface="Calibri" pitchFamily="34" charset="-120"/>
              </a:rPr>
              <a:t>mAP@50-95 toàn tập</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PHÂN HỆ DỊCH VỤ · TÍCH HỢP AI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Nhận diện hư hỏng công trình qua ảnh (YOLOv8)</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44</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4160520"/>
            <a:ext cx="11064240" cy="1051560"/>
          </a:xfrm>
          <a:prstGeom prst="roundRect">
            <a:avLst>
              <a:gd name="adj" fmla="val 10435"/>
            </a:avLst>
          </a:prstGeom>
          <a:solidFill>
            <a:srgbClr val="0E2A47"/>
          </a:solidFill>
          <a:ln/>
        </p:spPr>
      </p:sp>
      <p:sp>
        <p:nvSpPr>
          <p:cNvPr id="9" name="Text 7"/>
          <p:cNvSpPr/>
          <p:nvPr/>
        </p:nvSpPr>
        <p:spPr>
          <a:xfrm>
            <a:off x="822960" y="4297680"/>
            <a:ext cx="10515600" cy="320040"/>
          </a:xfrm>
          <a:prstGeom prst="rect">
            <a:avLst/>
          </a:prstGeom>
          <a:noFill/>
          <a:ln/>
        </p:spPr>
        <p:txBody>
          <a:bodyPr wrap="square" lIns="0" tIns="0" rIns="0" bIns="0" rtlCol="0" anchor="ctr"/>
          <a:lstStyle/>
          <a:p>
            <a:pPr marL="0" indent="0">
              <a:buNone/>
            </a:pPr>
            <a:r>
              <a:rPr lang="en-US" sz="1250" b="1" kern="0" spc="150" dirty="0">
                <a:solidFill>
                  <a:srgbClr val="23B5A6"/>
                </a:solidFill>
                <a:latin typeface="Calibri" pitchFamily="34" charset="0"/>
                <a:ea typeface="Calibri" pitchFamily="34" charset="-122"/>
                <a:cs typeface="Calibri" pitchFamily="34" charset="-120"/>
              </a:rPr>
              <a:t>TÍCH HỢP TẠI PORTAL (KHÔNG BẮT BUỘC)</a:t>
            </a:r>
            <a:endParaRPr lang="en-US" sz="1250" dirty="0"/>
          </a:p>
        </p:txBody>
      </p:sp>
      <p:sp>
        <p:nvSpPr>
          <p:cNvPr id="10" name="Text 8"/>
          <p:cNvSpPr/>
          <p:nvPr/>
        </p:nvSpPr>
        <p:spPr>
          <a:xfrm>
            <a:off x="822960" y="4645152"/>
            <a:ext cx="10515600" cy="4572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Cư dân tải ảnh hư hỏng → backend gọi damage-service → gợi ý danh mục nhà cung cấp phù hợp kèm độ tin cậy</a:t>
            </a:r>
            <a:endParaRPr lang="en-US" sz="1300" dirty="0"/>
          </a:p>
        </p:txBody>
      </p:sp>
      <p:sp>
        <p:nvSpPr>
          <p:cNvPr id="11" name="Shape 9"/>
          <p:cNvSpPr/>
          <p:nvPr/>
        </p:nvSpPr>
        <p:spPr>
          <a:xfrm>
            <a:off x="566928" y="1691640"/>
            <a:ext cx="3566160" cy="2194560"/>
          </a:xfrm>
          <a:prstGeom prst="roundRect">
            <a:avLst>
              <a:gd name="adj" fmla="val 5000"/>
            </a:avLst>
          </a:prstGeom>
          <a:solidFill>
            <a:srgbClr val="FFFFFF"/>
          </a:solidFill>
          <a:ln w="19050">
            <a:solidFill>
              <a:srgbClr val="0E7C86"/>
            </a:solidFill>
            <a:prstDash val="solid"/>
          </a:ln>
          <a:effectLst>
            <a:outerShdw blurRad="88900" dist="25400" dir="5400000" algn="bl" rotWithShape="0">
              <a:srgbClr val="B9C7D1">
                <a:alpha val="40000"/>
              </a:srgbClr>
            </a:outerShdw>
          </a:effectLst>
        </p:spPr>
      </p:sp>
      <p:sp>
        <p:nvSpPr>
          <p:cNvPr id="12" name="Shape 10"/>
          <p:cNvSpPr/>
          <p:nvPr/>
        </p:nvSpPr>
        <p:spPr>
          <a:xfrm>
            <a:off x="1938528" y="1947672"/>
            <a:ext cx="822960" cy="822960"/>
          </a:xfrm>
          <a:prstGeom prst="roundRect">
            <a:avLst>
              <a:gd name="adj" fmla="val 50000"/>
            </a:avLst>
          </a:prstGeom>
          <a:solidFill>
            <a:srgbClr val="0E7C86"/>
          </a:solidFill>
          <a:ln/>
        </p:spPr>
      </p:sp>
      <p:pic>
        <p:nvPicPr>
          <p:cNvPr id="13" name="Image 0" descr="preencoded.png"/>
          <p:cNvPicPr>
            <a:picLocks noChangeAspect="1"/>
          </p:cNvPicPr>
          <p:nvPr/>
        </p:nvPicPr>
        <p:blipFill>
          <a:blip r:embed="rId2"/>
          <a:stretch>
            <a:fillRect/>
          </a:stretch>
        </p:blipFill>
        <p:spPr>
          <a:xfrm>
            <a:off x="2136038" y="2145182"/>
            <a:ext cx="427939" cy="427939"/>
          </a:xfrm>
          <a:prstGeom prst="rect">
            <a:avLst/>
          </a:prstGeom>
        </p:spPr>
      </p:pic>
      <p:sp>
        <p:nvSpPr>
          <p:cNvPr id="14" name="Text 11"/>
          <p:cNvSpPr/>
          <p:nvPr/>
        </p:nvSpPr>
        <p:spPr>
          <a:xfrm>
            <a:off x="56692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Bài toán — 5 lớp</a:t>
            </a:r>
            <a:endParaRPr lang="en-US" sz="1700" dirty="0"/>
          </a:p>
        </p:txBody>
      </p:sp>
      <p:sp>
        <p:nvSpPr>
          <p:cNvPr id="15" name="Text 12"/>
          <p:cNvSpPr/>
          <p:nvPr/>
        </p:nvSpPr>
        <p:spPr>
          <a:xfrm>
            <a:off x="56692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5 loại hư hỏng · object detection</a:t>
            </a:r>
            <a:endParaRPr lang="en-US" sz="1200" dirty="0"/>
          </a:p>
        </p:txBody>
      </p:sp>
      <p:sp>
        <p:nvSpPr>
          <p:cNvPr id="16" name="Shape 13"/>
          <p:cNvSpPr/>
          <p:nvPr/>
        </p:nvSpPr>
        <p:spPr>
          <a:xfrm>
            <a:off x="2240280" y="3931920"/>
            <a:ext cx="219456" cy="347472"/>
          </a:xfrm>
          <a:prstGeom prst="downArrow">
            <a:avLst/>
          </a:prstGeom>
          <a:solidFill>
            <a:srgbClr val="0E7C86"/>
          </a:solidFill>
          <a:ln/>
        </p:spPr>
      </p:sp>
      <p:sp>
        <p:nvSpPr>
          <p:cNvPr id="17" name="Shape 14"/>
          <p:cNvSpPr/>
          <p:nvPr/>
        </p:nvSpPr>
        <p:spPr>
          <a:xfrm>
            <a:off x="4315968" y="1691640"/>
            <a:ext cx="3566160" cy="2194560"/>
          </a:xfrm>
          <a:prstGeom prst="roundRect">
            <a:avLst>
              <a:gd name="adj" fmla="val 5000"/>
            </a:avLst>
          </a:prstGeom>
          <a:solidFill>
            <a:srgbClr val="FFFFFF"/>
          </a:solidFill>
          <a:ln w="19050">
            <a:solidFill>
              <a:srgbClr val="23B5A6"/>
            </a:solidFill>
            <a:prstDash val="solid"/>
          </a:ln>
          <a:effectLst>
            <a:outerShdw blurRad="88900" dist="25400" dir="5400000" algn="bl" rotWithShape="0">
              <a:srgbClr val="B9C7D1">
                <a:alpha val="40000"/>
              </a:srgbClr>
            </a:outerShdw>
          </a:effectLst>
        </p:spPr>
      </p:sp>
      <p:sp>
        <p:nvSpPr>
          <p:cNvPr id="18" name="Shape 15"/>
          <p:cNvSpPr/>
          <p:nvPr/>
        </p:nvSpPr>
        <p:spPr>
          <a:xfrm>
            <a:off x="5687568" y="1947672"/>
            <a:ext cx="822960" cy="822960"/>
          </a:xfrm>
          <a:prstGeom prst="roundRect">
            <a:avLst>
              <a:gd name="adj" fmla="val 50000"/>
            </a:avLst>
          </a:prstGeom>
          <a:solidFill>
            <a:srgbClr val="23B5A6"/>
          </a:solidFill>
          <a:ln/>
        </p:spPr>
      </p:sp>
      <p:pic>
        <p:nvPicPr>
          <p:cNvPr id="19" name="Image 1" descr="preencoded.png"/>
          <p:cNvPicPr>
            <a:picLocks noChangeAspect="1"/>
          </p:cNvPicPr>
          <p:nvPr/>
        </p:nvPicPr>
        <p:blipFill>
          <a:blip r:embed="rId3"/>
          <a:stretch>
            <a:fillRect/>
          </a:stretch>
        </p:blipFill>
        <p:spPr>
          <a:xfrm>
            <a:off x="5885078" y="2145182"/>
            <a:ext cx="427939" cy="427939"/>
          </a:xfrm>
          <a:prstGeom prst="rect">
            <a:avLst/>
          </a:prstGeom>
        </p:spPr>
      </p:pic>
      <p:sp>
        <p:nvSpPr>
          <p:cNvPr id="20" name="Text 16"/>
          <p:cNvSpPr/>
          <p:nvPr/>
        </p:nvSpPr>
        <p:spPr>
          <a:xfrm>
            <a:off x="431596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Dữ liệu &amp; huấn luyện</a:t>
            </a:r>
            <a:endParaRPr lang="en-US" sz="1700" dirty="0"/>
          </a:p>
        </p:txBody>
      </p:sp>
      <p:sp>
        <p:nvSpPr>
          <p:cNvPr id="21" name="Text 17"/>
          <p:cNvSpPr/>
          <p:nvPr/>
        </p:nvSpPr>
        <p:spPr>
          <a:xfrm>
            <a:off x="431596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16.788 ảnh · YOLOv8m · 100 epoch</a:t>
            </a:r>
            <a:endParaRPr lang="en-US" sz="1200" dirty="0"/>
          </a:p>
        </p:txBody>
      </p:sp>
      <p:sp>
        <p:nvSpPr>
          <p:cNvPr id="22" name="Shape 18"/>
          <p:cNvSpPr/>
          <p:nvPr/>
        </p:nvSpPr>
        <p:spPr>
          <a:xfrm>
            <a:off x="5989320" y="3931920"/>
            <a:ext cx="219456" cy="347472"/>
          </a:xfrm>
          <a:prstGeom prst="downArrow">
            <a:avLst/>
          </a:prstGeom>
          <a:solidFill>
            <a:srgbClr val="23B5A6"/>
          </a:solidFill>
          <a:ln/>
        </p:spPr>
      </p:sp>
      <p:sp>
        <p:nvSpPr>
          <p:cNvPr id="23" name="Shape 19"/>
          <p:cNvSpPr/>
          <p:nvPr/>
        </p:nvSpPr>
        <p:spPr>
          <a:xfrm>
            <a:off x="8065008" y="1691640"/>
            <a:ext cx="3566160" cy="2194560"/>
          </a:xfrm>
          <a:prstGeom prst="roundRect">
            <a:avLst>
              <a:gd name="adj" fmla="val 5000"/>
            </a:avLst>
          </a:prstGeom>
          <a:solidFill>
            <a:srgbClr val="FFFFFF"/>
          </a:solidFill>
          <a:ln w="19050">
            <a:solidFill>
              <a:srgbClr val="EFA13C"/>
            </a:solidFill>
            <a:prstDash val="solid"/>
          </a:ln>
          <a:effectLst>
            <a:outerShdw blurRad="88900" dist="25400" dir="5400000" algn="bl" rotWithShape="0">
              <a:srgbClr val="B9C7D1">
                <a:alpha val="40000"/>
              </a:srgbClr>
            </a:outerShdw>
          </a:effectLst>
        </p:spPr>
      </p:sp>
      <p:sp>
        <p:nvSpPr>
          <p:cNvPr id="24" name="Shape 20"/>
          <p:cNvSpPr/>
          <p:nvPr/>
        </p:nvSpPr>
        <p:spPr>
          <a:xfrm>
            <a:off x="9436608" y="1947672"/>
            <a:ext cx="822960" cy="822960"/>
          </a:xfrm>
          <a:prstGeom prst="roundRect">
            <a:avLst>
              <a:gd name="adj" fmla="val 50000"/>
            </a:avLst>
          </a:prstGeom>
          <a:solidFill>
            <a:srgbClr val="EFA13C"/>
          </a:solidFill>
          <a:ln/>
        </p:spPr>
      </p:sp>
      <p:pic>
        <p:nvPicPr>
          <p:cNvPr id="25" name="Image 2" descr="preencoded.png"/>
          <p:cNvPicPr>
            <a:picLocks noChangeAspect="1"/>
          </p:cNvPicPr>
          <p:nvPr/>
        </p:nvPicPr>
        <p:blipFill>
          <a:blip r:embed="rId4"/>
          <a:stretch>
            <a:fillRect/>
          </a:stretch>
        </p:blipFill>
        <p:spPr>
          <a:xfrm>
            <a:off x="9634118" y="2145182"/>
            <a:ext cx="427939" cy="427939"/>
          </a:xfrm>
          <a:prstGeom prst="rect">
            <a:avLst/>
          </a:prstGeom>
        </p:spPr>
      </p:pic>
      <p:sp>
        <p:nvSpPr>
          <p:cNvPr id="26" name="Text 21"/>
          <p:cNvSpPr/>
          <p:nvPr/>
        </p:nvSpPr>
        <p:spPr>
          <a:xfrm>
            <a:off x="8065008" y="2862072"/>
            <a:ext cx="3566160" cy="365760"/>
          </a:xfrm>
          <a:prstGeom prst="rect">
            <a:avLst/>
          </a:prstGeom>
          <a:noFill/>
          <a:ln/>
        </p:spPr>
        <p:txBody>
          <a:bodyPr wrap="square" lIns="0" tIns="0" rIns="0" bIns="0" rtlCol="0" anchor="ctr"/>
          <a:lstStyle/>
          <a:p>
            <a:pPr marL="0" indent="0" algn="ctr">
              <a:buNone/>
            </a:pPr>
            <a:r>
              <a:rPr lang="en-US" sz="1700" b="1" dirty="0">
                <a:solidFill>
                  <a:srgbClr val="0E2A47"/>
                </a:solidFill>
                <a:latin typeface="Cambria" pitchFamily="34" charset="0"/>
                <a:ea typeface="Cambria" pitchFamily="34" charset="-122"/>
                <a:cs typeface="Cambria" pitchFamily="34" charset="-120"/>
              </a:rPr>
              <a:t>Kết quả trên test</a:t>
            </a:r>
            <a:endParaRPr lang="en-US" sz="1700" dirty="0"/>
          </a:p>
        </p:txBody>
      </p:sp>
      <p:sp>
        <p:nvSpPr>
          <p:cNvPr id="27" name="Text 22"/>
          <p:cNvSpPr/>
          <p:nvPr/>
        </p:nvSpPr>
        <p:spPr>
          <a:xfrm>
            <a:off x="8065008" y="3264408"/>
            <a:ext cx="3566160" cy="320040"/>
          </a:xfrm>
          <a:prstGeom prst="rect">
            <a:avLst/>
          </a:prstGeom>
          <a:noFill/>
          <a:ln/>
        </p:spPr>
        <p:txBody>
          <a:bodyPr wrap="square" lIns="0" tIns="0" rIns="0" bIns="0" rtlCol="0" anchor="ctr"/>
          <a:lstStyle/>
          <a:p>
            <a:pPr marL="0" indent="0" algn="ctr">
              <a:buNone/>
            </a:pPr>
            <a:r>
              <a:rPr lang="en-US" sz="1200" dirty="0">
                <a:solidFill>
                  <a:srgbClr val="6B7A88"/>
                </a:solidFill>
                <a:latin typeface="Calibri" pitchFamily="34" charset="0"/>
                <a:ea typeface="Calibri" pitchFamily="34" charset="-122"/>
                <a:cs typeface="Calibri" pitchFamily="34" charset="-120"/>
              </a:rPr>
              <a:t>mAP@50 = 0,917 · 4/5 lớp ≥ 0,99</a:t>
            </a:r>
            <a:endParaRPr lang="en-US" sz="1200" dirty="0"/>
          </a:p>
        </p:txBody>
      </p:sp>
      <p:sp>
        <p:nvSpPr>
          <p:cNvPr id="28" name="Shape 23"/>
          <p:cNvSpPr/>
          <p:nvPr/>
        </p:nvSpPr>
        <p:spPr>
          <a:xfrm>
            <a:off x="9738360" y="3931920"/>
            <a:ext cx="219456" cy="347472"/>
          </a:xfrm>
          <a:prstGeom prst="downArrow">
            <a:avLst/>
          </a:prstGeom>
          <a:solidFill>
            <a:srgbClr val="EFA13C"/>
          </a:solidFill>
          <a:ln/>
        </p:spPr>
      </p:sp>
      <p:sp>
        <p:nvSpPr>
          <p:cNvPr id="29" name="Text 24"/>
          <p:cNvSpPr/>
          <p:nvPr/>
        </p:nvSpPr>
        <p:spPr>
          <a:xfrm>
            <a:off x="566928" y="5532120"/>
            <a:ext cx="11064240" cy="640080"/>
          </a:xfrm>
          <a:prstGeom prst="rect">
            <a:avLst/>
          </a:prstGeom>
          <a:noFill/>
          <a:ln/>
        </p:spPr>
        <p:txBody>
          <a:bodyPr wrap="square" lIns="0" tIns="0" rIns="0" bIns="0" rtlCol="0" anchor="ctr"/>
          <a:lstStyle/>
          <a:p>
            <a:pPr marL="0" indent="0" algn="ctr">
              <a:buNone/>
            </a:pPr>
            <a:r>
              <a:rPr lang="en-US" sz="1250" b="1" dirty="0">
                <a:solidFill>
                  <a:srgbClr val="0E2A47"/>
                </a:solidFill>
                <a:latin typeface="Calibri" pitchFamily="34" charset="0"/>
                <a:ea typeface="Calibri" pitchFamily="34" charset="-122"/>
                <a:cs typeface="Calibri" pitchFamily="34" charset="-120"/>
              </a:rPr>
              <a:t>Dịch vụ suy luận  </a:t>
            </a:r>
            <a:r>
              <a:rPr lang="en-US" sz="1250" b="1" dirty="0">
                <a:solidFill>
                  <a:srgbClr val="0E7C86"/>
                </a:solidFill>
                <a:latin typeface="Calibri" pitchFamily="34" charset="0"/>
                <a:ea typeface="Calibri" pitchFamily="34" charset="-122"/>
                <a:cs typeface="Calibri" pitchFamily="34" charset="-120"/>
              </a:rPr>
              <a:t>FastAPI · YOLOv8m · ONNX</a:t>
            </a:r>
            <a:r>
              <a:rPr lang="en-US" sz="1250" b="1" dirty="0">
                <a:solidFill>
                  <a:srgbClr val="0E2A47"/>
                </a:solidFill>
                <a:latin typeface="Calibri" pitchFamily="34" charset="0"/>
                <a:ea typeface="Calibri" pitchFamily="34" charset="-122"/>
                <a:cs typeface="Calibri" pitchFamily="34" charset="-120"/>
              </a:rPr>
              <a:t>   ~   Backend  </a:t>
            </a:r>
            <a:r>
              <a:rPr lang="en-US" sz="1250" b="1" dirty="0">
                <a:solidFill>
                  <a:srgbClr val="0E7C86"/>
                </a:solidFill>
                <a:latin typeface="Calibri" pitchFamily="34" charset="0"/>
                <a:ea typeface="Calibri" pitchFamily="34" charset="-122"/>
                <a:cs typeface="Calibri" pitchFamily="34" charset="-120"/>
              </a:rPr>
              <a:t>DamageDetectionService</a:t>
            </a:r>
            <a:r>
              <a:rPr lang="en-US" sz="1250" dirty="0">
                <a:solidFill>
                  <a:srgbClr val="22303C"/>
                </a:solidFill>
                <a:latin typeface="Calibri" pitchFamily="34" charset="0"/>
                <a:ea typeface="Calibri" pitchFamily="34" charset="-122"/>
                <a:cs typeface="Calibri" pitchFamily="34" charset="-120"/>
              </a:rPr>
              <a:t>   ·   AI lỗi/chưa bật → trả available=false, không chặn chức năng tìm NCC (fallback).</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05 · TRIỂN KHAI</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Đóng gói &amp; triển khai bằng Docker / Fly.io</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45</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783080"/>
            <a:ext cx="11064240" cy="1005840"/>
          </a:xfrm>
          <a:prstGeom prst="roundRect">
            <a:avLst>
              <a:gd name="adj" fmla="val 1090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41248" y="2002536"/>
            <a:ext cx="566928" cy="56692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77311" y="2138599"/>
            <a:ext cx="294803" cy="294803"/>
          </a:xfrm>
          <a:prstGeom prst="rect">
            <a:avLst/>
          </a:prstGeom>
        </p:spPr>
      </p:pic>
      <p:sp>
        <p:nvSpPr>
          <p:cNvPr id="11" name="Text 8"/>
          <p:cNvSpPr/>
          <p:nvPr/>
        </p:nvSpPr>
        <p:spPr>
          <a:xfrm>
            <a:off x="1664208" y="1920240"/>
            <a:ext cx="3291840" cy="73152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Backend (.NET 8)</a:t>
            </a:r>
            <a:endParaRPr lang="en-US" sz="1600" dirty="0"/>
          </a:p>
        </p:txBody>
      </p:sp>
      <p:sp>
        <p:nvSpPr>
          <p:cNvPr id="12" name="Text 9"/>
          <p:cNvSpPr/>
          <p:nvPr/>
        </p:nvSpPr>
        <p:spPr>
          <a:xfrm>
            <a:off x="5047488" y="1920240"/>
            <a:ext cx="6309360" cy="731520"/>
          </a:xfrm>
          <a:prstGeom prst="rect">
            <a:avLst/>
          </a:prstGeom>
          <a:noFill/>
          <a:ln/>
        </p:spPr>
        <p:txBody>
          <a:bodyPr wrap="square" lIns="0" tIns="0" rIns="0" bIns="0" rtlCol="0" anchor="ctr"/>
          <a:lstStyle/>
          <a:p>
            <a:pPr marL="0" indent="0">
              <a:lnSpc>
                <a:spcPct val="103000"/>
              </a:lnSpc>
              <a:buNone/>
            </a:pPr>
            <a:r>
              <a:rPr lang="en-US" sz="1250" dirty="0">
                <a:solidFill>
                  <a:srgbClr val="22303C"/>
                </a:solidFill>
                <a:latin typeface="Calibri" pitchFamily="34" charset="0"/>
                <a:ea typeface="Calibri" pitchFamily="34" charset="-122"/>
                <a:cs typeface="Calibri" pitchFamily="34" charset="-120"/>
              </a:rPr>
              <a:t>Docker multi-stage build (dotnet/aspnet:8.0) · Fly.io (buộc HTTPS, tự start/stop) · cổng 8080 · Swagger</a:t>
            </a:r>
            <a:endParaRPr lang="en-US" sz="1250" dirty="0"/>
          </a:p>
        </p:txBody>
      </p:sp>
      <p:sp>
        <p:nvSpPr>
          <p:cNvPr id="13" name="Shape 10"/>
          <p:cNvSpPr/>
          <p:nvPr/>
        </p:nvSpPr>
        <p:spPr>
          <a:xfrm>
            <a:off x="566928" y="2971800"/>
            <a:ext cx="11064240" cy="1005840"/>
          </a:xfrm>
          <a:prstGeom prst="roundRect">
            <a:avLst>
              <a:gd name="adj" fmla="val 1090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841248" y="3191256"/>
            <a:ext cx="566928" cy="56692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977311" y="3327319"/>
            <a:ext cx="294803" cy="294803"/>
          </a:xfrm>
          <a:prstGeom prst="rect">
            <a:avLst/>
          </a:prstGeom>
        </p:spPr>
      </p:pic>
      <p:sp>
        <p:nvSpPr>
          <p:cNvPr id="16" name="Text 12"/>
          <p:cNvSpPr/>
          <p:nvPr/>
        </p:nvSpPr>
        <p:spPr>
          <a:xfrm>
            <a:off x="1664208" y="3108960"/>
            <a:ext cx="3291840" cy="73152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Frontend (Next.js 16)</a:t>
            </a:r>
            <a:endParaRPr lang="en-US" sz="1600" dirty="0"/>
          </a:p>
        </p:txBody>
      </p:sp>
      <p:sp>
        <p:nvSpPr>
          <p:cNvPr id="17" name="Text 13"/>
          <p:cNvSpPr/>
          <p:nvPr/>
        </p:nvSpPr>
        <p:spPr>
          <a:xfrm>
            <a:off x="5047488" y="3108960"/>
            <a:ext cx="6309360" cy="731520"/>
          </a:xfrm>
          <a:prstGeom prst="rect">
            <a:avLst/>
          </a:prstGeom>
          <a:noFill/>
          <a:ln/>
        </p:spPr>
        <p:txBody>
          <a:bodyPr wrap="square" lIns="0" tIns="0" rIns="0" bIns="0" rtlCol="0" anchor="ctr"/>
          <a:lstStyle/>
          <a:p>
            <a:pPr marL="0" indent="0">
              <a:lnSpc>
                <a:spcPct val="103000"/>
              </a:lnSpc>
              <a:buNone/>
            </a:pPr>
            <a:r>
              <a:rPr lang="en-US" sz="1250" dirty="0">
                <a:solidFill>
                  <a:srgbClr val="22303C"/>
                </a:solidFill>
                <a:latin typeface="Calibri" pitchFamily="34" charset="0"/>
                <a:ea typeface="Calibri" pitchFamily="34" charset="-122"/>
                <a:cs typeface="Calibri" pitchFamily="34" charset="-120"/>
              </a:rPr>
              <a:t>npm build / start · cấu hình backend qua biến môi trường NEXT_PUBLIC_API_URL</a:t>
            </a:r>
            <a:endParaRPr lang="en-US" sz="1250" dirty="0"/>
          </a:p>
        </p:txBody>
      </p:sp>
      <p:sp>
        <p:nvSpPr>
          <p:cNvPr id="18" name="Shape 14"/>
          <p:cNvSpPr/>
          <p:nvPr/>
        </p:nvSpPr>
        <p:spPr>
          <a:xfrm>
            <a:off x="566928" y="4160520"/>
            <a:ext cx="11064240" cy="1005840"/>
          </a:xfrm>
          <a:prstGeom prst="roundRect">
            <a:avLst>
              <a:gd name="adj" fmla="val 1090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41248" y="4379976"/>
            <a:ext cx="566928" cy="566928"/>
          </a:xfrm>
          <a:prstGeom prst="roundRect">
            <a:avLst>
              <a:gd name="adj" fmla="val 50000"/>
            </a:avLst>
          </a:prstGeom>
          <a:solidFill>
            <a:srgbClr val="1E3A57"/>
          </a:solidFill>
          <a:ln/>
        </p:spPr>
      </p:sp>
      <p:pic>
        <p:nvPicPr>
          <p:cNvPr id="20" name="Image 2" descr="preencoded.png"/>
          <p:cNvPicPr>
            <a:picLocks noChangeAspect="1"/>
          </p:cNvPicPr>
          <p:nvPr/>
        </p:nvPicPr>
        <p:blipFill>
          <a:blip r:embed="rId5"/>
          <a:stretch>
            <a:fillRect/>
          </a:stretch>
        </p:blipFill>
        <p:spPr>
          <a:xfrm>
            <a:off x="977311" y="4516039"/>
            <a:ext cx="294803" cy="294803"/>
          </a:xfrm>
          <a:prstGeom prst="rect">
            <a:avLst/>
          </a:prstGeom>
        </p:spPr>
      </p:pic>
      <p:sp>
        <p:nvSpPr>
          <p:cNvPr id="21" name="Text 16"/>
          <p:cNvSpPr/>
          <p:nvPr/>
        </p:nvSpPr>
        <p:spPr>
          <a:xfrm>
            <a:off x="1664208" y="4297680"/>
            <a:ext cx="3291840" cy="73152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CSDL PostgreSQL</a:t>
            </a:r>
            <a:endParaRPr lang="en-US" sz="1600" dirty="0"/>
          </a:p>
        </p:txBody>
      </p:sp>
      <p:sp>
        <p:nvSpPr>
          <p:cNvPr id="22" name="Text 17"/>
          <p:cNvSpPr/>
          <p:nvPr/>
        </p:nvSpPr>
        <p:spPr>
          <a:xfrm>
            <a:off x="5047488" y="4297680"/>
            <a:ext cx="6309360" cy="731520"/>
          </a:xfrm>
          <a:prstGeom prst="rect">
            <a:avLst/>
          </a:prstGeom>
          <a:noFill/>
          <a:ln/>
        </p:spPr>
        <p:txBody>
          <a:bodyPr wrap="square" lIns="0" tIns="0" rIns="0" bIns="0" rtlCol="0" anchor="ctr"/>
          <a:lstStyle/>
          <a:p>
            <a:pPr marL="0" indent="0">
              <a:lnSpc>
                <a:spcPct val="103000"/>
              </a:lnSpc>
              <a:buNone/>
            </a:pPr>
            <a:r>
              <a:rPr lang="en-US" sz="1250" dirty="0">
                <a:solidFill>
                  <a:srgbClr val="22303C"/>
                </a:solidFill>
                <a:latin typeface="Calibri" pitchFamily="34" charset="0"/>
                <a:ea typeface="Calibri" pitchFamily="34" charset="-122"/>
                <a:cs typeface="Calibri" pitchFamily="34" charset="-120"/>
              </a:rPr>
              <a:t>EF Core migrations đồng bộ 3 schema auth / base / asset</a:t>
            </a:r>
            <a:endParaRPr lang="en-US" sz="1250" dirty="0"/>
          </a:p>
        </p:txBody>
      </p:sp>
      <p:sp>
        <p:nvSpPr>
          <p:cNvPr id="23" name="Shape 18"/>
          <p:cNvSpPr/>
          <p:nvPr/>
        </p:nvSpPr>
        <p:spPr>
          <a:xfrm>
            <a:off x="566928" y="5349240"/>
            <a:ext cx="11064240" cy="1005840"/>
          </a:xfrm>
          <a:prstGeom prst="roundRect">
            <a:avLst>
              <a:gd name="adj" fmla="val 10909"/>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24" name="Shape 19"/>
          <p:cNvSpPr/>
          <p:nvPr/>
        </p:nvSpPr>
        <p:spPr>
          <a:xfrm>
            <a:off x="841248" y="5568696"/>
            <a:ext cx="566928" cy="566928"/>
          </a:xfrm>
          <a:prstGeom prst="roundRect">
            <a:avLst>
              <a:gd name="adj" fmla="val 50000"/>
            </a:avLst>
          </a:prstGeom>
          <a:solidFill>
            <a:srgbClr val="EFA13C"/>
          </a:solidFill>
          <a:ln/>
        </p:spPr>
      </p:sp>
      <p:pic>
        <p:nvPicPr>
          <p:cNvPr id="25" name="Image 3" descr="preencoded.png"/>
          <p:cNvPicPr>
            <a:picLocks noChangeAspect="1"/>
          </p:cNvPicPr>
          <p:nvPr/>
        </p:nvPicPr>
        <p:blipFill>
          <a:blip r:embed="rId6"/>
          <a:stretch>
            <a:fillRect/>
          </a:stretch>
        </p:blipFill>
        <p:spPr>
          <a:xfrm>
            <a:off x="977311" y="5704759"/>
            <a:ext cx="294803" cy="294803"/>
          </a:xfrm>
          <a:prstGeom prst="rect">
            <a:avLst/>
          </a:prstGeom>
        </p:spPr>
      </p:pic>
      <p:sp>
        <p:nvSpPr>
          <p:cNvPr id="26" name="Text 20"/>
          <p:cNvSpPr/>
          <p:nvPr/>
        </p:nvSpPr>
        <p:spPr>
          <a:xfrm>
            <a:off x="1664208" y="5486400"/>
            <a:ext cx="3291840" cy="731520"/>
          </a:xfrm>
          <a:prstGeom prst="rect">
            <a:avLst/>
          </a:prstGeom>
          <a:noFill/>
          <a:ln/>
        </p:spPr>
        <p:txBody>
          <a:bodyPr wrap="square" lIns="0" tIns="0" rIns="0" bIns="0" rtlCol="0" anchor="ctr"/>
          <a:lstStyle/>
          <a:p>
            <a:pPr marL="0" indent="0">
              <a:buNone/>
            </a:pPr>
            <a:r>
              <a:rPr lang="en-US" sz="1600" b="1" dirty="0">
                <a:solidFill>
                  <a:srgbClr val="0E2A47"/>
                </a:solidFill>
                <a:latin typeface="Cambria" pitchFamily="34" charset="0"/>
                <a:ea typeface="Cambria" pitchFamily="34" charset="-122"/>
                <a:cs typeface="Cambria" pitchFamily="34" charset="-120"/>
              </a:rPr>
              <a:t>Dịch vụ ngoài</a:t>
            </a:r>
            <a:endParaRPr lang="en-US" sz="1600" dirty="0"/>
          </a:p>
        </p:txBody>
      </p:sp>
      <p:sp>
        <p:nvSpPr>
          <p:cNvPr id="27" name="Text 21"/>
          <p:cNvSpPr/>
          <p:nvPr/>
        </p:nvSpPr>
        <p:spPr>
          <a:xfrm>
            <a:off x="5047488" y="5486400"/>
            <a:ext cx="6309360" cy="731520"/>
          </a:xfrm>
          <a:prstGeom prst="rect">
            <a:avLst/>
          </a:prstGeom>
          <a:noFill/>
          <a:ln/>
        </p:spPr>
        <p:txBody>
          <a:bodyPr wrap="square" lIns="0" tIns="0" rIns="0" bIns="0" rtlCol="0" anchor="ctr"/>
          <a:lstStyle/>
          <a:p>
            <a:pPr marL="0" indent="0">
              <a:lnSpc>
                <a:spcPct val="103000"/>
              </a:lnSpc>
              <a:buNone/>
            </a:pPr>
            <a:r>
              <a:rPr lang="en-US" sz="1250" dirty="0">
                <a:solidFill>
                  <a:srgbClr val="22303C"/>
                </a:solidFill>
                <a:latin typeface="Calibri" pitchFamily="34" charset="0"/>
                <a:ea typeface="Calibri" pitchFamily="34" charset="-122"/>
                <a:cs typeface="Calibri" pitchFamily="34" charset="-120"/>
              </a:rPr>
              <a:t>Redis · Cloudinary · Email — kết nối qua cấu hình</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05 · KIỂM THỬ</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Kiểm thử chức năng theo ca — kiểm thử chéo 3 vòng</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46</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737360"/>
            <a:ext cx="1005840" cy="457200"/>
          </a:xfrm>
          <a:prstGeom prst="rect">
            <a:avLst/>
          </a:prstGeom>
          <a:solidFill>
            <a:srgbClr val="0E2A47"/>
          </a:solidFill>
          <a:ln w="15240">
            <a:solidFill>
              <a:srgbClr val="FFFFFF"/>
            </a:solidFill>
            <a:prstDash val="solid"/>
          </a:ln>
        </p:spPr>
      </p:sp>
      <p:sp>
        <p:nvSpPr>
          <p:cNvPr id="9" name="Text 7"/>
          <p:cNvSpPr/>
          <p:nvPr/>
        </p:nvSpPr>
        <p:spPr>
          <a:xfrm>
            <a:off x="676656" y="1737360"/>
            <a:ext cx="822960" cy="457200"/>
          </a:xfrm>
          <a:prstGeom prst="rect">
            <a:avLst/>
          </a:prstGeom>
          <a:noFill/>
          <a:ln/>
        </p:spPr>
        <p:txBody>
          <a:bodyPr wrap="square" lIns="0" tIns="0" rIns="0" bIns="0" rtlCol="0" anchor="ctr"/>
          <a:lstStyle/>
          <a:p>
            <a:pPr marL="0" indent="0" algn="l">
              <a:buNone/>
            </a:pPr>
            <a:r>
              <a:rPr lang="en-US" sz="1250" b="1" dirty="0">
                <a:solidFill>
                  <a:srgbClr val="FFFFFF"/>
                </a:solidFill>
                <a:latin typeface="Calibri" pitchFamily="34" charset="0"/>
                <a:ea typeface="Calibri" pitchFamily="34" charset="-122"/>
                <a:cs typeface="Calibri" pitchFamily="34" charset="-120"/>
              </a:rPr>
              <a:t>Mã</a:t>
            </a:r>
            <a:endParaRPr lang="en-US" sz="1250" dirty="0"/>
          </a:p>
        </p:txBody>
      </p:sp>
      <p:sp>
        <p:nvSpPr>
          <p:cNvPr id="10" name="Shape 8"/>
          <p:cNvSpPr/>
          <p:nvPr/>
        </p:nvSpPr>
        <p:spPr>
          <a:xfrm>
            <a:off x="1572768" y="1737360"/>
            <a:ext cx="2834640" cy="457200"/>
          </a:xfrm>
          <a:prstGeom prst="rect">
            <a:avLst/>
          </a:prstGeom>
          <a:solidFill>
            <a:srgbClr val="0E2A47"/>
          </a:solidFill>
          <a:ln w="15240">
            <a:solidFill>
              <a:srgbClr val="FFFFFF"/>
            </a:solidFill>
            <a:prstDash val="solid"/>
          </a:ln>
        </p:spPr>
      </p:sp>
      <p:sp>
        <p:nvSpPr>
          <p:cNvPr id="11" name="Text 9"/>
          <p:cNvSpPr/>
          <p:nvPr/>
        </p:nvSpPr>
        <p:spPr>
          <a:xfrm>
            <a:off x="1682496" y="1737360"/>
            <a:ext cx="2651760" cy="457200"/>
          </a:xfrm>
          <a:prstGeom prst="rect">
            <a:avLst/>
          </a:prstGeom>
          <a:noFill/>
          <a:ln/>
        </p:spPr>
        <p:txBody>
          <a:bodyPr wrap="square" lIns="0" tIns="0" rIns="0" bIns="0" rtlCol="0" anchor="ctr"/>
          <a:lstStyle/>
          <a:p>
            <a:pPr marL="0" indent="0" algn="l">
              <a:buNone/>
            </a:pPr>
            <a:r>
              <a:rPr lang="en-US" sz="1250" b="1" dirty="0">
                <a:solidFill>
                  <a:srgbClr val="FFFFFF"/>
                </a:solidFill>
                <a:latin typeface="Calibri" pitchFamily="34" charset="0"/>
                <a:ea typeface="Calibri" pitchFamily="34" charset="-122"/>
                <a:cs typeface="Calibri" pitchFamily="34" charset="-120"/>
              </a:rPr>
              <a:t>Chức năng</a:t>
            </a:r>
            <a:endParaRPr lang="en-US" sz="1250" dirty="0"/>
          </a:p>
        </p:txBody>
      </p:sp>
      <p:sp>
        <p:nvSpPr>
          <p:cNvPr id="12" name="Shape 10"/>
          <p:cNvSpPr/>
          <p:nvPr/>
        </p:nvSpPr>
        <p:spPr>
          <a:xfrm>
            <a:off x="4407408" y="1737360"/>
            <a:ext cx="3291840" cy="457200"/>
          </a:xfrm>
          <a:prstGeom prst="rect">
            <a:avLst/>
          </a:prstGeom>
          <a:solidFill>
            <a:srgbClr val="0E2A47"/>
          </a:solidFill>
          <a:ln w="15240">
            <a:solidFill>
              <a:srgbClr val="FFFFFF"/>
            </a:solidFill>
            <a:prstDash val="solid"/>
          </a:ln>
        </p:spPr>
      </p:sp>
      <p:sp>
        <p:nvSpPr>
          <p:cNvPr id="13" name="Text 11"/>
          <p:cNvSpPr/>
          <p:nvPr/>
        </p:nvSpPr>
        <p:spPr>
          <a:xfrm>
            <a:off x="4517136" y="1737360"/>
            <a:ext cx="3108960" cy="457200"/>
          </a:xfrm>
          <a:prstGeom prst="rect">
            <a:avLst/>
          </a:prstGeom>
          <a:noFill/>
          <a:ln/>
        </p:spPr>
        <p:txBody>
          <a:bodyPr wrap="square" lIns="0" tIns="0" rIns="0" bIns="0" rtlCol="0" anchor="ctr"/>
          <a:lstStyle/>
          <a:p>
            <a:pPr marL="0" indent="0" algn="l">
              <a:buNone/>
            </a:pPr>
            <a:r>
              <a:rPr lang="en-US" sz="1250" b="1" dirty="0">
                <a:solidFill>
                  <a:srgbClr val="FFFFFF"/>
                </a:solidFill>
                <a:latin typeface="Calibri" pitchFamily="34" charset="0"/>
                <a:ea typeface="Calibri" pitchFamily="34" charset="-122"/>
                <a:cs typeface="Calibri" pitchFamily="34" charset="-120"/>
              </a:rPr>
              <a:t>Kết quả mong đợi</a:t>
            </a:r>
            <a:endParaRPr lang="en-US" sz="1250" dirty="0"/>
          </a:p>
        </p:txBody>
      </p:sp>
      <p:sp>
        <p:nvSpPr>
          <p:cNvPr id="14" name="Shape 12"/>
          <p:cNvSpPr/>
          <p:nvPr/>
        </p:nvSpPr>
        <p:spPr>
          <a:xfrm>
            <a:off x="7699248" y="1737360"/>
            <a:ext cx="914400" cy="457200"/>
          </a:xfrm>
          <a:prstGeom prst="rect">
            <a:avLst/>
          </a:prstGeom>
          <a:solidFill>
            <a:srgbClr val="0E2A47"/>
          </a:solidFill>
          <a:ln w="15240">
            <a:solidFill>
              <a:srgbClr val="FFFFFF"/>
            </a:solidFill>
            <a:prstDash val="solid"/>
          </a:ln>
        </p:spPr>
      </p:sp>
      <p:sp>
        <p:nvSpPr>
          <p:cNvPr id="15" name="Text 13"/>
          <p:cNvSpPr/>
          <p:nvPr/>
        </p:nvSpPr>
        <p:spPr>
          <a:xfrm>
            <a:off x="7808976" y="1737360"/>
            <a:ext cx="731520" cy="4572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KQ</a:t>
            </a:r>
            <a:endParaRPr lang="en-US" sz="1250" dirty="0"/>
          </a:p>
        </p:txBody>
      </p:sp>
      <p:sp>
        <p:nvSpPr>
          <p:cNvPr id="16" name="Shape 14"/>
          <p:cNvSpPr/>
          <p:nvPr/>
        </p:nvSpPr>
        <p:spPr>
          <a:xfrm>
            <a:off x="566928" y="2194560"/>
            <a:ext cx="1005840" cy="457200"/>
          </a:xfrm>
          <a:prstGeom prst="rect">
            <a:avLst/>
          </a:prstGeom>
          <a:solidFill>
            <a:srgbClr val="FFFFFF"/>
          </a:solidFill>
          <a:ln w="15240">
            <a:solidFill>
              <a:srgbClr val="FFFFFF"/>
            </a:solidFill>
            <a:prstDash val="solid"/>
          </a:ln>
        </p:spPr>
      </p:sp>
      <p:sp>
        <p:nvSpPr>
          <p:cNvPr id="17" name="Text 15"/>
          <p:cNvSpPr/>
          <p:nvPr/>
        </p:nvSpPr>
        <p:spPr>
          <a:xfrm>
            <a:off x="676656" y="21945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TC01</a:t>
            </a:r>
            <a:endParaRPr lang="en-US" sz="1250" dirty="0"/>
          </a:p>
        </p:txBody>
      </p:sp>
      <p:sp>
        <p:nvSpPr>
          <p:cNvPr id="18" name="Shape 16"/>
          <p:cNvSpPr/>
          <p:nvPr/>
        </p:nvSpPr>
        <p:spPr>
          <a:xfrm>
            <a:off x="1572768" y="2194560"/>
            <a:ext cx="2834640" cy="457200"/>
          </a:xfrm>
          <a:prstGeom prst="rect">
            <a:avLst/>
          </a:prstGeom>
          <a:solidFill>
            <a:srgbClr val="FFFFFF"/>
          </a:solidFill>
          <a:ln w="15240">
            <a:solidFill>
              <a:srgbClr val="FFFFFF"/>
            </a:solidFill>
            <a:prstDash val="solid"/>
          </a:ln>
        </p:spPr>
      </p:sp>
      <p:sp>
        <p:nvSpPr>
          <p:cNvPr id="19" name="Text 17"/>
          <p:cNvSpPr/>
          <p:nvPr/>
        </p:nvSpPr>
        <p:spPr>
          <a:xfrm>
            <a:off x="1682496" y="21945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Đăng nhập + MFA</a:t>
            </a:r>
            <a:endParaRPr lang="en-US" sz="1250" dirty="0"/>
          </a:p>
        </p:txBody>
      </p:sp>
      <p:sp>
        <p:nvSpPr>
          <p:cNvPr id="20" name="Shape 18"/>
          <p:cNvSpPr/>
          <p:nvPr/>
        </p:nvSpPr>
        <p:spPr>
          <a:xfrm>
            <a:off x="4407408" y="2194560"/>
            <a:ext cx="3291840" cy="457200"/>
          </a:xfrm>
          <a:prstGeom prst="rect">
            <a:avLst/>
          </a:prstGeom>
          <a:solidFill>
            <a:srgbClr val="FFFFFF"/>
          </a:solidFill>
          <a:ln w="15240">
            <a:solidFill>
              <a:srgbClr val="FFFFFF"/>
            </a:solidFill>
            <a:prstDash val="solid"/>
          </a:ln>
        </p:spPr>
      </p:sp>
      <p:sp>
        <p:nvSpPr>
          <p:cNvPr id="21" name="Text 19"/>
          <p:cNvSpPr/>
          <p:nvPr/>
        </p:nvSpPr>
        <p:spPr>
          <a:xfrm>
            <a:off x="4517136" y="21945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Nhận JWT, vào dashboard</a:t>
            </a:r>
            <a:endParaRPr lang="en-US" sz="1250" dirty="0"/>
          </a:p>
        </p:txBody>
      </p:sp>
      <p:sp>
        <p:nvSpPr>
          <p:cNvPr id="22" name="Shape 20"/>
          <p:cNvSpPr/>
          <p:nvPr/>
        </p:nvSpPr>
        <p:spPr>
          <a:xfrm>
            <a:off x="7699248" y="2194560"/>
            <a:ext cx="914400" cy="457200"/>
          </a:xfrm>
          <a:prstGeom prst="rect">
            <a:avLst/>
          </a:prstGeom>
          <a:solidFill>
            <a:srgbClr val="E4EEF3"/>
          </a:solidFill>
          <a:ln w="15240">
            <a:solidFill>
              <a:srgbClr val="FFFFFF"/>
            </a:solidFill>
            <a:prstDash val="solid"/>
          </a:ln>
        </p:spPr>
      </p:sp>
      <p:sp>
        <p:nvSpPr>
          <p:cNvPr id="23" name="Text 21"/>
          <p:cNvSpPr/>
          <p:nvPr/>
        </p:nvSpPr>
        <p:spPr>
          <a:xfrm>
            <a:off x="7808976" y="21945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24" name="Shape 22"/>
          <p:cNvSpPr/>
          <p:nvPr/>
        </p:nvSpPr>
        <p:spPr>
          <a:xfrm>
            <a:off x="566928" y="2651760"/>
            <a:ext cx="1005840" cy="457200"/>
          </a:xfrm>
          <a:prstGeom prst="rect">
            <a:avLst/>
          </a:prstGeom>
          <a:solidFill>
            <a:srgbClr val="F1F5F8"/>
          </a:solidFill>
          <a:ln w="15240">
            <a:solidFill>
              <a:srgbClr val="FFFFFF"/>
            </a:solidFill>
            <a:prstDash val="solid"/>
          </a:ln>
        </p:spPr>
      </p:sp>
      <p:sp>
        <p:nvSpPr>
          <p:cNvPr id="25" name="Text 23"/>
          <p:cNvSpPr/>
          <p:nvPr/>
        </p:nvSpPr>
        <p:spPr>
          <a:xfrm>
            <a:off x="676656" y="26517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TC02</a:t>
            </a:r>
            <a:endParaRPr lang="en-US" sz="1250" dirty="0"/>
          </a:p>
        </p:txBody>
      </p:sp>
      <p:sp>
        <p:nvSpPr>
          <p:cNvPr id="26" name="Shape 24"/>
          <p:cNvSpPr/>
          <p:nvPr/>
        </p:nvSpPr>
        <p:spPr>
          <a:xfrm>
            <a:off x="1572768" y="2651760"/>
            <a:ext cx="2834640" cy="457200"/>
          </a:xfrm>
          <a:prstGeom prst="rect">
            <a:avLst/>
          </a:prstGeom>
          <a:solidFill>
            <a:srgbClr val="F1F5F8"/>
          </a:solidFill>
          <a:ln w="15240">
            <a:solidFill>
              <a:srgbClr val="FFFFFF"/>
            </a:solidFill>
            <a:prstDash val="solid"/>
          </a:ln>
        </p:spPr>
      </p:sp>
      <p:sp>
        <p:nvSpPr>
          <p:cNvPr id="27" name="Text 25"/>
          <p:cNvSpPr/>
          <p:nvPr/>
        </p:nvSpPr>
        <p:spPr>
          <a:xfrm>
            <a:off x="1682496" y="26517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Ghi tăng tài sản</a:t>
            </a:r>
            <a:endParaRPr lang="en-US" sz="1250" dirty="0"/>
          </a:p>
        </p:txBody>
      </p:sp>
      <p:sp>
        <p:nvSpPr>
          <p:cNvPr id="28" name="Shape 26"/>
          <p:cNvSpPr/>
          <p:nvPr/>
        </p:nvSpPr>
        <p:spPr>
          <a:xfrm>
            <a:off x="4407408" y="2651760"/>
            <a:ext cx="3291840" cy="457200"/>
          </a:xfrm>
          <a:prstGeom prst="rect">
            <a:avLst/>
          </a:prstGeom>
          <a:solidFill>
            <a:srgbClr val="F1F5F8"/>
          </a:solidFill>
          <a:ln w="15240">
            <a:solidFill>
              <a:srgbClr val="FFFFFF"/>
            </a:solidFill>
            <a:prstDash val="solid"/>
          </a:ln>
        </p:spPr>
      </p:sp>
      <p:sp>
        <p:nvSpPr>
          <p:cNvPr id="29" name="Text 27"/>
          <p:cNvSpPr/>
          <p:nvPr/>
        </p:nvSpPr>
        <p:spPr>
          <a:xfrm>
            <a:off x="4517136" y="26517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Tạo tài sản + QR + chứng từ</a:t>
            </a:r>
            <a:endParaRPr lang="en-US" sz="1250" dirty="0"/>
          </a:p>
        </p:txBody>
      </p:sp>
      <p:sp>
        <p:nvSpPr>
          <p:cNvPr id="30" name="Shape 28"/>
          <p:cNvSpPr/>
          <p:nvPr/>
        </p:nvSpPr>
        <p:spPr>
          <a:xfrm>
            <a:off x="7699248" y="2651760"/>
            <a:ext cx="914400" cy="457200"/>
          </a:xfrm>
          <a:prstGeom prst="rect">
            <a:avLst/>
          </a:prstGeom>
          <a:solidFill>
            <a:srgbClr val="E4EEF3"/>
          </a:solidFill>
          <a:ln w="15240">
            <a:solidFill>
              <a:srgbClr val="FFFFFF"/>
            </a:solidFill>
            <a:prstDash val="solid"/>
          </a:ln>
        </p:spPr>
      </p:sp>
      <p:sp>
        <p:nvSpPr>
          <p:cNvPr id="31" name="Text 29"/>
          <p:cNvSpPr/>
          <p:nvPr/>
        </p:nvSpPr>
        <p:spPr>
          <a:xfrm>
            <a:off x="7808976" y="26517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32" name="Shape 30"/>
          <p:cNvSpPr/>
          <p:nvPr/>
        </p:nvSpPr>
        <p:spPr>
          <a:xfrm>
            <a:off x="566928" y="3108960"/>
            <a:ext cx="1005840" cy="457200"/>
          </a:xfrm>
          <a:prstGeom prst="rect">
            <a:avLst/>
          </a:prstGeom>
          <a:solidFill>
            <a:srgbClr val="FFFFFF"/>
          </a:solidFill>
          <a:ln w="15240">
            <a:solidFill>
              <a:srgbClr val="FFFFFF"/>
            </a:solidFill>
            <a:prstDash val="solid"/>
          </a:ln>
        </p:spPr>
      </p:sp>
      <p:sp>
        <p:nvSpPr>
          <p:cNvPr id="33" name="Text 31"/>
          <p:cNvSpPr/>
          <p:nvPr/>
        </p:nvSpPr>
        <p:spPr>
          <a:xfrm>
            <a:off x="676656" y="31089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TC03</a:t>
            </a:r>
            <a:endParaRPr lang="en-US" sz="1250" dirty="0"/>
          </a:p>
        </p:txBody>
      </p:sp>
      <p:sp>
        <p:nvSpPr>
          <p:cNvPr id="34" name="Shape 32"/>
          <p:cNvSpPr/>
          <p:nvPr/>
        </p:nvSpPr>
        <p:spPr>
          <a:xfrm>
            <a:off x="1572768" y="3108960"/>
            <a:ext cx="2834640" cy="457200"/>
          </a:xfrm>
          <a:prstGeom prst="rect">
            <a:avLst/>
          </a:prstGeom>
          <a:solidFill>
            <a:srgbClr val="FFFFFF"/>
          </a:solidFill>
          <a:ln w="15240">
            <a:solidFill>
              <a:srgbClr val="FFFFFF"/>
            </a:solidFill>
            <a:prstDash val="solid"/>
          </a:ln>
        </p:spPr>
      </p:sp>
      <p:sp>
        <p:nvSpPr>
          <p:cNvPr id="35" name="Text 33"/>
          <p:cNvSpPr/>
          <p:nvPr/>
        </p:nvSpPr>
        <p:spPr>
          <a:xfrm>
            <a:off x="1682496" y="31089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Tính khấu hao kỳ</a:t>
            </a:r>
            <a:endParaRPr lang="en-US" sz="1250" dirty="0"/>
          </a:p>
        </p:txBody>
      </p:sp>
      <p:sp>
        <p:nvSpPr>
          <p:cNvPr id="36" name="Shape 34"/>
          <p:cNvSpPr/>
          <p:nvPr/>
        </p:nvSpPr>
        <p:spPr>
          <a:xfrm>
            <a:off x="4407408" y="3108960"/>
            <a:ext cx="3291840" cy="457200"/>
          </a:xfrm>
          <a:prstGeom prst="rect">
            <a:avLst/>
          </a:prstGeom>
          <a:solidFill>
            <a:srgbClr val="FFFFFF"/>
          </a:solidFill>
          <a:ln w="15240">
            <a:solidFill>
              <a:srgbClr val="FFFFFF"/>
            </a:solidFill>
            <a:prstDash val="solid"/>
          </a:ln>
        </p:spPr>
      </p:sp>
      <p:sp>
        <p:nvSpPr>
          <p:cNvPr id="37" name="Text 35"/>
          <p:cNvSpPr/>
          <p:nvPr/>
        </p:nvSpPr>
        <p:spPr>
          <a:xfrm>
            <a:off x="4517136" y="31089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Ghi lịch sử khấu hao</a:t>
            </a:r>
            <a:endParaRPr lang="en-US" sz="1250" dirty="0"/>
          </a:p>
        </p:txBody>
      </p:sp>
      <p:sp>
        <p:nvSpPr>
          <p:cNvPr id="38" name="Shape 36"/>
          <p:cNvSpPr/>
          <p:nvPr/>
        </p:nvSpPr>
        <p:spPr>
          <a:xfrm>
            <a:off x="7699248" y="3108960"/>
            <a:ext cx="914400" cy="457200"/>
          </a:xfrm>
          <a:prstGeom prst="rect">
            <a:avLst/>
          </a:prstGeom>
          <a:solidFill>
            <a:srgbClr val="E4EEF3"/>
          </a:solidFill>
          <a:ln w="15240">
            <a:solidFill>
              <a:srgbClr val="FFFFFF"/>
            </a:solidFill>
            <a:prstDash val="solid"/>
          </a:ln>
        </p:spPr>
      </p:sp>
      <p:sp>
        <p:nvSpPr>
          <p:cNvPr id="39" name="Text 37"/>
          <p:cNvSpPr/>
          <p:nvPr/>
        </p:nvSpPr>
        <p:spPr>
          <a:xfrm>
            <a:off x="7808976" y="31089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40" name="Shape 38"/>
          <p:cNvSpPr/>
          <p:nvPr/>
        </p:nvSpPr>
        <p:spPr>
          <a:xfrm>
            <a:off x="566928" y="3566160"/>
            <a:ext cx="1005840" cy="457200"/>
          </a:xfrm>
          <a:prstGeom prst="rect">
            <a:avLst/>
          </a:prstGeom>
          <a:solidFill>
            <a:srgbClr val="F1F5F8"/>
          </a:solidFill>
          <a:ln w="15240">
            <a:solidFill>
              <a:srgbClr val="FFFFFF"/>
            </a:solidFill>
            <a:prstDash val="solid"/>
          </a:ln>
        </p:spPr>
      </p:sp>
      <p:sp>
        <p:nvSpPr>
          <p:cNvPr id="41" name="Text 39"/>
          <p:cNvSpPr/>
          <p:nvPr/>
        </p:nvSpPr>
        <p:spPr>
          <a:xfrm>
            <a:off x="676656" y="35661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TC04</a:t>
            </a:r>
            <a:endParaRPr lang="en-US" sz="1250" dirty="0"/>
          </a:p>
        </p:txBody>
      </p:sp>
      <p:sp>
        <p:nvSpPr>
          <p:cNvPr id="42" name="Shape 40"/>
          <p:cNvSpPr/>
          <p:nvPr/>
        </p:nvSpPr>
        <p:spPr>
          <a:xfrm>
            <a:off x="1572768" y="3566160"/>
            <a:ext cx="2834640" cy="457200"/>
          </a:xfrm>
          <a:prstGeom prst="rect">
            <a:avLst/>
          </a:prstGeom>
          <a:solidFill>
            <a:srgbClr val="F1F5F8"/>
          </a:solidFill>
          <a:ln w="15240">
            <a:solidFill>
              <a:srgbClr val="FFFFFF"/>
            </a:solidFill>
            <a:prstDash val="solid"/>
          </a:ln>
        </p:spPr>
      </p:sp>
      <p:sp>
        <p:nvSpPr>
          <p:cNvPr id="43" name="Text 41"/>
          <p:cNvSpPr/>
          <p:nvPr/>
        </p:nvSpPr>
        <p:spPr>
          <a:xfrm>
            <a:off x="1682496" y="35661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Cảnh báo tồn thấp</a:t>
            </a:r>
            <a:endParaRPr lang="en-US" sz="1250" dirty="0"/>
          </a:p>
        </p:txBody>
      </p:sp>
      <p:sp>
        <p:nvSpPr>
          <p:cNvPr id="44" name="Shape 42"/>
          <p:cNvSpPr/>
          <p:nvPr/>
        </p:nvSpPr>
        <p:spPr>
          <a:xfrm>
            <a:off x="4407408" y="3566160"/>
            <a:ext cx="3291840" cy="457200"/>
          </a:xfrm>
          <a:prstGeom prst="rect">
            <a:avLst/>
          </a:prstGeom>
          <a:solidFill>
            <a:srgbClr val="F1F5F8"/>
          </a:solidFill>
          <a:ln w="15240">
            <a:solidFill>
              <a:srgbClr val="FFFFFF"/>
            </a:solidFill>
            <a:prstDash val="solid"/>
          </a:ln>
        </p:spPr>
      </p:sp>
      <p:sp>
        <p:nvSpPr>
          <p:cNvPr id="45" name="Text 43"/>
          <p:cNvSpPr/>
          <p:nvPr/>
        </p:nvSpPr>
        <p:spPr>
          <a:xfrm>
            <a:off x="4517136" y="35661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Xuất hiện ở get-low-stock</a:t>
            </a:r>
            <a:endParaRPr lang="en-US" sz="1250" dirty="0"/>
          </a:p>
        </p:txBody>
      </p:sp>
      <p:sp>
        <p:nvSpPr>
          <p:cNvPr id="46" name="Shape 44"/>
          <p:cNvSpPr/>
          <p:nvPr/>
        </p:nvSpPr>
        <p:spPr>
          <a:xfrm>
            <a:off x="7699248" y="3566160"/>
            <a:ext cx="914400" cy="457200"/>
          </a:xfrm>
          <a:prstGeom prst="rect">
            <a:avLst/>
          </a:prstGeom>
          <a:solidFill>
            <a:srgbClr val="E4EEF3"/>
          </a:solidFill>
          <a:ln w="15240">
            <a:solidFill>
              <a:srgbClr val="FFFFFF"/>
            </a:solidFill>
            <a:prstDash val="solid"/>
          </a:ln>
        </p:spPr>
      </p:sp>
      <p:sp>
        <p:nvSpPr>
          <p:cNvPr id="47" name="Text 45"/>
          <p:cNvSpPr/>
          <p:nvPr/>
        </p:nvSpPr>
        <p:spPr>
          <a:xfrm>
            <a:off x="7808976" y="35661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48" name="Shape 46"/>
          <p:cNvSpPr/>
          <p:nvPr/>
        </p:nvSpPr>
        <p:spPr>
          <a:xfrm>
            <a:off x="566928" y="4023360"/>
            <a:ext cx="1005840" cy="457200"/>
          </a:xfrm>
          <a:prstGeom prst="rect">
            <a:avLst/>
          </a:prstGeom>
          <a:solidFill>
            <a:srgbClr val="FFFFFF"/>
          </a:solidFill>
          <a:ln w="15240">
            <a:solidFill>
              <a:srgbClr val="FFFFFF"/>
            </a:solidFill>
            <a:prstDash val="solid"/>
          </a:ln>
        </p:spPr>
      </p:sp>
      <p:sp>
        <p:nvSpPr>
          <p:cNvPr id="49" name="Text 47"/>
          <p:cNvSpPr/>
          <p:nvPr/>
        </p:nvSpPr>
        <p:spPr>
          <a:xfrm>
            <a:off x="676656" y="40233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TC05</a:t>
            </a:r>
            <a:endParaRPr lang="en-US" sz="1250" dirty="0"/>
          </a:p>
        </p:txBody>
      </p:sp>
      <p:sp>
        <p:nvSpPr>
          <p:cNvPr id="50" name="Shape 48"/>
          <p:cNvSpPr/>
          <p:nvPr/>
        </p:nvSpPr>
        <p:spPr>
          <a:xfrm>
            <a:off x="1572768" y="4023360"/>
            <a:ext cx="2834640" cy="457200"/>
          </a:xfrm>
          <a:prstGeom prst="rect">
            <a:avLst/>
          </a:prstGeom>
          <a:solidFill>
            <a:srgbClr val="FFFFFF"/>
          </a:solidFill>
          <a:ln w="15240">
            <a:solidFill>
              <a:srgbClr val="FFFFFF"/>
            </a:solidFill>
            <a:prstDash val="solid"/>
          </a:ln>
        </p:spPr>
      </p:sp>
      <p:sp>
        <p:nvSpPr>
          <p:cNvPr id="51" name="Text 49"/>
          <p:cNvSpPr/>
          <p:nvPr/>
        </p:nvSpPr>
        <p:spPr>
          <a:xfrm>
            <a:off x="1682496" y="40233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Duyệt PR → PO</a:t>
            </a:r>
            <a:endParaRPr lang="en-US" sz="1250" dirty="0"/>
          </a:p>
        </p:txBody>
      </p:sp>
      <p:sp>
        <p:nvSpPr>
          <p:cNvPr id="52" name="Shape 50"/>
          <p:cNvSpPr/>
          <p:nvPr/>
        </p:nvSpPr>
        <p:spPr>
          <a:xfrm>
            <a:off x="4407408" y="4023360"/>
            <a:ext cx="3291840" cy="457200"/>
          </a:xfrm>
          <a:prstGeom prst="rect">
            <a:avLst/>
          </a:prstGeom>
          <a:solidFill>
            <a:srgbClr val="FFFFFF"/>
          </a:solidFill>
          <a:ln w="15240">
            <a:solidFill>
              <a:srgbClr val="FFFFFF"/>
            </a:solidFill>
            <a:prstDash val="solid"/>
          </a:ln>
        </p:spPr>
      </p:sp>
      <p:sp>
        <p:nvSpPr>
          <p:cNvPr id="53" name="Text 51"/>
          <p:cNvSpPr/>
          <p:nvPr/>
        </p:nvSpPr>
        <p:spPr>
          <a:xfrm>
            <a:off x="4517136" y="40233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PR approved, tạo PO</a:t>
            </a:r>
            <a:endParaRPr lang="en-US" sz="1250" dirty="0"/>
          </a:p>
        </p:txBody>
      </p:sp>
      <p:sp>
        <p:nvSpPr>
          <p:cNvPr id="54" name="Shape 52"/>
          <p:cNvSpPr/>
          <p:nvPr/>
        </p:nvSpPr>
        <p:spPr>
          <a:xfrm>
            <a:off x="7699248" y="4023360"/>
            <a:ext cx="914400" cy="457200"/>
          </a:xfrm>
          <a:prstGeom prst="rect">
            <a:avLst/>
          </a:prstGeom>
          <a:solidFill>
            <a:srgbClr val="E4EEF3"/>
          </a:solidFill>
          <a:ln w="15240">
            <a:solidFill>
              <a:srgbClr val="FFFFFF"/>
            </a:solidFill>
            <a:prstDash val="solid"/>
          </a:ln>
        </p:spPr>
      </p:sp>
      <p:sp>
        <p:nvSpPr>
          <p:cNvPr id="55" name="Text 53"/>
          <p:cNvSpPr/>
          <p:nvPr/>
        </p:nvSpPr>
        <p:spPr>
          <a:xfrm>
            <a:off x="7808976" y="40233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56" name="Shape 54"/>
          <p:cNvSpPr/>
          <p:nvPr/>
        </p:nvSpPr>
        <p:spPr>
          <a:xfrm>
            <a:off x="566928" y="4480560"/>
            <a:ext cx="1005840" cy="457200"/>
          </a:xfrm>
          <a:prstGeom prst="rect">
            <a:avLst/>
          </a:prstGeom>
          <a:solidFill>
            <a:srgbClr val="F1F5F8"/>
          </a:solidFill>
          <a:ln w="15240">
            <a:solidFill>
              <a:srgbClr val="FFFFFF"/>
            </a:solidFill>
            <a:prstDash val="solid"/>
          </a:ln>
        </p:spPr>
      </p:sp>
      <p:sp>
        <p:nvSpPr>
          <p:cNvPr id="57" name="Text 55"/>
          <p:cNvSpPr/>
          <p:nvPr/>
        </p:nvSpPr>
        <p:spPr>
          <a:xfrm>
            <a:off x="676656" y="44805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TC06</a:t>
            </a:r>
            <a:endParaRPr lang="en-US" sz="1250" dirty="0"/>
          </a:p>
        </p:txBody>
      </p:sp>
      <p:sp>
        <p:nvSpPr>
          <p:cNvPr id="58" name="Shape 56"/>
          <p:cNvSpPr/>
          <p:nvPr/>
        </p:nvSpPr>
        <p:spPr>
          <a:xfrm>
            <a:off x="1572768" y="4480560"/>
            <a:ext cx="2834640" cy="457200"/>
          </a:xfrm>
          <a:prstGeom prst="rect">
            <a:avLst/>
          </a:prstGeom>
          <a:solidFill>
            <a:srgbClr val="F1F5F8"/>
          </a:solidFill>
          <a:ln w="15240">
            <a:solidFill>
              <a:srgbClr val="FFFFFF"/>
            </a:solidFill>
            <a:prstDash val="solid"/>
          </a:ln>
        </p:spPr>
      </p:sp>
      <p:sp>
        <p:nvSpPr>
          <p:cNvPr id="59" name="Text 57"/>
          <p:cNvSpPr/>
          <p:nvPr/>
        </p:nvSpPr>
        <p:spPr>
          <a:xfrm>
            <a:off x="1682496" y="44805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OCR hóa đơn</a:t>
            </a:r>
            <a:endParaRPr lang="en-US" sz="1250" dirty="0"/>
          </a:p>
        </p:txBody>
      </p:sp>
      <p:sp>
        <p:nvSpPr>
          <p:cNvPr id="60" name="Shape 58"/>
          <p:cNvSpPr/>
          <p:nvPr/>
        </p:nvSpPr>
        <p:spPr>
          <a:xfrm>
            <a:off x="4407408" y="4480560"/>
            <a:ext cx="3291840" cy="457200"/>
          </a:xfrm>
          <a:prstGeom prst="rect">
            <a:avLst/>
          </a:prstGeom>
          <a:solidFill>
            <a:srgbClr val="F1F5F8"/>
          </a:solidFill>
          <a:ln w="15240">
            <a:solidFill>
              <a:srgbClr val="FFFFFF"/>
            </a:solidFill>
            <a:prstDash val="solid"/>
          </a:ln>
        </p:spPr>
      </p:sp>
      <p:sp>
        <p:nvSpPr>
          <p:cNvPr id="61" name="Text 59"/>
          <p:cNvSpPr/>
          <p:nvPr/>
        </p:nvSpPr>
        <p:spPr>
          <a:xfrm>
            <a:off x="4517136" y="44805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Trích xuất &amp; tạo Invoice</a:t>
            </a:r>
            <a:endParaRPr lang="en-US" sz="1250" dirty="0"/>
          </a:p>
        </p:txBody>
      </p:sp>
      <p:sp>
        <p:nvSpPr>
          <p:cNvPr id="62" name="Shape 60"/>
          <p:cNvSpPr/>
          <p:nvPr/>
        </p:nvSpPr>
        <p:spPr>
          <a:xfrm>
            <a:off x="7699248" y="4480560"/>
            <a:ext cx="914400" cy="457200"/>
          </a:xfrm>
          <a:prstGeom prst="rect">
            <a:avLst/>
          </a:prstGeom>
          <a:solidFill>
            <a:srgbClr val="E4EEF3"/>
          </a:solidFill>
          <a:ln w="15240">
            <a:solidFill>
              <a:srgbClr val="FFFFFF"/>
            </a:solidFill>
            <a:prstDash val="solid"/>
          </a:ln>
        </p:spPr>
      </p:sp>
      <p:sp>
        <p:nvSpPr>
          <p:cNvPr id="63" name="Text 61"/>
          <p:cNvSpPr/>
          <p:nvPr/>
        </p:nvSpPr>
        <p:spPr>
          <a:xfrm>
            <a:off x="7808976" y="44805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64" name="Shape 62"/>
          <p:cNvSpPr/>
          <p:nvPr/>
        </p:nvSpPr>
        <p:spPr>
          <a:xfrm>
            <a:off x="566928" y="4937760"/>
            <a:ext cx="1005840" cy="457200"/>
          </a:xfrm>
          <a:prstGeom prst="rect">
            <a:avLst/>
          </a:prstGeom>
          <a:solidFill>
            <a:srgbClr val="FFFFFF"/>
          </a:solidFill>
          <a:ln w="15240">
            <a:solidFill>
              <a:srgbClr val="FFFFFF"/>
            </a:solidFill>
            <a:prstDash val="solid"/>
          </a:ln>
        </p:spPr>
      </p:sp>
      <p:sp>
        <p:nvSpPr>
          <p:cNvPr id="65" name="Text 63"/>
          <p:cNvSpPr/>
          <p:nvPr/>
        </p:nvSpPr>
        <p:spPr>
          <a:xfrm>
            <a:off x="676656" y="4937760"/>
            <a:ext cx="822960" cy="457200"/>
          </a:xfrm>
          <a:prstGeom prst="rect">
            <a:avLst/>
          </a:prstGeom>
          <a:noFill/>
          <a:ln/>
        </p:spPr>
        <p:txBody>
          <a:bodyPr wrap="square" lIns="0" tIns="0" rIns="0" bIns="0" rtlCol="0" anchor="ctr"/>
          <a:lstStyle/>
          <a:p>
            <a:pPr marL="0" indent="0" algn="l">
              <a:buNone/>
            </a:pPr>
            <a:r>
              <a:rPr lang="en-US" sz="1250" b="1" dirty="0">
                <a:solidFill>
                  <a:srgbClr val="0E2A47"/>
                </a:solidFill>
                <a:latin typeface="Calibri" pitchFamily="34" charset="0"/>
                <a:ea typeface="Calibri" pitchFamily="34" charset="-122"/>
                <a:cs typeface="Calibri" pitchFamily="34" charset="-120"/>
              </a:rPr>
              <a:t>TC07</a:t>
            </a:r>
            <a:endParaRPr lang="en-US" sz="1250" dirty="0"/>
          </a:p>
        </p:txBody>
      </p:sp>
      <p:sp>
        <p:nvSpPr>
          <p:cNvPr id="66" name="Shape 64"/>
          <p:cNvSpPr/>
          <p:nvPr/>
        </p:nvSpPr>
        <p:spPr>
          <a:xfrm>
            <a:off x="1572768" y="4937760"/>
            <a:ext cx="2834640" cy="457200"/>
          </a:xfrm>
          <a:prstGeom prst="rect">
            <a:avLst/>
          </a:prstGeom>
          <a:solidFill>
            <a:srgbClr val="FFFFFF"/>
          </a:solidFill>
          <a:ln w="15240">
            <a:solidFill>
              <a:srgbClr val="FFFFFF"/>
            </a:solidFill>
            <a:prstDash val="solid"/>
          </a:ln>
        </p:spPr>
      </p:sp>
      <p:sp>
        <p:nvSpPr>
          <p:cNvPr id="67" name="Text 65"/>
          <p:cNvSpPr/>
          <p:nvPr/>
        </p:nvSpPr>
        <p:spPr>
          <a:xfrm>
            <a:off x="1682496" y="4937760"/>
            <a:ext cx="26517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Ticket quá hạn SLA</a:t>
            </a:r>
            <a:endParaRPr lang="en-US" sz="1250" dirty="0"/>
          </a:p>
        </p:txBody>
      </p:sp>
      <p:sp>
        <p:nvSpPr>
          <p:cNvPr id="68" name="Shape 66"/>
          <p:cNvSpPr/>
          <p:nvPr/>
        </p:nvSpPr>
        <p:spPr>
          <a:xfrm>
            <a:off x="4407408" y="4937760"/>
            <a:ext cx="3291840" cy="457200"/>
          </a:xfrm>
          <a:prstGeom prst="rect">
            <a:avLst/>
          </a:prstGeom>
          <a:solidFill>
            <a:srgbClr val="FFFFFF"/>
          </a:solidFill>
          <a:ln w="15240">
            <a:solidFill>
              <a:srgbClr val="FFFFFF"/>
            </a:solidFill>
            <a:prstDash val="solid"/>
          </a:ln>
        </p:spPr>
      </p:sp>
      <p:sp>
        <p:nvSpPr>
          <p:cNvPr id="69" name="Text 67"/>
          <p:cNvSpPr/>
          <p:nvPr/>
        </p:nvSpPr>
        <p:spPr>
          <a:xfrm>
            <a:off x="4517136" y="4937760"/>
            <a:ext cx="3108960" cy="457200"/>
          </a:xfrm>
          <a:prstGeom prst="rect">
            <a:avLst/>
          </a:prstGeom>
          <a:noFill/>
          <a:ln/>
        </p:spPr>
        <p:txBody>
          <a:bodyPr wrap="square" lIns="0" tIns="0" rIns="0" bIns="0" rtlCol="0" anchor="ctr"/>
          <a:lstStyle/>
          <a:p>
            <a:pPr marL="0" indent="0" algn="l">
              <a:buNone/>
            </a:pPr>
            <a:r>
              <a:rPr lang="en-US" sz="1250" dirty="0">
                <a:solidFill>
                  <a:srgbClr val="22303C"/>
                </a:solidFill>
                <a:latin typeface="Calibri" pitchFamily="34" charset="0"/>
                <a:ea typeface="Calibri" pitchFamily="34" charset="-122"/>
                <a:cs typeface="Calibri" pitchFamily="34" charset="-120"/>
              </a:rPr>
              <a:t>Ghi SlaEscalationLog</a:t>
            </a:r>
            <a:endParaRPr lang="en-US" sz="1250" dirty="0"/>
          </a:p>
        </p:txBody>
      </p:sp>
      <p:sp>
        <p:nvSpPr>
          <p:cNvPr id="70" name="Shape 68"/>
          <p:cNvSpPr/>
          <p:nvPr/>
        </p:nvSpPr>
        <p:spPr>
          <a:xfrm>
            <a:off x="7699248" y="4937760"/>
            <a:ext cx="914400" cy="457200"/>
          </a:xfrm>
          <a:prstGeom prst="rect">
            <a:avLst/>
          </a:prstGeom>
          <a:solidFill>
            <a:srgbClr val="E4EEF3"/>
          </a:solidFill>
          <a:ln w="15240">
            <a:solidFill>
              <a:srgbClr val="FFFFFF"/>
            </a:solidFill>
            <a:prstDash val="solid"/>
          </a:ln>
        </p:spPr>
      </p:sp>
      <p:sp>
        <p:nvSpPr>
          <p:cNvPr id="71" name="Text 69"/>
          <p:cNvSpPr/>
          <p:nvPr/>
        </p:nvSpPr>
        <p:spPr>
          <a:xfrm>
            <a:off x="7808976" y="4937760"/>
            <a:ext cx="731520" cy="457200"/>
          </a:xfrm>
          <a:prstGeom prst="rect">
            <a:avLst/>
          </a:prstGeom>
          <a:noFill/>
          <a:ln/>
        </p:spPr>
        <p:txBody>
          <a:bodyPr wrap="square" lIns="0" tIns="0" rIns="0" bIns="0" rtlCol="0" anchor="ctr"/>
          <a:lstStyle/>
          <a:p>
            <a:pPr marL="0" indent="0" algn="ctr">
              <a:buNone/>
            </a:pPr>
            <a:r>
              <a:rPr lang="en-US" sz="1250" b="1" dirty="0">
                <a:solidFill>
                  <a:srgbClr val="0E7C86"/>
                </a:solidFill>
                <a:latin typeface="Calibri" pitchFamily="34" charset="0"/>
                <a:ea typeface="Calibri" pitchFamily="34" charset="-122"/>
                <a:cs typeface="Calibri" pitchFamily="34" charset="-120"/>
              </a:rPr>
              <a:t>Đạt</a:t>
            </a:r>
            <a:endParaRPr lang="en-US" sz="1250" dirty="0"/>
          </a:p>
        </p:txBody>
      </p:sp>
      <p:sp>
        <p:nvSpPr>
          <p:cNvPr id="72" name="Shape 70"/>
          <p:cNvSpPr/>
          <p:nvPr/>
        </p:nvSpPr>
        <p:spPr>
          <a:xfrm>
            <a:off x="8933688" y="1737360"/>
            <a:ext cx="2709367" cy="2724912"/>
          </a:xfrm>
          <a:prstGeom prst="roundRect">
            <a:avLst>
              <a:gd name="adj" fmla="val 4050"/>
            </a:avLst>
          </a:prstGeom>
          <a:solidFill>
            <a:srgbClr val="0E2A47"/>
          </a:solidFill>
          <a:ln/>
        </p:spPr>
      </p:sp>
      <p:sp>
        <p:nvSpPr>
          <p:cNvPr id="73" name="Shape 71"/>
          <p:cNvSpPr/>
          <p:nvPr/>
        </p:nvSpPr>
        <p:spPr>
          <a:xfrm>
            <a:off x="9208008" y="1938528"/>
            <a:ext cx="566928" cy="566928"/>
          </a:xfrm>
          <a:prstGeom prst="roundRect">
            <a:avLst>
              <a:gd name="adj" fmla="val 50000"/>
            </a:avLst>
          </a:prstGeom>
          <a:solidFill>
            <a:srgbClr val="23B5A6"/>
          </a:solidFill>
          <a:ln/>
        </p:spPr>
      </p:sp>
      <p:pic>
        <p:nvPicPr>
          <p:cNvPr id="74" name="Image 0" descr="preencoded.png"/>
          <p:cNvPicPr>
            <a:picLocks noChangeAspect="1"/>
          </p:cNvPicPr>
          <p:nvPr/>
        </p:nvPicPr>
        <p:blipFill>
          <a:blip r:embed="rId3"/>
          <a:stretch>
            <a:fillRect/>
          </a:stretch>
        </p:blipFill>
        <p:spPr>
          <a:xfrm>
            <a:off x="9344071" y="2074591"/>
            <a:ext cx="294803" cy="294803"/>
          </a:xfrm>
          <a:prstGeom prst="rect">
            <a:avLst/>
          </a:prstGeom>
        </p:spPr>
      </p:pic>
      <p:sp>
        <p:nvSpPr>
          <p:cNvPr id="75" name="Text 72"/>
          <p:cNvSpPr/>
          <p:nvPr/>
        </p:nvSpPr>
        <p:spPr>
          <a:xfrm>
            <a:off x="9939528" y="1965960"/>
            <a:ext cx="1520647"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Phương pháp</a:t>
            </a:r>
            <a:endParaRPr lang="en-US" sz="1600" dirty="0"/>
          </a:p>
        </p:txBody>
      </p:sp>
      <p:sp>
        <p:nvSpPr>
          <p:cNvPr id="76" name="Text 73"/>
          <p:cNvSpPr/>
          <p:nvPr/>
        </p:nvSpPr>
        <p:spPr>
          <a:xfrm>
            <a:off x="9208008" y="2651760"/>
            <a:ext cx="2206447" cy="1737360"/>
          </a:xfrm>
          <a:prstGeom prst="rect">
            <a:avLst/>
          </a:prstGeom>
          <a:noFill/>
          <a:ln/>
        </p:spPr>
        <p:txBody>
          <a:bodyPr wrap="square" lIns="0" tIns="0" rIns="0" bIns="0" rtlCol="0" anchor="t"/>
          <a:lstStyle/>
          <a:p>
            <a:pPr marL="177800" indent="-177800">
              <a:lnSpc>
                <a:spcPct val="102000"/>
              </a:lnSpc>
              <a:spcAft>
                <a:spcPts val="700"/>
              </a:spcAft>
              <a:buSzPct val="100000"/>
              <a:buChar char="•"/>
            </a:pPr>
            <a:r>
              <a:rPr lang="en-US" sz="1150" dirty="0">
                <a:solidFill>
                  <a:srgbClr val="FFFFFF"/>
                </a:solidFill>
                <a:latin typeface="Calibri" pitchFamily="34" charset="0"/>
                <a:ea typeface="Calibri" pitchFamily="34" charset="-122"/>
                <a:cs typeface="Calibri" pitchFamily="34" charset="-120"/>
              </a:rPr>
              <a:t>Kiểm thử qua Swagger + giao diện</a:t>
            </a:r>
            <a:endParaRPr lang="en-US" sz="1150" dirty="0"/>
          </a:p>
          <a:p>
            <a:pPr marL="177800" indent="-177800">
              <a:lnSpc>
                <a:spcPct val="102000"/>
              </a:lnSpc>
              <a:spcAft>
                <a:spcPts val="700"/>
              </a:spcAft>
              <a:buSzPct val="100000"/>
              <a:buChar char="•"/>
            </a:pPr>
            <a:r>
              <a:rPr lang="en-US" sz="1150" dirty="0">
                <a:solidFill>
                  <a:srgbClr val="FFFFFF"/>
                </a:solidFill>
                <a:latin typeface="Calibri" pitchFamily="34" charset="0"/>
                <a:ea typeface="Calibri" pitchFamily="34" charset="-122"/>
                <a:cs typeface="Calibri" pitchFamily="34" charset="-120"/>
              </a:rPr>
              <a:t>Thành viên kiểm thử chéo phân hệ của nhau</a:t>
            </a:r>
            <a:endParaRPr lang="en-US" sz="1150" dirty="0"/>
          </a:p>
          <a:p>
            <a:pPr marL="177800" indent="-177800">
              <a:lnSpc>
                <a:spcPct val="102000"/>
              </a:lnSpc>
              <a:spcAft>
                <a:spcPts val="700"/>
              </a:spcAft>
              <a:buSzPct val="100000"/>
              <a:buChar char="•"/>
            </a:pPr>
            <a:r>
              <a:rPr lang="en-US" sz="1150" dirty="0">
                <a:solidFill>
                  <a:srgbClr val="FFFFFF"/>
                </a:solidFill>
                <a:latin typeface="Calibri" pitchFamily="34" charset="0"/>
                <a:ea typeface="Calibri" pitchFamily="34" charset="-122"/>
                <a:cs typeface="Calibri" pitchFamily="34" charset="-120"/>
              </a:rPr>
              <a:t>Nhật ký lỗi trên Excel, mỗi lỗi kèm ảnh</a:t>
            </a:r>
            <a:endParaRPr lang="en-US" sz="1150" dirty="0"/>
          </a:p>
          <a:p>
            <a:pPr marL="177800" indent="-177800">
              <a:lnSpc>
                <a:spcPct val="102000"/>
              </a:lnSpc>
              <a:spcAft>
                <a:spcPts val="700"/>
              </a:spcAft>
              <a:buSzPct val="100000"/>
              <a:buChar char="•"/>
            </a:pPr>
            <a:r>
              <a:rPr lang="en-US" sz="1150" dirty="0">
                <a:solidFill>
                  <a:srgbClr val="FFFFFF"/>
                </a:solidFill>
                <a:latin typeface="Calibri" pitchFamily="34" charset="0"/>
                <a:ea typeface="Calibri" pitchFamily="34" charset="-122"/>
                <a:cs typeface="Calibri" pitchFamily="34" charset="-120"/>
              </a:rPr>
              <a:t>Theo dõi qua 3 vòng test</a:t>
            </a:r>
            <a:endParaRPr lang="en-US" sz="1150" dirty="0"/>
          </a:p>
        </p:txBody>
      </p:sp>
      <p:sp>
        <p:nvSpPr>
          <p:cNvPr id="77" name="Shape 74"/>
          <p:cNvSpPr/>
          <p:nvPr/>
        </p:nvSpPr>
        <p:spPr>
          <a:xfrm>
            <a:off x="8933688" y="4645152"/>
            <a:ext cx="2709367" cy="1572768"/>
          </a:xfrm>
          <a:prstGeom prst="roundRect">
            <a:avLst>
              <a:gd name="adj" fmla="val 6977"/>
            </a:avLst>
          </a:prstGeom>
          <a:solidFill>
            <a:srgbClr val="E4EEF3"/>
          </a:solidFill>
          <a:ln/>
          <a:effectLst>
            <a:outerShdw blurRad="88900" dist="25400" dir="5400000" algn="bl" rotWithShape="0">
              <a:srgbClr val="B9C7D1">
                <a:alpha val="40000"/>
              </a:srgbClr>
            </a:outerShdw>
          </a:effectLst>
        </p:spPr>
      </p:sp>
      <p:sp>
        <p:nvSpPr>
          <p:cNvPr id="78" name="Text 75"/>
          <p:cNvSpPr/>
          <p:nvPr/>
        </p:nvSpPr>
        <p:spPr>
          <a:xfrm>
            <a:off x="8933688" y="4645152"/>
            <a:ext cx="2709367" cy="1572768"/>
          </a:xfrm>
          <a:prstGeom prst="rect">
            <a:avLst/>
          </a:prstGeom>
          <a:noFill/>
          <a:ln/>
        </p:spPr>
        <p:txBody>
          <a:bodyPr wrap="square" lIns="0" tIns="0" rIns="0" bIns="0" rtlCol="0" anchor="ctr"/>
          <a:lstStyle/>
          <a:p>
            <a:pPr marL="0" indent="0" algn="ctr">
              <a:lnSpc>
                <a:spcPct val="100000"/>
              </a:lnSpc>
              <a:buNone/>
            </a:pPr>
            <a:r>
              <a:rPr lang="en-US" sz="3400" b="1" dirty="0">
                <a:solidFill>
                  <a:srgbClr val="0E7C86"/>
                </a:solidFill>
                <a:latin typeface="Cambria" pitchFamily="34" charset="0"/>
                <a:ea typeface="Cambria" pitchFamily="34" charset="-122"/>
                <a:cs typeface="Cambria" pitchFamily="34" charset="-120"/>
              </a:rPr>
              <a:t>7 / 7</a:t>
            </a:r>
            <a:endParaRPr lang="en-US" sz="3400" dirty="0"/>
          </a:p>
          <a:p>
            <a:pPr marL="0" indent="0" algn="ctr">
              <a:lnSpc>
                <a:spcPct val="100000"/>
              </a:lnSpc>
              <a:buNone/>
            </a:pPr>
            <a:r>
              <a:rPr lang="en-US" sz="1300" b="1" dirty="0">
                <a:solidFill>
                  <a:srgbClr val="0E2A47"/>
                </a:solidFill>
                <a:latin typeface="Cambria" pitchFamily="34" charset="0"/>
                <a:ea typeface="Cambria" pitchFamily="34" charset="-122"/>
                <a:cs typeface="Cambria" pitchFamily="34" charset="-120"/>
              </a:rPr>
              <a:t>ca kiểm thử tiêu biểu ĐẠT</a:t>
            </a:r>
            <a:endParaRPr lang="en-US" sz="3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05 · KẾT QUẢ &amp; ĐÁNH GIÁ</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Hệ thống chạy được, đầy đủ giao diện &amp; API</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47</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737360"/>
            <a:ext cx="3566160"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9" name="Shape 7"/>
          <p:cNvSpPr/>
          <p:nvPr/>
        </p:nvSpPr>
        <p:spPr>
          <a:xfrm>
            <a:off x="822960" y="1975104"/>
            <a:ext cx="658368" cy="658368"/>
          </a:xfrm>
          <a:prstGeom prst="roundRect">
            <a:avLst>
              <a:gd name="adj" fmla="val 50000"/>
            </a:avLst>
          </a:prstGeom>
          <a:solidFill>
            <a:srgbClr val="0E7C86"/>
          </a:solidFill>
          <a:ln/>
        </p:spPr>
      </p:sp>
      <p:pic>
        <p:nvPicPr>
          <p:cNvPr id="10" name="Image 0" descr="preencoded.png"/>
          <p:cNvPicPr>
            <a:picLocks noChangeAspect="1"/>
          </p:cNvPicPr>
          <p:nvPr/>
        </p:nvPicPr>
        <p:blipFill>
          <a:blip r:embed="rId3"/>
          <a:stretch>
            <a:fillRect/>
          </a:stretch>
        </p:blipFill>
        <p:spPr>
          <a:xfrm>
            <a:off x="980968" y="2133112"/>
            <a:ext cx="342351" cy="342351"/>
          </a:xfrm>
          <a:prstGeom prst="rect">
            <a:avLst/>
          </a:prstGeom>
        </p:spPr>
      </p:pic>
      <p:sp>
        <p:nvSpPr>
          <p:cNvPr id="11" name="Text 8"/>
          <p:cNvSpPr/>
          <p:nvPr/>
        </p:nvSpPr>
        <p:spPr>
          <a:xfrm>
            <a:off x="1618488" y="2048256"/>
            <a:ext cx="2377440" cy="50292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Tài sản &amp; bảo trì</a:t>
            </a:r>
            <a:endParaRPr lang="en-US" sz="1500" dirty="0"/>
          </a:p>
        </p:txBody>
      </p:sp>
      <p:sp>
        <p:nvSpPr>
          <p:cNvPr id="12" name="Text 9"/>
          <p:cNvSpPr/>
          <p:nvPr/>
        </p:nvSpPr>
        <p:spPr>
          <a:xfrm>
            <a:off x="822960" y="2834640"/>
            <a:ext cx="3063240" cy="914400"/>
          </a:xfrm>
          <a:prstGeom prst="rect">
            <a:avLst/>
          </a:prstGeom>
          <a:noFill/>
          <a:ln/>
        </p:spPr>
        <p:txBody>
          <a:bodyPr wrap="square" lIns="0" tIns="0" rIns="0" bIns="0" rtlCol="0" anchor="t"/>
          <a:lstStyle/>
          <a:p>
            <a:pPr marL="0" indent="0">
              <a:lnSpc>
                <a:spcPct val="104000"/>
              </a:lnSpc>
              <a:buNone/>
            </a:pPr>
            <a:r>
              <a:rPr lang="en-US" sz="1200" dirty="0">
                <a:solidFill>
                  <a:srgbClr val="22303C"/>
                </a:solidFill>
                <a:latin typeface="Calibri" pitchFamily="34" charset="0"/>
                <a:ea typeface="Calibri" pitchFamily="34" charset="-122"/>
                <a:cs typeface="Calibri" pitchFamily="34" charset="-120"/>
              </a:rPr>
              <a:t>Danh mục, ghi tăng, QR, điều chuyển, khấu hao, thanh lý, lịch bảo trì &amp; Work Order</a:t>
            </a:r>
            <a:endParaRPr lang="en-US" sz="1200" dirty="0"/>
          </a:p>
        </p:txBody>
      </p:sp>
      <p:sp>
        <p:nvSpPr>
          <p:cNvPr id="13" name="Shape 10"/>
          <p:cNvSpPr/>
          <p:nvPr/>
        </p:nvSpPr>
        <p:spPr>
          <a:xfrm>
            <a:off x="4315968" y="1737360"/>
            <a:ext cx="3566160"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4" name="Shape 11"/>
          <p:cNvSpPr/>
          <p:nvPr/>
        </p:nvSpPr>
        <p:spPr>
          <a:xfrm>
            <a:off x="4572000" y="1975104"/>
            <a:ext cx="658368" cy="658368"/>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4730008" y="2133112"/>
            <a:ext cx="342351" cy="342351"/>
          </a:xfrm>
          <a:prstGeom prst="rect">
            <a:avLst/>
          </a:prstGeom>
        </p:spPr>
      </p:pic>
      <p:sp>
        <p:nvSpPr>
          <p:cNvPr id="16" name="Text 12"/>
          <p:cNvSpPr/>
          <p:nvPr/>
        </p:nvSpPr>
        <p:spPr>
          <a:xfrm>
            <a:off x="5367528" y="2048256"/>
            <a:ext cx="2377440" cy="50292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Kho – Mua sắm – NCC</a:t>
            </a:r>
            <a:endParaRPr lang="en-US" sz="1500" dirty="0"/>
          </a:p>
        </p:txBody>
      </p:sp>
      <p:sp>
        <p:nvSpPr>
          <p:cNvPr id="17" name="Text 13"/>
          <p:cNvSpPr/>
          <p:nvPr/>
        </p:nvSpPr>
        <p:spPr>
          <a:xfrm>
            <a:off x="4572000" y="2834640"/>
            <a:ext cx="3063240" cy="914400"/>
          </a:xfrm>
          <a:prstGeom prst="rect">
            <a:avLst/>
          </a:prstGeom>
          <a:noFill/>
          <a:ln/>
        </p:spPr>
        <p:txBody>
          <a:bodyPr wrap="square" lIns="0" tIns="0" rIns="0" bIns="0" rtlCol="0" anchor="t"/>
          <a:lstStyle/>
          <a:p>
            <a:pPr marL="0" indent="0">
              <a:lnSpc>
                <a:spcPct val="104000"/>
              </a:lnSpc>
              <a:buNone/>
            </a:pPr>
            <a:r>
              <a:rPr lang="en-US" sz="1200" dirty="0">
                <a:solidFill>
                  <a:srgbClr val="22303C"/>
                </a:solidFill>
                <a:latin typeface="Calibri" pitchFamily="34" charset="0"/>
                <a:ea typeface="Calibri" pitchFamily="34" charset="-122"/>
                <a:cs typeface="Calibri" pitchFamily="34" charset="-120"/>
              </a:rPr>
              <a:t>Tồn kho &amp; cảnh báo, PR→PO→hóa đơn, OCR hóa đơn, quản lý NCC/hợp đồng</a:t>
            </a:r>
            <a:endParaRPr lang="en-US" sz="1200" dirty="0"/>
          </a:p>
        </p:txBody>
      </p:sp>
      <p:sp>
        <p:nvSpPr>
          <p:cNvPr id="18" name="Shape 14"/>
          <p:cNvSpPr/>
          <p:nvPr/>
        </p:nvSpPr>
        <p:spPr>
          <a:xfrm>
            <a:off x="8065008" y="1737360"/>
            <a:ext cx="3566160" cy="2148840"/>
          </a:xfrm>
          <a:prstGeom prst="roundRect">
            <a:avLst>
              <a:gd name="adj" fmla="val 5106"/>
            </a:avLst>
          </a:prstGeom>
          <a:solidFill>
            <a:srgbClr val="FFFFFF"/>
          </a:solidFill>
          <a:ln w="12700">
            <a:solidFill>
              <a:srgbClr val="DCE5EC"/>
            </a:solidFill>
            <a:prstDash val="solid"/>
          </a:ln>
          <a:effectLst>
            <a:outerShdw blurRad="88900" dist="25400" dir="5400000" algn="bl" rotWithShape="0">
              <a:srgbClr val="B9C7D1">
                <a:alpha val="40000"/>
              </a:srgbClr>
            </a:outerShdw>
          </a:effectLst>
        </p:spPr>
      </p:sp>
      <p:sp>
        <p:nvSpPr>
          <p:cNvPr id="19" name="Shape 15"/>
          <p:cNvSpPr/>
          <p:nvPr/>
        </p:nvSpPr>
        <p:spPr>
          <a:xfrm>
            <a:off x="8321040" y="1975104"/>
            <a:ext cx="658368" cy="658368"/>
          </a:xfrm>
          <a:prstGeom prst="roundRect">
            <a:avLst>
              <a:gd name="adj" fmla="val 50000"/>
            </a:avLst>
          </a:prstGeom>
          <a:solidFill>
            <a:srgbClr val="EFA13C"/>
          </a:solidFill>
          <a:ln/>
        </p:spPr>
      </p:sp>
      <p:pic>
        <p:nvPicPr>
          <p:cNvPr id="20" name="Image 2" descr="preencoded.png"/>
          <p:cNvPicPr>
            <a:picLocks noChangeAspect="1"/>
          </p:cNvPicPr>
          <p:nvPr/>
        </p:nvPicPr>
        <p:blipFill>
          <a:blip r:embed="rId5"/>
          <a:stretch>
            <a:fillRect/>
          </a:stretch>
        </p:blipFill>
        <p:spPr>
          <a:xfrm>
            <a:off x="8479048" y="2133112"/>
            <a:ext cx="342351" cy="342351"/>
          </a:xfrm>
          <a:prstGeom prst="rect">
            <a:avLst/>
          </a:prstGeom>
        </p:spPr>
      </p:pic>
      <p:sp>
        <p:nvSpPr>
          <p:cNvPr id="21" name="Text 16"/>
          <p:cNvSpPr/>
          <p:nvPr/>
        </p:nvSpPr>
        <p:spPr>
          <a:xfrm>
            <a:off x="9116568" y="2048256"/>
            <a:ext cx="2377440" cy="502920"/>
          </a:xfrm>
          <a:prstGeom prst="rect">
            <a:avLst/>
          </a:prstGeom>
          <a:noFill/>
          <a:ln/>
        </p:spPr>
        <p:txBody>
          <a:bodyPr wrap="square" lIns="0" tIns="0" rIns="0" bIns="0" rtlCol="0" anchor="ctr"/>
          <a:lstStyle/>
          <a:p>
            <a:pPr marL="0" indent="0">
              <a:buNone/>
            </a:pPr>
            <a:r>
              <a:rPr lang="en-US" sz="1500" b="1" dirty="0">
                <a:solidFill>
                  <a:srgbClr val="0E2A47"/>
                </a:solidFill>
                <a:latin typeface="Cambria" pitchFamily="34" charset="0"/>
                <a:ea typeface="Cambria" pitchFamily="34" charset="-122"/>
                <a:cs typeface="Cambria" pitchFamily="34" charset="-120"/>
              </a:rPr>
              <a:t>Sự cố &amp; SLA</a:t>
            </a:r>
            <a:endParaRPr lang="en-US" sz="1500" dirty="0"/>
          </a:p>
        </p:txBody>
      </p:sp>
      <p:sp>
        <p:nvSpPr>
          <p:cNvPr id="22" name="Text 17"/>
          <p:cNvSpPr/>
          <p:nvPr/>
        </p:nvSpPr>
        <p:spPr>
          <a:xfrm>
            <a:off x="8321040" y="2834640"/>
            <a:ext cx="3063240" cy="914400"/>
          </a:xfrm>
          <a:prstGeom prst="rect">
            <a:avLst/>
          </a:prstGeom>
          <a:noFill/>
          <a:ln/>
        </p:spPr>
        <p:txBody>
          <a:bodyPr wrap="square" lIns="0" tIns="0" rIns="0" bIns="0" rtlCol="0" anchor="t"/>
          <a:lstStyle/>
          <a:p>
            <a:pPr marL="0" indent="0">
              <a:lnSpc>
                <a:spcPct val="104000"/>
              </a:lnSpc>
              <a:buNone/>
            </a:pPr>
            <a:r>
              <a:rPr lang="en-US" sz="1200" dirty="0">
                <a:solidFill>
                  <a:srgbClr val="22303C"/>
                </a:solidFill>
                <a:latin typeface="Calibri" pitchFamily="34" charset="0"/>
                <a:ea typeface="Calibri" pitchFamily="34" charset="-122"/>
                <a:cs typeface="Calibri" pitchFamily="34" charset="-120"/>
              </a:rPr>
              <a:t>Tạo/xử lý ticket, phân công, theo dõi SLA, leo thang, đánh giá hài lòng</a:t>
            </a:r>
            <a:endParaRPr lang="en-US" sz="1200" dirty="0"/>
          </a:p>
        </p:txBody>
      </p:sp>
      <p:sp>
        <p:nvSpPr>
          <p:cNvPr id="23" name="Shape 18"/>
          <p:cNvSpPr/>
          <p:nvPr/>
        </p:nvSpPr>
        <p:spPr>
          <a:xfrm>
            <a:off x="566928" y="4114800"/>
            <a:ext cx="2688336" cy="1234440"/>
          </a:xfrm>
          <a:prstGeom prst="roundRect">
            <a:avLst>
              <a:gd name="adj" fmla="val 8148"/>
            </a:avLst>
          </a:prstGeom>
          <a:solidFill>
            <a:srgbClr val="0E2A47"/>
          </a:solidFill>
          <a:ln/>
        </p:spPr>
      </p:sp>
      <p:sp>
        <p:nvSpPr>
          <p:cNvPr id="24" name="Shape 19"/>
          <p:cNvSpPr/>
          <p:nvPr/>
        </p:nvSpPr>
        <p:spPr>
          <a:xfrm>
            <a:off x="1627632" y="4261104"/>
            <a:ext cx="566928" cy="566928"/>
          </a:xfrm>
          <a:prstGeom prst="roundRect">
            <a:avLst>
              <a:gd name="adj" fmla="val 50000"/>
            </a:avLst>
          </a:prstGeom>
          <a:solidFill>
            <a:srgbClr val="23B5A6"/>
          </a:solidFill>
          <a:ln/>
        </p:spPr>
      </p:sp>
      <p:pic>
        <p:nvPicPr>
          <p:cNvPr id="25" name="Image 3" descr="preencoded.png"/>
          <p:cNvPicPr>
            <a:picLocks noChangeAspect="1"/>
          </p:cNvPicPr>
          <p:nvPr/>
        </p:nvPicPr>
        <p:blipFill>
          <a:blip r:embed="rId6"/>
          <a:stretch>
            <a:fillRect/>
          </a:stretch>
        </p:blipFill>
        <p:spPr>
          <a:xfrm>
            <a:off x="1763695" y="4397167"/>
            <a:ext cx="294803" cy="294803"/>
          </a:xfrm>
          <a:prstGeom prst="rect">
            <a:avLst/>
          </a:prstGeom>
        </p:spPr>
      </p:pic>
      <p:sp>
        <p:nvSpPr>
          <p:cNvPr id="26" name="Text 20"/>
          <p:cNvSpPr/>
          <p:nvPr/>
        </p:nvSpPr>
        <p:spPr>
          <a:xfrm>
            <a:off x="566928" y="4846320"/>
            <a:ext cx="2688336"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Chức năng</a:t>
            </a:r>
            <a:endParaRPr lang="en-US" sz="1300" dirty="0"/>
          </a:p>
        </p:txBody>
      </p:sp>
      <p:sp>
        <p:nvSpPr>
          <p:cNvPr id="27" name="Text 21"/>
          <p:cNvSpPr/>
          <p:nvPr/>
        </p:nvSpPr>
        <p:spPr>
          <a:xfrm>
            <a:off x="676656" y="5084064"/>
            <a:ext cx="2468880" cy="256032"/>
          </a:xfrm>
          <a:prstGeom prst="rect">
            <a:avLst/>
          </a:prstGeom>
          <a:noFill/>
          <a:ln/>
        </p:spPr>
        <p:txBody>
          <a:bodyPr wrap="square" lIns="0" tIns="0" rIns="0" bIns="0" rtlCol="0" anchor="ctr"/>
          <a:lstStyle/>
          <a:p>
            <a:pPr marL="0" indent="0" algn="ctr">
              <a:buNone/>
            </a:pPr>
            <a:r>
              <a:rPr lang="en-US" sz="1000" dirty="0">
                <a:solidFill>
                  <a:srgbClr val="BFD6DF"/>
                </a:solidFill>
                <a:latin typeface="Calibri" pitchFamily="34" charset="0"/>
                <a:ea typeface="Calibri" pitchFamily="34" charset="-122"/>
                <a:cs typeface="Calibri" pitchFamily="34" charset="-120"/>
              </a:rPr>
              <a:t>Đáp ứng yêu cầu Chương 1 (Base + phần riêng)</a:t>
            </a:r>
            <a:endParaRPr lang="en-US" sz="1000" dirty="0"/>
          </a:p>
        </p:txBody>
      </p:sp>
      <p:sp>
        <p:nvSpPr>
          <p:cNvPr id="28" name="Shape 22"/>
          <p:cNvSpPr/>
          <p:nvPr/>
        </p:nvSpPr>
        <p:spPr>
          <a:xfrm>
            <a:off x="3374136" y="4114800"/>
            <a:ext cx="2688336" cy="1234440"/>
          </a:xfrm>
          <a:prstGeom prst="roundRect">
            <a:avLst>
              <a:gd name="adj" fmla="val 8148"/>
            </a:avLst>
          </a:prstGeom>
          <a:solidFill>
            <a:srgbClr val="0E2A47"/>
          </a:solidFill>
          <a:ln/>
        </p:spPr>
      </p:sp>
      <p:sp>
        <p:nvSpPr>
          <p:cNvPr id="29" name="Shape 23"/>
          <p:cNvSpPr/>
          <p:nvPr/>
        </p:nvSpPr>
        <p:spPr>
          <a:xfrm>
            <a:off x="4434840" y="4261104"/>
            <a:ext cx="566928" cy="566928"/>
          </a:xfrm>
          <a:prstGeom prst="roundRect">
            <a:avLst>
              <a:gd name="adj" fmla="val 50000"/>
            </a:avLst>
          </a:prstGeom>
          <a:solidFill>
            <a:srgbClr val="23B5A6"/>
          </a:solidFill>
          <a:ln/>
        </p:spPr>
      </p:sp>
      <p:pic>
        <p:nvPicPr>
          <p:cNvPr id="30" name="Image 4" descr="preencoded.png"/>
          <p:cNvPicPr>
            <a:picLocks noChangeAspect="1"/>
          </p:cNvPicPr>
          <p:nvPr/>
        </p:nvPicPr>
        <p:blipFill>
          <a:blip r:embed="rId7"/>
          <a:stretch>
            <a:fillRect/>
          </a:stretch>
        </p:blipFill>
        <p:spPr>
          <a:xfrm>
            <a:off x="4570903" y="4397167"/>
            <a:ext cx="294803" cy="294803"/>
          </a:xfrm>
          <a:prstGeom prst="rect">
            <a:avLst/>
          </a:prstGeom>
        </p:spPr>
      </p:pic>
      <p:sp>
        <p:nvSpPr>
          <p:cNvPr id="31" name="Text 24"/>
          <p:cNvSpPr/>
          <p:nvPr/>
        </p:nvSpPr>
        <p:spPr>
          <a:xfrm>
            <a:off x="3374136" y="4846320"/>
            <a:ext cx="2688336"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Hiệu năng</a:t>
            </a:r>
            <a:endParaRPr lang="en-US" sz="1300" dirty="0"/>
          </a:p>
        </p:txBody>
      </p:sp>
      <p:sp>
        <p:nvSpPr>
          <p:cNvPr id="32" name="Text 25"/>
          <p:cNvSpPr/>
          <p:nvPr/>
        </p:nvSpPr>
        <p:spPr>
          <a:xfrm>
            <a:off x="3483864" y="5084064"/>
            <a:ext cx="2468880" cy="256032"/>
          </a:xfrm>
          <a:prstGeom prst="rect">
            <a:avLst/>
          </a:prstGeom>
          <a:noFill/>
          <a:ln/>
        </p:spPr>
        <p:txBody>
          <a:bodyPr wrap="square" lIns="0" tIns="0" rIns="0" bIns="0" rtlCol="0" anchor="ctr"/>
          <a:lstStyle/>
          <a:p>
            <a:pPr marL="0" indent="0" algn="ctr">
              <a:buNone/>
            </a:pPr>
            <a:r>
              <a:rPr lang="en-US" sz="1000" dirty="0">
                <a:solidFill>
                  <a:srgbClr val="BFD6DF"/>
                </a:solidFill>
                <a:latin typeface="Calibri" pitchFamily="34" charset="0"/>
                <a:ea typeface="Calibri" pitchFamily="34" charset="-122"/>
                <a:cs typeface="Calibri" pitchFamily="34" charset="-120"/>
              </a:rPr>
              <a:t>Phân trang/lọc phía server, OCR bất đồng bộ</a:t>
            </a:r>
            <a:endParaRPr lang="en-US" sz="1000" dirty="0"/>
          </a:p>
        </p:txBody>
      </p:sp>
      <p:sp>
        <p:nvSpPr>
          <p:cNvPr id="33" name="Shape 26"/>
          <p:cNvSpPr/>
          <p:nvPr/>
        </p:nvSpPr>
        <p:spPr>
          <a:xfrm>
            <a:off x="6181344" y="4114800"/>
            <a:ext cx="2688336" cy="1234440"/>
          </a:xfrm>
          <a:prstGeom prst="roundRect">
            <a:avLst>
              <a:gd name="adj" fmla="val 8148"/>
            </a:avLst>
          </a:prstGeom>
          <a:solidFill>
            <a:srgbClr val="0E2A47"/>
          </a:solidFill>
          <a:ln/>
        </p:spPr>
      </p:sp>
      <p:sp>
        <p:nvSpPr>
          <p:cNvPr id="34" name="Shape 27"/>
          <p:cNvSpPr/>
          <p:nvPr/>
        </p:nvSpPr>
        <p:spPr>
          <a:xfrm>
            <a:off x="7242048" y="4261104"/>
            <a:ext cx="566928" cy="566928"/>
          </a:xfrm>
          <a:prstGeom prst="roundRect">
            <a:avLst>
              <a:gd name="adj" fmla="val 50000"/>
            </a:avLst>
          </a:prstGeom>
          <a:solidFill>
            <a:srgbClr val="23B5A6"/>
          </a:solidFill>
          <a:ln/>
        </p:spPr>
      </p:sp>
      <p:pic>
        <p:nvPicPr>
          <p:cNvPr id="35" name="Image 5" descr="preencoded.png"/>
          <p:cNvPicPr>
            <a:picLocks noChangeAspect="1"/>
          </p:cNvPicPr>
          <p:nvPr/>
        </p:nvPicPr>
        <p:blipFill>
          <a:blip r:embed="rId8"/>
          <a:stretch>
            <a:fillRect/>
          </a:stretch>
        </p:blipFill>
        <p:spPr>
          <a:xfrm>
            <a:off x="7378111" y="4397167"/>
            <a:ext cx="294803" cy="294803"/>
          </a:xfrm>
          <a:prstGeom prst="rect">
            <a:avLst/>
          </a:prstGeom>
        </p:spPr>
      </p:pic>
      <p:sp>
        <p:nvSpPr>
          <p:cNvPr id="36" name="Text 28"/>
          <p:cNvSpPr/>
          <p:nvPr/>
        </p:nvSpPr>
        <p:spPr>
          <a:xfrm>
            <a:off x="6181344" y="4846320"/>
            <a:ext cx="2688336"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Bảo mật</a:t>
            </a:r>
            <a:endParaRPr lang="en-US" sz="1300" dirty="0"/>
          </a:p>
        </p:txBody>
      </p:sp>
      <p:sp>
        <p:nvSpPr>
          <p:cNvPr id="37" name="Text 29"/>
          <p:cNvSpPr/>
          <p:nvPr/>
        </p:nvSpPr>
        <p:spPr>
          <a:xfrm>
            <a:off x="6291072" y="5084064"/>
            <a:ext cx="2468880" cy="256032"/>
          </a:xfrm>
          <a:prstGeom prst="rect">
            <a:avLst/>
          </a:prstGeom>
          <a:noFill/>
          <a:ln/>
        </p:spPr>
        <p:txBody>
          <a:bodyPr wrap="square" lIns="0" tIns="0" rIns="0" bIns="0" rtlCol="0" anchor="ctr"/>
          <a:lstStyle/>
          <a:p>
            <a:pPr marL="0" indent="0" algn="ctr">
              <a:buNone/>
            </a:pPr>
            <a:r>
              <a:rPr lang="en-US" sz="1000" dirty="0">
                <a:solidFill>
                  <a:srgbClr val="BFD6DF"/>
                </a:solidFill>
                <a:latin typeface="Calibri" pitchFamily="34" charset="0"/>
                <a:ea typeface="Calibri" pitchFamily="34" charset="-122"/>
                <a:cs typeface="Calibri" pitchFamily="34" charset="-120"/>
              </a:rPr>
              <a:t>JWT · MFA · RBAC chi tiết theo vai trò</a:t>
            </a:r>
            <a:endParaRPr lang="en-US" sz="1000" dirty="0"/>
          </a:p>
        </p:txBody>
      </p:sp>
      <p:sp>
        <p:nvSpPr>
          <p:cNvPr id="38" name="Shape 30"/>
          <p:cNvSpPr/>
          <p:nvPr/>
        </p:nvSpPr>
        <p:spPr>
          <a:xfrm>
            <a:off x="8988552" y="4114800"/>
            <a:ext cx="2688336" cy="1234440"/>
          </a:xfrm>
          <a:prstGeom prst="roundRect">
            <a:avLst>
              <a:gd name="adj" fmla="val 8148"/>
            </a:avLst>
          </a:prstGeom>
          <a:solidFill>
            <a:srgbClr val="0E2A47"/>
          </a:solidFill>
          <a:ln/>
        </p:spPr>
      </p:sp>
      <p:sp>
        <p:nvSpPr>
          <p:cNvPr id="39" name="Shape 31"/>
          <p:cNvSpPr/>
          <p:nvPr/>
        </p:nvSpPr>
        <p:spPr>
          <a:xfrm>
            <a:off x="10049256" y="4261104"/>
            <a:ext cx="566928" cy="566928"/>
          </a:xfrm>
          <a:prstGeom prst="roundRect">
            <a:avLst>
              <a:gd name="adj" fmla="val 50000"/>
            </a:avLst>
          </a:prstGeom>
          <a:solidFill>
            <a:srgbClr val="23B5A6"/>
          </a:solidFill>
          <a:ln/>
        </p:spPr>
      </p:sp>
      <p:pic>
        <p:nvPicPr>
          <p:cNvPr id="40" name="Image 6" descr="preencoded.png"/>
          <p:cNvPicPr>
            <a:picLocks noChangeAspect="1"/>
          </p:cNvPicPr>
          <p:nvPr/>
        </p:nvPicPr>
        <p:blipFill>
          <a:blip r:embed="rId9"/>
          <a:stretch>
            <a:fillRect/>
          </a:stretch>
        </p:blipFill>
        <p:spPr>
          <a:xfrm>
            <a:off x="10185319" y="4397167"/>
            <a:ext cx="294803" cy="294803"/>
          </a:xfrm>
          <a:prstGeom prst="rect">
            <a:avLst/>
          </a:prstGeom>
        </p:spPr>
      </p:pic>
      <p:sp>
        <p:nvSpPr>
          <p:cNvPr id="41" name="Text 32"/>
          <p:cNvSpPr/>
          <p:nvPr/>
        </p:nvSpPr>
        <p:spPr>
          <a:xfrm>
            <a:off x="8988552" y="4846320"/>
            <a:ext cx="2688336"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Thông minh</a:t>
            </a:r>
            <a:endParaRPr lang="en-US" sz="1300" dirty="0"/>
          </a:p>
        </p:txBody>
      </p:sp>
      <p:sp>
        <p:nvSpPr>
          <p:cNvPr id="42" name="Text 33"/>
          <p:cNvSpPr/>
          <p:nvPr/>
        </p:nvSpPr>
        <p:spPr>
          <a:xfrm>
            <a:off x="9098280" y="5084064"/>
            <a:ext cx="2468880" cy="256032"/>
          </a:xfrm>
          <a:prstGeom prst="rect">
            <a:avLst/>
          </a:prstGeom>
          <a:noFill/>
          <a:ln/>
        </p:spPr>
        <p:txBody>
          <a:bodyPr wrap="square" lIns="0" tIns="0" rIns="0" bIns="0" rtlCol="0" anchor="ctr"/>
          <a:lstStyle/>
          <a:p>
            <a:pPr marL="0" indent="0" algn="ctr">
              <a:buNone/>
            </a:pPr>
            <a:r>
              <a:rPr lang="en-US" sz="1000" dirty="0">
                <a:solidFill>
                  <a:srgbClr val="BFD6DF"/>
                </a:solidFill>
                <a:latin typeface="Calibri" pitchFamily="34" charset="0"/>
                <a:ea typeface="Calibri" pitchFamily="34" charset="-122"/>
                <a:cs typeface="Calibri" pitchFamily="34" charset="-120"/>
              </a:rPr>
              <a:t>OCR hóa đơn + khấu hao tự động</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02336"/>
            <a:ext cx="9144000" cy="274320"/>
          </a:xfrm>
          <a:prstGeom prst="rect">
            <a:avLst/>
          </a:prstGeom>
          <a:noFill/>
          <a:ln/>
        </p:spPr>
        <p:txBody>
          <a:bodyPr wrap="square" lIns="0" tIns="0" rIns="0" bIns="0" rtlCol="0" anchor="ctr"/>
          <a:lstStyle/>
          <a:p>
            <a:pPr marL="0" indent="0">
              <a:buNone/>
            </a:pPr>
            <a:r>
              <a:rPr lang="en-US" sz="1250" b="1" kern="0" spc="200" dirty="0">
                <a:solidFill>
                  <a:srgbClr val="0E7C86"/>
                </a:solidFill>
                <a:latin typeface="Calibri" pitchFamily="34" charset="0"/>
                <a:ea typeface="Calibri" pitchFamily="34" charset="-122"/>
                <a:cs typeface="Calibri" pitchFamily="34" charset="-120"/>
              </a:rPr>
              <a:t>05 · KẾT LUẬN</a:t>
            </a:r>
            <a:endParaRPr lang="en-US" sz="1250" dirty="0"/>
          </a:p>
        </p:txBody>
      </p:sp>
      <p:sp>
        <p:nvSpPr>
          <p:cNvPr id="3" name="Text 1"/>
          <p:cNvSpPr/>
          <p:nvPr/>
        </p:nvSpPr>
        <p:spPr>
          <a:xfrm>
            <a:off x="548640" y="658368"/>
            <a:ext cx="10332720" cy="658368"/>
          </a:xfrm>
          <a:prstGeom prst="rect">
            <a:avLst/>
          </a:prstGeom>
          <a:noFill/>
          <a:ln/>
        </p:spPr>
        <p:txBody>
          <a:bodyPr wrap="square" lIns="0" tIns="0" rIns="0" bIns="0" rtlCol="0" anchor="ctr"/>
          <a:lstStyle/>
          <a:p>
            <a:pPr marL="0" indent="0">
              <a:buNone/>
            </a:pPr>
            <a:r>
              <a:rPr lang="en-US" sz="2900" b="1" dirty="0">
                <a:solidFill>
                  <a:srgbClr val="0E2A47"/>
                </a:solidFill>
                <a:latin typeface="Cambria" pitchFamily="34" charset="0"/>
                <a:ea typeface="Cambria" pitchFamily="34" charset="-122"/>
                <a:cs typeface="Cambria" pitchFamily="34" charset="-120"/>
              </a:rPr>
              <a:t>Hạn chế &amp; hướng phát triển</a:t>
            </a:r>
            <a:endParaRPr lang="en-US" sz="2900" dirty="0"/>
          </a:p>
        </p:txBody>
      </p:sp>
      <p:sp>
        <p:nvSpPr>
          <p:cNvPr id="4" name="Shape 2"/>
          <p:cNvSpPr/>
          <p:nvPr/>
        </p:nvSpPr>
        <p:spPr>
          <a:xfrm>
            <a:off x="11430000" y="457200"/>
            <a:ext cx="457200" cy="457200"/>
          </a:xfrm>
          <a:prstGeom prst="roundRect">
            <a:avLst>
              <a:gd name="adj" fmla="val 50000"/>
            </a:avLst>
          </a:prstGeom>
          <a:solidFill>
            <a:srgbClr val="F1F5F8"/>
          </a:solidFill>
          <a:ln/>
        </p:spPr>
      </p:sp>
      <p:sp>
        <p:nvSpPr>
          <p:cNvPr id="5" name="Text 3"/>
          <p:cNvSpPr/>
          <p:nvPr/>
        </p:nvSpPr>
        <p:spPr>
          <a:xfrm>
            <a:off x="11430000" y="457200"/>
            <a:ext cx="457200" cy="45720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48</a:t>
            </a:r>
            <a:endParaRPr lang="en-US" sz="1300" dirty="0"/>
          </a:p>
        </p:txBody>
      </p:sp>
      <p:sp>
        <p:nvSpPr>
          <p:cNvPr id="6" name="Text 4"/>
          <p:cNvSpPr/>
          <p:nvPr/>
        </p:nvSpPr>
        <p:spPr>
          <a:xfrm>
            <a:off x="566928" y="6455664"/>
            <a:ext cx="7315200" cy="274320"/>
          </a:xfrm>
          <a:prstGeom prst="rect">
            <a:avLst/>
          </a:prstGeom>
          <a:noFill/>
          <a:ln/>
        </p:spPr>
        <p:txBody>
          <a:bodyPr wrap="square" lIns="0" tIns="0" rIns="0" bIns="0" rtlCol="0" anchor="ctr"/>
          <a:lstStyle/>
          <a:p>
            <a:pPr marL="0" indent="0">
              <a:buNone/>
            </a:pPr>
            <a:r>
              <a:rPr lang="en-US" sz="900" dirty="0">
                <a:solidFill>
                  <a:srgbClr val="6B7A88"/>
                </a:solidFill>
                <a:latin typeface="Calibri" pitchFamily="34" charset="0"/>
                <a:ea typeface="Calibri" pitchFamily="34" charset="-122"/>
                <a:cs typeface="Calibri" pitchFamily="34" charset="-120"/>
              </a:rPr>
              <a:t>TownHub · Hệ thống quản lý vận hành tòa nhà</a:t>
            </a:r>
            <a:endParaRPr lang="en-US" sz="900" dirty="0"/>
          </a:p>
        </p:txBody>
      </p:sp>
      <p:sp>
        <p:nvSpPr>
          <p:cNvPr id="7" name="Text 5"/>
          <p:cNvSpPr/>
          <p:nvPr/>
        </p:nvSpPr>
        <p:spPr>
          <a:xfrm>
            <a:off x="7772400" y="6455664"/>
            <a:ext cx="3840480" cy="274320"/>
          </a:xfrm>
          <a:prstGeom prst="rect">
            <a:avLst/>
          </a:prstGeom>
          <a:noFill/>
          <a:ln/>
        </p:spPr>
        <p:txBody>
          <a:bodyPr wrap="square" lIns="0" tIns="0" rIns="0" bIns="0" rtlCol="0" anchor="ctr"/>
          <a:lstStyle/>
          <a:p>
            <a:pPr marL="0" indent="0" algn="r">
              <a:buNone/>
            </a:pPr>
            <a:r>
              <a:rPr lang="en-US" sz="900" dirty="0">
                <a:solidFill>
                  <a:srgbClr val="6B7A88"/>
                </a:solidFill>
                <a:latin typeface="Calibri" pitchFamily="34" charset="0"/>
                <a:ea typeface="Calibri" pitchFamily="34" charset="-122"/>
                <a:cs typeface="Calibri" pitchFamily="34" charset="-120"/>
              </a:rPr>
              <a:t>Nguyễn Xuân Thưởng · ĐATN 2026</a:t>
            </a:r>
            <a:endParaRPr lang="en-US" sz="900" dirty="0"/>
          </a:p>
        </p:txBody>
      </p:sp>
      <p:sp>
        <p:nvSpPr>
          <p:cNvPr id="8" name="Shape 6"/>
          <p:cNvSpPr/>
          <p:nvPr/>
        </p:nvSpPr>
        <p:spPr>
          <a:xfrm>
            <a:off x="566928" y="1783080"/>
            <a:ext cx="5440680" cy="4114800"/>
          </a:xfrm>
          <a:prstGeom prst="roundRect">
            <a:avLst>
              <a:gd name="adj" fmla="val 2667"/>
            </a:avLst>
          </a:prstGeom>
          <a:solidFill>
            <a:srgbClr val="F1F5F8"/>
          </a:solidFill>
          <a:ln/>
          <a:effectLst>
            <a:outerShdw blurRad="88900" dist="25400" dir="5400000" algn="bl" rotWithShape="0">
              <a:srgbClr val="B9C7D1">
                <a:alpha val="40000"/>
              </a:srgbClr>
            </a:outerShdw>
          </a:effectLst>
        </p:spPr>
      </p:sp>
      <p:sp>
        <p:nvSpPr>
          <p:cNvPr id="9" name="Shape 7"/>
          <p:cNvSpPr/>
          <p:nvPr/>
        </p:nvSpPr>
        <p:spPr>
          <a:xfrm>
            <a:off x="822960" y="2029968"/>
            <a:ext cx="640080" cy="640080"/>
          </a:xfrm>
          <a:prstGeom prst="roundRect">
            <a:avLst>
              <a:gd name="adj" fmla="val 50000"/>
            </a:avLst>
          </a:prstGeom>
          <a:solidFill>
            <a:srgbClr val="E4572E"/>
          </a:solidFill>
          <a:ln/>
        </p:spPr>
      </p:sp>
      <p:pic>
        <p:nvPicPr>
          <p:cNvPr id="10" name="Image 0" descr="preencoded.png"/>
          <p:cNvPicPr>
            <a:picLocks noChangeAspect="1"/>
          </p:cNvPicPr>
          <p:nvPr/>
        </p:nvPicPr>
        <p:blipFill>
          <a:blip r:embed="rId3"/>
          <a:stretch>
            <a:fillRect/>
          </a:stretch>
        </p:blipFill>
        <p:spPr>
          <a:xfrm>
            <a:off x="976579" y="2183587"/>
            <a:ext cx="332842" cy="332842"/>
          </a:xfrm>
          <a:prstGeom prst="rect">
            <a:avLst/>
          </a:prstGeom>
        </p:spPr>
      </p:pic>
      <p:sp>
        <p:nvSpPr>
          <p:cNvPr id="11" name="Text 8"/>
          <p:cNvSpPr/>
          <p:nvPr/>
        </p:nvSpPr>
        <p:spPr>
          <a:xfrm>
            <a:off x="1600200" y="2084832"/>
            <a:ext cx="4114800" cy="457200"/>
          </a:xfrm>
          <a:prstGeom prst="rect">
            <a:avLst/>
          </a:prstGeom>
          <a:noFill/>
          <a:ln/>
        </p:spPr>
        <p:txBody>
          <a:bodyPr wrap="square" lIns="0" tIns="0" rIns="0" bIns="0" rtlCol="0" anchor="ctr"/>
          <a:lstStyle/>
          <a:p>
            <a:pPr marL="0" indent="0">
              <a:buNone/>
            </a:pPr>
            <a:r>
              <a:rPr lang="en-US" sz="1900" b="1" dirty="0">
                <a:solidFill>
                  <a:srgbClr val="0E2A47"/>
                </a:solidFill>
                <a:latin typeface="Cambria" pitchFamily="34" charset="0"/>
                <a:ea typeface="Cambria" pitchFamily="34" charset="-122"/>
                <a:cs typeface="Cambria" pitchFamily="34" charset="-120"/>
              </a:rPr>
              <a:t>Hạn chế</a:t>
            </a:r>
            <a:endParaRPr lang="en-US" sz="1900" dirty="0"/>
          </a:p>
        </p:txBody>
      </p:sp>
      <p:sp>
        <p:nvSpPr>
          <p:cNvPr id="12" name="Text 9"/>
          <p:cNvSpPr/>
          <p:nvPr/>
        </p:nvSpPr>
        <p:spPr>
          <a:xfrm>
            <a:off x="822960" y="2880360"/>
            <a:ext cx="4983480" cy="2834640"/>
          </a:xfrm>
          <a:prstGeom prst="rect">
            <a:avLst/>
          </a:prstGeom>
          <a:noFill/>
          <a:ln/>
        </p:spPr>
        <p:txBody>
          <a:bodyPr wrap="square" lIns="0" tIns="0" rIns="0" bIns="0" rtlCol="0" anchor="t"/>
          <a:lstStyle/>
          <a:p>
            <a:pPr marL="177800" indent="-177800">
              <a:lnSpc>
                <a:spcPct val="102000"/>
              </a:lnSpc>
              <a:spcAft>
                <a:spcPts val="1400"/>
              </a:spcAft>
              <a:buSzPct val="100000"/>
              <a:buChar char="•"/>
            </a:pPr>
            <a:r>
              <a:rPr lang="en-US" sz="1350" dirty="0">
                <a:solidFill>
                  <a:srgbClr val="22303C"/>
                </a:solidFill>
                <a:latin typeface="Calibri" pitchFamily="34" charset="0"/>
                <a:ea typeface="Calibri" pitchFamily="34" charset="-122"/>
                <a:cs typeface="Calibri" pitchFamily="34" charset="-120"/>
              </a:rPr>
              <a:t>Mô hình OCR cần thêm dữ liệu hóa đơn thật để nâng độ chính xác tầng phát hiện</a:t>
            </a:r>
            <a:endParaRPr lang="en-US" sz="1350" dirty="0"/>
          </a:p>
          <a:p>
            <a:pPr marL="177800" indent="-177800">
              <a:lnSpc>
                <a:spcPct val="102000"/>
              </a:lnSpc>
              <a:spcAft>
                <a:spcPts val="1400"/>
              </a:spcAft>
              <a:buSzPct val="100000"/>
              <a:buChar char="•"/>
            </a:pPr>
            <a:r>
              <a:rPr lang="en-US" sz="1350" dirty="0">
                <a:solidFill>
                  <a:srgbClr val="22303C"/>
                </a:solidFill>
                <a:latin typeface="Calibri" pitchFamily="34" charset="0"/>
                <a:ea typeface="Calibri" pitchFamily="34" charset="-122"/>
                <a:cs typeface="Calibri" pitchFamily="34" charset="-120"/>
              </a:rPr>
              <a:t>Một số báo cáo/thống kê nâng cao &amp; tối ưu ở quy mô dữ liệu lớn chưa kiểm chứng đầy đủ</a:t>
            </a:r>
            <a:endParaRPr lang="en-US" sz="1350" dirty="0"/>
          </a:p>
          <a:p>
            <a:pPr marL="177800" indent="-177800">
              <a:lnSpc>
                <a:spcPct val="102000"/>
              </a:lnSpc>
              <a:spcAft>
                <a:spcPts val="1400"/>
              </a:spcAft>
              <a:buSzPct val="100000"/>
              <a:buChar char="•"/>
            </a:pPr>
            <a:r>
              <a:rPr lang="en-US" sz="1350" dirty="0">
                <a:solidFill>
                  <a:srgbClr val="22303C"/>
                </a:solidFill>
                <a:latin typeface="Calibri" pitchFamily="34" charset="0"/>
                <a:ea typeface="Calibri" pitchFamily="34" charset="-122"/>
                <a:cs typeface="Calibri" pitchFamily="34" charset="-120"/>
              </a:rPr>
              <a:t>Ứng dụng di động cho cư dân / kỹ thuật viên mới ở mức cơ bản (web responsive)</a:t>
            </a:r>
            <a:endParaRPr lang="en-US" sz="1350" dirty="0"/>
          </a:p>
        </p:txBody>
      </p:sp>
      <p:sp>
        <p:nvSpPr>
          <p:cNvPr id="13" name="Shape 10"/>
          <p:cNvSpPr/>
          <p:nvPr/>
        </p:nvSpPr>
        <p:spPr>
          <a:xfrm>
            <a:off x="6199632" y="1783080"/>
            <a:ext cx="5440680" cy="4114800"/>
          </a:xfrm>
          <a:prstGeom prst="roundRect">
            <a:avLst>
              <a:gd name="adj" fmla="val 2667"/>
            </a:avLst>
          </a:prstGeom>
          <a:solidFill>
            <a:srgbClr val="0E2A47"/>
          </a:solidFill>
          <a:ln/>
        </p:spPr>
      </p:sp>
      <p:sp>
        <p:nvSpPr>
          <p:cNvPr id="14" name="Shape 11"/>
          <p:cNvSpPr/>
          <p:nvPr/>
        </p:nvSpPr>
        <p:spPr>
          <a:xfrm>
            <a:off x="6446520" y="2029968"/>
            <a:ext cx="640080" cy="640080"/>
          </a:xfrm>
          <a:prstGeom prst="roundRect">
            <a:avLst>
              <a:gd name="adj" fmla="val 50000"/>
            </a:avLst>
          </a:prstGeom>
          <a:solidFill>
            <a:srgbClr val="23B5A6"/>
          </a:solidFill>
          <a:ln/>
        </p:spPr>
      </p:sp>
      <p:pic>
        <p:nvPicPr>
          <p:cNvPr id="15" name="Image 1" descr="preencoded.png"/>
          <p:cNvPicPr>
            <a:picLocks noChangeAspect="1"/>
          </p:cNvPicPr>
          <p:nvPr/>
        </p:nvPicPr>
        <p:blipFill>
          <a:blip r:embed="rId4"/>
          <a:stretch>
            <a:fillRect/>
          </a:stretch>
        </p:blipFill>
        <p:spPr>
          <a:xfrm>
            <a:off x="6600139" y="2183587"/>
            <a:ext cx="332842" cy="332842"/>
          </a:xfrm>
          <a:prstGeom prst="rect">
            <a:avLst/>
          </a:prstGeom>
        </p:spPr>
      </p:pic>
      <p:sp>
        <p:nvSpPr>
          <p:cNvPr id="16" name="Text 12"/>
          <p:cNvSpPr/>
          <p:nvPr/>
        </p:nvSpPr>
        <p:spPr>
          <a:xfrm>
            <a:off x="7223760" y="2084832"/>
            <a:ext cx="4114800" cy="45720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Hướng phát triển</a:t>
            </a:r>
            <a:endParaRPr lang="en-US" sz="1900" dirty="0"/>
          </a:p>
        </p:txBody>
      </p:sp>
      <p:sp>
        <p:nvSpPr>
          <p:cNvPr id="17" name="Text 13"/>
          <p:cNvSpPr/>
          <p:nvPr/>
        </p:nvSpPr>
        <p:spPr>
          <a:xfrm>
            <a:off x="6446520" y="2880360"/>
            <a:ext cx="4983480" cy="2834640"/>
          </a:xfrm>
          <a:prstGeom prst="rect">
            <a:avLst/>
          </a:prstGeom>
          <a:noFill/>
          <a:ln/>
        </p:spPr>
        <p:txBody>
          <a:bodyPr wrap="square" lIns="0" tIns="0" rIns="0" bIns="0" rtlCol="0" anchor="t"/>
          <a:lstStyle/>
          <a:p>
            <a:pPr marL="177800" indent="-177800">
              <a:lnSpc>
                <a:spcPct val="102000"/>
              </a:lnSpc>
              <a:spcAft>
                <a:spcPts val="1300"/>
              </a:spcAft>
              <a:buSzPct val="100000"/>
              <a:buChar char="•"/>
            </a:pPr>
            <a:r>
              <a:rPr lang="en-US" sz="1350" dirty="0">
                <a:solidFill>
                  <a:srgbClr val="FFFFFF"/>
                </a:solidFill>
                <a:latin typeface="Calibri" pitchFamily="34" charset="0"/>
                <a:ea typeface="Calibri" pitchFamily="34" charset="-122"/>
                <a:cs typeface="Calibri" pitchFamily="34" charset="-120"/>
              </a:rPr>
              <a:t>Cải thiện độ chính xác OCR, bổ sung trích xuất thông minh hơn</a:t>
            </a:r>
            <a:endParaRPr lang="en-US" sz="1350" dirty="0"/>
          </a:p>
          <a:p>
            <a:pPr marL="177800" indent="-177800">
              <a:lnSpc>
                <a:spcPct val="102000"/>
              </a:lnSpc>
              <a:spcAft>
                <a:spcPts val="1300"/>
              </a:spcAft>
              <a:buSzPct val="100000"/>
              <a:buChar char="•"/>
            </a:pPr>
            <a:r>
              <a:rPr lang="en-US" sz="1350" dirty="0">
                <a:solidFill>
                  <a:srgbClr val="FFFFFF"/>
                </a:solidFill>
                <a:latin typeface="Calibri" pitchFamily="34" charset="0"/>
                <a:ea typeface="Calibri" pitchFamily="34" charset="-122"/>
                <a:cs typeface="Calibri" pitchFamily="34" charset="-120"/>
              </a:rPr>
              <a:t>Tích hợp IoT giám sát thiết bị thời gian thực, dự báo bảo trì</a:t>
            </a:r>
            <a:endParaRPr lang="en-US" sz="1350" dirty="0"/>
          </a:p>
          <a:p>
            <a:pPr marL="177800" indent="-177800">
              <a:lnSpc>
                <a:spcPct val="102000"/>
              </a:lnSpc>
              <a:spcAft>
                <a:spcPts val="1300"/>
              </a:spcAft>
              <a:buSzPct val="100000"/>
              <a:buChar char="•"/>
            </a:pPr>
            <a:r>
              <a:rPr lang="en-US" sz="1350" dirty="0">
                <a:solidFill>
                  <a:srgbClr val="FFFFFF"/>
                </a:solidFill>
                <a:latin typeface="Calibri" pitchFamily="34" charset="0"/>
                <a:ea typeface="Calibri" pitchFamily="34" charset="-122"/>
                <a:cs typeface="Calibri" pitchFamily="34" charset="-120"/>
              </a:rPr>
              <a:t>Phân tích dữ liệu &amp; cảnh báo thông minh (dự báo hỏng, tối ưu tồn kho)</a:t>
            </a:r>
            <a:endParaRPr lang="en-US" sz="1350" dirty="0"/>
          </a:p>
          <a:p>
            <a:pPr marL="177800" indent="-177800">
              <a:lnSpc>
                <a:spcPct val="102000"/>
              </a:lnSpc>
              <a:spcAft>
                <a:spcPts val="1300"/>
              </a:spcAft>
              <a:buSzPct val="100000"/>
              <a:buChar char="•"/>
            </a:pPr>
            <a:r>
              <a:rPr lang="en-US" sz="1350" dirty="0">
                <a:solidFill>
                  <a:srgbClr val="FFFFFF"/>
                </a:solidFill>
                <a:latin typeface="Calibri" pitchFamily="34" charset="0"/>
                <a:ea typeface="Calibri" pitchFamily="34" charset="-122"/>
                <a:cs typeface="Calibri" pitchFamily="34" charset="-120"/>
              </a:rPr>
              <a:t>Hoàn thiện ứng dụng di động; mở rộng các phân hệ còn lại</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30">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8686800" y="-2377440"/>
            <a:ext cx="5943600" cy="5943600"/>
          </a:xfrm>
          <a:prstGeom prst="roundRect">
            <a:avLst>
              <a:gd name="adj" fmla="val 50000"/>
            </a:avLst>
          </a:prstGeom>
          <a:solidFill>
            <a:srgbClr val="16385C"/>
          </a:solidFill>
          <a:ln/>
        </p:spPr>
      </p:sp>
      <p:sp>
        <p:nvSpPr>
          <p:cNvPr id="3" name="Shape 1"/>
          <p:cNvSpPr/>
          <p:nvPr/>
        </p:nvSpPr>
        <p:spPr>
          <a:xfrm>
            <a:off x="9692640" y="-1280160"/>
            <a:ext cx="3657600" cy="3657600"/>
          </a:xfrm>
          <a:prstGeom prst="roundRect">
            <a:avLst>
              <a:gd name="adj" fmla="val 50000"/>
            </a:avLst>
          </a:prstGeom>
          <a:solidFill>
            <a:srgbClr val="0E7C86"/>
          </a:solidFill>
          <a:ln/>
        </p:spPr>
      </p:sp>
      <p:sp>
        <p:nvSpPr>
          <p:cNvPr id="4" name="Shape 2"/>
          <p:cNvSpPr/>
          <p:nvPr/>
        </p:nvSpPr>
        <p:spPr>
          <a:xfrm>
            <a:off x="-1920240" y="4480560"/>
            <a:ext cx="4572000" cy="4572000"/>
          </a:xfrm>
          <a:prstGeom prst="roundRect">
            <a:avLst>
              <a:gd name="adj" fmla="val 50000"/>
            </a:avLst>
          </a:prstGeom>
          <a:solidFill>
            <a:srgbClr val="16385C"/>
          </a:solidFill>
          <a:ln/>
        </p:spPr>
      </p:sp>
      <p:sp>
        <p:nvSpPr>
          <p:cNvPr id="5" name="Shape 3"/>
          <p:cNvSpPr/>
          <p:nvPr/>
        </p:nvSpPr>
        <p:spPr>
          <a:xfrm>
            <a:off x="822960" y="1600200"/>
            <a:ext cx="914400" cy="914400"/>
          </a:xfrm>
          <a:prstGeom prst="roundRect">
            <a:avLst>
              <a:gd name="adj" fmla="val 50000"/>
            </a:avLst>
          </a:prstGeom>
          <a:solidFill>
            <a:srgbClr val="23B5A6"/>
          </a:solidFill>
          <a:ln/>
        </p:spPr>
      </p:sp>
      <p:pic>
        <p:nvPicPr>
          <p:cNvPr id="6" name="Image 0" descr="preencoded.png"/>
          <p:cNvPicPr>
            <a:picLocks noChangeAspect="1"/>
          </p:cNvPicPr>
          <p:nvPr/>
        </p:nvPicPr>
        <p:blipFill>
          <a:blip r:embed="rId3"/>
          <a:stretch>
            <a:fillRect/>
          </a:stretch>
        </p:blipFill>
        <p:spPr>
          <a:xfrm>
            <a:off x="1042416" y="1819656"/>
            <a:ext cx="475488" cy="475488"/>
          </a:xfrm>
          <a:prstGeom prst="rect">
            <a:avLst/>
          </a:prstGeom>
        </p:spPr>
      </p:pic>
      <p:sp>
        <p:nvSpPr>
          <p:cNvPr id="7" name="Text 4"/>
          <p:cNvSpPr/>
          <p:nvPr/>
        </p:nvSpPr>
        <p:spPr>
          <a:xfrm>
            <a:off x="777240" y="2743200"/>
            <a:ext cx="105156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Trân trọng cảm ơn</a:t>
            </a:r>
            <a:endParaRPr lang="en-US" sz="4800" dirty="0"/>
          </a:p>
        </p:txBody>
      </p:sp>
      <p:sp>
        <p:nvSpPr>
          <p:cNvPr id="8" name="Text 5"/>
          <p:cNvSpPr/>
          <p:nvPr/>
        </p:nvSpPr>
        <p:spPr>
          <a:xfrm>
            <a:off x="822960" y="3794760"/>
            <a:ext cx="10058400" cy="457200"/>
          </a:xfrm>
          <a:prstGeom prst="rect">
            <a:avLst/>
          </a:prstGeom>
          <a:noFill/>
          <a:ln/>
        </p:spPr>
        <p:txBody>
          <a:bodyPr wrap="square" lIns="0" tIns="0" rIns="0" bIns="0" rtlCol="0" anchor="ctr"/>
          <a:lstStyle/>
          <a:p>
            <a:pPr marL="0" indent="0">
              <a:buNone/>
            </a:pPr>
            <a:r>
              <a:rPr lang="en-US" sz="1800" i="1" dirty="0">
                <a:solidFill>
                  <a:srgbClr val="BFD6DF"/>
                </a:solidFill>
                <a:latin typeface="Calibri" pitchFamily="34" charset="0"/>
                <a:ea typeface="Calibri" pitchFamily="34" charset="-122"/>
                <a:cs typeface="Calibri" pitchFamily="34" charset="-120"/>
              </a:rPr>
              <a:t>quý thầy cô trong hội đồng đã lắng nghe</a:t>
            </a:r>
            <a:endParaRPr lang="en-US" sz="1800" dirty="0"/>
          </a:p>
        </p:txBody>
      </p:sp>
      <p:sp>
        <p:nvSpPr>
          <p:cNvPr id="9" name="Shape 6"/>
          <p:cNvSpPr/>
          <p:nvPr/>
        </p:nvSpPr>
        <p:spPr>
          <a:xfrm>
            <a:off x="822960" y="4754880"/>
            <a:ext cx="10515600" cy="1234440"/>
          </a:xfrm>
          <a:prstGeom prst="roundRect">
            <a:avLst>
              <a:gd name="adj" fmla="val 8889"/>
            </a:avLst>
          </a:prstGeom>
          <a:solidFill>
            <a:srgbClr val="16385C"/>
          </a:solidFill>
          <a:ln/>
        </p:spPr>
      </p:sp>
      <p:sp>
        <p:nvSpPr>
          <p:cNvPr id="10" name="Text 7"/>
          <p:cNvSpPr/>
          <p:nvPr/>
        </p:nvSpPr>
        <p:spPr>
          <a:xfrm>
            <a:off x="1097280" y="4892040"/>
            <a:ext cx="9966960" cy="960120"/>
          </a:xfrm>
          <a:prstGeom prst="rect">
            <a:avLst/>
          </a:prstGeom>
          <a:noFill/>
          <a:ln/>
        </p:spPr>
        <p:txBody>
          <a:bodyPr wrap="square" lIns="0" tIns="0" rIns="0" bIns="0" rtlCol="0" anchor="ctr"/>
          <a:lstStyle/>
          <a:p>
            <a:pPr marL="0" indent="0">
              <a:lnSpc>
                <a:spcPct val="105000"/>
              </a:lnSpc>
              <a:buNone/>
            </a:pPr>
            <a:r>
              <a:rPr lang="en-US" sz="1400" b="1" dirty="0">
                <a:solidFill>
                  <a:srgbClr val="23B5A6"/>
                </a:solidFill>
                <a:latin typeface="Calibri" pitchFamily="34" charset="0"/>
                <a:ea typeface="Calibri" pitchFamily="34" charset="-122"/>
                <a:cs typeface="Calibri" pitchFamily="34" charset="-120"/>
              </a:rPr>
              <a:t>Đóng góp cá nhân — </a:t>
            </a:r>
            <a:r>
              <a:rPr lang="en-US" sz="1350" dirty="0">
                <a:solidFill>
                  <a:srgbClr val="FFFFFF"/>
                </a:solidFill>
                <a:latin typeface="Calibri" pitchFamily="34" charset="0"/>
                <a:ea typeface="Calibri" pitchFamily="34" charset="-122"/>
                <a:cs typeface="Calibri" pitchFamily="34" charset="-120"/>
              </a:rPr>
              <a:t>Nguyễn Xuân Thưởng (MSSV 0220766): phân tích, thiết kế &amp; hiện thực trọn vẹn phân hệ Quản lý tài sản (Tài sản &amp; bảo trì · Kho – Mua sắm – NCC · Sự cố &amp; SLA) và tham gia xây dựng phần Base cùng nhóm.</a:t>
            </a:r>
            <a:endParaRPr lang="en-US" sz="1400" dirty="0"/>
          </a:p>
        </p:txBody>
      </p:sp>
      <p:sp>
        <p:nvSpPr>
          <p:cNvPr id="11" name="Text 8"/>
          <p:cNvSpPr/>
          <p:nvPr/>
        </p:nvSpPr>
        <p:spPr>
          <a:xfrm>
            <a:off x="822960" y="6144768"/>
            <a:ext cx="10515600" cy="320040"/>
          </a:xfrm>
          <a:prstGeom prst="rect">
            <a:avLst/>
          </a:prstGeom>
          <a:noFill/>
          <a:ln/>
        </p:spPr>
        <p:txBody>
          <a:bodyPr wrap="square" lIns="0" tIns="0" rIns="0" bIns="0" rtlCol="0" anchor="ctr"/>
          <a:lstStyle/>
          <a:p>
            <a:pPr marL="0" indent="0" algn="ctr">
              <a:buNone/>
            </a:pPr>
            <a:r>
              <a:rPr lang="en-US" sz="1300" b="1" kern="0" spc="100" dirty="0">
                <a:solidFill>
                  <a:srgbClr val="BFD6DF"/>
                </a:solidFill>
                <a:latin typeface="Calibri" pitchFamily="34" charset="0"/>
                <a:ea typeface="Calibri" pitchFamily="34" charset="-122"/>
                <a:cs typeface="Calibri" pitchFamily="34" charset="-120"/>
              </a:rPr>
              <a:t>Rất mong nhận được góp ý của quý thầy cô</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450</TotalTime>
  <Words>10335</Words>
  <Application>Microsoft Office PowerPoint</Application>
  <PresentationFormat>Widescreen</PresentationFormat>
  <Paragraphs>1011</Paragraphs>
  <Slides>49</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TownHub - Do an tot nghiep</dc:title>
  <dc:subject>PptxGenJS Presentation</dc:subject>
  <dc:creator>Nguyen Xuan Thuong</dc:creator>
  <cp:lastModifiedBy>ADMIN</cp:lastModifiedBy>
  <cp:revision>2</cp:revision>
  <dcterms:created xsi:type="dcterms:W3CDTF">2026-07-28T02:27:45Z</dcterms:created>
  <dcterms:modified xsi:type="dcterms:W3CDTF">2026-07-29T01:24:12Z</dcterms:modified>
</cp:coreProperties>
</file>